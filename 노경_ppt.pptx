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5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notesSlides/notesSlide21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theme/themeOverride6.xml" ContentType="application/vnd.openxmlformats-officedocument.themeOverr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24" r:id="rId4"/>
    <p:sldMasterId id="2147483799" r:id="rId5"/>
    <p:sldMasterId id="2147483736" r:id="rId6"/>
    <p:sldMasterId id="2147483748" r:id="rId7"/>
    <p:sldMasterId id="2147483790" r:id="rId8"/>
    <p:sldMasterId id="2147483811" r:id="rId9"/>
  </p:sldMasterIdLst>
  <p:notesMasterIdLst>
    <p:notesMasterId r:id="rId61"/>
  </p:notesMasterIdLst>
  <p:sldIdLst>
    <p:sldId id="457" r:id="rId10"/>
    <p:sldId id="1487" r:id="rId11"/>
    <p:sldId id="1477" r:id="rId12"/>
    <p:sldId id="1553" r:id="rId13"/>
    <p:sldId id="1557" r:id="rId14"/>
    <p:sldId id="1554" r:id="rId15"/>
    <p:sldId id="1528" r:id="rId16"/>
    <p:sldId id="1529" r:id="rId17"/>
    <p:sldId id="1527" r:id="rId18"/>
    <p:sldId id="1478" r:id="rId19"/>
    <p:sldId id="1520" r:id="rId20"/>
    <p:sldId id="1512" r:id="rId21"/>
    <p:sldId id="1521" r:id="rId22"/>
    <p:sldId id="1531" r:id="rId23"/>
    <p:sldId id="1523" r:id="rId24"/>
    <p:sldId id="1536" r:id="rId25"/>
    <p:sldId id="1524" r:id="rId26"/>
    <p:sldId id="1549" r:id="rId27"/>
    <p:sldId id="1534" r:id="rId28"/>
    <p:sldId id="1551" r:id="rId29"/>
    <p:sldId id="1530" r:id="rId30"/>
    <p:sldId id="1542" r:id="rId31"/>
    <p:sldId id="1543" r:id="rId32"/>
    <p:sldId id="1503" r:id="rId33"/>
    <p:sldId id="1539" r:id="rId34"/>
    <p:sldId id="2147476642" r:id="rId35"/>
    <p:sldId id="1532" r:id="rId36"/>
    <p:sldId id="1566" r:id="rId37"/>
    <p:sldId id="1567" r:id="rId38"/>
    <p:sldId id="1564" r:id="rId39"/>
    <p:sldId id="1558" r:id="rId40"/>
    <p:sldId id="2147476643" r:id="rId41"/>
    <p:sldId id="2147476644" r:id="rId42"/>
    <p:sldId id="1545" r:id="rId43"/>
    <p:sldId id="1548" r:id="rId44"/>
    <p:sldId id="1565" r:id="rId45"/>
    <p:sldId id="1552" r:id="rId46"/>
    <p:sldId id="1089" r:id="rId47"/>
    <p:sldId id="257" r:id="rId48"/>
    <p:sldId id="258" r:id="rId49"/>
    <p:sldId id="259" r:id="rId50"/>
    <p:sldId id="1125" r:id="rId51"/>
    <p:sldId id="1128" r:id="rId52"/>
    <p:sldId id="2147476635" r:id="rId53"/>
    <p:sldId id="2147476634" r:id="rId54"/>
    <p:sldId id="2147476641" r:id="rId55"/>
    <p:sldId id="2147476637" r:id="rId56"/>
    <p:sldId id="1559" r:id="rId57"/>
    <p:sldId id="1560" r:id="rId58"/>
    <p:sldId id="1561" r:id="rId59"/>
    <p:sldId id="1550" r:id="rId60"/>
  </p:sldIdLst>
  <p:sldSz cx="9906000" cy="6858000" type="A4"/>
  <p:notesSz cx="6797675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F11F590-FB84-498C-A8B8-2E1162ECD8C3}">
          <p14:sldIdLst>
            <p14:sldId id="457"/>
          </p14:sldIdLst>
        </p14:section>
        <p14:section name="추진배경" id="{C668455B-1482-473D-9A6D-03406690D898}">
          <p14:sldIdLst>
            <p14:sldId id="1487"/>
            <p14:sldId id="1477"/>
          </p14:sldIdLst>
        </p14:section>
        <p14:section name="3.0 정의" id="{EBBDBC10-C28F-42ED-BF1E-CFA81439F282}">
          <p14:sldIdLst>
            <p14:sldId id="1553"/>
            <p14:sldId id="1557"/>
            <p14:sldId id="1554"/>
            <p14:sldId id="1528"/>
            <p14:sldId id="1529"/>
            <p14:sldId id="1527"/>
          </p14:sldIdLst>
        </p14:section>
        <p14:section name="추진과제 대응안" id="{69F0BEE4-3203-4659-81D0-1AE6D46C5D2C}">
          <p14:sldIdLst>
            <p14:sldId id="1478"/>
            <p14:sldId id="1520"/>
            <p14:sldId id="1512"/>
            <p14:sldId id="1521"/>
            <p14:sldId id="1531"/>
            <p14:sldId id="1523"/>
            <p14:sldId id="1536"/>
            <p14:sldId id="1524"/>
            <p14:sldId id="1549"/>
            <p14:sldId id="1534"/>
            <p14:sldId id="1551"/>
            <p14:sldId id="1530"/>
          </p14:sldIdLst>
        </p14:section>
        <p14:section name="유첨" id="{5D73FB45-5A0D-4A4D-A649-B0BEA5465ECD}">
          <p14:sldIdLst>
            <p14:sldId id="1542"/>
            <p14:sldId id="1543"/>
            <p14:sldId id="1503"/>
            <p14:sldId id="1539"/>
            <p14:sldId id="2147476642"/>
            <p14:sldId id="1532"/>
            <p14:sldId id="1566"/>
            <p14:sldId id="1567"/>
            <p14:sldId id="1564"/>
            <p14:sldId id="1558"/>
            <p14:sldId id="2147476643"/>
            <p14:sldId id="2147476644"/>
            <p14:sldId id="1545"/>
            <p14:sldId id="1548"/>
            <p14:sldId id="1565"/>
            <p14:sldId id="1552"/>
            <p14:sldId id="1089"/>
            <p14:sldId id="257"/>
            <p14:sldId id="258"/>
            <p14:sldId id="259"/>
            <p14:sldId id="1125"/>
            <p14:sldId id="1128"/>
            <p14:sldId id="2147476635"/>
            <p14:sldId id="2147476634"/>
            <p14:sldId id="2147476641"/>
            <p14:sldId id="2147476637"/>
            <p14:sldId id="1559"/>
            <p14:sldId id="1560"/>
            <p14:sldId id="1561"/>
            <p14:sldId id="15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906" userDrawn="1">
          <p15:clr>
            <a:srgbClr val="A4A3A4"/>
          </p15:clr>
        </p15:guide>
        <p15:guide id="2" orient="horz" pos="663">
          <p15:clr>
            <a:srgbClr val="A4A3A4"/>
          </p15:clr>
        </p15:guide>
        <p15:guide id="3" orient="horz">
          <p15:clr>
            <a:srgbClr val="A4A3A4"/>
          </p15:clr>
        </p15:guide>
        <p15:guide id="4" pos="3120">
          <p15:clr>
            <a:srgbClr val="A4A3A4"/>
          </p15:clr>
        </p15:guide>
        <p15:guide id="5" pos="398" userDrawn="1">
          <p15:clr>
            <a:srgbClr val="A4A3A4"/>
          </p15:clr>
        </p15:guide>
        <p15:guide id="7" orient="horz" pos="459" userDrawn="1">
          <p15:clr>
            <a:srgbClr val="A4A3A4"/>
          </p15:clr>
        </p15:guide>
        <p15:guide id="8" pos="5887" userDrawn="1">
          <p15:clr>
            <a:srgbClr val="A4A3A4"/>
          </p15:clr>
        </p15:guide>
        <p15:guide id="9" pos="512" userDrawn="1">
          <p15:clr>
            <a:srgbClr val="A4A3A4"/>
          </p15:clr>
        </p15:guide>
        <p15:guide id="10" orient="horz" pos="3113" userDrawn="1">
          <p15:clr>
            <a:srgbClr val="A4A3A4"/>
          </p15:clr>
        </p15:guide>
        <p15:guide id="11" pos="3007" userDrawn="1">
          <p15:clr>
            <a:srgbClr val="A4A3A4"/>
          </p15:clr>
        </p15:guide>
        <p15:guide id="12" pos="3256" userDrawn="1">
          <p15:clr>
            <a:srgbClr val="A4A3A4"/>
          </p15:clr>
        </p15:guide>
        <p15:guide id="13" pos="5615" userDrawn="1">
          <p15:clr>
            <a:srgbClr val="A4A3A4"/>
          </p15:clr>
        </p15:guide>
        <p15:guide id="14" orient="horz" pos="10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Rg st="1" end="51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25FF25"/>
    <a:srgbClr val="71FF71"/>
    <a:srgbClr val="00F600"/>
    <a:srgbClr val="4BBDCF"/>
    <a:srgbClr val="006C00"/>
    <a:srgbClr val="A50034"/>
    <a:srgbClr val="4F81BD"/>
    <a:srgbClr val="B65708"/>
    <a:srgbClr val="276A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6" autoAdjust="0"/>
    <p:restoredTop sz="96720" autoAdjust="0"/>
  </p:normalViewPr>
  <p:slideViewPr>
    <p:cSldViewPr snapToGrid="0">
      <p:cViewPr varScale="1">
        <p:scale>
          <a:sx n="123" d="100"/>
          <a:sy n="123" d="100"/>
        </p:scale>
        <p:origin x="1170" y="90"/>
      </p:cViewPr>
      <p:guideLst>
        <p:guide orient="horz" pos="3906"/>
        <p:guide orient="horz" pos="663"/>
        <p:guide orient="horz"/>
        <p:guide pos="3120"/>
        <p:guide pos="398"/>
        <p:guide orient="horz" pos="459"/>
        <p:guide pos="5887"/>
        <p:guide pos="512"/>
        <p:guide orient="horz" pos="3113"/>
        <p:guide pos="3007"/>
        <p:guide pos="3256"/>
        <p:guide pos="5615"/>
        <p:guide orient="horz" pos="109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63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5" Type="http://schemas.openxmlformats.org/officeDocument/2006/relationships/slideMaster" Target="slideMasters/slideMaster2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2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19.xml"/><Relationship Id="rId1" Type="http://schemas.microsoft.com/office/2011/relationships/chartStyle" Target="style19.xml"/><Relationship Id="rId4" Type="http://schemas.openxmlformats.org/officeDocument/2006/relationships/package" Target="../embeddings/Microsoft_Excel_Work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9164583091697363"/>
          <c:y val="0.16423173049345868"/>
          <c:w val="0.65983430256885345"/>
          <c:h val="0.70822525694078942"/>
        </c:manualLayout>
      </c:layout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기획</c:v>
                </c:pt>
              </c:strCache>
            </c:strRef>
          </c:tx>
          <c:spPr>
            <a:solidFill>
              <a:srgbClr val="4BACC6">
                <a:lumMod val="20000"/>
                <a:lumOff val="80000"/>
                <a:alpha val="80000"/>
              </a:srgbClr>
            </a:solidFill>
            <a:ln w="12700">
              <a:solidFill>
                <a:srgbClr val="4BACC6">
                  <a:lumMod val="50000"/>
                </a:srgbClr>
              </a:solidFill>
            </a:ln>
            <a:effectLst/>
          </c:spPr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0-5978-4AE1-8D39-591C9752E941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1-5978-4AE1-8D39-591C9752E941}"/>
              </c:ext>
            </c:extLst>
          </c:dPt>
          <c:cat>
            <c:strRef>
              <c:f>Sheet1!$A$2:$A$7</c:f>
              <c:strCache>
                <c:ptCount val="6"/>
                <c:pt idx="0">
                  <c:v>① 집단적 노사관계</c:v>
                </c:pt>
                <c:pt idx="1">
                  <c:v>② 노사분쟁 대응력</c:v>
                </c:pt>
                <c:pt idx="2">
                  <c:v>③ 이해관계자 소통력</c:v>
                </c:pt>
                <c:pt idx="3">
                  <c:v>④ 인사제도 운영력</c:v>
                </c:pt>
                <c:pt idx="4">
                  <c:v>⑤ Data 기반 노무 리스크 분석력</c:v>
                </c:pt>
                <c:pt idx="5">
                  <c:v>⑥ 노동법 지식 동향 센싱</c:v>
                </c:pt>
              </c:strCache>
              <c:extLst/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1.6</c:v>
                </c:pt>
                <c:pt idx="1">
                  <c:v>2.2000000000000002</c:v>
                </c:pt>
                <c:pt idx="2">
                  <c:v>3.4</c:v>
                </c:pt>
                <c:pt idx="3">
                  <c:v>1.4</c:v>
                </c:pt>
                <c:pt idx="4">
                  <c:v>1.6</c:v>
                </c:pt>
                <c:pt idx="5">
                  <c:v>2.6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3-5978-4AE1-8D39-591C9752E9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66882639"/>
        <c:axId val="1966884559"/>
      </c:radarChart>
      <c:catAx>
        <c:axId val="19668826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kumimoji="1" lang="en-US" altLang="ko-KR" sz="1000" b="1" i="0" u="none" strike="noStrike" kern="0" baseline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1966884559"/>
        <c:crosses val="autoZero"/>
        <c:auto val="1"/>
        <c:lblAlgn val="ctr"/>
        <c:lblOffset val="100"/>
        <c:noMultiLvlLbl val="0"/>
      </c:catAx>
      <c:valAx>
        <c:axId val="1966884559"/>
        <c:scaling>
          <c:orientation val="minMax"/>
          <c:max val="5"/>
        </c:scaling>
        <c:delete val="0"/>
        <c:axPos val="l"/>
        <c:majorGridlines>
          <c:spPr>
            <a:ln w="9525" cap="flat" cmpd="sng" algn="ctr">
              <a:solidFill>
                <a:sysClr val="window" lastClr="FFFFFF">
                  <a:lumMod val="65000"/>
                </a:sys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966882639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chemeClr val="accent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2013170446348814"/>
          <c:y val="9.5698131729377411E-2"/>
          <c:w val="0.75303599673959232"/>
          <c:h val="0.75200733869789316"/>
        </c:manualLayout>
      </c:layout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기획</c:v>
                </c:pt>
              </c:strCache>
            </c:strRef>
          </c:tx>
          <c:spPr>
            <a:solidFill>
              <a:srgbClr val="4BACC6">
                <a:lumMod val="20000"/>
                <a:lumOff val="80000"/>
                <a:alpha val="80000"/>
              </a:srgbClr>
            </a:solidFill>
            <a:ln w="12700">
              <a:solidFill>
                <a:srgbClr val="4BACC6">
                  <a:lumMod val="50000"/>
                </a:srgbClr>
              </a:solidFill>
            </a:ln>
            <a:effectLst/>
          </c:spPr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0-496D-4129-AE77-9ACDECB6D945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1-496D-4129-AE77-9ACDECB6D945}"/>
              </c:ext>
            </c:extLst>
          </c:dPt>
          <c:dPt>
            <c:idx val="7"/>
            <c:bubble3D val="0"/>
            <c:extLst>
              <c:ext xmlns:c16="http://schemas.microsoft.com/office/drawing/2014/chart" uri="{C3380CC4-5D6E-409C-BE32-E72D297353CC}">
                <c16:uniqueId val="{00000002-496D-4129-AE77-9ACDECB6D945}"/>
              </c:ext>
            </c:extLst>
          </c:dPt>
          <c:cat>
            <c:strRef>
              <c:f>Sheet1!$A$2:$A$9</c:f>
              <c:strCache>
                <c:ptCount val="8"/>
                <c:pt idx="0">
                  <c:v>①</c:v>
                </c:pt>
                <c:pt idx="1">
                  <c:v>②</c:v>
                </c:pt>
                <c:pt idx="2">
                  <c:v>③</c:v>
                </c:pt>
                <c:pt idx="3">
                  <c:v>④</c:v>
                </c:pt>
                <c:pt idx="4">
                  <c:v>⑤</c:v>
                </c:pt>
                <c:pt idx="5">
                  <c:v>⑥</c:v>
                </c:pt>
                <c:pt idx="6">
                  <c:v>⑦</c:v>
                </c:pt>
                <c:pt idx="7">
                  <c:v>⑧</c:v>
                </c:pt>
              </c:strCache>
            </c:strRef>
          </c:cat>
          <c:val>
            <c:numRef>
              <c:f>Sheet1!$B$2:$B$9</c:f>
              <c:numCache>
                <c:formatCode>0.0</c:formatCode>
                <c:ptCount val="8"/>
                <c:pt idx="0">
                  <c:v>1.6</c:v>
                </c:pt>
                <c:pt idx="1">
                  <c:v>2.2000000000000002</c:v>
                </c:pt>
                <c:pt idx="2">
                  <c:v>4.2</c:v>
                </c:pt>
                <c:pt idx="3">
                  <c:v>2.4</c:v>
                </c:pt>
                <c:pt idx="4">
                  <c:v>1.8</c:v>
                </c:pt>
                <c:pt idx="5">
                  <c:v>2.6</c:v>
                </c:pt>
                <c:pt idx="6">
                  <c:v>3.4</c:v>
                </c:pt>
                <c:pt idx="7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96D-4129-AE77-9ACDECB6D94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협력</c:v>
                </c:pt>
              </c:strCache>
            </c:strRef>
          </c:tx>
          <c:spPr>
            <a:solidFill>
              <a:srgbClr val="F79646">
                <a:lumMod val="20000"/>
                <a:lumOff val="80000"/>
                <a:alpha val="70000"/>
              </a:srgbClr>
            </a:solidFill>
            <a:ln>
              <a:solidFill>
                <a:srgbClr val="F79646">
                  <a:lumMod val="50000"/>
                </a:srgbClr>
              </a:solidFill>
            </a:ln>
            <a:effectLst/>
          </c:spPr>
          <c:cat>
            <c:strRef>
              <c:f>Sheet1!$A$2:$A$9</c:f>
              <c:strCache>
                <c:ptCount val="8"/>
                <c:pt idx="0">
                  <c:v>①</c:v>
                </c:pt>
                <c:pt idx="1">
                  <c:v>②</c:v>
                </c:pt>
                <c:pt idx="2">
                  <c:v>③</c:v>
                </c:pt>
                <c:pt idx="3">
                  <c:v>④</c:v>
                </c:pt>
                <c:pt idx="4">
                  <c:v>⑤</c:v>
                </c:pt>
                <c:pt idx="5">
                  <c:v>⑥</c:v>
                </c:pt>
                <c:pt idx="6">
                  <c:v>⑦</c:v>
                </c:pt>
                <c:pt idx="7">
                  <c:v>⑧</c:v>
                </c:pt>
              </c:strCache>
            </c:strRef>
          </c:cat>
          <c:val>
            <c:numRef>
              <c:f>Sheet1!$C$2:$C$9</c:f>
              <c:numCache>
                <c:formatCode>0.0</c:formatCode>
                <c:ptCount val="8"/>
                <c:pt idx="0">
                  <c:v>3.6</c:v>
                </c:pt>
                <c:pt idx="1">
                  <c:v>3</c:v>
                </c:pt>
                <c:pt idx="2">
                  <c:v>4.2</c:v>
                </c:pt>
                <c:pt idx="3">
                  <c:v>2.2000000000000002</c:v>
                </c:pt>
                <c:pt idx="4">
                  <c:v>2.2000000000000002</c:v>
                </c:pt>
                <c:pt idx="5">
                  <c:v>3</c:v>
                </c:pt>
                <c:pt idx="6">
                  <c:v>2.6</c:v>
                </c:pt>
                <c:pt idx="7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6D-4129-AE77-9ACDECB6D94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운영</c:v>
                </c:pt>
              </c:strCache>
            </c:strRef>
          </c:tx>
          <c:spPr>
            <a:solidFill>
              <a:srgbClr val="9BBB59">
                <a:lumMod val="20000"/>
                <a:lumOff val="80000"/>
                <a:alpha val="80000"/>
              </a:srgbClr>
            </a:solidFill>
            <a:ln>
              <a:solidFill>
                <a:srgbClr val="9BBB59">
                  <a:lumMod val="75000"/>
                </a:srgbClr>
              </a:solidFill>
            </a:ln>
            <a:effectLst/>
          </c:spPr>
          <c:cat>
            <c:strRef>
              <c:f>Sheet1!$A$2:$A$9</c:f>
              <c:strCache>
                <c:ptCount val="8"/>
                <c:pt idx="0">
                  <c:v>①</c:v>
                </c:pt>
                <c:pt idx="1">
                  <c:v>②</c:v>
                </c:pt>
                <c:pt idx="2">
                  <c:v>③</c:v>
                </c:pt>
                <c:pt idx="3">
                  <c:v>④</c:v>
                </c:pt>
                <c:pt idx="4">
                  <c:v>⑤</c:v>
                </c:pt>
                <c:pt idx="5">
                  <c:v>⑥</c:v>
                </c:pt>
                <c:pt idx="6">
                  <c:v>⑦</c:v>
                </c:pt>
                <c:pt idx="7">
                  <c:v>⑧</c:v>
                </c:pt>
              </c:strCache>
            </c:strRef>
          </c:cat>
          <c:val>
            <c:numRef>
              <c:f>Sheet1!$D$2:$D$9</c:f>
              <c:numCache>
                <c:formatCode>0.0</c:formatCode>
                <c:ptCount val="8"/>
                <c:pt idx="0">
                  <c:v>0.33333333333333331</c:v>
                </c:pt>
                <c:pt idx="1">
                  <c:v>0.33333333333333331</c:v>
                </c:pt>
                <c:pt idx="2">
                  <c:v>3.6666666666666665</c:v>
                </c:pt>
                <c:pt idx="3">
                  <c:v>3.6666666666666665</c:v>
                </c:pt>
                <c:pt idx="4">
                  <c:v>4.333333333333333</c:v>
                </c:pt>
                <c:pt idx="5">
                  <c:v>2.3333333333333335</c:v>
                </c:pt>
                <c:pt idx="6">
                  <c:v>1.6666666666666667</c:v>
                </c:pt>
                <c:pt idx="7">
                  <c:v>2.3333333333333335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96D-4129-AE77-9ACDECB6D9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66882639"/>
        <c:axId val="1966884559"/>
      </c:radarChart>
      <c:catAx>
        <c:axId val="19668826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kumimoji="1" lang="en-US" altLang="ko-KR" sz="1000" b="0" i="0" u="none" strike="noStrike" kern="0" baseline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1966884559"/>
        <c:crosses val="autoZero"/>
        <c:auto val="1"/>
        <c:lblAlgn val="ctr"/>
        <c:lblOffset val="100"/>
        <c:noMultiLvlLbl val="0"/>
      </c:catAx>
      <c:valAx>
        <c:axId val="1966884559"/>
        <c:scaling>
          <c:orientation val="minMax"/>
          <c:max val="5"/>
        </c:scaling>
        <c:delete val="0"/>
        <c:axPos val="l"/>
        <c:majorGridlines>
          <c:spPr>
            <a:ln w="9525" cap="flat" cmpd="sng" algn="ctr">
              <a:solidFill>
                <a:sysClr val="window" lastClr="FFFFFF">
                  <a:lumMod val="65000"/>
                </a:sys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966882639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ysClr val="window" lastClr="FFFFFF">
          <a:lumMod val="65000"/>
        </a:sysClr>
      </a:solidFill>
    </a:ln>
    <a:effectLst/>
  </c:spPr>
  <c:txPr>
    <a:bodyPr/>
    <a:lstStyle/>
    <a:p>
      <a:pPr>
        <a:defRPr sz="1000">
          <a:solidFill>
            <a:schemeClr val="accent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9164583091697363"/>
          <c:y val="0.16423173049345868"/>
          <c:w val="0.65983430256885345"/>
          <c:h val="0.70822525694078942"/>
        </c:manualLayout>
      </c:layout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기획</c:v>
                </c:pt>
              </c:strCache>
            </c:strRef>
          </c:tx>
          <c:spPr>
            <a:solidFill>
              <a:srgbClr val="4BACC6">
                <a:lumMod val="20000"/>
                <a:lumOff val="80000"/>
                <a:alpha val="80000"/>
              </a:srgbClr>
            </a:solidFill>
            <a:ln w="12700">
              <a:solidFill>
                <a:srgbClr val="4BACC6">
                  <a:lumMod val="50000"/>
                </a:srgbClr>
              </a:solidFill>
            </a:ln>
            <a:effectLst/>
          </c:spPr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0-354B-4E3A-87E9-1B9BB11B8F3F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1-354B-4E3A-87E9-1B9BB11B8F3F}"/>
              </c:ext>
            </c:extLst>
          </c:dPt>
          <c:dPt>
            <c:idx val="7"/>
            <c:bubble3D val="0"/>
            <c:extLst>
              <c:ext xmlns:c16="http://schemas.microsoft.com/office/drawing/2014/chart" uri="{C3380CC4-5D6E-409C-BE32-E72D297353CC}">
                <c16:uniqueId val="{00000002-354B-4E3A-87E9-1B9BB11B8F3F}"/>
              </c:ext>
            </c:extLst>
          </c:dPt>
          <c:cat>
            <c:strRef>
              <c:f>Sheet1!$A$2:$A$9</c:f>
              <c:strCache>
                <c:ptCount val="8"/>
                <c:pt idx="0">
                  <c:v>①</c:v>
                </c:pt>
                <c:pt idx="1">
                  <c:v>②</c:v>
                </c:pt>
                <c:pt idx="2">
                  <c:v>③</c:v>
                </c:pt>
                <c:pt idx="3">
                  <c:v>④</c:v>
                </c:pt>
                <c:pt idx="4">
                  <c:v>⑤</c:v>
                </c:pt>
                <c:pt idx="5">
                  <c:v>⑥</c:v>
                </c:pt>
                <c:pt idx="6">
                  <c:v>⑦</c:v>
                </c:pt>
                <c:pt idx="7">
                  <c:v>⑧</c:v>
                </c:pt>
              </c:strCache>
            </c:strRef>
          </c:cat>
          <c:val>
            <c:numRef>
              <c:f>Sheet1!$B$2:$B$9</c:f>
              <c:numCache>
                <c:formatCode>0.0</c:formatCode>
                <c:ptCount val="8"/>
                <c:pt idx="0">
                  <c:v>1.6</c:v>
                </c:pt>
                <c:pt idx="1">
                  <c:v>2.2000000000000002</c:v>
                </c:pt>
                <c:pt idx="2">
                  <c:v>4.2</c:v>
                </c:pt>
                <c:pt idx="3">
                  <c:v>2.4</c:v>
                </c:pt>
                <c:pt idx="4">
                  <c:v>1.8</c:v>
                </c:pt>
                <c:pt idx="5">
                  <c:v>2.6</c:v>
                </c:pt>
                <c:pt idx="6">
                  <c:v>3.4</c:v>
                </c:pt>
                <c:pt idx="7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54B-4E3A-87E9-1B9BB11B8F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66882639"/>
        <c:axId val="1966884559"/>
      </c:radarChart>
      <c:catAx>
        <c:axId val="19668826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kumimoji="1" lang="en-US" altLang="ko-KR" sz="1000" b="0" i="0" u="none" strike="noStrike" kern="0" baseline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1966884559"/>
        <c:crosses val="autoZero"/>
        <c:auto val="1"/>
        <c:lblAlgn val="ctr"/>
        <c:lblOffset val="100"/>
        <c:noMultiLvlLbl val="0"/>
      </c:catAx>
      <c:valAx>
        <c:axId val="1966884559"/>
        <c:scaling>
          <c:orientation val="minMax"/>
          <c:max val="5"/>
        </c:scaling>
        <c:delete val="0"/>
        <c:axPos val="l"/>
        <c:majorGridlines>
          <c:spPr>
            <a:ln w="9525" cap="flat" cmpd="sng" algn="ctr">
              <a:solidFill>
                <a:sysClr val="window" lastClr="FFFFFF">
                  <a:lumMod val="65000"/>
                </a:sys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966882639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chemeClr val="accent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9164583091697363"/>
          <c:y val="0.16423173049345868"/>
          <c:w val="0.65983430256885345"/>
          <c:h val="0.70822525694078942"/>
        </c:manualLayout>
      </c:layout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운영</c:v>
                </c:pt>
              </c:strCache>
            </c:strRef>
          </c:tx>
          <c:spPr>
            <a:solidFill>
              <a:srgbClr val="9BBB59">
                <a:lumMod val="20000"/>
                <a:lumOff val="80000"/>
              </a:srgbClr>
            </a:solidFill>
            <a:ln w="12700">
              <a:solidFill>
                <a:srgbClr val="9BBB59">
                  <a:lumMod val="50000"/>
                </a:srgbClr>
              </a:solidFill>
            </a:ln>
            <a:effectLst/>
          </c:spPr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0-8B26-4684-8110-66CC0CC557B4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1-8B26-4684-8110-66CC0CC557B4}"/>
              </c:ext>
            </c:extLst>
          </c:dPt>
          <c:dPt>
            <c:idx val="7"/>
            <c:bubble3D val="0"/>
            <c:extLst>
              <c:ext xmlns:c16="http://schemas.microsoft.com/office/drawing/2014/chart" uri="{C3380CC4-5D6E-409C-BE32-E72D297353CC}">
                <c16:uniqueId val="{00000002-8B26-4684-8110-66CC0CC557B4}"/>
              </c:ext>
            </c:extLst>
          </c:dPt>
          <c:cat>
            <c:strRef>
              <c:f>Sheet1!$A$2:$A$9</c:f>
              <c:strCache>
                <c:ptCount val="8"/>
                <c:pt idx="0">
                  <c:v>①</c:v>
                </c:pt>
                <c:pt idx="1">
                  <c:v>②</c:v>
                </c:pt>
                <c:pt idx="2">
                  <c:v>③</c:v>
                </c:pt>
                <c:pt idx="3">
                  <c:v>④</c:v>
                </c:pt>
                <c:pt idx="4">
                  <c:v>⑤</c:v>
                </c:pt>
                <c:pt idx="5">
                  <c:v>⑥</c:v>
                </c:pt>
                <c:pt idx="6">
                  <c:v>⑦</c:v>
                </c:pt>
                <c:pt idx="7">
                  <c:v>⑧</c:v>
                </c:pt>
              </c:strCache>
            </c:strRef>
          </c:cat>
          <c:val>
            <c:numRef>
              <c:f>Sheet1!$B$2:$B$9</c:f>
              <c:numCache>
                <c:formatCode>0.0</c:formatCode>
                <c:ptCount val="8"/>
                <c:pt idx="0">
                  <c:v>0.33333333333333331</c:v>
                </c:pt>
                <c:pt idx="1">
                  <c:v>0.33333333333333331</c:v>
                </c:pt>
                <c:pt idx="2">
                  <c:v>3.6666666666666665</c:v>
                </c:pt>
                <c:pt idx="3">
                  <c:v>3.6666666666666665</c:v>
                </c:pt>
                <c:pt idx="4">
                  <c:v>4.333333333333333</c:v>
                </c:pt>
                <c:pt idx="5">
                  <c:v>2.3333333333333335</c:v>
                </c:pt>
                <c:pt idx="6">
                  <c:v>1.6666666666666667</c:v>
                </c:pt>
                <c:pt idx="7">
                  <c:v>2.3333333333333335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B26-4684-8110-66CC0CC557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66882639"/>
        <c:axId val="1966884559"/>
      </c:radarChart>
      <c:catAx>
        <c:axId val="19668826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kumimoji="1" lang="en-US" altLang="ko-KR" sz="1000" b="0" i="0" u="none" strike="noStrike" kern="0" baseline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1966884559"/>
        <c:crosses val="autoZero"/>
        <c:auto val="1"/>
        <c:lblAlgn val="ctr"/>
        <c:lblOffset val="100"/>
        <c:noMultiLvlLbl val="0"/>
      </c:catAx>
      <c:valAx>
        <c:axId val="1966884559"/>
        <c:scaling>
          <c:orientation val="minMax"/>
          <c:max val="5"/>
        </c:scaling>
        <c:delete val="0"/>
        <c:axPos val="l"/>
        <c:majorGridlines>
          <c:spPr>
            <a:ln w="9525" cap="flat" cmpd="sng" algn="ctr">
              <a:solidFill>
                <a:sysClr val="window" lastClr="FFFFFF">
                  <a:lumMod val="65000"/>
                </a:sys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accent3">
                    <a:lumMod val="20000"/>
                    <a:lumOff val="8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966882639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chemeClr val="accent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9164583091697363"/>
          <c:y val="0.16423173049345868"/>
          <c:w val="0.65983430256885345"/>
          <c:h val="0.70822525694078942"/>
        </c:manualLayout>
      </c:layout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협력</c:v>
                </c:pt>
              </c:strCache>
            </c:strRef>
          </c:tx>
          <c:spPr>
            <a:solidFill>
              <a:srgbClr val="F79646">
                <a:lumMod val="20000"/>
                <a:lumOff val="80000"/>
              </a:srgbClr>
            </a:solidFill>
            <a:ln w="12700">
              <a:solidFill>
                <a:srgbClr val="F79646">
                  <a:lumMod val="50000"/>
                </a:srgbClr>
              </a:solidFill>
            </a:ln>
            <a:effectLst/>
          </c:spPr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0-062E-48AE-B4AF-3FF4C96E935A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1-062E-48AE-B4AF-3FF4C96E935A}"/>
              </c:ext>
            </c:extLst>
          </c:dPt>
          <c:dPt>
            <c:idx val="7"/>
            <c:bubble3D val="0"/>
            <c:extLst>
              <c:ext xmlns:c16="http://schemas.microsoft.com/office/drawing/2014/chart" uri="{C3380CC4-5D6E-409C-BE32-E72D297353CC}">
                <c16:uniqueId val="{00000002-062E-48AE-B4AF-3FF4C96E935A}"/>
              </c:ext>
            </c:extLst>
          </c:dPt>
          <c:cat>
            <c:strRef>
              <c:f>Sheet1!$A$2:$A$9</c:f>
              <c:strCache>
                <c:ptCount val="8"/>
                <c:pt idx="0">
                  <c:v>①</c:v>
                </c:pt>
                <c:pt idx="1">
                  <c:v>②</c:v>
                </c:pt>
                <c:pt idx="2">
                  <c:v>③</c:v>
                </c:pt>
                <c:pt idx="3">
                  <c:v>④</c:v>
                </c:pt>
                <c:pt idx="4">
                  <c:v>⑤</c:v>
                </c:pt>
                <c:pt idx="5">
                  <c:v>⑥</c:v>
                </c:pt>
                <c:pt idx="6">
                  <c:v>⑦</c:v>
                </c:pt>
                <c:pt idx="7">
                  <c:v>⑧</c:v>
                </c:pt>
              </c:strCache>
            </c:strRef>
          </c:cat>
          <c:val>
            <c:numRef>
              <c:f>Sheet1!$B$2:$B$9</c:f>
              <c:numCache>
                <c:formatCode>0.0</c:formatCode>
                <c:ptCount val="8"/>
                <c:pt idx="0">
                  <c:v>3.6</c:v>
                </c:pt>
                <c:pt idx="1">
                  <c:v>3</c:v>
                </c:pt>
                <c:pt idx="2">
                  <c:v>4.2</c:v>
                </c:pt>
                <c:pt idx="3">
                  <c:v>2.2000000000000002</c:v>
                </c:pt>
                <c:pt idx="4">
                  <c:v>2.2000000000000002</c:v>
                </c:pt>
                <c:pt idx="5">
                  <c:v>3</c:v>
                </c:pt>
                <c:pt idx="6">
                  <c:v>2.6</c:v>
                </c:pt>
                <c:pt idx="7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62E-48AE-B4AF-3FF4C96E93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66882639"/>
        <c:axId val="1966884559"/>
      </c:radarChart>
      <c:catAx>
        <c:axId val="19668826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kumimoji="1" lang="en-US" altLang="ko-KR" sz="1000" b="0" i="0" u="none" strike="noStrike" kern="0" baseline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1966884559"/>
        <c:crosses val="autoZero"/>
        <c:auto val="1"/>
        <c:lblAlgn val="ctr"/>
        <c:lblOffset val="100"/>
        <c:noMultiLvlLbl val="0"/>
      </c:catAx>
      <c:valAx>
        <c:axId val="1966884559"/>
        <c:scaling>
          <c:orientation val="minMax"/>
          <c:max val="5"/>
        </c:scaling>
        <c:delete val="0"/>
        <c:axPos val="l"/>
        <c:majorGridlines>
          <c:spPr>
            <a:ln w="9525" cap="flat" cmpd="sng" algn="ctr">
              <a:solidFill>
                <a:sysClr val="window" lastClr="FFFFFF">
                  <a:lumMod val="65000"/>
                </a:sys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966882639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chemeClr val="accent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김성현</c:v>
                </c:pt>
              </c:strCache>
            </c:strRef>
          </c:tx>
          <c:spPr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  <a:effectLst/>
          </c:spPr>
          <c:cat>
            <c:strRef>
              <c:f>Sheet1!$B$1:$I$1</c:f>
              <c:strCache>
                <c:ptCount val="8"/>
                <c:pt idx="0">
                  <c:v>집단</c:v>
                </c:pt>
                <c:pt idx="1">
                  <c:v>분쟁</c:v>
                </c:pt>
                <c:pt idx="2">
                  <c:v>소통</c:v>
                </c:pt>
                <c:pt idx="3">
                  <c:v>개별</c:v>
                </c:pt>
                <c:pt idx="4">
                  <c:v>인사</c:v>
                </c:pt>
                <c:pt idx="5">
                  <c:v>외국어</c:v>
                </c:pt>
                <c:pt idx="6">
                  <c:v>Data</c:v>
                </c:pt>
                <c:pt idx="7">
                  <c:v>지식</c:v>
                </c:pt>
              </c:strCache>
            </c:strRef>
          </c:cat>
          <c:val>
            <c:numRef>
              <c:f>Sheet1!$B$2:$I$2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5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F4-4C8A-9310-BDA8E1D9D5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77151328"/>
        <c:axId val="677158528"/>
        <c:extLst>
          <c:ext xmlns:c15="http://schemas.microsoft.com/office/drawing/2012/chart" uri="{02D57815-91ED-43cb-92C2-25804820EDAC}">
            <c15:filteredRad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Sheet1!$A$3</c15:sqref>
                        </c15:formulaRef>
                      </c:ext>
                    </c:extLst>
                    <c:strCache>
                      <c:ptCount val="1"/>
                      <c:pt idx="0">
                        <c:v>이영준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cat>
                  <c:strRef>
                    <c:extLst>
                      <c:ext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Sheet1!$B$3:$I$3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C5F4-4C8A-9310-BDA8E1D9D568}"/>
                  </c:ext>
                </c:extLst>
              </c15:ser>
            </c15:filteredRadarSeries>
            <c15:filteredRad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Sheet1!$A$4</c15:sqref>
                        </c15:formulaRef>
                      </c:ext>
                    </c:extLst>
                    <c:strCache>
                      <c:ptCount val="1"/>
                      <c:pt idx="0">
                        <c:v>김지양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Sheet1!$B$4:$I$4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C5F4-4C8A-9310-BDA8E1D9D568}"/>
                  </c:ext>
                </c:extLst>
              </c15:ser>
            </c15:filteredRadarSeries>
            <c15:filteredRad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Sheet1!$A$5</c15:sqref>
                        </c15:formulaRef>
                      </c:ext>
                    </c:extLst>
                    <c:strCache>
                      <c:ptCount val="1"/>
                      <c:pt idx="0">
                        <c:v>이시형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Sheet1!$B$5:$I$5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4</c:v>
                      </c:pt>
                      <c:pt idx="1">
                        <c:v>5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1</c:v>
                      </c:pt>
                      <c:pt idx="6">
                        <c:v>4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C5F4-4C8A-9310-BDA8E1D9D568}"/>
                  </c:ext>
                </c:extLst>
              </c15:ser>
            </c15:filteredRadarSeries>
            <c15:filteredRad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Sheet1!$A$6</c15:sqref>
                        </c15:formulaRef>
                      </c:ext>
                    </c:extLst>
                    <c:strCache>
                      <c:ptCount val="1"/>
                      <c:pt idx="0">
                        <c:v>곽지호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Sheet1!$B$6:$I$6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5</c:v>
                      </c:pt>
                      <c:pt idx="6">
                        <c:v>2</c:v>
                      </c:pt>
                      <c:pt idx="7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C5F4-4C8A-9310-BDA8E1D9D568}"/>
                  </c:ext>
                </c:extLst>
              </c15:ser>
            </c15:filteredRadarSeries>
            <c15:filteredRad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Sheet1!$A$7</c15:sqref>
                        </c15:formulaRef>
                      </c:ext>
                    </c:extLst>
                    <c:strCache>
                      <c:ptCount val="1"/>
                      <c:pt idx="0">
                        <c:v>우선근</c:v>
                      </c:pt>
                    </c:strCache>
                  </c:strRef>
                </c:tx>
                <c:spPr>
                  <a:solidFill>
                    <a:schemeClr val="accent6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Sheet1!$B$7:$I$7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3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C5F4-4C8A-9310-BDA8E1D9D568}"/>
                  </c:ext>
                </c:extLst>
              </c15:ser>
            </c15:filteredRadarSeries>
            <c15:filteredRad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Sheet1!$A$8</c15:sqref>
                        </c15:formulaRef>
                      </c:ext>
                    </c:extLst>
                    <c:strCache>
                      <c:ptCount val="1"/>
                      <c:pt idx="0">
                        <c:v>최윤희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Sheet1!$B$8:$I$8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C5F4-4C8A-9310-BDA8E1D9D568}"/>
                  </c:ext>
                </c:extLst>
              </c15:ser>
            </c15:filteredRadarSeries>
            <c15:filteredRad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Sheet1!$A$9</c15:sqref>
                        </c15:formulaRef>
                      </c:ext>
                    </c:extLst>
                    <c:strCache>
                      <c:ptCount val="1"/>
                      <c:pt idx="0">
                        <c:v>채수길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Sheet1!$B$9:$I$9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4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C5F4-4C8A-9310-BDA8E1D9D568}"/>
                  </c:ext>
                </c:extLst>
              </c15:ser>
            </c15:filteredRadarSeries>
            <c15:filteredRad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Sheet1!$A$10</c15:sqref>
                        </c15:formulaRef>
                      </c:ext>
                    </c:extLst>
                    <c:strCache>
                      <c:ptCount val="1"/>
                      <c:pt idx="0">
                        <c:v>우성민</c:v>
                      </c:pt>
                    </c:strCache>
                  </c:strRef>
                </c:tx>
                <c:spPr>
                  <a:solidFill>
                    <a:schemeClr val="accent3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Sheet1!$B$10:$I$10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C5F4-4C8A-9310-BDA8E1D9D568}"/>
                  </c:ext>
                </c:extLst>
              </c15:ser>
            </c15:filteredRadarSeries>
            <c15:filteredRada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Sheet1!$A$11</c15:sqref>
                        </c15:formulaRef>
                      </c:ext>
                    </c:extLst>
                    <c:strCache>
                      <c:ptCount val="1"/>
                      <c:pt idx="0">
                        <c:v>김민호</c:v>
                      </c:pt>
                    </c:strCache>
                  </c:strRef>
                </c:tx>
                <c:spPr>
                  <a:solidFill>
                    <a:schemeClr val="accent4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Sheet1!$B$11:$I$11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C5F4-4C8A-9310-BDA8E1D9D568}"/>
                  </c:ext>
                </c:extLst>
              </c15:ser>
            </c15:filteredRadarSeries>
            <c15:filteredRad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Sheet1!$A$12</c15:sqref>
                        </c15:formulaRef>
                      </c:ext>
                    </c:extLst>
                    <c:strCache>
                      <c:ptCount val="1"/>
                      <c:pt idx="0">
                        <c:v>임효빈</c:v>
                      </c:pt>
                    </c:strCache>
                  </c:strRef>
                </c:tx>
                <c:spPr>
                  <a:solidFill>
                    <a:schemeClr val="accent5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Sheet1!$B$12:$I$12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1</c:v>
                      </c:pt>
                      <c:pt idx="2">
                        <c:v>5</c:v>
                      </c:pt>
                      <c:pt idx="3">
                        <c:v>5</c:v>
                      </c:pt>
                      <c:pt idx="4">
                        <c:v>5</c:v>
                      </c:pt>
                      <c:pt idx="5">
                        <c:v>5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C5F4-4C8A-9310-BDA8E1D9D568}"/>
                  </c:ext>
                </c:extLst>
              </c15:ser>
            </c15:filteredRadarSeries>
            <c15:filteredRad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Sheet1!$A$13</c15:sqref>
                        </c15:formulaRef>
                      </c:ext>
                    </c:extLst>
                    <c:strCache>
                      <c:ptCount val="1"/>
                      <c:pt idx="0">
                        <c:v>윤재승</c:v>
                      </c:pt>
                    </c:strCache>
                  </c:strRef>
                </c:tx>
                <c:spPr>
                  <a:solidFill>
                    <a:schemeClr val="accent6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Sheet1!$B$13:$I$13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1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C5F4-4C8A-9310-BDA8E1D9D568}"/>
                  </c:ext>
                </c:extLst>
              </c15:ser>
            </c15:filteredRadarSeries>
            <c15:filteredRadar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Sheet1!$A$14</c15:sqref>
                        </c15:formulaRef>
                      </c:ext>
                    </c:extLst>
                    <c:strCache>
                      <c:ptCount val="1"/>
                      <c:pt idx="0">
                        <c:v>김한결</c:v>
                      </c:pt>
                    </c:strCache>
                  </c:strRef>
                </c:tx>
                <c:spPr>
                  <a:solidFill>
                    <a:schemeClr val="accent1">
                      <a:lumMod val="80000"/>
                      <a:lumOff val="2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Sheet1!$B$14:$I$14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1</c:v>
                      </c:pt>
                      <c:pt idx="6">
                        <c:v>2</c:v>
                      </c:pt>
                      <c:pt idx="7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C5F4-4C8A-9310-BDA8E1D9D568}"/>
                  </c:ext>
                </c:extLst>
              </c15:ser>
            </c15:filteredRadarSeries>
          </c:ext>
        </c:extLst>
      </c:radarChart>
      <c:catAx>
        <c:axId val="67715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677158528"/>
        <c:crosses val="autoZero"/>
        <c:auto val="1"/>
        <c:lblAlgn val="ctr"/>
        <c:lblOffset val="100"/>
        <c:noMultiLvlLbl val="0"/>
      </c:catAx>
      <c:valAx>
        <c:axId val="677158528"/>
        <c:scaling>
          <c:orientation val="minMax"/>
          <c:max val="5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677151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5"/>
          <c:order val="5"/>
          <c:tx>
            <c:strRef>
              <c:f>Sheet1!$A$7</c:f>
              <c:strCache>
                <c:ptCount val="1"/>
                <c:pt idx="0">
                  <c:v>우선근</c:v>
                </c:pt>
              </c:strCache>
            </c:strRef>
          </c:tx>
          <c:spPr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50000"/>
                </a:schemeClr>
              </a:solidFill>
            </a:ln>
            <a:effectLst/>
          </c:spPr>
          <c:cat>
            <c:strRef>
              <c:f>Sheet1!$B$1:$I$1</c:f>
              <c:strCache>
                <c:ptCount val="8"/>
                <c:pt idx="0">
                  <c:v>집단</c:v>
                </c:pt>
                <c:pt idx="1">
                  <c:v>분쟁</c:v>
                </c:pt>
                <c:pt idx="2">
                  <c:v>소통</c:v>
                </c:pt>
                <c:pt idx="3">
                  <c:v>개별</c:v>
                </c:pt>
                <c:pt idx="4">
                  <c:v>인사</c:v>
                </c:pt>
                <c:pt idx="5">
                  <c:v>외국어</c:v>
                </c:pt>
                <c:pt idx="6">
                  <c:v>Data</c:v>
                </c:pt>
                <c:pt idx="7">
                  <c:v>지식</c:v>
                </c:pt>
              </c:strCache>
            </c:strRef>
          </c:cat>
          <c:val>
            <c:numRef>
              <c:f>Sheet1!$B$7:$I$7</c:f>
              <c:numCache>
                <c:formatCode>0</c:formatCode>
                <c:ptCount val="8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2</c:v>
                </c:pt>
                <c:pt idx="7">
                  <c:v>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9964-4806-BAB8-FA3945E984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77151328"/>
        <c:axId val="677158528"/>
        <c:extLst>
          <c:ext xmlns:c15="http://schemas.microsoft.com/office/drawing/2012/chart" uri="{02D57815-91ED-43cb-92C2-25804820EDAC}">
            <c15:filteredRad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김성현</c:v>
                      </c:pt>
                    </c:strCache>
                  </c:strRef>
                </c:tx>
                <c:spPr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  <a:effectLst/>
                </c:spPr>
                <c:cat>
                  <c:strRef>
                    <c:extLst>
                      <c:ext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Sheet1!$B$2:$I$2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5</c:v>
                      </c:pt>
                      <c:pt idx="3">
                        <c:v>3</c:v>
                      </c:pt>
                      <c:pt idx="4">
                        <c:v>1</c:v>
                      </c:pt>
                      <c:pt idx="5">
                        <c:v>1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9964-4806-BAB8-FA3945E984B9}"/>
                  </c:ext>
                </c:extLst>
              </c15:ser>
            </c15:filteredRadarSeries>
            <c15:filteredRad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Sheet1!$A$3</c15:sqref>
                        </c15:formulaRef>
                      </c:ext>
                    </c:extLst>
                    <c:strCache>
                      <c:ptCount val="1"/>
                      <c:pt idx="0">
                        <c:v>이영준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Sheet1!$B$3:$I$3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9964-4806-BAB8-FA3945E984B9}"/>
                  </c:ext>
                </c:extLst>
              </c15:ser>
            </c15:filteredRadarSeries>
            <c15:filteredRad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Sheet1!$A$4</c15:sqref>
                        </c15:formulaRef>
                      </c:ext>
                    </c:extLst>
                    <c:strCache>
                      <c:ptCount val="1"/>
                      <c:pt idx="0">
                        <c:v>김지양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Sheet1!$B$4:$I$4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9964-4806-BAB8-FA3945E984B9}"/>
                  </c:ext>
                </c:extLst>
              </c15:ser>
            </c15:filteredRadarSeries>
            <c15:filteredRad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Sheet1!$A$5</c15:sqref>
                        </c15:formulaRef>
                      </c:ext>
                    </c:extLst>
                    <c:strCache>
                      <c:ptCount val="1"/>
                      <c:pt idx="0">
                        <c:v>이시형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Sheet1!$B$5:$I$5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4</c:v>
                      </c:pt>
                      <c:pt idx="1">
                        <c:v>5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1</c:v>
                      </c:pt>
                      <c:pt idx="6">
                        <c:v>4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9964-4806-BAB8-FA3945E984B9}"/>
                  </c:ext>
                </c:extLst>
              </c15:ser>
            </c15:filteredRadarSeries>
            <c15:filteredRad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Sheet1!$A$6</c15:sqref>
                        </c15:formulaRef>
                      </c:ext>
                    </c:extLst>
                    <c:strCache>
                      <c:ptCount val="1"/>
                      <c:pt idx="0">
                        <c:v>곽지호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Sheet1!$B$6:$I$6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5</c:v>
                      </c:pt>
                      <c:pt idx="6">
                        <c:v>2</c:v>
                      </c:pt>
                      <c:pt idx="7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9964-4806-BAB8-FA3945E984B9}"/>
                  </c:ext>
                </c:extLst>
              </c15:ser>
            </c15:filteredRadarSeries>
            <c15:filteredRad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Sheet1!$A$8</c15:sqref>
                        </c15:formulaRef>
                      </c:ext>
                    </c:extLst>
                    <c:strCache>
                      <c:ptCount val="1"/>
                      <c:pt idx="0">
                        <c:v>최윤희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Sheet1!$B$8:$I$8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9964-4806-BAB8-FA3945E984B9}"/>
                  </c:ext>
                </c:extLst>
              </c15:ser>
            </c15:filteredRadarSeries>
            <c15:filteredRad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Sheet1!$A$9</c15:sqref>
                        </c15:formulaRef>
                      </c:ext>
                    </c:extLst>
                    <c:strCache>
                      <c:ptCount val="1"/>
                      <c:pt idx="0">
                        <c:v>채수길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Sheet1!$B$9:$I$9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4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9964-4806-BAB8-FA3945E984B9}"/>
                  </c:ext>
                </c:extLst>
              </c15:ser>
            </c15:filteredRadarSeries>
            <c15:filteredRad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Sheet1!$A$10</c15:sqref>
                        </c15:formulaRef>
                      </c:ext>
                    </c:extLst>
                    <c:strCache>
                      <c:ptCount val="1"/>
                      <c:pt idx="0">
                        <c:v>우성민</c:v>
                      </c:pt>
                    </c:strCache>
                  </c:strRef>
                </c:tx>
                <c:spPr>
                  <a:solidFill>
                    <a:schemeClr val="accent3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Sheet1!$B$10:$I$10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9964-4806-BAB8-FA3945E984B9}"/>
                  </c:ext>
                </c:extLst>
              </c15:ser>
            </c15:filteredRadarSeries>
            <c15:filteredRada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Sheet1!$A$11</c15:sqref>
                        </c15:formulaRef>
                      </c:ext>
                    </c:extLst>
                    <c:strCache>
                      <c:ptCount val="1"/>
                      <c:pt idx="0">
                        <c:v>김민호</c:v>
                      </c:pt>
                    </c:strCache>
                  </c:strRef>
                </c:tx>
                <c:spPr>
                  <a:solidFill>
                    <a:schemeClr val="accent4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Sheet1!$B$11:$I$11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9964-4806-BAB8-FA3945E984B9}"/>
                  </c:ext>
                </c:extLst>
              </c15:ser>
            </c15:filteredRadarSeries>
            <c15:filteredRad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Sheet1!$A$12</c15:sqref>
                        </c15:formulaRef>
                      </c:ext>
                    </c:extLst>
                    <c:strCache>
                      <c:ptCount val="1"/>
                      <c:pt idx="0">
                        <c:v>임효빈</c:v>
                      </c:pt>
                    </c:strCache>
                  </c:strRef>
                </c:tx>
                <c:spPr>
                  <a:solidFill>
                    <a:schemeClr val="accent5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Sheet1!$B$12:$I$12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1</c:v>
                      </c:pt>
                      <c:pt idx="2">
                        <c:v>5</c:v>
                      </c:pt>
                      <c:pt idx="3">
                        <c:v>5</c:v>
                      </c:pt>
                      <c:pt idx="4">
                        <c:v>5</c:v>
                      </c:pt>
                      <c:pt idx="5">
                        <c:v>5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9964-4806-BAB8-FA3945E984B9}"/>
                  </c:ext>
                </c:extLst>
              </c15:ser>
            </c15:filteredRadarSeries>
            <c15:filteredRad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Sheet1!$A$13</c15:sqref>
                        </c15:formulaRef>
                      </c:ext>
                    </c:extLst>
                    <c:strCache>
                      <c:ptCount val="1"/>
                      <c:pt idx="0">
                        <c:v>윤재승</c:v>
                      </c:pt>
                    </c:strCache>
                  </c:strRef>
                </c:tx>
                <c:spPr>
                  <a:solidFill>
                    <a:schemeClr val="accent6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Sheet1!$B$13:$I$13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1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9964-4806-BAB8-FA3945E984B9}"/>
                  </c:ext>
                </c:extLst>
              </c15:ser>
            </c15:filteredRadarSeries>
            <c15:filteredRadar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Sheet1!$A$14</c15:sqref>
                        </c15:formulaRef>
                      </c:ext>
                    </c:extLst>
                    <c:strCache>
                      <c:ptCount val="1"/>
                      <c:pt idx="0">
                        <c:v>김한결</c:v>
                      </c:pt>
                    </c:strCache>
                  </c:strRef>
                </c:tx>
                <c:spPr>
                  <a:solidFill>
                    <a:schemeClr val="accent1">
                      <a:lumMod val="80000"/>
                      <a:lumOff val="2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Sheet1!$B$14:$I$14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1</c:v>
                      </c:pt>
                      <c:pt idx="6">
                        <c:v>2</c:v>
                      </c:pt>
                      <c:pt idx="7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9964-4806-BAB8-FA3945E984B9}"/>
                  </c:ext>
                </c:extLst>
              </c15:ser>
            </c15:filteredRadarSeries>
          </c:ext>
        </c:extLst>
      </c:radarChart>
      <c:catAx>
        <c:axId val="67715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677158528"/>
        <c:crosses val="autoZero"/>
        <c:auto val="1"/>
        <c:lblAlgn val="ctr"/>
        <c:lblOffset val="100"/>
        <c:noMultiLvlLbl val="0"/>
      </c:catAx>
      <c:valAx>
        <c:axId val="677158528"/>
        <c:scaling>
          <c:orientation val="minMax"/>
          <c:max val="5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out"/>
        <c:minorTickMark val="none"/>
        <c:tickLblPos val="nextTo"/>
        <c:crossAx val="677151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이영준</c:v>
                </c:pt>
              </c:strCache>
            </c:strRef>
          </c:tx>
          <c:spPr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  <a:effectLst/>
          </c:spPr>
          <c:cat>
            <c:strRef>
              <c:f>Sheet1!$B$1:$I$1</c:f>
              <c:strCache>
                <c:ptCount val="8"/>
                <c:pt idx="0">
                  <c:v>집단</c:v>
                </c:pt>
                <c:pt idx="1">
                  <c:v>분쟁</c:v>
                </c:pt>
                <c:pt idx="2">
                  <c:v>소통</c:v>
                </c:pt>
                <c:pt idx="3">
                  <c:v>개별</c:v>
                </c:pt>
                <c:pt idx="4">
                  <c:v>인사</c:v>
                </c:pt>
                <c:pt idx="5">
                  <c:v>외국어</c:v>
                </c:pt>
                <c:pt idx="6">
                  <c:v>Data</c:v>
                </c:pt>
                <c:pt idx="7">
                  <c:v>지식</c:v>
                </c:pt>
              </c:strCache>
            </c:strRef>
          </c:cat>
          <c:val>
            <c:numRef>
              <c:f>Sheet1!$B$3:$I$3</c:f>
              <c:numCache>
                <c:formatCode>General</c:formatCode>
                <c:ptCount val="8"/>
                <c:pt idx="0">
                  <c:v>3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5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611B-4405-B11A-B2D84C5306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77151328"/>
        <c:axId val="677158528"/>
        <c:extLst>
          <c:ext xmlns:c15="http://schemas.microsoft.com/office/drawing/2012/chart" uri="{02D57815-91ED-43cb-92C2-25804820EDAC}">
            <c15:filteredRad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김성현</c:v>
                      </c:pt>
                    </c:strCache>
                  </c:strRef>
                </c:tx>
                <c:spPr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accent5">
                        <a:lumMod val="50000"/>
                      </a:schemeClr>
                    </a:solidFill>
                  </a:ln>
                  <a:effectLst/>
                </c:spPr>
                <c:cat>
                  <c:strRef>
                    <c:extLst>
                      <c:ext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Sheet1!$B$2:$I$2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5</c:v>
                      </c:pt>
                      <c:pt idx="3">
                        <c:v>3</c:v>
                      </c:pt>
                      <c:pt idx="4">
                        <c:v>1</c:v>
                      </c:pt>
                      <c:pt idx="5">
                        <c:v>1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611B-4405-B11A-B2D84C5306E6}"/>
                  </c:ext>
                </c:extLst>
              </c15:ser>
            </c15:filteredRadarSeries>
            <c15:filteredRad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Sheet1!$A$4</c15:sqref>
                        </c15:formulaRef>
                      </c:ext>
                    </c:extLst>
                    <c:strCache>
                      <c:ptCount val="1"/>
                      <c:pt idx="0">
                        <c:v>김지양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Sheet1!$B$4:$I$4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611B-4405-B11A-B2D84C5306E6}"/>
                  </c:ext>
                </c:extLst>
              </c15:ser>
            </c15:filteredRadarSeries>
            <c15:filteredRad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Sheet1!$A$5</c15:sqref>
                        </c15:formulaRef>
                      </c:ext>
                    </c:extLst>
                    <c:strCache>
                      <c:ptCount val="1"/>
                      <c:pt idx="0">
                        <c:v>이시형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Sheet1!$B$5:$I$5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4</c:v>
                      </c:pt>
                      <c:pt idx="1">
                        <c:v>5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1</c:v>
                      </c:pt>
                      <c:pt idx="6">
                        <c:v>4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611B-4405-B11A-B2D84C5306E6}"/>
                  </c:ext>
                </c:extLst>
              </c15:ser>
            </c15:filteredRadarSeries>
            <c15:filteredRad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Sheet1!$A$6</c15:sqref>
                        </c15:formulaRef>
                      </c:ext>
                    </c:extLst>
                    <c:strCache>
                      <c:ptCount val="1"/>
                      <c:pt idx="0">
                        <c:v>곽지호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Sheet1!$B$6:$I$6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5</c:v>
                      </c:pt>
                      <c:pt idx="6">
                        <c:v>2</c:v>
                      </c:pt>
                      <c:pt idx="7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611B-4405-B11A-B2D84C5306E6}"/>
                  </c:ext>
                </c:extLst>
              </c15:ser>
            </c15:filteredRadarSeries>
            <c15:filteredRad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Sheet1!$A$7</c15:sqref>
                        </c15:formulaRef>
                      </c:ext>
                    </c:extLst>
                    <c:strCache>
                      <c:ptCount val="1"/>
                      <c:pt idx="0">
                        <c:v>우선근</c:v>
                      </c:pt>
                    </c:strCache>
                  </c:strRef>
                </c:tx>
                <c:spPr>
                  <a:solidFill>
                    <a:schemeClr val="accent6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Sheet1!$B$7:$I$7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3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611B-4405-B11A-B2D84C5306E6}"/>
                  </c:ext>
                </c:extLst>
              </c15:ser>
            </c15:filteredRadarSeries>
            <c15:filteredRad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Sheet1!$A$8</c15:sqref>
                        </c15:formulaRef>
                      </c:ext>
                    </c:extLst>
                    <c:strCache>
                      <c:ptCount val="1"/>
                      <c:pt idx="0">
                        <c:v>최윤희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Sheet1!$B$8:$I$8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611B-4405-B11A-B2D84C5306E6}"/>
                  </c:ext>
                </c:extLst>
              </c15:ser>
            </c15:filteredRadarSeries>
            <c15:filteredRad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Sheet1!$A$9</c15:sqref>
                        </c15:formulaRef>
                      </c:ext>
                    </c:extLst>
                    <c:strCache>
                      <c:ptCount val="1"/>
                      <c:pt idx="0">
                        <c:v>채수길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Sheet1!$B$9:$I$9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4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611B-4405-B11A-B2D84C5306E6}"/>
                  </c:ext>
                </c:extLst>
              </c15:ser>
            </c15:filteredRadarSeries>
            <c15:filteredRad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Sheet1!$A$10</c15:sqref>
                        </c15:formulaRef>
                      </c:ext>
                    </c:extLst>
                    <c:strCache>
                      <c:ptCount val="1"/>
                      <c:pt idx="0">
                        <c:v>우성민</c:v>
                      </c:pt>
                    </c:strCache>
                  </c:strRef>
                </c:tx>
                <c:spPr>
                  <a:solidFill>
                    <a:schemeClr val="accent3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Sheet1!$B$10:$I$10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611B-4405-B11A-B2D84C5306E6}"/>
                  </c:ext>
                </c:extLst>
              </c15:ser>
            </c15:filteredRadarSeries>
            <c15:filteredRada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Sheet1!$A$11</c15:sqref>
                        </c15:formulaRef>
                      </c:ext>
                    </c:extLst>
                    <c:strCache>
                      <c:ptCount val="1"/>
                      <c:pt idx="0">
                        <c:v>김민호</c:v>
                      </c:pt>
                    </c:strCache>
                  </c:strRef>
                </c:tx>
                <c:spPr>
                  <a:solidFill>
                    <a:schemeClr val="accent4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Sheet1!$B$11:$I$11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611B-4405-B11A-B2D84C5306E6}"/>
                  </c:ext>
                </c:extLst>
              </c15:ser>
            </c15:filteredRadarSeries>
            <c15:filteredRad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Sheet1!$A$12</c15:sqref>
                        </c15:formulaRef>
                      </c:ext>
                    </c:extLst>
                    <c:strCache>
                      <c:ptCount val="1"/>
                      <c:pt idx="0">
                        <c:v>임효빈</c:v>
                      </c:pt>
                    </c:strCache>
                  </c:strRef>
                </c:tx>
                <c:spPr>
                  <a:solidFill>
                    <a:schemeClr val="accent5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Sheet1!$B$12:$I$12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1</c:v>
                      </c:pt>
                      <c:pt idx="2">
                        <c:v>5</c:v>
                      </c:pt>
                      <c:pt idx="3">
                        <c:v>5</c:v>
                      </c:pt>
                      <c:pt idx="4">
                        <c:v>5</c:v>
                      </c:pt>
                      <c:pt idx="5">
                        <c:v>5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611B-4405-B11A-B2D84C5306E6}"/>
                  </c:ext>
                </c:extLst>
              </c15:ser>
            </c15:filteredRadarSeries>
            <c15:filteredRad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Sheet1!$A$13</c15:sqref>
                        </c15:formulaRef>
                      </c:ext>
                    </c:extLst>
                    <c:strCache>
                      <c:ptCount val="1"/>
                      <c:pt idx="0">
                        <c:v>윤재승</c:v>
                      </c:pt>
                    </c:strCache>
                  </c:strRef>
                </c:tx>
                <c:spPr>
                  <a:solidFill>
                    <a:schemeClr val="accent6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Sheet1!$B$13:$I$13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1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611B-4405-B11A-B2D84C5306E6}"/>
                  </c:ext>
                </c:extLst>
              </c15:ser>
            </c15:filteredRadarSeries>
            <c15:filteredRadar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Sheet1!$A$14</c15:sqref>
                        </c15:formulaRef>
                      </c:ext>
                    </c:extLst>
                    <c:strCache>
                      <c:ptCount val="1"/>
                      <c:pt idx="0">
                        <c:v>김한결</c:v>
                      </c:pt>
                    </c:strCache>
                  </c:strRef>
                </c:tx>
                <c:spPr>
                  <a:solidFill>
                    <a:schemeClr val="accent1">
                      <a:lumMod val="80000"/>
                      <a:lumOff val="2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Sheet1!$B$14:$I$14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1</c:v>
                      </c:pt>
                      <c:pt idx="6">
                        <c:v>2</c:v>
                      </c:pt>
                      <c:pt idx="7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611B-4405-B11A-B2D84C5306E6}"/>
                  </c:ext>
                </c:extLst>
              </c15:ser>
            </c15:filteredRadarSeries>
          </c:ext>
        </c:extLst>
      </c:radarChart>
      <c:catAx>
        <c:axId val="67715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677158528"/>
        <c:crosses val="autoZero"/>
        <c:auto val="1"/>
        <c:lblAlgn val="ctr"/>
        <c:lblOffset val="100"/>
        <c:noMultiLvlLbl val="0"/>
      </c:catAx>
      <c:valAx>
        <c:axId val="677158528"/>
        <c:scaling>
          <c:orientation val="minMax"/>
          <c:max val="5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677151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2"/>
          <c:order val="2"/>
          <c:tx>
            <c:strRef>
              <c:f>Sheet1!$A$4</c:f>
              <c:strCache>
                <c:ptCount val="1"/>
                <c:pt idx="0">
                  <c:v>김지양</c:v>
                </c:pt>
              </c:strCache>
            </c:strRef>
          </c:tx>
          <c:spPr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50000"/>
                </a:schemeClr>
              </a:solidFill>
            </a:ln>
            <a:effectLst/>
          </c:spPr>
          <c:cat>
            <c:strRef>
              <c:f>Sheet1!$B$1:$I$1</c:f>
              <c:strCache>
                <c:ptCount val="8"/>
                <c:pt idx="0">
                  <c:v>집단</c:v>
                </c:pt>
                <c:pt idx="1">
                  <c:v>분쟁</c:v>
                </c:pt>
                <c:pt idx="2">
                  <c:v>소통</c:v>
                </c:pt>
                <c:pt idx="3">
                  <c:v>개별</c:v>
                </c:pt>
                <c:pt idx="4">
                  <c:v>인사</c:v>
                </c:pt>
                <c:pt idx="5">
                  <c:v>외국어</c:v>
                </c:pt>
                <c:pt idx="6">
                  <c:v>Data</c:v>
                </c:pt>
                <c:pt idx="7">
                  <c:v>지식</c:v>
                </c:pt>
              </c:strCache>
            </c:strRef>
          </c:cat>
          <c:val>
            <c:numRef>
              <c:f>Sheet1!$B$4:$I$4</c:f>
              <c:numCache>
                <c:formatCode>General</c:formatCode>
                <c:ptCount val="8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3</c:v>
                </c:pt>
                <c:pt idx="6">
                  <c:v>3</c:v>
                </c:pt>
                <c:pt idx="7">
                  <c:v>5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6052-4867-8FDE-B7F8E2CC13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77151328"/>
        <c:axId val="677158528"/>
        <c:extLst>
          <c:ext xmlns:c15="http://schemas.microsoft.com/office/drawing/2012/chart" uri="{02D57815-91ED-43cb-92C2-25804820EDAC}">
            <c15:filteredRad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김성현</c:v>
                      </c:pt>
                    </c:strCache>
                  </c:strRef>
                </c:tx>
                <c:spPr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accent5">
                        <a:lumMod val="50000"/>
                      </a:schemeClr>
                    </a:solidFill>
                  </a:ln>
                  <a:effectLst/>
                </c:spPr>
                <c:cat>
                  <c:strRef>
                    <c:extLst>
                      <c:ext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Sheet1!$B$2:$I$2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5</c:v>
                      </c:pt>
                      <c:pt idx="3">
                        <c:v>3</c:v>
                      </c:pt>
                      <c:pt idx="4">
                        <c:v>1</c:v>
                      </c:pt>
                      <c:pt idx="5">
                        <c:v>1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6052-4867-8FDE-B7F8E2CC13B3}"/>
                  </c:ext>
                </c:extLst>
              </c15:ser>
            </c15:filteredRadarSeries>
            <c15:filteredRad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Sheet1!$A$3</c15:sqref>
                        </c15:formulaRef>
                      </c:ext>
                    </c:extLst>
                    <c:strCache>
                      <c:ptCount val="1"/>
                      <c:pt idx="0">
                        <c:v>이영준</c:v>
                      </c:pt>
                    </c:strCache>
                  </c:strRef>
                </c:tx>
                <c:spPr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accent5">
                        <a:lumMod val="50000"/>
                      </a:schemeClr>
                    </a:solidFill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Sheet1!$B$3:$I$3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6052-4867-8FDE-B7F8E2CC13B3}"/>
                  </c:ext>
                </c:extLst>
              </c15:ser>
            </c15:filteredRadarSeries>
            <c15:filteredRad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Sheet1!$A$5</c15:sqref>
                        </c15:formulaRef>
                      </c:ext>
                    </c:extLst>
                    <c:strCache>
                      <c:ptCount val="1"/>
                      <c:pt idx="0">
                        <c:v>이시형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Sheet1!$B$5:$I$5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4</c:v>
                      </c:pt>
                      <c:pt idx="1">
                        <c:v>5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1</c:v>
                      </c:pt>
                      <c:pt idx="6">
                        <c:v>4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6052-4867-8FDE-B7F8E2CC13B3}"/>
                  </c:ext>
                </c:extLst>
              </c15:ser>
            </c15:filteredRadarSeries>
            <c15:filteredRad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Sheet1!$A$6</c15:sqref>
                        </c15:formulaRef>
                      </c:ext>
                    </c:extLst>
                    <c:strCache>
                      <c:ptCount val="1"/>
                      <c:pt idx="0">
                        <c:v>곽지호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Sheet1!$B$6:$I$6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5</c:v>
                      </c:pt>
                      <c:pt idx="6">
                        <c:v>2</c:v>
                      </c:pt>
                      <c:pt idx="7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6052-4867-8FDE-B7F8E2CC13B3}"/>
                  </c:ext>
                </c:extLst>
              </c15:ser>
            </c15:filteredRadarSeries>
            <c15:filteredRad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Sheet1!$A$7</c15:sqref>
                        </c15:formulaRef>
                      </c:ext>
                    </c:extLst>
                    <c:strCache>
                      <c:ptCount val="1"/>
                      <c:pt idx="0">
                        <c:v>우선근</c:v>
                      </c:pt>
                    </c:strCache>
                  </c:strRef>
                </c:tx>
                <c:spPr>
                  <a:solidFill>
                    <a:schemeClr val="accent6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Sheet1!$B$7:$I$7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3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6052-4867-8FDE-B7F8E2CC13B3}"/>
                  </c:ext>
                </c:extLst>
              </c15:ser>
            </c15:filteredRadarSeries>
            <c15:filteredRad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Sheet1!$A$8</c15:sqref>
                        </c15:formulaRef>
                      </c:ext>
                    </c:extLst>
                    <c:strCache>
                      <c:ptCount val="1"/>
                      <c:pt idx="0">
                        <c:v>최윤희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Sheet1!$B$8:$I$8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6052-4867-8FDE-B7F8E2CC13B3}"/>
                  </c:ext>
                </c:extLst>
              </c15:ser>
            </c15:filteredRadarSeries>
            <c15:filteredRad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Sheet1!$A$9</c15:sqref>
                        </c15:formulaRef>
                      </c:ext>
                    </c:extLst>
                    <c:strCache>
                      <c:ptCount val="1"/>
                      <c:pt idx="0">
                        <c:v>채수길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Sheet1!$B$9:$I$9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4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6052-4867-8FDE-B7F8E2CC13B3}"/>
                  </c:ext>
                </c:extLst>
              </c15:ser>
            </c15:filteredRadarSeries>
            <c15:filteredRad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Sheet1!$A$10</c15:sqref>
                        </c15:formulaRef>
                      </c:ext>
                    </c:extLst>
                    <c:strCache>
                      <c:ptCount val="1"/>
                      <c:pt idx="0">
                        <c:v>우성민</c:v>
                      </c:pt>
                    </c:strCache>
                  </c:strRef>
                </c:tx>
                <c:spPr>
                  <a:solidFill>
                    <a:schemeClr val="accent3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Sheet1!$B$10:$I$10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6052-4867-8FDE-B7F8E2CC13B3}"/>
                  </c:ext>
                </c:extLst>
              </c15:ser>
            </c15:filteredRadarSeries>
            <c15:filteredRada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Sheet1!$A$11</c15:sqref>
                        </c15:formulaRef>
                      </c:ext>
                    </c:extLst>
                    <c:strCache>
                      <c:ptCount val="1"/>
                      <c:pt idx="0">
                        <c:v>김민호</c:v>
                      </c:pt>
                    </c:strCache>
                  </c:strRef>
                </c:tx>
                <c:spPr>
                  <a:solidFill>
                    <a:schemeClr val="accent4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Sheet1!$B$11:$I$11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6052-4867-8FDE-B7F8E2CC13B3}"/>
                  </c:ext>
                </c:extLst>
              </c15:ser>
            </c15:filteredRadarSeries>
            <c15:filteredRad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Sheet1!$A$12</c15:sqref>
                        </c15:formulaRef>
                      </c:ext>
                    </c:extLst>
                    <c:strCache>
                      <c:ptCount val="1"/>
                      <c:pt idx="0">
                        <c:v>임효빈</c:v>
                      </c:pt>
                    </c:strCache>
                  </c:strRef>
                </c:tx>
                <c:spPr>
                  <a:solidFill>
                    <a:schemeClr val="accent5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Sheet1!$B$12:$I$12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1</c:v>
                      </c:pt>
                      <c:pt idx="2">
                        <c:v>5</c:v>
                      </c:pt>
                      <c:pt idx="3">
                        <c:v>5</c:v>
                      </c:pt>
                      <c:pt idx="4">
                        <c:v>5</c:v>
                      </c:pt>
                      <c:pt idx="5">
                        <c:v>5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6052-4867-8FDE-B7F8E2CC13B3}"/>
                  </c:ext>
                </c:extLst>
              </c15:ser>
            </c15:filteredRadarSeries>
            <c15:filteredRad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Sheet1!$A$13</c15:sqref>
                        </c15:formulaRef>
                      </c:ext>
                    </c:extLst>
                    <c:strCache>
                      <c:ptCount val="1"/>
                      <c:pt idx="0">
                        <c:v>윤재승</c:v>
                      </c:pt>
                    </c:strCache>
                  </c:strRef>
                </c:tx>
                <c:spPr>
                  <a:solidFill>
                    <a:schemeClr val="accent6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Sheet1!$B$13:$I$13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1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6052-4867-8FDE-B7F8E2CC13B3}"/>
                  </c:ext>
                </c:extLst>
              </c15:ser>
            </c15:filteredRadarSeries>
            <c15:filteredRadar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Sheet1!$A$14</c15:sqref>
                        </c15:formulaRef>
                      </c:ext>
                    </c:extLst>
                    <c:strCache>
                      <c:ptCount val="1"/>
                      <c:pt idx="0">
                        <c:v>김한결</c:v>
                      </c:pt>
                    </c:strCache>
                  </c:strRef>
                </c:tx>
                <c:spPr>
                  <a:solidFill>
                    <a:schemeClr val="accent1">
                      <a:lumMod val="80000"/>
                      <a:lumOff val="2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Sheet1!$B$14:$I$14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1</c:v>
                      </c:pt>
                      <c:pt idx="6">
                        <c:v>2</c:v>
                      </c:pt>
                      <c:pt idx="7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6052-4867-8FDE-B7F8E2CC13B3}"/>
                  </c:ext>
                </c:extLst>
              </c15:ser>
            </c15:filteredRadarSeries>
          </c:ext>
        </c:extLst>
      </c:radarChart>
      <c:catAx>
        <c:axId val="67715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677158528"/>
        <c:crosses val="autoZero"/>
        <c:auto val="1"/>
        <c:lblAlgn val="ctr"/>
        <c:lblOffset val="100"/>
        <c:noMultiLvlLbl val="0"/>
      </c:catAx>
      <c:valAx>
        <c:axId val="677158528"/>
        <c:scaling>
          <c:orientation val="minMax"/>
          <c:max val="5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677151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3"/>
          <c:order val="3"/>
          <c:tx>
            <c:strRef>
              <c:f>Sheet1!$A$5</c:f>
              <c:strCache>
                <c:ptCount val="1"/>
                <c:pt idx="0">
                  <c:v>이시형</c:v>
                </c:pt>
              </c:strCache>
            </c:strRef>
          </c:tx>
          <c:spPr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50000"/>
                </a:schemeClr>
              </a:solidFill>
            </a:ln>
            <a:effectLst/>
          </c:spPr>
          <c:cat>
            <c:strRef>
              <c:f>Sheet1!$B$1:$I$1</c:f>
              <c:strCache>
                <c:ptCount val="8"/>
                <c:pt idx="0">
                  <c:v>집단</c:v>
                </c:pt>
                <c:pt idx="1">
                  <c:v>분쟁</c:v>
                </c:pt>
                <c:pt idx="2">
                  <c:v>소통</c:v>
                </c:pt>
                <c:pt idx="3">
                  <c:v>개별</c:v>
                </c:pt>
                <c:pt idx="4">
                  <c:v>인사</c:v>
                </c:pt>
                <c:pt idx="5">
                  <c:v>외국어</c:v>
                </c:pt>
                <c:pt idx="6">
                  <c:v>Data</c:v>
                </c:pt>
                <c:pt idx="7">
                  <c:v>지식</c:v>
                </c:pt>
              </c:strCache>
            </c:strRef>
          </c:cat>
          <c:val>
            <c:numRef>
              <c:f>Sheet1!$B$5:$I$5</c:f>
              <c:numCache>
                <c:formatCode>General</c:formatCode>
                <c:ptCount val="8"/>
                <c:pt idx="0">
                  <c:v>4</c:v>
                </c:pt>
                <c:pt idx="1">
                  <c:v>5</c:v>
                </c:pt>
                <c:pt idx="2">
                  <c:v>3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  <c:pt idx="6">
                  <c:v>4</c:v>
                </c:pt>
                <c:pt idx="7">
                  <c:v>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8307-427F-B20B-A1B71E6926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77151328"/>
        <c:axId val="677158528"/>
        <c:extLst>
          <c:ext xmlns:c15="http://schemas.microsoft.com/office/drawing/2012/chart" uri="{02D57815-91ED-43cb-92C2-25804820EDAC}">
            <c15:filteredRad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김성현</c:v>
                      </c:pt>
                    </c:strCache>
                  </c:strRef>
                </c:tx>
                <c:spPr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accent5">
                        <a:lumMod val="50000"/>
                      </a:schemeClr>
                    </a:solidFill>
                  </a:ln>
                  <a:effectLst/>
                </c:spPr>
                <c:cat>
                  <c:strRef>
                    <c:extLst>
                      <c:ext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Sheet1!$B$2:$I$2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5</c:v>
                      </c:pt>
                      <c:pt idx="3">
                        <c:v>3</c:v>
                      </c:pt>
                      <c:pt idx="4">
                        <c:v>1</c:v>
                      </c:pt>
                      <c:pt idx="5">
                        <c:v>1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8307-427F-B20B-A1B71E69261D}"/>
                  </c:ext>
                </c:extLst>
              </c15:ser>
            </c15:filteredRadarSeries>
            <c15:filteredRad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Sheet1!$A$3</c15:sqref>
                        </c15:formulaRef>
                      </c:ext>
                    </c:extLst>
                    <c:strCache>
                      <c:ptCount val="1"/>
                      <c:pt idx="0">
                        <c:v>이영준</c:v>
                      </c:pt>
                    </c:strCache>
                  </c:strRef>
                </c:tx>
                <c:spPr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accent5">
                        <a:lumMod val="50000"/>
                      </a:schemeClr>
                    </a:solidFill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Sheet1!$B$3:$I$3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8307-427F-B20B-A1B71E69261D}"/>
                  </c:ext>
                </c:extLst>
              </c15:ser>
            </c15:filteredRadarSeries>
            <c15:filteredRad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Sheet1!$A$4</c15:sqref>
                        </c15:formulaRef>
                      </c:ext>
                    </c:extLst>
                    <c:strCache>
                      <c:ptCount val="1"/>
                      <c:pt idx="0">
                        <c:v>김지양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Sheet1!$B$4:$I$4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8307-427F-B20B-A1B71E69261D}"/>
                  </c:ext>
                </c:extLst>
              </c15:ser>
            </c15:filteredRadarSeries>
            <c15:filteredRad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Sheet1!$A$6</c15:sqref>
                        </c15:formulaRef>
                      </c:ext>
                    </c:extLst>
                    <c:strCache>
                      <c:ptCount val="1"/>
                      <c:pt idx="0">
                        <c:v>곽지호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Sheet1!$B$6:$I$6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5</c:v>
                      </c:pt>
                      <c:pt idx="6">
                        <c:v>2</c:v>
                      </c:pt>
                      <c:pt idx="7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8307-427F-B20B-A1B71E69261D}"/>
                  </c:ext>
                </c:extLst>
              </c15:ser>
            </c15:filteredRadarSeries>
            <c15:filteredRad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Sheet1!$A$7</c15:sqref>
                        </c15:formulaRef>
                      </c:ext>
                    </c:extLst>
                    <c:strCache>
                      <c:ptCount val="1"/>
                      <c:pt idx="0">
                        <c:v>우선근</c:v>
                      </c:pt>
                    </c:strCache>
                  </c:strRef>
                </c:tx>
                <c:spPr>
                  <a:solidFill>
                    <a:schemeClr val="accent6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Sheet1!$B$7:$I$7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3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8307-427F-B20B-A1B71E69261D}"/>
                  </c:ext>
                </c:extLst>
              </c15:ser>
            </c15:filteredRadarSeries>
            <c15:filteredRad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Sheet1!$A$8</c15:sqref>
                        </c15:formulaRef>
                      </c:ext>
                    </c:extLst>
                    <c:strCache>
                      <c:ptCount val="1"/>
                      <c:pt idx="0">
                        <c:v>최윤희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Sheet1!$B$8:$I$8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8307-427F-B20B-A1B71E69261D}"/>
                  </c:ext>
                </c:extLst>
              </c15:ser>
            </c15:filteredRadarSeries>
            <c15:filteredRad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Sheet1!$A$9</c15:sqref>
                        </c15:formulaRef>
                      </c:ext>
                    </c:extLst>
                    <c:strCache>
                      <c:ptCount val="1"/>
                      <c:pt idx="0">
                        <c:v>채수길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Sheet1!$B$9:$I$9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4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8307-427F-B20B-A1B71E69261D}"/>
                  </c:ext>
                </c:extLst>
              </c15:ser>
            </c15:filteredRadarSeries>
            <c15:filteredRad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Sheet1!$A$10</c15:sqref>
                        </c15:formulaRef>
                      </c:ext>
                    </c:extLst>
                    <c:strCache>
                      <c:ptCount val="1"/>
                      <c:pt idx="0">
                        <c:v>우성민</c:v>
                      </c:pt>
                    </c:strCache>
                  </c:strRef>
                </c:tx>
                <c:spPr>
                  <a:solidFill>
                    <a:schemeClr val="accent3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Sheet1!$B$10:$I$10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8307-427F-B20B-A1B71E69261D}"/>
                  </c:ext>
                </c:extLst>
              </c15:ser>
            </c15:filteredRadarSeries>
            <c15:filteredRada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Sheet1!$A$11</c15:sqref>
                        </c15:formulaRef>
                      </c:ext>
                    </c:extLst>
                    <c:strCache>
                      <c:ptCount val="1"/>
                      <c:pt idx="0">
                        <c:v>김민호</c:v>
                      </c:pt>
                    </c:strCache>
                  </c:strRef>
                </c:tx>
                <c:spPr>
                  <a:solidFill>
                    <a:schemeClr val="accent4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Sheet1!$B$11:$I$11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8307-427F-B20B-A1B71E69261D}"/>
                  </c:ext>
                </c:extLst>
              </c15:ser>
            </c15:filteredRadarSeries>
            <c15:filteredRad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Sheet1!$A$12</c15:sqref>
                        </c15:formulaRef>
                      </c:ext>
                    </c:extLst>
                    <c:strCache>
                      <c:ptCount val="1"/>
                      <c:pt idx="0">
                        <c:v>임효빈</c:v>
                      </c:pt>
                    </c:strCache>
                  </c:strRef>
                </c:tx>
                <c:spPr>
                  <a:solidFill>
                    <a:schemeClr val="accent5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Sheet1!$B$12:$I$12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1</c:v>
                      </c:pt>
                      <c:pt idx="2">
                        <c:v>5</c:v>
                      </c:pt>
                      <c:pt idx="3">
                        <c:v>5</c:v>
                      </c:pt>
                      <c:pt idx="4">
                        <c:v>5</c:v>
                      </c:pt>
                      <c:pt idx="5">
                        <c:v>5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8307-427F-B20B-A1B71E69261D}"/>
                  </c:ext>
                </c:extLst>
              </c15:ser>
            </c15:filteredRadarSeries>
            <c15:filteredRad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Sheet1!$A$13</c15:sqref>
                        </c15:formulaRef>
                      </c:ext>
                    </c:extLst>
                    <c:strCache>
                      <c:ptCount val="1"/>
                      <c:pt idx="0">
                        <c:v>윤재승</c:v>
                      </c:pt>
                    </c:strCache>
                  </c:strRef>
                </c:tx>
                <c:spPr>
                  <a:solidFill>
                    <a:schemeClr val="accent6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Sheet1!$B$13:$I$13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1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8307-427F-B20B-A1B71E69261D}"/>
                  </c:ext>
                </c:extLst>
              </c15:ser>
            </c15:filteredRadarSeries>
            <c15:filteredRadar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Sheet1!$A$14</c15:sqref>
                        </c15:formulaRef>
                      </c:ext>
                    </c:extLst>
                    <c:strCache>
                      <c:ptCount val="1"/>
                      <c:pt idx="0">
                        <c:v>김한결</c:v>
                      </c:pt>
                    </c:strCache>
                  </c:strRef>
                </c:tx>
                <c:spPr>
                  <a:solidFill>
                    <a:schemeClr val="accent1">
                      <a:lumMod val="80000"/>
                      <a:lumOff val="2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Sheet1!$B$14:$I$14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1</c:v>
                      </c:pt>
                      <c:pt idx="6">
                        <c:v>2</c:v>
                      </c:pt>
                      <c:pt idx="7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8307-427F-B20B-A1B71E69261D}"/>
                  </c:ext>
                </c:extLst>
              </c15:ser>
            </c15:filteredRadarSeries>
          </c:ext>
        </c:extLst>
      </c:radarChart>
      <c:catAx>
        <c:axId val="67715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677158528"/>
        <c:crosses val="autoZero"/>
        <c:auto val="1"/>
        <c:lblAlgn val="ctr"/>
        <c:lblOffset val="100"/>
        <c:noMultiLvlLbl val="0"/>
      </c:catAx>
      <c:valAx>
        <c:axId val="677158528"/>
        <c:scaling>
          <c:orientation val="minMax"/>
          <c:max val="5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677151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4"/>
          <c:order val="4"/>
          <c:tx>
            <c:strRef>
              <c:f>Sheet1!$A$6</c:f>
              <c:strCache>
                <c:ptCount val="1"/>
                <c:pt idx="0">
                  <c:v>곽지호</c:v>
                </c:pt>
              </c:strCache>
            </c:strRef>
          </c:tx>
          <c:spPr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50000"/>
                </a:schemeClr>
              </a:solidFill>
            </a:ln>
            <a:effectLst/>
          </c:spPr>
          <c:cat>
            <c:strRef>
              <c:f>Sheet1!$B$1:$I$1</c:f>
              <c:strCache>
                <c:ptCount val="8"/>
                <c:pt idx="0">
                  <c:v>집단</c:v>
                </c:pt>
                <c:pt idx="1">
                  <c:v>분쟁</c:v>
                </c:pt>
                <c:pt idx="2">
                  <c:v>소통</c:v>
                </c:pt>
                <c:pt idx="3">
                  <c:v>개별</c:v>
                </c:pt>
                <c:pt idx="4">
                  <c:v>인사</c:v>
                </c:pt>
                <c:pt idx="5">
                  <c:v>외국어</c:v>
                </c:pt>
                <c:pt idx="6">
                  <c:v>Data</c:v>
                </c:pt>
                <c:pt idx="7">
                  <c:v>지식</c:v>
                </c:pt>
              </c:strCache>
            </c:strRef>
          </c:cat>
          <c:val>
            <c:numRef>
              <c:f>Sheet1!$B$6:$I$6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5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EE21-4C8A-93A2-C38317C494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77151328"/>
        <c:axId val="677158528"/>
        <c:extLst>
          <c:ext xmlns:c15="http://schemas.microsoft.com/office/drawing/2012/chart" uri="{02D57815-91ED-43cb-92C2-25804820EDAC}">
            <c15:filteredRad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김성현</c:v>
                      </c:pt>
                    </c:strCache>
                  </c:strRef>
                </c:tx>
                <c:spPr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accent5">
                        <a:lumMod val="50000"/>
                      </a:schemeClr>
                    </a:solidFill>
                  </a:ln>
                  <a:effectLst/>
                </c:spPr>
                <c:cat>
                  <c:strRef>
                    <c:extLst>
                      <c:ext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Sheet1!$B$2:$I$2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5</c:v>
                      </c:pt>
                      <c:pt idx="3">
                        <c:v>3</c:v>
                      </c:pt>
                      <c:pt idx="4">
                        <c:v>1</c:v>
                      </c:pt>
                      <c:pt idx="5">
                        <c:v>1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EE21-4C8A-93A2-C38317C49484}"/>
                  </c:ext>
                </c:extLst>
              </c15:ser>
            </c15:filteredRadarSeries>
            <c15:filteredRad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Sheet1!$A$3</c15:sqref>
                        </c15:formulaRef>
                      </c:ext>
                    </c:extLst>
                    <c:strCache>
                      <c:ptCount val="1"/>
                      <c:pt idx="0">
                        <c:v>이영준</c:v>
                      </c:pt>
                    </c:strCache>
                  </c:strRef>
                </c:tx>
                <c:spPr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accent5">
                        <a:lumMod val="50000"/>
                      </a:schemeClr>
                    </a:solidFill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Sheet1!$B$3:$I$3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EE21-4C8A-93A2-C38317C49484}"/>
                  </c:ext>
                </c:extLst>
              </c15:ser>
            </c15:filteredRadarSeries>
            <c15:filteredRad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Sheet1!$A$4</c15:sqref>
                        </c15:formulaRef>
                      </c:ext>
                    </c:extLst>
                    <c:strCache>
                      <c:ptCount val="1"/>
                      <c:pt idx="0">
                        <c:v>김지양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Sheet1!$B$4:$I$4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EE21-4C8A-93A2-C38317C49484}"/>
                  </c:ext>
                </c:extLst>
              </c15:ser>
            </c15:filteredRadarSeries>
            <c15:filteredRad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Sheet1!$A$5</c15:sqref>
                        </c15:formulaRef>
                      </c:ext>
                    </c:extLst>
                    <c:strCache>
                      <c:ptCount val="1"/>
                      <c:pt idx="0">
                        <c:v>이시형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Sheet1!$B$5:$I$5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4</c:v>
                      </c:pt>
                      <c:pt idx="1">
                        <c:v>5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1</c:v>
                      </c:pt>
                      <c:pt idx="6">
                        <c:v>4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EE21-4C8A-93A2-C38317C49484}"/>
                  </c:ext>
                </c:extLst>
              </c15:ser>
            </c15:filteredRadarSeries>
            <c15:filteredRad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Sheet1!$A$7</c15:sqref>
                        </c15:formulaRef>
                      </c:ext>
                    </c:extLst>
                    <c:strCache>
                      <c:ptCount val="1"/>
                      <c:pt idx="0">
                        <c:v>우선근</c:v>
                      </c:pt>
                    </c:strCache>
                  </c:strRef>
                </c:tx>
                <c:spPr>
                  <a:solidFill>
                    <a:schemeClr val="accent6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Sheet1!$B$7:$I$7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3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EE21-4C8A-93A2-C38317C49484}"/>
                  </c:ext>
                </c:extLst>
              </c15:ser>
            </c15:filteredRadarSeries>
            <c15:filteredRad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Sheet1!$A$8</c15:sqref>
                        </c15:formulaRef>
                      </c:ext>
                    </c:extLst>
                    <c:strCache>
                      <c:ptCount val="1"/>
                      <c:pt idx="0">
                        <c:v>최윤희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Sheet1!$B$8:$I$8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EE21-4C8A-93A2-C38317C49484}"/>
                  </c:ext>
                </c:extLst>
              </c15:ser>
            </c15:filteredRadarSeries>
            <c15:filteredRad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Sheet1!$A$9</c15:sqref>
                        </c15:formulaRef>
                      </c:ext>
                    </c:extLst>
                    <c:strCache>
                      <c:ptCount val="1"/>
                      <c:pt idx="0">
                        <c:v>채수길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Sheet1!$B$9:$I$9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4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EE21-4C8A-93A2-C38317C49484}"/>
                  </c:ext>
                </c:extLst>
              </c15:ser>
            </c15:filteredRadarSeries>
            <c15:filteredRad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Sheet1!$A$10</c15:sqref>
                        </c15:formulaRef>
                      </c:ext>
                    </c:extLst>
                    <c:strCache>
                      <c:ptCount val="1"/>
                      <c:pt idx="0">
                        <c:v>우성민</c:v>
                      </c:pt>
                    </c:strCache>
                  </c:strRef>
                </c:tx>
                <c:spPr>
                  <a:solidFill>
                    <a:schemeClr val="accent3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Sheet1!$B$10:$I$10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EE21-4C8A-93A2-C38317C49484}"/>
                  </c:ext>
                </c:extLst>
              </c15:ser>
            </c15:filteredRadarSeries>
            <c15:filteredRada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Sheet1!$A$11</c15:sqref>
                        </c15:formulaRef>
                      </c:ext>
                    </c:extLst>
                    <c:strCache>
                      <c:ptCount val="1"/>
                      <c:pt idx="0">
                        <c:v>김민호</c:v>
                      </c:pt>
                    </c:strCache>
                  </c:strRef>
                </c:tx>
                <c:spPr>
                  <a:solidFill>
                    <a:schemeClr val="accent4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Sheet1!$B$11:$I$11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EE21-4C8A-93A2-C38317C49484}"/>
                  </c:ext>
                </c:extLst>
              </c15:ser>
            </c15:filteredRadarSeries>
            <c15:filteredRad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Sheet1!$A$12</c15:sqref>
                        </c15:formulaRef>
                      </c:ext>
                    </c:extLst>
                    <c:strCache>
                      <c:ptCount val="1"/>
                      <c:pt idx="0">
                        <c:v>임효빈</c:v>
                      </c:pt>
                    </c:strCache>
                  </c:strRef>
                </c:tx>
                <c:spPr>
                  <a:solidFill>
                    <a:schemeClr val="accent5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Sheet1!$B$12:$I$12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1</c:v>
                      </c:pt>
                      <c:pt idx="2">
                        <c:v>5</c:v>
                      </c:pt>
                      <c:pt idx="3">
                        <c:v>5</c:v>
                      </c:pt>
                      <c:pt idx="4">
                        <c:v>5</c:v>
                      </c:pt>
                      <c:pt idx="5">
                        <c:v>5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EE21-4C8A-93A2-C38317C49484}"/>
                  </c:ext>
                </c:extLst>
              </c15:ser>
            </c15:filteredRadarSeries>
            <c15:filteredRad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Sheet1!$A$13</c15:sqref>
                        </c15:formulaRef>
                      </c:ext>
                    </c:extLst>
                    <c:strCache>
                      <c:ptCount val="1"/>
                      <c:pt idx="0">
                        <c:v>윤재승</c:v>
                      </c:pt>
                    </c:strCache>
                  </c:strRef>
                </c:tx>
                <c:spPr>
                  <a:solidFill>
                    <a:schemeClr val="accent6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Sheet1!$B$13:$I$13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1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EE21-4C8A-93A2-C38317C49484}"/>
                  </c:ext>
                </c:extLst>
              </c15:ser>
            </c15:filteredRadarSeries>
            <c15:filteredRadar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Sheet1!$A$14</c15:sqref>
                        </c15:formulaRef>
                      </c:ext>
                    </c:extLst>
                    <c:strCache>
                      <c:ptCount val="1"/>
                      <c:pt idx="0">
                        <c:v>김한결</c:v>
                      </c:pt>
                    </c:strCache>
                  </c:strRef>
                </c:tx>
                <c:spPr>
                  <a:solidFill>
                    <a:schemeClr val="accent1">
                      <a:lumMod val="80000"/>
                      <a:lumOff val="2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Sheet1!$B$14:$I$14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1</c:v>
                      </c:pt>
                      <c:pt idx="6">
                        <c:v>2</c:v>
                      </c:pt>
                      <c:pt idx="7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EE21-4C8A-93A2-C38317C49484}"/>
                  </c:ext>
                </c:extLst>
              </c15:ser>
            </c15:filteredRadarSeries>
          </c:ext>
        </c:extLst>
      </c:radarChart>
      <c:catAx>
        <c:axId val="67715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677158528"/>
        <c:crosses val="autoZero"/>
        <c:auto val="1"/>
        <c:lblAlgn val="ctr"/>
        <c:lblOffset val="100"/>
        <c:noMultiLvlLbl val="0"/>
      </c:catAx>
      <c:valAx>
        <c:axId val="677158528"/>
        <c:scaling>
          <c:orientation val="minMax"/>
          <c:max val="5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677151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6"/>
          <c:order val="6"/>
          <c:tx>
            <c:strRef>
              <c:f>Sheet1!$A$8</c:f>
              <c:strCache>
                <c:ptCount val="1"/>
                <c:pt idx="0">
                  <c:v>최윤희</c:v>
                </c:pt>
              </c:strCache>
            </c:strRef>
          </c:tx>
          <c:spPr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50000"/>
                </a:schemeClr>
              </a:solidFill>
            </a:ln>
            <a:effectLst/>
          </c:spPr>
          <c:cat>
            <c:strRef>
              <c:f>Sheet1!$B$1:$I$1</c:f>
              <c:strCache>
                <c:ptCount val="8"/>
                <c:pt idx="0">
                  <c:v>집단</c:v>
                </c:pt>
                <c:pt idx="1">
                  <c:v>분쟁</c:v>
                </c:pt>
                <c:pt idx="2">
                  <c:v>소통</c:v>
                </c:pt>
                <c:pt idx="3">
                  <c:v>개별</c:v>
                </c:pt>
                <c:pt idx="4">
                  <c:v>인사</c:v>
                </c:pt>
                <c:pt idx="5">
                  <c:v>외국어</c:v>
                </c:pt>
                <c:pt idx="6">
                  <c:v>Data</c:v>
                </c:pt>
                <c:pt idx="7">
                  <c:v>지식</c:v>
                </c:pt>
              </c:strCache>
            </c:strRef>
          </c:cat>
          <c:val>
            <c:numRef>
              <c:f>Sheet1!$B$8:$I$8</c:f>
              <c:numCache>
                <c:formatCode>0</c:formatCode>
                <c:ptCount val="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3</c:v>
                </c:pt>
                <c:pt idx="7">
                  <c:v>5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EEC0-4654-B892-F2BACCE576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77151328"/>
        <c:axId val="677158528"/>
        <c:extLst>
          <c:ext xmlns:c15="http://schemas.microsoft.com/office/drawing/2012/chart" uri="{02D57815-91ED-43cb-92C2-25804820EDAC}">
            <c15:filteredRad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김성현</c:v>
                      </c:pt>
                    </c:strCache>
                  </c:strRef>
                </c:tx>
                <c:spPr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  <a:effectLst/>
                </c:spPr>
                <c:cat>
                  <c:strRef>
                    <c:extLst>
                      <c:ext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Sheet1!$B$2:$I$2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5</c:v>
                      </c:pt>
                      <c:pt idx="3">
                        <c:v>3</c:v>
                      </c:pt>
                      <c:pt idx="4">
                        <c:v>1</c:v>
                      </c:pt>
                      <c:pt idx="5">
                        <c:v>1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EEC0-4654-B892-F2BACCE576CD}"/>
                  </c:ext>
                </c:extLst>
              </c15:ser>
            </c15:filteredRadarSeries>
            <c15:filteredRad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Sheet1!$A$3</c15:sqref>
                        </c15:formulaRef>
                      </c:ext>
                    </c:extLst>
                    <c:strCache>
                      <c:ptCount val="1"/>
                      <c:pt idx="0">
                        <c:v>이영준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Sheet1!$B$3:$I$3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EEC0-4654-B892-F2BACCE576CD}"/>
                  </c:ext>
                </c:extLst>
              </c15:ser>
            </c15:filteredRadarSeries>
            <c15:filteredRad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Sheet1!$A$4</c15:sqref>
                        </c15:formulaRef>
                      </c:ext>
                    </c:extLst>
                    <c:strCache>
                      <c:ptCount val="1"/>
                      <c:pt idx="0">
                        <c:v>김지양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Sheet1!$B$4:$I$4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EEC0-4654-B892-F2BACCE576CD}"/>
                  </c:ext>
                </c:extLst>
              </c15:ser>
            </c15:filteredRadarSeries>
            <c15:filteredRad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Sheet1!$A$5</c15:sqref>
                        </c15:formulaRef>
                      </c:ext>
                    </c:extLst>
                    <c:strCache>
                      <c:ptCount val="1"/>
                      <c:pt idx="0">
                        <c:v>이시형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Sheet1!$B$5:$I$5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4</c:v>
                      </c:pt>
                      <c:pt idx="1">
                        <c:v>5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1</c:v>
                      </c:pt>
                      <c:pt idx="6">
                        <c:v>4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EEC0-4654-B892-F2BACCE576CD}"/>
                  </c:ext>
                </c:extLst>
              </c15:ser>
            </c15:filteredRadarSeries>
            <c15:filteredRad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Sheet1!$A$6</c15:sqref>
                        </c15:formulaRef>
                      </c:ext>
                    </c:extLst>
                    <c:strCache>
                      <c:ptCount val="1"/>
                      <c:pt idx="0">
                        <c:v>곽지호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Sheet1!$B$6:$I$6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5</c:v>
                      </c:pt>
                      <c:pt idx="6">
                        <c:v>2</c:v>
                      </c:pt>
                      <c:pt idx="7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EEC0-4654-B892-F2BACCE576CD}"/>
                  </c:ext>
                </c:extLst>
              </c15:ser>
            </c15:filteredRadarSeries>
            <c15:filteredRad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Sheet1!$A$7</c15:sqref>
                        </c15:formulaRef>
                      </c:ext>
                    </c:extLst>
                    <c:strCache>
                      <c:ptCount val="1"/>
                      <c:pt idx="0">
                        <c:v>우선근</c:v>
                      </c:pt>
                    </c:strCache>
                  </c:strRef>
                </c:tx>
                <c:spPr>
                  <a:solidFill>
                    <a:schemeClr val="accent6">
                      <a:lumMod val="20000"/>
                      <a:lumOff val="80000"/>
                    </a:schemeClr>
                  </a:solidFill>
                  <a:ln w="9525">
                    <a:solidFill>
                      <a:schemeClr val="accent6">
                        <a:lumMod val="50000"/>
                      </a:schemeClr>
                    </a:solidFill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Sheet1!$B$7:$I$7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3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EEC0-4654-B892-F2BACCE576CD}"/>
                  </c:ext>
                </c:extLst>
              </c15:ser>
            </c15:filteredRadarSeries>
            <c15:filteredRad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Sheet1!$A$9</c15:sqref>
                        </c15:formulaRef>
                      </c:ext>
                    </c:extLst>
                    <c:strCache>
                      <c:ptCount val="1"/>
                      <c:pt idx="0">
                        <c:v>채수길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Sheet1!$B$9:$I$9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4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EEC0-4654-B892-F2BACCE576CD}"/>
                  </c:ext>
                </c:extLst>
              </c15:ser>
            </c15:filteredRadarSeries>
            <c15:filteredRad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Sheet1!$A$10</c15:sqref>
                        </c15:formulaRef>
                      </c:ext>
                    </c:extLst>
                    <c:strCache>
                      <c:ptCount val="1"/>
                      <c:pt idx="0">
                        <c:v>우성민</c:v>
                      </c:pt>
                    </c:strCache>
                  </c:strRef>
                </c:tx>
                <c:spPr>
                  <a:solidFill>
                    <a:schemeClr val="accent3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Sheet1!$B$10:$I$10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EEC0-4654-B892-F2BACCE576CD}"/>
                  </c:ext>
                </c:extLst>
              </c15:ser>
            </c15:filteredRadarSeries>
            <c15:filteredRada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Sheet1!$A$11</c15:sqref>
                        </c15:formulaRef>
                      </c:ext>
                    </c:extLst>
                    <c:strCache>
                      <c:ptCount val="1"/>
                      <c:pt idx="0">
                        <c:v>김민호</c:v>
                      </c:pt>
                    </c:strCache>
                  </c:strRef>
                </c:tx>
                <c:spPr>
                  <a:solidFill>
                    <a:schemeClr val="accent4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Sheet1!$B$11:$I$11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EEC0-4654-B892-F2BACCE576CD}"/>
                  </c:ext>
                </c:extLst>
              </c15:ser>
            </c15:filteredRadarSeries>
            <c15:filteredRad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Sheet1!$A$12</c15:sqref>
                        </c15:formulaRef>
                      </c:ext>
                    </c:extLst>
                    <c:strCache>
                      <c:ptCount val="1"/>
                      <c:pt idx="0">
                        <c:v>임효빈</c:v>
                      </c:pt>
                    </c:strCache>
                  </c:strRef>
                </c:tx>
                <c:spPr>
                  <a:solidFill>
                    <a:schemeClr val="accent5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Sheet1!$B$12:$I$12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1</c:v>
                      </c:pt>
                      <c:pt idx="2">
                        <c:v>5</c:v>
                      </c:pt>
                      <c:pt idx="3">
                        <c:v>5</c:v>
                      </c:pt>
                      <c:pt idx="4">
                        <c:v>5</c:v>
                      </c:pt>
                      <c:pt idx="5">
                        <c:v>5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EEC0-4654-B892-F2BACCE576CD}"/>
                  </c:ext>
                </c:extLst>
              </c15:ser>
            </c15:filteredRadarSeries>
            <c15:filteredRad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Sheet1!$A$13</c15:sqref>
                        </c15:formulaRef>
                      </c:ext>
                    </c:extLst>
                    <c:strCache>
                      <c:ptCount val="1"/>
                      <c:pt idx="0">
                        <c:v>윤재승</c:v>
                      </c:pt>
                    </c:strCache>
                  </c:strRef>
                </c:tx>
                <c:spPr>
                  <a:solidFill>
                    <a:schemeClr val="accent6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Sheet1!$B$13:$I$13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1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EEC0-4654-B892-F2BACCE576CD}"/>
                  </c:ext>
                </c:extLst>
              </c15:ser>
            </c15:filteredRadarSeries>
            <c15:filteredRadar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Sheet1!$A$14</c15:sqref>
                        </c15:formulaRef>
                      </c:ext>
                    </c:extLst>
                    <c:strCache>
                      <c:ptCount val="1"/>
                      <c:pt idx="0">
                        <c:v>김한결</c:v>
                      </c:pt>
                    </c:strCache>
                  </c:strRef>
                </c:tx>
                <c:spPr>
                  <a:solidFill>
                    <a:schemeClr val="accent1">
                      <a:lumMod val="80000"/>
                      <a:lumOff val="2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Sheet1!$B$14:$I$14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1</c:v>
                      </c:pt>
                      <c:pt idx="6">
                        <c:v>2</c:v>
                      </c:pt>
                      <c:pt idx="7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EEC0-4654-B892-F2BACCE576CD}"/>
                  </c:ext>
                </c:extLst>
              </c15:ser>
            </c15:filteredRadarSeries>
          </c:ext>
        </c:extLst>
      </c:radarChart>
      <c:catAx>
        <c:axId val="67715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677158528"/>
        <c:crosses val="autoZero"/>
        <c:auto val="1"/>
        <c:lblAlgn val="ctr"/>
        <c:lblOffset val="100"/>
        <c:noMultiLvlLbl val="0"/>
      </c:catAx>
      <c:valAx>
        <c:axId val="677158528"/>
        <c:scaling>
          <c:orientation val="minMax"/>
          <c:max val="5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out"/>
        <c:minorTickMark val="none"/>
        <c:tickLblPos val="nextTo"/>
        <c:crossAx val="677151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7"/>
          <c:order val="7"/>
          <c:tx>
            <c:strRef>
              <c:f>Sheet1!$A$9</c:f>
              <c:strCache>
                <c:ptCount val="1"/>
                <c:pt idx="0">
                  <c:v>채수길</c:v>
                </c:pt>
              </c:strCache>
            </c:strRef>
          </c:tx>
          <c:spPr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50000"/>
                </a:schemeClr>
              </a:solidFill>
            </a:ln>
            <a:effectLst/>
          </c:spPr>
          <c:cat>
            <c:strRef>
              <c:f>Sheet1!$B$1:$I$1</c:f>
              <c:strCache>
                <c:ptCount val="8"/>
                <c:pt idx="0">
                  <c:v>집단</c:v>
                </c:pt>
                <c:pt idx="1">
                  <c:v>분쟁</c:v>
                </c:pt>
                <c:pt idx="2">
                  <c:v>소통</c:v>
                </c:pt>
                <c:pt idx="3">
                  <c:v>개별</c:v>
                </c:pt>
                <c:pt idx="4">
                  <c:v>인사</c:v>
                </c:pt>
                <c:pt idx="5">
                  <c:v>외국어</c:v>
                </c:pt>
                <c:pt idx="6">
                  <c:v>Data</c:v>
                </c:pt>
                <c:pt idx="7">
                  <c:v>지식</c:v>
                </c:pt>
              </c:strCache>
            </c:strRef>
          </c:cat>
          <c:val>
            <c:numRef>
              <c:f>Sheet1!$B$9:$I$9</c:f>
              <c:numCache>
                <c:formatCode>0</c:formatCode>
                <c:ptCount val="8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  <c:pt idx="5">
                  <c:v>4</c:v>
                </c:pt>
                <c:pt idx="6">
                  <c:v>2</c:v>
                </c:pt>
                <c:pt idx="7">
                  <c:v>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331F-4A10-ACEE-02F4C713A1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77151328"/>
        <c:axId val="677158528"/>
        <c:extLst>
          <c:ext xmlns:c15="http://schemas.microsoft.com/office/drawing/2012/chart" uri="{02D57815-91ED-43cb-92C2-25804820EDAC}">
            <c15:filteredRad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김성현</c:v>
                      </c:pt>
                    </c:strCache>
                  </c:strRef>
                </c:tx>
                <c:spPr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  <a:effectLst/>
                </c:spPr>
                <c:cat>
                  <c:strRef>
                    <c:extLst>
                      <c:ext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Sheet1!$B$2:$I$2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5</c:v>
                      </c:pt>
                      <c:pt idx="3">
                        <c:v>3</c:v>
                      </c:pt>
                      <c:pt idx="4">
                        <c:v>1</c:v>
                      </c:pt>
                      <c:pt idx="5">
                        <c:v>1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331F-4A10-ACEE-02F4C713A128}"/>
                  </c:ext>
                </c:extLst>
              </c15:ser>
            </c15:filteredRadarSeries>
            <c15:filteredRad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Sheet1!$A$3</c15:sqref>
                        </c15:formulaRef>
                      </c:ext>
                    </c:extLst>
                    <c:strCache>
                      <c:ptCount val="1"/>
                      <c:pt idx="0">
                        <c:v>이영준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Sheet1!$B$3:$I$3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331F-4A10-ACEE-02F4C713A128}"/>
                  </c:ext>
                </c:extLst>
              </c15:ser>
            </c15:filteredRadarSeries>
            <c15:filteredRad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Sheet1!$A$4</c15:sqref>
                        </c15:formulaRef>
                      </c:ext>
                    </c:extLst>
                    <c:strCache>
                      <c:ptCount val="1"/>
                      <c:pt idx="0">
                        <c:v>김지양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Sheet1!$B$4:$I$4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331F-4A10-ACEE-02F4C713A128}"/>
                  </c:ext>
                </c:extLst>
              </c15:ser>
            </c15:filteredRadarSeries>
            <c15:filteredRad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Sheet1!$A$5</c15:sqref>
                        </c15:formulaRef>
                      </c:ext>
                    </c:extLst>
                    <c:strCache>
                      <c:ptCount val="1"/>
                      <c:pt idx="0">
                        <c:v>이시형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Sheet1!$B$5:$I$5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4</c:v>
                      </c:pt>
                      <c:pt idx="1">
                        <c:v>5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1</c:v>
                      </c:pt>
                      <c:pt idx="6">
                        <c:v>4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331F-4A10-ACEE-02F4C713A128}"/>
                  </c:ext>
                </c:extLst>
              </c15:ser>
            </c15:filteredRadarSeries>
            <c15:filteredRad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Sheet1!$A$6</c15:sqref>
                        </c15:formulaRef>
                      </c:ext>
                    </c:extLst>
                    <c:strCache>
                      <c:ptCount val="1"/>
                      <c:pt idx="0">
                        <c:v>곽지호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Sheet1!$B$6:$I$6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5</c:v>
                      </c:pt>
                      <c:pt idx="6">
                        <c:v>2</c:v>
                      </c:pt>
                      <c:pt idx="7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331F-4A10-ACEE-02F4C713A128}"/>
                  </c:ext>
                </c:extLst>
              </c15:ser>
            </c15:filteredRadarSeries>
            <c15:filteredRad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Sheet1!$A$7</c15:sqref>
                        </c15:formulaRef>
                      </c:ext>
                    </c:extLst>
                    <c:strCache>
                      <c:ptCount val="1"/>
                      <c:pt idx="0">
                        <c:v>우선근</c:v>
                      </c:pt>
                    </c:strCache>
                  </c:strRef>
                </c:tx>
                <c:spPr>
                  <a:solidFill>
                    <a:schemeClr val="accent6">
                      <a:lumMod val="20000"/>
                      <a:lumOff val="80000"/>
                    </a:schemeClr>
                  </a:solidFill>
                  <a:ln w="9525">
                    <a:solidFill>
                      <a:schemeClr val="accent6">
                        <a:lumMod val="50000"/>
                      </a:schemeClr>
                    </a:solidFill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Sheet1!$B$7:$I$7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3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331F-4A10-ACEE-02F4C713A128}"/>
                  </c:ext>
                </c:extLst>
              </c15:ser>
            </c15:filteredRadarSeries>
            <c15:filteredRad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Sheet1!$A$8</c15:sqref>
                        </c15:formulaRef>
                      </c:ext>
                    </c:extLst>
                    <c:strCache>
                      <c:ptCount val="1"/>
                      <c:pt idx="0">
                        <c:v>최윤희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Sheet1!$B$8:$I$8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331F-4A10-ACEE-02F4C713A128}"/>
                  </c:ext>
                </c:extLst>
              </c15:ser>
            </c15:filteredRadarSeries>
            <c15:filteredRad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Sheet1!$A$10</c15:sqref>
                        </c15:formulaRef>
                      </c:ext>
                    </c:extLst>
                    <c:strCache>
                      <c:ptCount val="1"/>
                      <c:pt idx="0">
                        <c:v>우성민</c:v>
                      </c:pt>
                    </c:strCache>
                  </c:strRef>
                </c:tx>
                <c:spPr>
                  <a:solidFill>
                    <a:schemeClr val="accent3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Sheet1!$B$10:$I$10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331F-4A10-ACEE-02F4C713A128}"/>
                  </c:ext>
                </c:extLst>
              </c15:ser>
            </c15:filteredRadarSeries>
            <c15:filteredRada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Sheet1!$A$11</c15:sqref>
                        </c15:formulaRef>
                      </c:ext>
                    </c:extLst>
                    <c:strCache>
                      <c:ptCount val="1"/>
                      <c:pt idx="0">
                        <c:v>김민호</c:v>
                      </c:pt>
                    </c:strCache>
                  </c:strRef>
                </c:tx>
                <c:spPr>
                  <a:solidFill>
                    <a:schemeClr val="accent4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Sheet1!$B$11:$I$11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331F-4A10-ACEE-02F4C713A128}"/>
                  </c:ext>
                </c:extLst>
              </c15:ser>
            </c15:filteredRadarSeries>
            <c15:filteredRad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Sheet1!$A$12</c15:sqref>
                        </c15:formulaRef>
                      </c:ext>
                    </c:extLst>
                    <c:strCache>
                      <c:ptCount val="1"/>
                      <c:pt idx="0">
                        <c:v>임효빈</c:v>
                      </c:pt>
                    </c:strCache>
                  </c:strRef>
                </c:tx>
                <c:spPr>
                  <a:solidFill>
                    <a:schemeClr val="accent5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Sheet1!$B$12:$I$12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1</c:v>
                      </c:pt>
                      <c:pt idx="2">
                        <c:v>5</c:v>
                      </c:pt>
                      <c:pt idx="3">
                        <c:v>5</c:v>
                      </c:pt>
                      <c:pt idx="4">
                        <c:v>5</c:v>
                      </c:pt>
                      <c:pt idx="5">
                        <c:v>5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331F-4A10-ACEE-02F4C713A128}"/>
                  </c:ext>
                </c:extLst>
              </c15:ser>
            </c15:filteredRadarSeries>
            <c15:filteredRad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Sheet1!$A$13</c15:sqref>
                        </c15:formulaRef>
                      </c:ext>
                    </c:extLst>
                    <c:strCache>
                      <c:ptCount val="1"/>
                      <c:pt idx="0">
                        <c:v>윤재승</c:v>
                      </c:pt>
                    </c:strCache>
                  </c:strRef>
                </c:tx>
                <c:spPr>
                  <a:solidFill>
                    <a:schemeClr val="accent6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Sheet1!$B$13:$I$13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1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331F-4A10-ACEE-02F4C713A128}"/>
                  </c:ext>
                </c:extLst>
              </c15:ser>
            </c15:filteredRadarSeries>
            <c15:filteredRadar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Sheet1!$A$14</c15:sqref>
                        </c15:formulaRef>
                      </c:ext>
                    </c:extLst>
                    <c:strCache>
                      <c:ptCount val="1"/>
                      <c:pt idx="0">
                        <c:v>김한결</c:v>
                      </c:pt>
                    </c:strCache>
                  </c:strRef>
                </c:tx>
                <c:spPr>
                  <a:solidFill>
                    <a:schemeClr val="accent1">
                      <a:lumMod val="80000"/>
                      <a:lumOff val="2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Sheet1!$B$14:$I$14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1</c:v>
                      </c:pt>
                      <c:pt idx="6">
                        <c:v>2</c:v>
                      </c:pt>
                      <c:pt idx="7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331F-4A10-ACEE-02F4C713A128}"/>
                  </c:ext>
                </c:extLst>
              </c15:ser>
            </c15:filteredRadarSeries>
          </c:ext>
        </c:extLst>
      </c:radarChart>
      <c:catAx>
        <c:axId val="67715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677158528"/>
        <c:crosses val="autoZero"/>
        <c:auto val="1"/>
        <c:lblAlgn val="ctr"/>
        <c:lblOffset val="100"/>
        <c:noMultiLvlLbl val="0"/>
      </c:catAx>
      <c:valAx>
        <c:axId val="677158528"/>
        <c:scaling>
          <c:orientation val="minMax"/>
          <c:max val="5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out"/>
        <c:minorTickMark val="none"/>
        <c:tickLblPos val="nextTo"/>
        <c:crossAx val="677151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8"/>
          <c:order val="8"/>
          <c:tx>
            <c:strRef>
              <c:f>Sheet1!$A$10</c:f>
              <c:strCache>
                <c:ptCount val="1"/>
                <c:pt idx="0">
                  <c:v>우성민</c:v>
                </c:pt>
              </c:strCache>
            </c:strRef>
          </c:tx>
          <c:spPr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50000"/>
                </a:schemeClr>
              </a:solidFill>
            </a:ln>
            <a:effectLst/>
          </c:spPr>
          <c:cat>
            <c:strRef>
              <c:f>Sheet1!$B$1:$I$1</c:f>
              <c:strCache>
                <c:ptCount val="8"/>
                <c:pt idx="0">
                  <c:v>집단</c:v>
                </c:pt>
                <c:pt idx="1">
                  <c:v>분쟁</c:v>
                </c:pt>
                <c:pt idx="2">
                  <c:v>소통</c:v>
                </c:pt>
                <c:pt idx="3">
                  <c:v>개별</c:v>
                </c:pt>
                <c:pt idx="4">
                  <c:v>인사</c:v>
                </c:pt>
                <c:pt idx="5">
                  <c:v>외국어</c:v>
                </c:pt>
                <c:pt idx="6">
                  <c:v>Data</c:v>
                </c:pt>
                <c:pt idx="7">
                  <c:v>지식</c:v>
                </c:pt>
              </c:strCache>
            </c:strRef>
          </c:cat>
          <c:val>
            <c:numRef>
              <c:f>Sheet1!$B$10:$I$10</c:f>
              <c:numCache>
                <c:formatCode>0</c:formatCode>
                <c:ptCount val="8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3</c:v>
                </c:pt>
                <c:pt idx="6">
                  <c:v>3</c:v>
                </c:pt>
                <c:pt idx="7">
                  <c:v>5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9D3A-4D8F-BD52-4D6127FED3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77151328"/>
        <c:axId val="677158528"/>
        <c:extLst>
          <c:ext xmlns:c15="http://schemas.microsoft.com/office/drawing/2012/chart" uri="{02D57815-91ED-43cb-92C2-25804820EDAC}">
            <c15:filteredRad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김성현</c:v>
                      </c:pt>
                    </c:strCache>
                  </c:strRef>
                </c:tx>
                <c:spPr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  <a:effectLst/>
                </c:spPr>
                <c:cat>
                  <c:strRef>
                    <c:extLst>
                      <c:ext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Sheet1!$B$2:$I$2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5</c:v>
                      </c:pt>
                      <c:pt idx="3">
                        <c:v>3</c:v>
                      </c:pt>
                      <c:pt idx="4">
                        <c:v>1</c:v>
                      </c:pt>
                      <c:pt idx="5">
                        <c:v>1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9D3A-4D8F-BD52-4D6127FED3D7}"/>
                  </c:ext>
                </c:extLst>
              </c15:ser>
            </c15:filteredRadarSeries>
            <c15:filteredRad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Sheet1!$A$3</c15:sqref>
                        </c15:formulaRef>
                      </c:ext>
                    </c:extLst>
                    <c:strCache>
                      <c:ptCount val="1"/>
                      <c:pt idx="0">
                        <c:v>이영준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Sheet1!$B$3:$I$3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9D3A-4D8F-BD52-4D6127FED3D7}"/>
                  </c:ext>
                </c:extLst>
              </c15:ser>
            </c15:filteredRadarSeries>
            <c15:filteredRad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Sheet1!$A$4</c15:sqref>
                        </c15:formulaRef>
                      </c:ext>
                    </c:extLst>
                    <c:strCache>
                      <c:ptCount val="1"/>
                      <c:pt idx="0">
                        <c:v>김지양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Sheet1!$B$4:$I$4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9D3A-4D8F-BD52-4D6127FED3D7}"/>
                  </c:ext>
                </c:extLst>
              </c15:ser>
            </c15:filteredRadarSeries>
            <c15:filteredRad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Sheet1!$A$5</c15:sqref>
                        </c15:formulaRef>
                      </c:ext>
                    </c:extLst>
                    <c:strCache>
                      <c:ptCount val="1"/>
                      <c:pt idx="0">
                        <c:v>이시형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Sheet1!$B$5:$I$5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4</c:v>
                      </c:pt>
                      <c:pt idx="1">
                        <c:v>5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1</c:v>
                      </c:pt>
                      <c:pt idx="6">
                        <c:v>4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9D3A-4D8F-BD52-4D6127FED3D7}"/>
                  </c:ext>
                </c:extLst>
              </c15:ser>
            </c15:filteredRadarSeries>
            <c15:filteredRad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Sheet1!$A$6</c15:sqref>
                        </c15:formulaRef>
                      </c:ext>
                    </c:extLst>
                    <c:strCache>
                      <c:ptCount val="1"/>
                      <c:pt idx="0">
                        <c:v>곽지호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Sheet1!$B$6:$I$6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5</c:v>
                      </c:pt>
                      <c:pt idx="6">
                        <c:v>2</c:v>
                      </c:pt>
                      <c:pt idx="7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9D3A-4D8F-BD52-4D6127FED3D7}"/>
                  </c:ext>
                </c:extLst>
              </c15:ser>
            </c15:filteredRadarSeries>
            <c15:filteredRad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Sheet1!$A$7</c15:sqref>
                        </c15:formulaRef>
                      </c:ext>
                    </c:extLst>
                    <c:strCache>
                      <c:ptCount val="1"/>
                      <c:pt idx="0">
                        <c:v>우선근</c:v>
                      </c:pt>
                    </c:strCache>
                  </c:strRef>
                </c:tx>
                <c:spPr>
                  <a:solidFill>
                    <a:schemeClr val="accent6">
                      <a:lumMod val="20000"/>
                      <a:lumOff val="80000"/>
                    </a:schemeClr>
                  </a:solidFill>
                  <a:ln w="9525">
                    <a:solidFill>
                      <a:schemeClr val="accent6">
                        <a:lumMod val="50000"/>
                      </a:schemeClr>
                    </a:solidFill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Sheet1!$B$7:$I$7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3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9D3A-4D8F-BD52-4D6127FED3D7}"/>
                  </c:ext>
                </c:extLst>
              </c15:ser>
            </c15:filteredRadarSeries>
            <c15:filteredRad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Sheet1!$A$8</c15:sqref>
                        </c15:formulaRef>
                      </c:ext>
                    </c:extLst>
                    <c:strCache>
                      <c:ptCount val="1"/>
                      <c:pt idx="0">
                        <c:v>최윤희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Sheet1!$B$8:$I$8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9D3A-4D8F-BD52-4D6127FED3D7}"/>
                  </c:ext>
                </c:extLst>
              </c15:ser>
            </c15:filteredRadarSeries>
            <c15:filteredRad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Sheet1!$A$9</c15:sqref>
                        </c15:formulaRef>
                      </c:ext>
                    </c:extLst>
                    <c:strCache>
                      <c:ptCount val="1"/>
                      <c:pt idx="0">
                        <c:v>채수길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Sheet1!$B$9:$I$9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4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9D3A-4D8F-BD52-4D6127FED3D7}"/>
                  </c:ext>
                </c:extLst>
              </c15:ser>
            </c15:filteredRadarSeries>
            <c15:filteredRada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Sheet1!$A$11</c15:sqref>
                        </c15:formulaRef>
                      </c:ext>
                    </c:extLst>
                    <c:strCache>
                      <c:ptCount val="1"/>
                      <c:pt idx="0">
                        <c:v>김민호</c:v>
                      </c:pt>
                    </c:strCache>
                  </c:strRef>
                </c:tx>
                <c:spPr>
                  <a:solidFill>
                    <a:schemeClr val="accent4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Sheet1!$B$11:$I$11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9D3A-4D8F-BD52-4D6127FED3D7}"/>
                  </c:ext>
                </c:extLst>
              </c15:ser>
            </c15:filteredRadarSeries>
            <c15:filteredRad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Sheet1!$A$12</c15:sqref>
                        </c15:formulaRef>
                      </c:ext>
                    </c:extLst>
                    <c:strCache>
                      <c:ptCount val="1"/>
                      <c:pt idx="0">
                        <c:v>임효빈</c:v>
                      </c:pt>
                    </c:strCache>
                  </c:strRef>
                </c:tx>
                <c:spPr>
                  <a:solidFill>
                    <a:schemeClr val="accent5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Sheet1!$B$12:$I$12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1</c:v>
                      </c:pt>
                      <c:pt idx="2">
                        <c:v>5</c:v>
                      </c:pt>
                      <c:pt idx="3">
                        <c:v>5</c:v>
                      </c:pt>
                      <c:pt idx="4">
                        <c:v>5</c:v>
                      </c:pt>
                      <c:pt idx="5">
                        <c:v>5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9D3A-4D8F-BD52-4D6127FED3D7}"/>
                  </c:ext>
                </c:extLst>
              </c15:ser>
            </c15:filteredRadarSeries>
            <c15:filteredRad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Sheet1!$A$13</c15:sqref>
                        </c15:formulaRef>
                      </c:ext>
                    </c:extLst>
                    <c:strCache>
                      <c:ptCount val="1"/>
                      <c:pt idx="0">
                        <c:v>윤재승</c:v>
                      </c:pt>
                    </c:strCache>
                  </c:strRef>
                </c:tx>
                <c:spPr>
                  <a:solidFill>
                    <a:schemeClr val="accent6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Sheet1!$B$13:$I$13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1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9D3A-4D8F-BD52-4D6127FED3D7}"/>
                  </c:ext>
                </c:extLst>
              </c15:ser>
            </c15:filteredRadarSeries>
            <c15:filteredRadar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Sheet1!$A$14</c15:sqref>
                        </c15:formulaRef>
                      </c:ext>
                    </c:extLst>
                    <c:strCache>
                      <c:ptCount val="1"/>
                      <c:pt idx="0">
                        <c:v>김한결</c:v>
                      </c:pt>
                    </c:strCache>
                  </c:strRef>
                </c:tx>
                <c:spPr>
                  <a:solidFill>
                    <a:schemeClr val="accent1">
                      <a:lumMod val="80000"/>
                      <a:lumOff val="2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Sheet1!$B$14:$I$14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1</c:v>
                      </c:pt>
                      <c:pt idx="6">
                        <c:v>2</c:v>
                      </c:pt>
                      <c:pt idx="7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9D3A-4D8F-BD52-4D6127FED3D7}"/>
                  </c:ext>
                </c:extLst>
              </c15:ser>
            </c15:filteredRadarSeries>
          </c:ext>
        </c:extLst>
      </c:radarChart>
      <c:catAx>
        <c:axId val="67715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677158528"/>
        <c:crosses val="autoZero"/>
        <c:auto val="1"/>
        <c:lblAlgn val="ctr"/>
        <c:lblOffset val="100"/>
        <c:noMultiLvlLbl val="0"/>
      </c:catAx>
      <c:valAx>
        <c:axId val="677158528"/>
        <c:scaling>
          <c:orientation val="minMax"/>
          <c:max val="5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out"/>
        <c:minorTickMark val="none"/>
        <c:tickLblPos val="nextTo"/>
        <c:crossAx val="677151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9"/>
          <c:order val="9"/>
          <c:tx>
            <c:strRef>
              <c:f>Sheet1!$A$11</c:f>
              <c:strCache>
                <c:ptCount val="1"/>
                <c:pt idx="0">
                  <c:v>김민호</c:v>
                </c:pt>
              </c:strCache>
            </c:strRef>
          </c:tx>
          <c:spPr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50000"/>
                </a:schemeClr>
              </a:solidFill>
            </a:ln>
            <a:effectLst/>
          </c:spPr>
          <c:cat>
            <c:strRef>
              <c:f>Sheet1!$B$1:$I$1</c:f>
              <c:strCache>
                <c:ptCount val="8"/>
                <c:pt idx="0">
                  <c:v>집단</c:v>
                </c:pt>
                <c:pt idx="1">
                  <c:v>분쟁</c:v>
                </c:pt>
                <c:pt idx="2">
                  <c:v>소통</c:v>
                </c:pt>
                <c:pt idx="3">
                  <c:v>개별</c:v>
                </c:pt>
                <c:pt idx="4">
                  <c:v>인사</c:v>
                </c:pt>
                <c:pt idx="5">
                  <c:v>외국어</c:v>
                </c:pt>
                <c:pt idx="6">
                  <c:v>Data</c:v>
                </c:pt>
                <c:pt idx="7">
                  <c:v>지식</c:v>
                </c:pt>
              </c:strCache>
            </c:strRef>
          </c:cat>
          <c:val>
            <c:numRef>
              <c:f>Sheet1!$B$11:$I$11</c:f>
              <c:numCache>
                <c:formatCode>0</c:formatCode>
                <c:ptCount val="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5E0F-45A3-A322-A86432601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77151328"/>
        <c:axId val="677158528"/>
        <c:extLst>
          <c:ext xmlns:c15="http://schemas.microsoft.com/office/drawing/2012/chart" uri="{02D57815-91ED-43cb-92C2-25804820EDAC}">
            <c15:filteredRad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김성현</c:v>
                      </c:pt>
                    </c:strCache>
                  </c:strRef>
                </c:tx>
                <c:spPr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  <a:effectLst/>
                </c:spPr>
                <c:cat>
                  <c:strRef>
                    <c:extLst>
                      <c:ext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Sheet1!$B$2:$I$2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5</c:v>
                      </c:pt>
                      <c:pt idx="3">
                        <c:v>3</c:v>
                      </c:pt>
                      <c:pt idx="4">
                        <c:v>1</c:v>
                      </c:pt>
                      <c:pt idx="5">
                        <c:v>1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5E0F-45A3-A322-A86432601DEE}"/>
                  </c:ext>
                </c:extLst>
              </c15:ser>
            </c15:filteredRadarSeries>
            <c15:filteredRad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Sheet1!$A$3</c15:sqref>
                        </c15:formulaRef>
                      </c:ext>
                    </c:extLst>
                    <c:strCache>
                      <c:ptCount val="1"/>
                      <c:pt idx="0">
                        <c:v>이영준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Sheet1!$B$3:$I$3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5E0F-45A3-A322-A86432601DEE}"/>
                  </c:ext>
                </c:extLst>
              </c15:ser>
            </c15:filteredRadarSeries>
            <c15:filteredRad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Sheet1!$A$4</c15:sqref>
                        </c15:formulaRef>
                      </c:ext>
                    </c:extLst>
                    <c:strCache>
                      <c:ptCount val="1"/>
                      <c:pt idx="0">
                        <c:v>김지양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Sheet1!$B$4:$I$4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5E0F-45A3-A322-A86432601DEE}"/>
                  </c:ext>
                </c:extLst>
              </c15:ser>
            </c15:filteredRadarSeries>
            <c15:filteredRad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Sheet1!$A$5</c15:sqref>
                        </c15:formulaRef>
                      </c:ext>
                    </c:extLst>
                    <c:strCache>
                      <c:ptCount val="1"/>
                      <c:pt idx="0">
                        <c:v>이시형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Sheet1!$B$5:$I$5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4</c:v>
                      </c:pt>
                      <c:pt idx="1">
                        <c:v>5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1</c:v>
                      </c:pt>
                      <c:pt idx="6">
                        <c:v>4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5E0F-45A3-A322-A86432601DEE}"/>
                  </c:ext>
                </c:extLst>
              </c15:ser>
            </c15:filteredRadarSeries>
            <c15:filteredRad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Sheet1!$A$6</c15:sqref>
                        </c15:formulaRef>
                      </c:ext>
                    </c:extLst>
                    <c:strCache>
                      <c:ptCount val="1"/>
                      <c:pt idx="0">
                        <c:v>곽지호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Sheet1!$B$6:$I$6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5</c:v>
                      </c:pt>
                      <c:pt idx="6">
                        <c:v>2</c:v>
                      </c:pt>
                      <c:pt idx="7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5E0F-45A3-A322-A86432601DEE}"/>
                  </c:ext>
                </c:extLst>
              </c15:ser>
            </c15:filteredRadarSeries>
            <c15:filteredRad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Sheet1!$A$7</c15:sqref>
                        </c15:formulaRef>
                      </c:ext>
                    </c:extLst>
                    <c:strCache>
                      <c:ptCount val="1"/>
                      <c:pt idx="0">
                        <c:v>우선근</c:v>
                      </c:pt>
                    </c:strCache>
                  </c:strRef>
                </c:tx>
                <c:spPr>
                  <a:solidFill>
                    <a:schemeClr val="accent6">
                      <a:lumMod val="20000"/>
                      <a:lumOff val="80000"/>
                    </a:schemeClr>
                  </a:solidFill>
                  <a:ln w="9525">
                    <a:solidFill>
                      <a:schemeClr val="accent6">
                        <a:lumMod val="50000"/>
                      </a:schemeClr>
                    </a:solidFill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Sheet1!$B$7:$I$7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3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5E0F-45A3-A322-A86432601DEE}"/>
                  </c:ext>
                </c:extLst>
              </c15:ser>
            </c15:filteredRadarSeries>
            <c15:filteredRad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Sheet1!$A$8</c15:sqref>
                        </c15:formulaRef>
                      </c:ext>
                    </c:extLst>
                    <c:strCache>
                      <c:ptCount val="1"/>
                      <c:pt idx="0">
                        <c:v>최윤희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Sheet1!$B$8:$I$8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5E0F-45A3-A322-A86432601DEE}"/>
                  </c:ext>
                </c:extLst>
              </c15:ser>
            </c15:filteredRadarSeries>
            <c15:filteredRad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Sheet1!$A$9</c15:sqref>
                        </c15:formulaRef>
                      </c:ext>
                    </c:extLst>
                    <c:strCache>
                      <c:ptCount val="1"/>
                      <c:pt idx="0">
                        <c:v>채수길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Sheet1!$B$9:$I$9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4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5E0F-45A3-A322-A86432601DEE}"/>
                  </c:ext>
                </c:extLst>
              </c15:ser>
            </c15:filteredRadarSeries>
            <c15:filteredRad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Sheet1!$A$10</c15:sqref>
                        </c15:formulaRef>
                      </c:ext>
                    </c:extLst>
                    <c:strCache>
                      <c:ptCount val="1"/>
                      <c:pt idx="0">
                        <c:v>우성민</c:v>
                      </c:pt>
                    </c:strCache>
                  </c:strRef>
                </c:tx>
                <c:spPr>
                  <a:solidFill>
                    <a:schemeClr val="accent3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Sheet1!$B$10:$I$10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5E0F-45A3-A322-A86432601DEE}"/>
                  </c:ext>
                </c:extLst>
              </c15:ser>
            </c15:filteredRadarSeries>
            <c15:filteredRad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Sheet1!$A$12</c15:sqref>
                        </c15:formulaRef>
                      </c:ext>
                    </c:extLst>
                    <c:strCache>
                      <c:ptCount val="1"/>
                      <c:pt idx="0">
                        <c:v>임효빈</c:v>
                      </c:pt>
                    </c:strCache>
                  </c:strRef>
                </c:tx>
                <c:spPr>
                  <a:solidFill>
                    <a:schemeClr val="accent5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Sheet1!$B$12:$I$12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1</c:v>
                      </c:pt>
                      <c:pt idx="2">
                        <c:v>5</c:v>
                      </c:pt>
                      <c:pt idx="3">
                        <c:v>5</c:v>
                      </c:pt>
                      <c:pt idx="4">
                        <c:v>5</c:v>
                      </c:pt>
                      <c:pt idx="5">
                        <c:v>5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5E0F-45A3-A322-A86432601DEE}"/>
                  </c:ext>
                </c:extLst>
              </c15:ser>
            </c15:filteredRadarSeries>
            <c15:filteredRad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Sheet1!$A$13</c15:sqref>
                        </c15:formulaRef>
                      </c:ext>
                    </c:extLst>
                    <c:strCache>
                      <c:ptCount val="1"/>
                      <c:pt idx="0">
                        <c:v>윤재승</c:v>
                      </c:pt>
                    </c:strCache>
                  </c:strRef>
                </c:tx>
                <c:spPr>
                  <a:solidFill>
                    <a:schemeClr val="accent6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Sheet1!$B$13:$I$13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1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5E0F-45A3-A322-A86432601DEE}"/>
                  </c:ext>
                </c:extLst>
              </c15:ser>
            </c15:filteredRadarSeries>
            <c15:filteredRadar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Sheet1!$A$14</c15:sqref>
                        </c15:formulaRef>
                      </c:ext>
                    </c:extLst>
                    <c:strCache>
                      <c:ptCount val="1"/>
                      <c:pt idx="0">
                        <c:v>김한결</c:v>
                      </c:pt>
                    </c:strCache>
                  </c:strRef>
                </c:tx>
                <c:spPr>
                  <a:solidFill>
                    <a:schemeClr val="accent1">
                      <a:lumMod val="80000"/>
                      <a:lumOff val="2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Sheet1!$B$14:$I$14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1</c:v>
                      </c:pt>
                      <c:pt idx="6">
                        <c:v>2</c:v>
                      </c:pt>
                      <c:pt idx="7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5E0F-45A3-A322-A86432601DEE}"/>
                  </c:ext>
                </c:extLst>
              </c15:ser>
            </c15:filteredRadarSeries>
          </c:ext>
        </c:extLst>
      </c:radarChart>
      <c:catAx>
        <c:axId val="67715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677158528"/>
        <c:crosses val="autoZero"/>
        <c:auto val="1"/>
        <c:lblAlgn val="ctr"/>
        <c:lblOffset val="100"/>
        <c:noMultiLvlLbl val="0"/>
      </c:catAx>
      <c:valAx>
        <c:axId val="677158528"/>
        <c:scaling>
          <c:orientation val="minMax"/>
          <c:max val="5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out"/>
        <c:minorTickMark val="none"/>
        <c:tickLblPos val="nextTo"/>
        <c:crossAx val="677151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10"/>
          <c:order val="10"/>
          <c:tx>
            <c:strRef>
              <c:f>Sheet1!$A$12</c:f>
              <c:strCache>
                <c:ptCount val="1"/>
                <c:pt idx="0">
                  <c:v>임효빈</c:v>
                </c:pt>
              </c:strCache>
            </c:strRef>
          </c:tx>
          <c:spPr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accent3">
                  <a:lumMod val="50000"/>
                </a:schemeClr>
              </a:solidFill>
            </a:ln>
            <a:effectLst/>
          </c:spPr>
          <c:cat>
            <c:strRef>
              <c:f>Sheet1!$B$1:$I$1</c:f>
              <c:strCache>
                <c:ptCount val="8"/>
                <c:pt idx="0">
                  <c:v>집단</c:v>
                </c:pt>
                <c:pt idx="1">
                  <c:v>분쟁</c:v>
                </c:pt>
                <c:pt idx="2">
                  <c:v>소통</c:v>
                </c:pt>
                <c:pt idx="3">
                  <c:v>개별</c:v>
                </c:pt>
                <c:pt idx="4">
                  <c:v>인사</c:v>
                </c:pt>
                <c:pt idx="5">
                  <c:v>외국어</c:v>
                </c:pt>
                <c:pt idx="6">
                  <c:v>Data</c:v>
                </c:pt>
                <c:pt idx="7">
                  <c:v>지식</c:v>
                </c:pt>
              </c:strCache>
            </c:strRef>
          </c:cat>
          <c:val>
            <c:numRef>
              <c:f>Sheet1!$B$12:$I$12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2792-4985-B5BD-835D77F88B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77151328"/>
        <c:axId val="677158528"/>
        <c:extLst>
          <c:ext xmlns:c15="http://schemas.microsoft.com/office/drawing/2012/chart" uri="{02D57815-91ED-43cb-92C2-25804820EDAC}">
            <c15:filteredRad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김성현</c:v>
                      </c:pt>
                    </c:strCache>
                  </c:strRef>
                </c:tx>
                <c:spPr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  <a:effectLst/>
                </c:spPr>
                <c:cat>
                  <c:strRef>
                    <c:extLst>
                      <c:ext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Sheet1!$B$2:$I$2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5</c:v>
                      </c:pt>
                      <c:pt idx="3">
                        <c:v>3</c:v>
                      </c:pt>
                      <c:pt idx="4">
                        <c:v>1</c:v>
                      </c:pt>
                      <c:pt idx="5">
                        <c:v>1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2792-4985-B5BD-835D77F88BE6}"/>
                  </c:ext>
                </c:extLst>
              </c15:ser>
            </c15:filteredRadarSeries>
            <c15:filteredRad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Sheet1!$A$3</c15:sqref>
                        </c15:formulaRef>
                      </c:ext>
                    </c:extLst>
                    <c:strCache>
                      <c:ptCount val="1"/>
                      <c:pt idx="0">
                        <c:v>이영준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Sheet1!$B$3:$I$3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2792-4985-B5BD-835D77F88BE6}"/>
                  </c:ext>
                </c:extLst>
              </c15:ser>
            </c15:filteredRadarSeries>
            <c15:filteredRad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Sheet1!$A$4</c15:sqref>
                        </c15:formulaRef>
                      </c:ext>
                    </c:extLst>
                    <c:strCache>
                      <c:ptCount val="1"/>
                      <c:pt idx="0">
                        <c:v>김지양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Sheet1!$B$4:$I$4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2792-4985-B5BD-835D77F88BE6}"/>
                  </c:ext>
                </c:extLst>
              </c15:ser>
            </c15:filteredRadarSeries>
            <c15:filteredRad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Sheet1!$A$5</c15:sqref>
                        </c15:formulaRef>
                      </c:ext>
                    </c:extLst>
                    <c:strCache>
                      <c:ptCount val="1"/>
                      <c:pt idx="0">
                        <c:v>이시형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Sheet1!$B$5:$I$5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4</c:v>
                      </c:pt>
                      <c:pt idx="1">
                        <c:v>5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1</c:v>
                      </c:pt>
                      <c:pt idx="6">
                        <c:v>4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2792-4985-B5BD-835D77F88BE6}"/>
                  </c:ext>
                </c:extLst>
              </c15:ser>
            </c15:filteredRadarSeries>
            <c15:filteredRad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Sheet1!$A$6</c15:sqref>
                        </c15:formulaRef>
                      </c:ext>
                    </c:extLst>
                    <c:strCache>
                      <c:ptCount val="1"/>
                      <c:pt idx="0">
                        <c:v>곽지호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Sheet1!$B$6:$I$6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5</c:v>
                      </c:pt>
                      <c:pt idx="6">
                        <c:v>2</c:v>
                      </c:pt>
                      <c:pt idx="7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2792-4985-B5BD-835D77F88BE6}"/>
                  </c:ext>
                </c:extLst>
              </c15:ser>
            </c15:filteredRadarSeries>
            <c15:filteredRad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Sheet1!$A$7</c15:sqref>
                        </c15:formulaRef>
                      </c:ext>
                    </c:extLst>
                    <c:strCache>
                      <c:ptCount val="1"/>
                      <c:pt idx="0">
                        <c:v>우선근</c:v>
                      </c:pt>
                    </c:strCache>
                  </c:strRef>
                </c:tx>
                <c:spPr>
                  <a:solidFill>
                    <a:schemeClr val="accent6">
                      <a:lumMod val="20000"/>
                      <a:lumOff val="80000"/>
                    </a:schemeClr>
                  </a:solidFill>
                  <a:ln w="9525">
                    <a:solidFill>
                      <a:schemeClr val="accent6">
                        <a:lumMod val="50000"/>
                      </a:schemeClr>
                    </a:solidFill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Sheet1!$B$7:$I$7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3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2792-4985-B5BD-835D77F88BE6}"/>
                  </c:ext>
                </c:extLst>
              </c15:ser>
            </c15:filteredRadarSeries>
            <c15:filteredRad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Sheet1!$A$8</c15:sqref>
                        </c15:formulaRef>
                      </c:ext>
                    </c:extLst>
                    <c:strCache>
                      <c:ptCount val="1"/>
                      <c:pt idx="0">
                        <c:v>최윤희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Sheet1!$B$8:$I$8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2792-4985-B5BD-835D77F88BE6}"/>
                  </c:ext>
                </c:extLst>
              </c15:ser>
            </c15:filteredRadarSeries>
            <c15:filteredRad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Sheet1!$A$9</c15:sqref>
                        </c15:formulaRef>
                      </c:ext>
                    </c:extLst>
                    <c:strCache>
                      <c:ptCount val="1"/>
                      <c:pt idx="0">
                        <c:v>채수길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Sheet1!$B$9:$I$9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4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2792-4985-B5BD-835D77F88BE6}"/>
                  </c:ext>
                </c:extLst>
              </c15:ser>
            </c15:filteredRadarSeries>
            <c15:filteredRad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Sheet1!$A$10</c15:sqref>
                        </c15:formulaRef>
                      </c:ext>
                    </c:extLst>
                    <c:strCache>
                      <c:ptCount val="1"/>
                      <c:pt idx="0">
                        <c:v>우성민</c:v>
                      </c:pt>
                    </c:strCache>
                  </c:strRef>
                </c:tx>
                <c:spPr>
                  <a:solidFill>
                    <a:schemeClr val="accent3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Sheet1!$B$10:$I$10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2792-4985-B5BD-835D77F88BE6}"/>
                  </c:ext>
                </c:extLst>
              </c15:ser>
            </c15:filteredRadarSeries>
            <c15:filteredRada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Sheet1!$A$11</c15:sqref>
                        </c15:formulaRef>
                      </c:ext>
                    </c:extLst>
                    <c:strCache>
                      <c:ptCount val="1"/>
                      <c:pt idx="0">
                        <c:v>김민호</c:v>
                      </c:pt>
                    </c:strCache>
                  </c:strRef>
                </c:tx>
                <c:spPr>
                  <a:solidFill>
                    <a:schemeClr val="accent4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Sheet1!$B$11:$I$11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2792-4985-B5BD-835D77F88BE6}"/>
                  </c:ext>
                </c:extLst>
              </c15:ser>
            </c15:filteredRadarSeries>
            <c15:filteredRad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Sheet1!$A$13</c15:sqref>
                        </c15:formulaRef>
                      </c:ext>
                    </c:extLst>
                    <c:strCache>
                      <c:ptCount val="1"/>
                      <c:pt idx="0">
                        <c:v>윤재승</c:v>
                      </c:pt>
                    </c:strCache>
                  </c:strRef>
                </c:tx>
                <c:spPr>
                  <a:solidFill>
                    <a:schemeClr val="accent6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Sheet1!$B$13:$I$13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1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2792-4985-B5BD-835D77F88BE6}"/>
                  </c:ext>
                </c:extLst>
              </c15:ser>
            </c15:filteredRadarSeries>
            <c15:filteredRadar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Sheet1!$A$14</c15:sqref>
                        </c15:formulaRef>
                      </c:ext>
                    </c:extLst>
                    <c:strCache>
                      <c:ptCount val="1"/>
                      <c:pt idx="0">
                        <c:v>김한결</c:v>
                      </c:pt>
                    </c:strCache>
                  </c:strRef>
                </c:tx>
                <c:spPr>
                  <a:solidFill>
                    <a:schemeClr val="accent1">
                      <a:lumMod val="80000"/>
                      <a:lumOff val="2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Sheet1!$B$14:$I$14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1</c:v>
                      </c:pt>
                      <c:pt idx="6">
                        <c:v>2</c:v>
                      </c:pt>
                      <c:pt idx="7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2792-4985-B5BD-835D77F88BE6}"/>
                  </c:ext>
                </c:extLst>
              </c15:ser>
            </c15:filteredRadarSeries>
          </c:ext>
        </c:extLst>
      </c:radarChart>
      <c:catAx>
        <c:axId val="67715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677158528"/>
        <c:crosses val="autoZero"/>
        <c:auto val="1"/>
        <c:lblAlgn val="ctr"/>
        <c:lblOffset val="100"/>
        <c:noMultiLvlLbl val="0"/>
      </c:catAx>
      <c:valAx>
        <c:axId val="677158528"/>
        <c:scaling>
          <c:orientation val="minMax"/>
          <c:max val="5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677151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11"/>
          <c:order val="11"/>
          <c:tx>
            <c:strRef>
              <c:f>Sheet1!$A$13</c:f>
              <c:strCache>
                <c:ptCount val="1"/>
                <c:pt idx="0">
                  <c:v>윤재승</c:v>
                </c:pt>
              </c:strCache>
            </c:strRef>
          </c:tx>
          <c:spPr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accent3">
                  <a:lumMod val="50000"/>
                </a:schemeClr>
              </a:solidFill>
            </a:ln>
            <a:effectLst/>
          </c:spPr>
          <c:cat>
            <c:strRef>
              <c:f>Sheet1!$B$1:$I$1</c:f>
              <c:strCache>
                <c:ptCount val="8"/>
                <c:pt idx="0">
                  <c:v>집단</c:v>
                </c:pt>
                <c:pt idx="1">
                  <c:v>분쟁</c:v>
                </c:pt>
                <c:pt idx="2">
                  <c:v>소통</c:v>
                </c:pt>
                <c:pt idx="3">
                  <c:v>개별</c:v>
                </c:pt>
                <c:pt idx="4">
                  <c:v>인사</c:v>
                </c:pt>
                <c:pt idx="5">
                  <c:v>외국어</c:v>
                </c:pt>
                <c:pt idx="6">
                  <c:v>Data</c:v>
                </c:pt>
                <c:pt idx="7">
                  <c:v>지식</c:v>
                </c:pt>
              </c:strCache>
            </c:strRef>
          </c:cat>
          <c:val>
            <c:numRef>
              <c:f>Sheet1!$B$13:$I$13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00D2-4FF4-B1C8-4B4FB07A46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77151328"/>
        <c:axId val="677158528"/>
        <c:extLst>
          <c:ext xmlns:c15="http://schemas.microsoft.com/office/drawing/2012/chart" uri="{02D57815-91ED-43cb-92C2-25804820EDAC}">
            <c15:filteredRad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김성현</c:v>
                      </c:pt>
                    </c:strCache>
                  </c:strRef>
                </c:tx>
                <c:spPr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  <a:effectLst/>
                </c:spPr>
                <c:cat>
                  <c:strRef>
                    <c:extLst>
                      <c:ext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Sheet1!$B$2:$I$2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5</c:v>
                      </c:pt>
                      <c:pt idx="3">
                        <c:v>3</c:v>
                      </c:pt>
                      <c:pt idx="4">
                        <c:v>1</c:v>
                      </c:pt>
                      <c:pt idx="5">
                        <c:v>1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00D2-4FF4-B1C8-4B4FB07A46CF}"/>
                  </c:ext>
                </c:extLst>
              </c15:ser>
            </c15:filteredRadarSeries>
            <c15:filteredRad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Sheet1!$A$3</c15:sqref>
                        </c15:formulaRef>
                      </c:ext>
                    </c:extLst>
                    <c:strCache>
                      <c:ptCount val="1"/>
                      <c:pt idx="0">
                        <c:v>이영준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Sheet1!$B$3:$I$3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00D2-4FF4-B1C8-4B4FB07A46CF}"/>
                  </c:ext>
                </c:extLst>
              </c15:ser>
            </c15:filteredRadarSeries>
            <c15:filteredRad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Sheet1!$A$4</c15:sqref>
                        </c15:formulaRef>
                      </c:ext>
                    </c:extLst>
                    <c:strCache>
                      <c:ptCount val="1"/>
                      <c:pt idx="0">
                        <c:v>김지양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Sheet1!$B$4:$I$4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00D2-4FF4-B1C8-4B4FB07A46CF}"/>
                  </c:ext>
                </c:extLst>
              </c15:ser>
            </c15:filteredRadarSeries>
            <c15:filteredRad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Sheet1!$A$5</c15:sqref>
                        </c15:formulaRef>
                      </c:ext>
                    </c:extLst>
                    <c:strCache>
                      <c:ptCount val="1"/>
                      <c:pt idx="0">
                        <c:v>이시형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Sheet1!$B$5:$I$5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4</c:v>
                      </c:pt>
                      <c:pt idx="1">
                        <c:v>5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1</c:v>
                      </c:pt>
                      <c:pt idx="6">
                        <c:v>4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00D2-4FF4-B1C8-4B4FB07A46CF}"/>
                  </c:ext>
                </c:extLst>
              </c15:ser>
            </c15:filteredRadarSeries>
            <c15:filteredRad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Sheet1!$A$6</c15:sqref>
                        </c15:formulaRef>
                      </c:ext>
                    </c:extLst>
                    <c:strCache>
                      <c:ptCount val="1"/>
                      <c:pt idx="0">
                        <c:v>곽지호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Sheet1!$B$6:$I$6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5</c:v>
                      </c:pt>
                      <c:pt idx="6">
                        <c:v>2</c:v>
                      </c:pt>
                      <c:pt idx="7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00D2-4FF4-B1C8-4B4FB07A46CF}"/>
                  </c:ext>
                </c:extLst>
              </c15:ser>
            </c15:filteredRadarSeries>
            <c15:filteredRad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Sheet1!$A$7</c15:sqref>
                        </c15:formulaRef>
                      </c:ext>
                    </c:extLst>
                    <c:strCache>
                      <c:ptCount val="1"/>
                      <c:pt idx="0">
                        <c:v>우선근</c:v>
                      </c:pt>
                    </c:strCache>
                  </c:strRef>
                </c:tx>
                <c:spPr>
                  <a:solidFill>
                    <a:schemeClr val="accent6">
                      <a:lumMod val="20000"/>
                      <a:lumOff val="80000"/>
                    </a:schemeClr>
                  </a:solidFill>
                  <a:ln w="9525">
                    <a:solidFill>
                      <a:schemeClr val="accent6">
                        <a:lumMod val="50000"/>
                      </a:schemeClr>
                    </a:solidFill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Sheet1!$B$7:$I$7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3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00D2-4FF4-B1C8-4B4FB07A46CF}"/>
                  </c:ext>
                </c:extLst>
              </c15:ser>
            </c15:filteredRadarSeries>
            <c15:filteredRad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Sheet1!$A$8</c15:sqref>
                        </c15:formulaRef>
                      </c:ext>
                    </c:extLst>
                    <c:strCache>
                      <c:ptCount val="1"/>
                      <c:pt idx="0">
                        <c:v>최윤희</c:v>
                      </c:pt>
                    </c:strCache>
                  </c:strRef>
                </c:tx>
                <c:spPr>
                  <a:solidFill>
                    <a:schemeClr val="accent6">
                      <a:lumMod val="20000"/>
                      <a:lumOff val="80000"/>
                    </a:schemeClr>
                  </a:solidFill>
                  <a:ln w="9525">
                    <a:solidFill>
                      <a:schemeClr val="accent6">
                        <a:lumMod val="50000"/>
                      </a:schemeClr>
                    </a:solidFill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Sheet1!$B$8:$I$8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00D2-4FF4-B1C8-4B4FB07A46CF}"/>
                  </c:ext>
                </c:extLst>
              </c15:ser>
            </c15:filteredRadarSeries>
            <c15:filteredRad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Sheet1!$A$9</c15:sqref>
                        </c15:formulaRef>
                      </c:ext>
                    </c:extLst>
                    <c:strCache>
                      <c:ptCount val="1"/>
                      <c:pt idx="0">
                        <c:v>채수길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Sheet1!$B$9:$I$9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4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00D2-4FF4-B1C8-4B4FB07A46CF}"/>
                  </c:ext>
                </c:extLst>
              </c15:ser>
            </c15:filteredRadarSeries>
            <c15:filteredRad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Sheet1!$A$10</c15:sqref>
                        </c15:formulaRef>
                      </c:ext>
                    </c:extLst>
                    <c:strCache>
                      <c:ptCount val="1"/>
                      <c:pt idx="0">
                        <c:v>우성민</c:v>
                      </c:pt>
                    </c:strCache>
                  </c:strRef>
                </c:tx>
                <c:spPr>
                  <a:solidFill>
                    <a:schemeClr val="accent3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Sheet1!$B$10:$I$10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00D2-4FF4-B1C8-4B4FB07A46CF}"/>
                  </c:ext>
                </c:extLst>
              </c15:ser>
            </c15:filteredRadarSeries>
            <c15:filteredRada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Sheet1!$A$11</c15:sqref>
                        </c15:formulaRef>
                      </c:ext>
                    </c:extLst>
                    <c:strCache>
                      <c:ptCount val="1"/>
                      <c:pt idx="0">
                        <c:v>김민호</c:v>
                      </c:pt>
                    </c:strCache>
                  </c:strRef>
                </c:tx>
                <c:spPr>
                  <a:solidFill>
                    <a:schemeClr val="accent4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Sheet1!$B$11:$I$11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00D2-4FF4-B1C8-4B4FB07A46CF}"/>
                  </c:ext>
                </c:extLst>
              </c15:ser>
            </c15:filteredRadarSeries>
            <c15:filteredRad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Sheet1!$A$12</c15:sqref>
                        </c15:formulaRef>
                      </c:ext>
                    </c:extLst>
                    <c:strCache>
                      <c:ptCount val="1"/>
                      <c:pt idx="0">
                        <c:v>임효빈</c:v>
                      </c:pt>
                    </c:strCache>
                  </c:strRef>
                </c:tx>
                <c:spPr>
                  <a:solidFill>
                    <a:schemeClr val="accent5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Sheet1!$B$12:$I$12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1</c:v>
                      </c:pt>
                      <c:pt idx="2">
                        <c:v>5</c:v>
                      </c:pt>
                      <c:pt idx="3">
                        <c:v>5</c:v>
                      </c:pt>
                      <c:pt idx="4">
                        <c:v>5</c:v>
                      </c:pt>
                      <c:pt idx="5">
                        <c:v>5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00D2-4FF4-B1C8-4B4FB07A46CF}"/>
                  </c:ext>
                </c:extLst>
              </c15:ser>
            </c15:filteredRadarSeries>
            <c15:filteredRadar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Sheet1!$A$14</c15:sqref>
                        </c15:formulaRef>
                      </c:ext>
                    </c:extLst>
                    <c:strCache>
                      <c:ptCount val="1"/>
                      <c:pt idx="0">
                        <c:v>김한결</c:v>
                      </c:pt>
                    </c:strCache>
                  </c:strRef>
                </c:tx>
                <c:spPr>
                  <a:solidFill>
                    <a:schemeClr val="accent1">
                      <a:lumMod val="80000"/>
                      <a:lumOff val="2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Sheet1!$B$14:$I$14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1</c:v>
                      </c:pt>
                      <c:pt idx="6">
                        <c:v>2</c:v>
                      </c:pt>
                      <c:pt idx="7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00D2-4FF4-B1C8-4B4FB07A46CF}"/>
                  </c:ext>
                </c:extLst>
              </c15:ser>
            </c15:filteredRadarSeries>
          </c:ext>
        </c:extLst>
      </c:radarChart>
      <c:catAx>
        <c:axId val="67715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677158528"/>
        <c:crosses val="autoZero"/>
        <c:auto val="1"/>
        <c:lblAlgn val="ctr"/>
        <c:lblOffset val="100"/>
        <c:noMultiLvlLbl val="0"/>
      </c:catAx>
      <c:valAx>
        <c:axId val="677158528"/>
        <c:scaling>
          <c:orientation val="minMax"/>
          <c:max val="5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677151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12"/>
          <c:order val="12"/>
          <c:tx>
            <c:strRef>
              <c:f>Sheet1!$A$14</c:f>
              <c:strCache>
                <c:ptCount val="1"/>
                <c:pt idx="0">
                  <c:v>김한결</c:v>
                </c:pt>
              </c:strCache>
            </c:strRef>
          </c:tx>
          <c:spPr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accent3">
                  <a:lumMod val="50000"/>
                </a:schemeClr>
              </a:solidFill>
            </a:ln>
            <a:effectLst/>
          </c:spPr>
          <c:cat>
            <c:strRef>
              <c:f>Sheet1!$B$1:$I$1</c:f>
              <c:strCache>
                <c:ptCount val="8"/>
                <c:pt idx="0">
                  <c:v>집단</c:v>
                </c:pt>
                <c:pt idx="1">
                  <c:v>분쟁</c:v>
                </c:pt>
                <c:pt idx="2">
                  <c:v>소통</c:v>
                </c:pt>
                <c:pt idx="3">
                  <c:v>개별</c:v>
                </c:pt>
                <c:pt idx="4">
                  <c:v>인사</c:v>
                </c:pt>
                <c:pt idx="5">
                  <c:v>외국어</c:v>
                </c:pt>
                <c:pt idx="6">
                  <c:v>Data</c:v>
                </c:pt>
                <c:pt idx="7">
                  <c:v>지식</c:v>
                </c:pt>
              </c:strCache>
            </c:strRef>
          </c:cat>
          <c:val>
            <c:numRef>
              <c:f>Sheet1!$B$14:$I$14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0-59F2-4DF4-A32A-725AA2D7F8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77151328"/>
        <c:axId val="677158528"/>
        <c:extLst>
          <c:ext xmlns:c15="http://schemas.microsoft.com/office/drawing/2012/chart" uri="{02D57815-91ED-43cb-92C2-25804820EDAC}">
            <c15:filteredRad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김성현</c:v>
                      </c:pt>
                    </c:strCache>
                  </c:strRef>
                </c:tx>
                <c:spPr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  <a:effectLst/>
                </c:spPr>
                <c:cat>
                  <c:strRef>
                    <c:extLst>
                      <c:ext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Sheet1!$B$2:$I$2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5</c:v>
                      </c:pt>
                      <c:pt idx="3">
                        <c:v>3</c:v>
                      </c:pt>
                      <c:pt idx="4">
                        <c:v>1</c:v>
                      </c:pt>
                      <c:pt idx="5">
                        <c:v>1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59F2-4DF4-A32A-725AA2D7F8C1}"/>
                  </c:ext>
                </c:extLst>
              </c15:ser>
            </c15:filteredRadarSeries>
            <c15:filteredRad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Sheet1!$A$3</c15:sqref>
                        </c15:formulaRef>
                      </c:ext>
                    </c:extLst>
                    <c:strCache>
                      <c:ptCount val="1"/>
                      <c:pt idx="0">
                        <c:v>이영준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Sheet1!$B$3:$I$3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59F2-4DF4-A32A-725AA2D7F8C1}"/>
                  </c:ext>
                </c:extLst>
              </c15:ser>
            </c15:filteredRadarSeries>
            <c15:filteredRad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Sheet1!$A$4</c15:sqref>
                        </c15:formulaRef>
                      </c:ext>
                    </c:extLst>
                    <c:strCache>
                      <c:ptCount val="1"/>
                      <c:pt idx="0">
                        <c:v>김지양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Sheet1!$B$4:$I$4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3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59F2-4DF4-A32A-725AA2D7F8C1}"/>
                  </c:ext>
                </c:extLst>
              </c15:ser>
            </c15:filteredRadarSeries>
            <c15:filteredRad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Sheet1!$A$5</c15:sqref>
                        </c15:formulaRef>
                      </c:ext>
                    </c:extLst>
                    <c:strCache>
                      <c:ptCount val="1"/>
                      <c:pt idx="0">
                        <c:v>이시형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Sheet1!$B$5:$I$5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4</c:v>
                      </c:pt>
                      <c:pt idx="1">
                        <c:v>5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1</c:v>
                      </c:pt>
                      <c:pt idx="6">
                        <c:v>4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59F2-4DF4-A32A-725AA2D7F8C1}"/>
                  </c:ext>
                </c:extLst>
              </c15:ser>
            </c15:filteredRadarSeries>
            <c15:filteredRad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Sheet1!$A$6</c15:sqref>
                        </c15:formulaRef>
                      </c:ext>
                    </c:extLst>
                    <c:strCache>
                      <c:ptCount val="1"/>
                      <c:pt idx="0">
                        <c:v>곽지호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Sheet1!$B$6:$I$6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5</c:v>
                      </c:pt>
                      <c:pt idx="6">
                        <c:v>2</c:v>
                      </c:pt>
                      <c:pt idx="7">
                        <c:v>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59F2-4DF4-A32A-725AA2D7F8C1}"/>
                  </c:ext>
                </c:extLst>
              </c15:ser>
            </c15:filteredRadarSeries>
            <c15:filteredRad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Sheet1!$A$7</c15:sqref>
                        </c15:formulaRef>
                      </c:ext>
                    </c:extLst>
                    <c:strCache>
                      <c:ptCount val="1"/>
                      <c:pt idx="0">
                        <c:v>우선근</c:v>
                      </c:pt>
                    </c:strCache>
                  </c:strRef>
                </c:tx>
                <c:spPr>
                  <a:solidFill>
                    <a:schemeClr val="accent6">
                      <a:lumMod val="20000"/>
                      <a:lumOff val="80000"/>
                    </a:schemeClr>
                  </a:solidFill>
                  <a:ln w="9525">
                    <a:solidFill>
                      <a:schemeClr val="accent6">
                        <a:lumMod val="50000"/>
                      </a:schemeClr>
                    </a:solidFill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Sheet1!$B$7:$I$7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3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59F2-4DF4-A32A-725AA2D7F8C1}"/>
                  </c:ext>
                </c:extLst>
              </c15:ser>
            </c15:filteredRadarSeries>
            <c15:filteredRad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Sheet1!$A$8</c15:sqref>
                        </c15:formulaRef>
                      </c:ext>
                    </c:extLst>
                    <c:strCache>
                      <c:ptCount val="1"/>
                      <c:pt idx="0">
                        <c:v>최윤희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Sheet1!$B$8:$I$8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59F2-4DF4-A32A-725AA2D7F8C1}"/>
                  </c:ext>
                </c:extLst>
              </c15:ser>
            </c15:filteredRadarSeries>
            <c15:filteredRad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Sheet1!$A$9</c15:sqref>
                        </c15:formulaRef>
                      </c:ext>
                    </c:extLst>
                    <c:strCache>
                      <c:ptCount val="1"/>
                      <c:pt idx="0">
                        <c:v>채수길</c:v>
                      </c:pt>
                    </c:strCache>
                  </c:strRef>
                </c:tx>
                <c:spPr>
                  <a:solidFill>
                    <a:schemeClr val="accent6">
                      <a:lumMod val="20000"/>
                      <a:lumOff val="80000"/>
                    </a:schemeClr>
                  </a:solidFill>
                  <a:ln w="9525">
                    <a:solidFill>
                      <a:schemeClr val="accent6">
                        <a:lumMod val="50000"/>
                      </a:schemeClr>
                    </a:solidFill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Sheet1!$B$9:$I$9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3</c:v>
                      </c:pt>
                      <c:pt idx="5">
                        <c:v>4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59F2-4DF4-A32A-725AA2D7F8C1}"/>
                  </c:ext>
                </c:extLst>
              </c15:ser>
            </c15:filteredRadarSeries>
            <c15:filteredRad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Sheet1!$A$10</c15:sqref>
                        </c15:formulaRef>
                      </c:ext>
                    </c:extLst>
                    <c:strCache>
                      <c:ptCount val="1"/>
                      <c:pt idx="0">
                        <c:v>우성민</c:v>
                      </c:pt>
                    </c:strCache>
                  </c:strRef>
                </c:tx>
                <c:spPr>
                  <a:solidFill>
                    <a:schemeClr val="accent3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Sheet1!$B$10:$I$10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3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59F2-4DF4-A32A-725AA2D7F8C1}"/>
                  </c:ext>
                </c:extLst>
              </c15:ser>
            </c15:filteredRadarSeries>
            <c15:filteredRada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Sheet1!$A$11</c15:sqref>
                        </c15:formulaRef>
                      </c:ext>
                    </c:extLst>
                    <c:strCache>
                      <c:ptCount val="1"/>
                      <c:pt idx="0">
                        <c:v>김민호</c:v>
                      </c:pt>
                    </c:strCache>
                  </c:strRef>
                </c:tx>
                <c:spPr>
                  <a:solidFill>
                    <a:schemeClr val="accent4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Sheet1!$B$11:$I$11</c15:sqref>
                        </c15:formulaRef>
                      </c:ext>
                    </c:extLst>
                    <c:numCache>
                      <c:formatCode>0</c:formatCode>
                      <c:ptCount val="8"/>
                      <c:pt idx="0">
                        <c:v>3</c:v>
                      </c:pt>
                      <c:pt idx="1">
                        <c:v>3</c:v>
                      </c:pt>
                      <c:pt idx="2">
                        <c:v>3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59F2-4DF4-A32A-725AA2D7F8C1}"/>
                  </c:ext>
                </c:extLst>
              </c15:ser>
            </c15:filteredRadarSeries>
            <c15:filteredRad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Sheet1!$A$12</c15:sqref>
                        </c15:formulaRef>
                      </c:ext>
                    </c:extLst>
                    <c:strCache>
                      <c:ptCount val="1"/>
                      <c:pt idx="0">
                        <c:v>임효빈</c:v>
                      </c:pt>
                    </c:strCache>
                  </c:strRef>
                </c:tx>
                <c:spPr>
                  <a:solidFill>
                    <a:schemeClr val="accent5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Sheet1!$B$12:$I$12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</c:v>
                      </c:pt>
                      <c:pt idx="1">
                        <c:v>1</c:v>
                      </c:pt>
                      <c:pt idx="2">
                        <c:v>5</c:v>
                      </c:pt>
                      <c:pt idx="3">
                        <c:v>5</c:v>
                      </c:pt>
                      <c:pt idx="4">
                        <c:v>5</c:v>
                      </c:pt>
                      <c:pt idx="5">
                        <c:v>5</c:v>
                      </c:pt>
                      <c:pt idx="6">
                        <c:v>3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59F2-4DF4-A32A-725AA2D7F8C1}"/>
                  </c:ext>
                </c:extLst>
              </c15:ser>
            </c15:filteredRadarSeries>
            <c15:filteredRad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Sheet1!$A$13</c15:sqref>
                        </c15:formulaRef>
                      </c:ext>
                    </c:extLst>
                    <c:strCache>
                      <c:ptCount val="1"/>
                      <c:pt idx="0">
                        <c:v>윤재승</c:v>
                      </c:pt>
                    </c:strCache>
                  </c:strRef>
                </c:tx>
                <c:spPr>
                  <a:solidFill>
                    <a:schemeClr val="accent6">
                      <a:lumMod val="60000"/>
                    </a:schemeClr>
                  </a:solidFill>
                  <a:ln w="25400">
                    <a:noFill/>
                  </a:ln>
                  <a:effectLst/>
                </c:spP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strCache>
                      <c:ptCount val="8"/>
                      <c:pt idx="0">
                        <c:v>집단</c:v>
                      </c:pt>
                      <c:pt idx="1">
                        <c:v>분쟁</c:v>
                      </c:pt>
                      <c:pt idx="2">
                        <c:v>소통</c:v>
                      </c:pt>
                      <c:pt idx="3">
                        <c:v>개별</c:v>
                      </c:pt>
                      <c:pt idx="4">
                        <c:v>인사</c:v>
                      </c:pt>
                      <c:pt idx="5">
                        <c:v>외국어</c:v>
                      </c:pt>
                      <c:pt idx="6">
                        <c:v>Data</c:v>
                      </c:pt>
                      <c:pt idx="7">
                        <c:v>지식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Sheet1!$B$13:$I$13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  <c:pt idx="1">
                        <c:v>0</c:v>
                      </c:pt>
                      <c:pt idx="2">
                        <c:v>3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1</c:v>
                      </c:pt>
                      <c:pt idx="6">
                        <c:v>2</c:v>
                      </c:pt>
                      <c:pt idx="7">
                        <c:v>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59F2-4DF4-A32A-725AA2D7F8C1}"/>
                  </c:ext>
                </c:extLst>
              </c15:ser>
            </c15:filteredRadarSeries>
          </c:ext>
        </c:extLst>
      </c:radarChart>
      <c:catAx>
        <c:axId val="67715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defRPr>
            </a:pPr>
            <a:endParaRPr lang="ko-KR"/>
          </a:p>
        </c:txPr>
        <c:crossAx val="677158528"/>
        <c:crosses val="autoZero"/>
        <c:auto val="1"/>
        <c:lblAlgn val="ctr"/>
        <c:lblOffset val="100"/>
        <c:noMultiLvlLbl val="0"/>
      </c:catAx>
      <c:valAx>
        <c:axId val="677158528"/>
        <c:scaling>
          <c:orientation val="minMax"/>
          <c:max val="5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677151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3607257426155064E-2"/>
          <c:y val="5.8159849828520035E-3"/>
          <c:w val="0.96582195686055716"/>
          <c:h val="0.8317236217843326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현장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'26년</c:v>
                </c:pt>
                <c:pt idx="1">
                  <c:v>'27년</c:v>
                </c:pt>
                <c:pt idx="2">
                  <c:v>'28년</c:v>
                </c:pt>
                <c:pt idx="3">
                  <c:v>'29년</c:v>
                </c:pt>
                <c:pt idx="4">
                  <c:v>'30년</c:v>
                </c:pt>
              </c:strCache>
            </c:strRef>
          </c:cat>
          <c:val>
            <c:numRef>
              <c:f>Sheet1!$B$2:$B$6</c:f>
              <c:numCache>
                <c:formatCode>_(* #,##0_);_(* \(#,##0\);_(* "-"_);_(@_)</c:formatCode>
                <c:ptCount val="5"/>
                <c:pt idx="0">
                  <c:v>244</c:v>
                </c:pt>
                <c:pt idx="1">
                  <c:v>306</c:v>
                </c:pt>
                <c:pt idx="2">
                  <c:v>353</c:v>
                </c:pt>
                <c:pt idx="3">
                  <c:v>410</c:v>
                </c:pt>
                <c:pt idx="4">
                  <c:v>460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C7-4F51-94AA-1C6E454C4E4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사무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'26년</c:v>
                </c:pt>
                <c:pt idx="1">
                  <c:v>'27년</c:v>
                </c:pt>
                <c:pt idx="2">
                  <c:v>'28년</c:v>
                </c:pt>
                <c:pt idx="3">
                  <c:v>'29년</c:v>
                </c:pt>
                <c:pt idx="4">
                  <c:v>'30년</c:v>
                </c:pt>
              </c:strCache>
            </c:strRef>
          </c:cat>
          <c:val>
            <c:numRef>
              <c:f>Sheet1!$C$2:$C$6</c:f>
              <c:numCache>
                <c:formatCode>_(* #,##0_);_(* \(#,##0\);_(* "-"_);_(@_)</c:formatCode>
                <c:ptCount val="5"/>
                <c:pt idx="0">
                  <c:v>716</c:v>
                </c:pt>
                <c:pt idx="1">
                  <c:v>879</c:v>
                </c:pt>
                <c:pt idx="2">
                  <c:v>1076</c:v>
                </c:pt>
                <c:pt idx="3">
                  <c:v>1290</c:v>
                </c:pt>
                <c:pt idx="4">
                  <c:v>1512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C7-4F51-94AA-1C6E454C4E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210360688"/>
        <c:axId val="121087278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합계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sng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'26년</c:v>
                </c:pt>
                <c:pt idx="1">
                  <c:v>'27년</c:v>
                </c:pt>
                <c:pt idx="2">
                  <c:v>'28년</c:v>
                </c:pt>
                <c:pt idx="3">
                  <c:v>'29년</c:v>
                </c:pt>
                <c:pt idx="4">
                  <c:v>'30년</c:v>
                </c:pt>
              </c:strCache>
            </c:strRef>
          </c:cat>
          <c:val>
            <c:numRef>
              <c:f>Sheet1!$D$2:$D$6</c:f>
              <c:numCache>
                <c:formatCode>_(* #,##0_);_(* \(#,##0\);_(* "-"_);_(@_)</c:formatCode>
                <c:ptCount val="5"/>
                <c:pt idx="0">
                  <c:v>960</c:v>
                </c:pt>
                <c:pt idx="1">
                  <c:v>1185</c:v>
                </c:pt>
                <c:pt idx="2">
                  <c:v>1429</c:v>
                </c:pt>
                <c:pt idx="3">
                  <c:v>1700</c:v>
                </c:pt>
                <c:pt idx="4">
                  <c:v>1972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2C7-4F51-94AA-1C6E454C4E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10360688"/>
        <c:axId val="1210872784"/>
      </c:lineChart>
      <c:catAx>
        <c:axId val="1210360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10872784"/>
        <c:crosses val="autoZero"/>
        <c:auto val="1"/>
        <c:lblAlgn val="ctr"/>
        <c:lblOffset val="100"/>
        <c:noMultiLvlLbl val="0"/>
      </c:catAx>
      <c:valAx>
        <c:axId val="1210872784"/>
        <c:scaling>
          <c:orientation val="minMax"/>
        </c:scaling>
        <c:delete val="1"/>
        <c:axPos val="l"/>
        <c:numFmt formatCode="_(* #,##0_);_(* \(#,##0\);_(* &quot;-&quot;_);_(@_)" sourceLinked="1"/>
        <c:majorTickMark val="none"/>
        <c:minorTickMark val="none"/>
        <c:tickLblPos val="nextTo"/>
        <c:crossAx val="12103606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30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  <a:headEnd type="none" w="sm" len="sm"/>
        <a:tailEnd type="none" w="sm" len="sm"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45448" cy="493554"/>
          </a:xfrm>
          <a:prstGeom prst="rect">
            <a:avLst/>
          </a:prstGeom>
        </p:spPr>
        <p:txBody>
          <a:bodyPr vert="horz" lIns="91206" tIns="45609" rIns="91206" bIns="4560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654" y="3"/>
            <a:ext cx="2945448" cy="493554"/>
          </a:xfrm>
          <a:prstGeom prst="rect">
            <a:avLst/>
          </a:prstGeom>
        </p:spPr>
        <p:txBody>
          <a:bodyPr vert="horz" lIns="91206" tIns="45609" rIns="91206" bIns="45609" rtlCol="0"/>
          <a:lstStyle>
            <a:lvl1pPr algn="r">
              <a:defRPr sz="1200"/>
            </a:lvl1pPr>
          </a:lstStyle>
          <a:p>
            <a:fld id="{172E703B-189D-493D-B142-E66C299E87CD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739775"/>
            <a:ext cx="534670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06" tIns="45609" rIns="91206" bIns="4560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7" y="4689554"/>
            <a:ext cx="5437506" cy="4441989"/>
          </a:xfrm>
          <a:prstGeom prst="rect">
            <a:avLst/>
          </a:prstGeom>
        </p:spPr>
        <p:txBody>
          <a:bodyPr vert="horz" lIns="91206" tIns="45609" rIns="91206" bIns="4560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7544"/>
            <a:ext cx="2945448" cy="493553"/>
          </a:xfrm>
          <a:prstGeom prst="rect">
            <a:avLst/>
          </a:prstGeom>
        </p:spPr>
        <p:txBody>
          <a:bodyPr vert="horz" lIns="91206" tIns="45609" rIns="91206" bIns="4560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654" y="9377544"/>
            <a:ext cx="2945448" cy="493553"/>
          </a:xfrm>
          <a:prstGeom prst="rect">
            <a:avLst/>
          </a:prstGeom>
        </p:spPr>
        <p:txBody>
          <a:bodyPr vert="horz" lIns="91206" tIns="45609" rIns="91206" bIns="45609" rtlCol="0" anchor="b"/>
          <a:lstStyle>
            <a:lvl1pPr algn="r">
              <a:defRPr sz="1200"/>
            </a:lvl1pPr>
          </a:lstStyle>
          <a:p>
            <a:fld id="{D93828E8-47A3-430B-94EB-A028836CE4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500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828E8-47A3-430B-94EB-A028836CE4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734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828E8-47A3-430B-94EB-A028836CE4B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913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828E8-47A3-430B-94EB-A028836CE4B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336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노경관리 체계를 셋업하기 위해서 어떠한 역량이 필요한지 그리는 것 </a:t>
            </a:r>
            <a:br>
              <a:rPr lang="en-US" altLang="ko-KR"/>
            </a:br>
            <a:r>
              <a:rPr lang="en-US" altLang="ko-KR"/>
              <a:t> - </a:t>
            </a:r>
            <a:r>
              <a:rPr lang="ko-KR" altLang="en-US"/>
              <a:t>레이더 차트형태로 분석해보기</a:t>
            </a:r>
            <a:r>
              <a:rPr lang="en-US" altLang="ko-KR"/>
              <a:t>?, </a:t>
            </a:r>
            <a:r>
              <a:rPr lang="ko-KR" altLang="en-US"/>
              <a:t>현장 노무관리</a:t>
            </a:r>
            <a:r>
              <a:rPr lang="en-US" altLang="ko-KR"/>
              <a:t>, 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828E8-47A3-430B-94EB-A028836CE4B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2271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노경관리 체계를 셋업하기 위해서 어떠한 역량이 필요한지 그리는 것 </a:t>
            </a:r>
            <a:br>
              <a:rPr lang="en-US" altLang="ko-KR"/>
            </a:br>
            <a:r>
              <a:rPr lang="en-US" altLang="ko-KR"/>
              <a:t> - </a:t>
            </a:r>
            <a:r>
              <a:rPr lang="ko-KR" altLang="en-US"/>
              <a:t>레이더 차트형태로 분석해보기</a:t>
            </a:r>
            <a:r>
              <a:rPr lang="en-US" altLang="ko-KR"/>
              <a:t>?, </a:t>
            </a:r>
            <a:r>
              <a:rPr lang="ko-KR" altLang="en-US"/>
              <a:t>현장 노무관리</a:t>
            </a:r>
            <a:r>
              <a:rPr lang="en-US" altLang="ko-KR"/>
              <a:t>, 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828E8-47A3-430B-94EB-A028836CE4B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756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노경관리 체계를 셋업하기 위해서 어떠한 역량이 필요한지 그리는 것 </a:t>
            </a:r>
            <a:br>
              <a:rPr lang="en-US" altLang="ko-KR"/>
            </a:br>
            <a:r>
              <a:rPr lang="en-US" altLang="ko-KR"/>
              <a:t> - </a:t>
            </a:r>
            <a:r>
              <a:rPr lang="ko-KR" altLang="en-US"/>
              <a:t>레이더 차트형태로 분석해보기</a:t>
            </a:r>
            <a:r>
              <a:rPr lang="en-US" altLang="ko-KR"/>
              <a:t>?, </a:t>
            </a:r>
            <a:r>
              <a:rPr lang="ko-KR" altLang="en-US"/>
              <a:t>현장 노무관리</a:t>
            </a:r>
            <a:r>
              <a:rPr lang="en-US" altLang="ko-KR"/>
              <a:t>, 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828E8-47A3-430B-94EB-A028836CE4B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575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노경관리 체계를 셋업하기 위해서 어떠한 역량이 필요한지 그리는 것 </a:t>
            </a:r>
            <a:br>
              <a:rPr lang="en-US" altLang="ko-KR"/>
            </a:br>
            <a:r>
              <a:rPr lang="en-US" altLang="ko-KR"/>
              <a:t> - </a:t>
            </a:r>
            <a:r>
              <a:rPr lang="ko-KR" altLang="en-US"/>
              <a:t>레이더 차트형태로 분석해보기</a:t>
            </a:r>
            <a:r>
              <a:rPr lang="en-US" altLang="ko-KR"/>
              <a:t>?, </a:t>
            </a:r>
            <a:r>
              <a:rPr lang="ko-KR" altLang="en-US"/>
              <a:t>현장 노무관리</a:t>
            </a:r>
            <a:r>
              <a:rPr lang="en-US" altLang="ko-KR"/>
              <a:t>, 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828E8-47A3-430B-94EB-A028836CE4B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287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828E8-47A3-430B-94EB-A028836CE4B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396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828E8-47A3-430B-94EB-A028836CE4B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283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3828E8-47A3-430B-94EB-A028836CE4B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33908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828E8-47A3-430B-94EB-A028836CE4B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5859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828E8-47A3-430B-94EB-A028836CE4B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0457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828E8-47A3-430B-94EB-A028836CE4B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9710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828E8-47A3-430B-94EB-A028836CE4B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572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828E8-47A3-430B-94EB-A028836CE4B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77076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828E8-47A3-430B-94EB-A028836CE4B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416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828E8-47A3-430B-94EB-A028836CE4B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3555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828E8-47A3-430B-94EB-A028836CE4B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38427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t"/>
            <a:r>
              <a:rPr lang="ko-KR" altLang="en-US" sz="1200" b="0" dirty="0">
                <a:effectLst/>
                <a:latin typeface="Pretendard-Bold"/>
              </a:rPr>
              <a:t>첫째</a:t>
            </a:r>
            <a:r>
              <a:rPr lang="en-US" altLang="ko-KR" sz="1200" b="0" dirty="0">
                <a:effectLst/>
                <a:latin typeface="Pretendard-Bold"/>
              </a:rPr>
              <a:t>, ESS</a:t>
            </a:r>
            <a:r>
              <a:rPr lang="ko-KR" altLang="en-US" sz="1200" b="0" dirty="0">
                <a:effectLst/>
                <a:latin typeface="Pretendard-Bold"/>
              </a:rPr>
              <a:t>사업의 성장 잠재력</a:t>
            </a:r>
            <a:r>
              <a:rPr lang="en-US" altLang="ko-KR" sz="1200" b="0" dirty="0">
                <a:effectLst/>
                <a:latin typeface="Pretendard-Bold"/>
              </a:rPr>
              <a:t>(full potential)</a:t>
            </a:r>
            <a:r>
              <a:rPr lang="ko-KR" altLang="en-US" sz="1200" b="0" dirty="0">
                <a:effectLst/>
                <a:latin typeface="Pretendard-Bold"/>
              </a:rPr>
              <a:t>을 최대한 실현해 가고자 합니다</a:t>
            </a:r>
            <a:r>
              <a:rPr lang="en-US" altLang="ko-KR" sz="1200" b="0" dirty="0">
                <a:effectLst/>
                <a:latin typeface="Pretendard-Bold"/>
              </a:rPr>
              <a:t>.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en-US" altLang="ko-KR" sz="1200" b="0" dirty="0">
                <a:effectLst/>
                <a:latin typeface="Pretendard" panose="02000503000000020004"/>
              </a:rPr>
              <a:t>ESS </a:t>
            </a:r>
            <a:r>
              <a:rPr lang="ko-KR" altLang="en-US" sz="1200" b="0" dirty="0">
                <a:effectLst/>
                <a:latin typeface="Pretendard" panose="02000503000000020004"/>
              </a:rPr>
              <a:t>수요가 그 어느 때보다 빠르게 확대되고 있습니다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포트폴리오 리밸런싱의 성패를 좌우할 중요한 기회입니다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en-US" altLang="ko-KR" sz="1200" b="0" dirty="0">
                <a:effectLst/>
                <a:latin typeface="Pretendard" panose="02000503000000020004"/>
              </a:rPr>
              <a:t>2028</a:t>
            </a:r>
            <a:r>
              <a:rPr lang="ko-KR" altLang="en-US" sz="1200" b="0" dirty="0">
                <a:effectLst/>
                <a:latin typeface="Pretendard" panose="02000503000000020004"/>
              </a:rPr>
              <a:t>년까지 </a:t>
            </a:r>
            <a:r>
              <a:rPr lang="en-US" altLang="ko-KR" sz="1200" b="0" dirty="0">
                <a:effectLst/>
                <a:latin typeface="Pretendard" panose="02000503000000020004"/>
              </a:rPr>
              <a:t>ESS </a:t>
            </a:r>
            <a:r>
              <a:rPr lang="ko-KR" altLang="en-US" sz="1200" b="0" dirty="0">
                <a:effectLst/>
                <a:latin typeface="Pretendard" panose="02000503000000020004"/>
              </a:rPr>
              <a:t>생산 </a:t>
            </a:r>
            <a:r>
              <a:rPr lang="en-US" altLang="ko-KR" sz="1200" b="0" dirty="0">
                <a:effectLst/>
                <a:latin typeface="Pretendard" panose="02000503000000020004"/>
              </a:rPr>
              <a:t>Capa</a:t>
            </a:r>
            <a:r>
              <a:rPr lang="ko-KR" altLang="en-US" sz="1200" b="0" dirty="0">
                <a:effectLst/>
                <a:latin typeface="Pretendard" panose="02000503000000020004"/>
              </a:rPr>
              <a:t>를 두 배 이상 확대하고</a:t>
            </a:r>
            <a:r>
              <a:rPr lang="en-US" altLang="ko-KR" sz="1200" b="0" dirty="0">
                <a:effectLst/>
                <a:latin typeface="Pretendard" panose="02000503000000020004"/>
              </a:rPr>
              <a:t>,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en-US" altLang="ko-KR" sz="1200" b="0" dirty="0">
                <a:effectLst/>
                <a:latin typeface="Pretendard" panose="02000503000000020004"/>
              </a:rPr>
              <a:t>SI/SW</a:t>
            </a:r>
            <a:r>
              <a:rPr lang="ko-KR" altLang="en-US" sz="1200" b="0" dirty="0">
                <a:effectLst/>
                <a:latin typeface="Pretendard" panose="02000503000000020004"/>
              </a:rPr>
              <a:t>차별화 역량 강화로 솔루션 경쟁력을 강화해 나가야 합니다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타이밍이 중요한 실행인 만큼 적기 공급을 위해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북미</a:t>
            </a:r>
            <a:r>
              <a:rPr lang="en-US" altLang="ko-KR" sz="1200" b="0" dirty="0">
                <a:effectLst/>
                <a:latin typeface="Pretendard" panose="02000503000000020004"/>
              </a:rPr>
              <a:t>, </a:t>
            </a:r>
            <a:r>
              <a:rPr lang="ko-KR" altLang="en-US" sz="1200" b="0" dirty="0">
                <a:effectLst/>
                <a:latin typeface="Pretendard" panose="02000503000000020004"/>
              </a:rPr>
              <a:t>유럽</a:t>
            </a:r>
            <a:r>
              <a:rPr lang="en-US" altLang="ko-KR" sz="1200" b="0" dirty="0">
                <a:effectLst/>
                <a:latin typeface="Pretendard" panose="02000503000000020004"/>
              </a:rPr>
              <a:t>, </a:t>
            </a:r>
            <a:r>
              <a:rPr lang="ko-KR" altLang="en-US" sz="1200" b="0" dirty="0">
                <a:effectLst/>
                <a:latin typeface="Pretendard" panose="02000503000000020004"/>
              </a:rPr>
              <a:t>중국 등에서의 </a:t>
            </a:r>
            <a:r>
              <a:rPr lang="en-US" altLang="ko-KR" sz="1200" b="0" dirty="0">
                <a:effectLst/>
                <a:latin typeface="Pretendard" panose="02000503000000020004"/>
              </a:rPr>
              <a:t>ESS</a:t>
            </a:r>
            <a:r>
              <a:rPr lang="ko-KR" altLang="en-US" sz="1200" b="0" dirty="0">
                <a:effectLst/>
                <a:latin typeface="Pretendard" panose="02000503000000020004"/>
              </a:rPr>
              <a:t>전환을 가속화해 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공급 안정성과 운영 효율화도 함께 높일 계획입니다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</a:t>
            </a:r>
            <a:br>
              <a:rPr lang="en-US" altLang="ko-KR" sz="1200" b="0" dirty="0">
                <a:effectLst/>
                <a:latin typeface="Pretendard" panose="02000503000000020004"/>
              </a:rPr>
            </a:br>
            <a:br>
              <a:rPr lang="en-US" altLang="ko-KR" sz="1200" b="0" dirty="0">
                <a:effectLst/>
                <a:latin typeface="Pretendard" panose="02000503000000020004"/>
              </a:rPr>
            </a:b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-Bold"/>
              </a:rPr>
              <a:t>둘째</a:t>
            </a:r>
            <a:r>
              <a:rPr lang="en-US" altLang="ko-KR" sz="1200" b="0" dirty="0">
                <a:effectLst/>
                <a:latin typeface="Pretendard-Bold"/>
              </a:rPr>
              <a:t>, </a:t>
            </a:r>
            <a:r>
              <a:rPr lang="ko-KR" altLang="en-US" sz="1200" b="0" dirty="0">
                <a:effectLst/>
                <a:latin typeface="Pretendard-Bold"/>
              </a:rPr>
              <a:t>이길 수 있는 제품력과 </a:t>
            </a:r>
            <a:r>
              <a:rPr lang="en-US" altLang="ko-KR" sz="1200" b="0" dirty="0">
                <a:effectLst/>
                <a:latin typeface="Pretendard-Bold"/>
              </a:rPr>
              <a:t>Cost </a:t>
            </a:r>
            <a:r>
              <a:rPr lang="ko-KR" altLang="en-US" sz="1200" b="0" dirty="0">
                <a:effectLst/>
                <a:latin typeface="Pretendard-Bold"/>
              </a:rPr>
              <a:t>혁신의 실행력을 강화해 가야 합니다</a:t>
            </a:r>
            <a:r>
              <a:rPr lang="en-US" altLang="ko-KR" sz="1200" b="0" dirty="0">
                <a:effectLst/>
                <a:latin typeface="Pretendard-Bold"/>
              </a:rPr>
              <a:t>.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고객의 선택은 결국 제품과 원가 경쟁력에서 결정됩니다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en-US" altLang="ko-KR" sz="1200" b="0" dirty="0">
                <a:effectLst/>
                <a:latin typeface="Pretendard" panose="02000503000000020004"/>
              </a:rPr>
              <a:t>EV</a:t>
            </a:r>
            <a:r>
              <a:rPr lang="ko-KR" altLang="en-US" sz="1200" b="0" dirty="0">
                <a:effectLst/>
                <a:latin typeface="Pretendard" panose="02000503000000020004"/>
              </a:rPr>
              <a:t>용 </a:t>
            </a:r>
            <a:r>
              <a:rPr lang="en-US" altLang="ko-KR" sz="1200" b="0" dirty="0">
                <a:effectLst/>
                <a:latin typeface="Pretendard" panose="02000503000000020004"/>
              </a:rPr>
              <a:t>46</a:t>
            </a:r>
            <a:r>
              <a:rPr lang="ko-KR" altLang="en-US" sz="1200" b="0" dirty="0">
                <a:effectLst/>
                <a:latin typeface="Pretendard" panose="02000503000000020004"/>
              </a:rPr>
              <a:t>시리즈 원통형</a:t>
            </a:r>
            <a:r>
              <a:rPr lang="en-US" altLang="ko-KR" sz="1200" b="0" dirty="0">
                <a:effectLst/>
                <a:latin typeface="Pretendard" panose="02000503000000020004"/>
              </a:rPr>
              <a:t>, HV Mid-Ni </a:t>
            </a:r>
            <a:r>
              <a:rPr lang="ko-KR" altLang="en-US" sz="1200" b="0" dirty="0">
                <a:effectLst/>
                <a:latin typeface="Pretendard" panose="02000503000000020004"/>
              </a:rPr>
              <a:t>파우치</a:t>
            </a:r>
            <a:r>
              <a:rPr lang="en-US" altLang="ko-KR" sz="1200" b="0" dirty="0">
                <a:effectLst/>
                <a:latin typeface="Pretendard" panose="02000503000000020004"/>
              </a:rPr>
              <a:t>, ESS</a:t>
            </a:r>
            <a:r>
              <a:rPr lang="ko-KR" altLang="en-US" sz="1200" b="0" dirty="0">
                <a:effectLst/>
                <a:latin typeface="Pretendard" panose="02000503000000020004"/>
              </a:rPr>
              <a:t>용 각형 </a:t>
            </a:r>
            <a:r>
              <a:rPr lang="en-US" altLang="ko-KR" sz="1200" b="0" dirty="0">
                <a:effectLst/>
                <a:latin typeface="Pretendard" panose="02000503000000020004"/>
              </a:rPr>
              <a:t>LFP </a:t>
            </a:r>
            <a:r>
              <a:rPr lang="ko-KR" altLang="en-US" sz="1200" b="0" dirty="0">
                <a:effectLst/>
                <a:latin typeface="Pretendard" panose="02000503000000020004"/>
              </a:rPr>
              <a:t>등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핵심 제품에서 보다 명확한 경쟁 우위를 확보하겠습니다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소재 및 공정 혁신을 통한 재료비</a:t>
            </a:r>
            <a:r>
              <a:rPr lang="en-US" altLang="ko-KR" sz="1200" b="0" dirty="0">
                <a:effectLst/>
                <a:latin typeface="Pretendard" panose="02000503000000020004"/>
              </a:rPr>
              <a:t>· </a:t>
            </a:r>
            <a:r>
              <a:rPr lang="ko-KR" altLang="en-US" sz="1200" b="0" dirty="0">
                <a:effectLst/>
                <a:latin typeface="Pretendard" panose="02000503000000020004"/>
              </a:rPr>
              <a:t>가공비 개선을 비롯하여</a:t>
            </a:r>
            <a:r>
              <a:rPr lang="en-US" altLang="ko-KR" sz="1200" b="0" dirty="0">
                <a:effectLst/>
                <a:latin typeface="Pretendard" panose="02000503000000020004"/>
              </a:rPr>
              <a:t>, 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원재료 확보 투자 및 </a:t>
            </a:r>
            <a:r>
              <a:rPr lang="en-US" altLang="ko-KR" sz="1200" b="0" dirty="0">
                <a:effectLst/>
                <a:latin typeface="Pretendard" panose="02000503000000020004"/>
              </a:rPr>
              <a:t>Closed-loop </a:t>
            </a:r>
            <a:r>
              <a:rPr lang="ko-KR" altLang="en-US" sz="1200" b="0" dirty="0">
                <a:effectLst/>
                <a:latin typeface="Pretendard" panose="02000503000000020004"/>
              </a:rPr>
              <a:t>기반 리사이클 등으로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구조적 원가 경쟁력 또한 강화해야 합니다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 </a:t>
            </a:r>
            <a:br>
              <a:rPr lang="ko-KR" altLang="en-US" sz="1200" b="0" dirty="0">
                <a:effectLst/>
                <a:latin typeface="Pretendard" panose="02000503000000020004"/>
              </a:rPr>
            </a:b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-Bold"/>
              </a:rPr>
              <a:t>셋째</a:t>
            </a:r>
            <a:r>
              <a:rPr lang="en-US" altLang="ko-KR" sz="1200" b="0" dirty="0">
                <a:effectLst/>
                <a:latin typeface="Pretendard-Bold"/>
              </a:rPr>
              <a:t>, ’Winning Tech’ </a:t>
            </a:r>
            <a:r>
              <a:rPr lang="ko-KR" altLang="en-US" sz="1200" b="0" dirty="0">
                <a:effectLst/>
                <a:latin typeface="Pretendard-Bold"/>
              </a:rPr>
              <a:t>중심으로 </a:t>
            </a:r>
            <a:r>
              <a:rPr lang="en-US" altLang="ko-KR" sz="1200" b="0" dirty="0">
                <a:effectLst/>
                <a:latin typeface="Pretendard-Bold"/>
              </a:rPr>
              <a:t>R&amp;D </a:t>
            </a:r>
            <a:r>
              <a:rPr lang="ko-KR" altLang="en-US" sz="1200" b="0" dirty="0">
                <a:effectLst/>
                <a:latin typeface="Pretendard-Bold"/>
              </a:rPr>
              <a:t>경쟁력을 한 단계 더 끌어올릴 것입니다</a:t>
            </a:r>
            <a:r>
              <a:rPr lang="en-US" altLang="ko-KR" sz="1200" b="0" dirty="0">
                <a:effectLst/>
                <a:latin typeface="Pretendard-Bold"/>
              </a:rPr>
              <a:t>.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건식전극</a:t>
            </a:r>
            <a:r>
              <a:rPr lang="en-US" altLang="ko-KR" sz="1200" b="0" dirty="0">
                <a:effectLst/>
                <a:latin typeface="Pretendard" panose="02000503000000020004"/>
              </a:rPr>
              <a:t>, Gas free </a:t>
            </a:r>
            <a:r>
              <a:rPr lang="ko-KR" altLang="en-US" sz="1200" b="0" dirty="0">
                <a:effectLst/>
                <a:latin typeface="Pretendard" panose="02000503000000020004"/>
              </a:rPr>
              <a:t>전해질</a:t>
            </a:r>
            <a:r>
              <a:rPr lang="en-US" altLang="ko-KR" sz="1200" b="0" dirty="0">
                <a:effectLst/>
                <a:latin typeface="Pretendard" panose="02000503000000020004"/>
              </a:rPr>
              <a:t>, High-Ni 46</a:t>
            </a:r>
            <a:r>
              <a:rPr lang="ko-KR" altLang="en-US" sz="1200" b="0" dirty="0">
                <a:effectLst/>
                <a:latin typeface="Pretendard" panose="02000503000000020004"/>
              </a:rPr>
              <a:t>원통형</a:t>
            </a:r>
            <a:r>
              <a:rPr lang="en-US" altLang="ko-KR" sz="1200" b="0" dirty="0">
                <a:effectLst/>
                <a:latin typeface="Pretendard" panose="02000503000000020004"/>
              </a:rPr>
              <a:t>, HV Mid-Ni </a:t>
            </a:r>
            <a:r>
              <a:rPr lang="ko-KR" altLang="en-US" sz="1200" b="0" dirty="0">
                <a:effectLst/>
                <a:latin typeface="Pretendard" panose="02000503000000020004"/>
              </a:rPr>
              <a:t>등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사업 성과로 직결되는 ‘이기는 기술’에 집중해 차별화를 가속화할 것입니다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en-US" altLang="ko-KR" sz="1200" b="0" dirty="0">
                <a:effectLst/>
                <a:latin typeface="Pretendard" panose="02000503000000020004"/>
              </a:rPr>
              <a:t>ESS</a:t>
            </a:r>
            <a:r>
              <a:rPr lang="ko-KR" altLang="en-US" sz="1200" b="0" dirty="0">
                <a:effectLst/>
                <a:latin typeface="Pretendard" panose="02000503000000020004"/>
              </a:rPr>
              <a:t>의 가용 에너지와 잔존 수명 예측을 높이는 </a:t>
            </a:r>
            <a:r>
              <a:rPr lang="en-US" altLang="ko-KR" sz="1200" b="0" dirty="0">
                <a:effectLst/>
                <a:latin typeface="Pretendard" panose="02000503000000020004"/>
              </a:rPr>
              <a:t>EMO(Energy Management Optimizer) </a:t>
            </a:r>
            <a:r>
              <a:rPr lang="ko-KR" altLang="en-US" sz="1200" b="0" dirty="0">
                <a:effectLst/>
                <a:latin typeface="Pretendard" panose="02000503000000020004"/>
              </a:rPr>
              <a:t>역량과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차세대 전고체전지 기술 확보도 흔들림 없이 추진해야 합니다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특히</a:t>
            </a:r>
            <a:r>
              <a:rPr lang="en-US" altLang="ko-KR" sz="1200" b="0" dirty="0">
                <a:effectLst/>
                <a:latin typeface="Pretendard" panose="02000503000000020004"/>
              </a:rPr>
              <a:t>, </a:t>
            </a:r>
            <a:r>
              <a:rPr lang="ko-KR" altLang="en-US" sz="1200" b="0" dirty="0">
                <a:effectLst/>
                <a:latin typeface="Pretendard" panose="02000503000000020004"/>
              </a:rPr>
              <a:t>차별화된 기술의 상용화 속도를 끌어올리기 위해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원천 기술과 전략 특허의 한국</a:t>
            </a:r>
            <a:r>
              <a:rPr lang="en-US" altLang="ko-KR" sz="1200" b="0" dirty="0">
                <a:effectLst/>
                <a:latin typeface="Pretendard" panose="02000503000000020004"/>
              </a:rPr>
              <a:t>, AI </a:t>
            </a:r>
            <a:r>
              <a:rPr lang="ko-KR" altLang="en-US" sz="1200" b="0" dirty="0">
                <a:effectLst/>
                <a:latin typeface="Pretendard" panose="02000503000000020004"/>
              </a:rPr>
              <a:t>산학 생태계와 북미 지원 거점이 될 미국</a:t>
            </a:r>
            <a:r>
              <a:rPr lang="en-US" altLang="ko-KR" sz="1200" b="0" dirty="0">
                <a:effectLst/>
                <a:latin typeface="Pretendard" panose="02000503000000020004"/>
              </a:rPr>
              <a:t>,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개발</a:t>
            </a:r>
            <a:r>
              <a:rPr lang="en-US" altLang="ko-KR" sz="1200" b="0" dirty="0">
                <a:effectLst/>
                <a:latin typeface="Pretendard" panose="02000503000000020004"/>
              </a:rPr>
              <a:t>-</a:t>
            </a:r>
            <a:r>
              <a:rPr lang="ko-KR" altLang="en-US" sz="1200" b="0" dirty="0">
                <a:effectLst/>
                <a:latin typeface="Pretendard" panose="02000503000000020004"/>
              </a:rPr>
              <a:t>양산 체계 구축 및 소재 선행 개발을 위한 중국 등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현지 역량을 연결해 글로벌 </a:t>
            </a:r>
            <a:r>
              <a:rPr lang="en-US" altLang="ko-KR" sz="1200" b="0" dirty="0">
                <a:effectLst/>
                <a:latin typeface="Pretendard" panose="02000503000000020004"/>
              </a:rPr>
              <a:t>R&amp;D </a:t>
            </a:r>
            <a:r>
              <a:rPr lang="ko-KR" altLang="en-US" sz="1200" b="0" dirty="0">
                <a:effectLst/>
                <a:latin typeface="Pretendard" panose="02000503000000020004"/>
              </a:rPr>
              <a:t>체계를 강화해 나갈 계획입니다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 </a:t>
            </a:r>
            <a:br>
              <a:rPr lang="en-US" altLang="ko-KR" sz="1200" b="0" dirty="0">
                <a:effectLst/>
                <a:latin typeface="Pretendard" panose="02000503000000020004"/>
              </a:rPr>
            </a:br>
            <a:br>
              <a:rPr lang="en-US" altLang="ko-KR" sz="1200" b="0" dirty="0">
                <a:effectLst/>
                <a:latin typeface="Pretendard" panose="02000503000000020004"/>
              </a:rPr>
            </a:b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-Bold"/>
              </a:rPr>
              <a:t>넷째</a:t>
            </a:r>
            <a:r>
              <a:rPr lang="en-US" altLang="ko-KR" sz="1200" b="0" dirty="0">
                <a:effectLst/>
                <a:latin typeface="Pretendard-Bold"/>
              </a:rPr>
              <a:t>, AX </a:t>
            </a:r>
            <a:r>
              <a:rPr lang="ko-KR" altLang="en-US" sz="1200" b="0" dirty="0">
                <a:effectLst/>
                <a:latin typeface="Pretendard-Bold"/>
              </a:rPr>
              <a:t>기반 실행 가속화입니다</a:t>
            </a:r>
            <a:r>
              <a:rPr lang="en-US" altLang="ko-KR" sz="1200" b="0" dirty="0">
                <a:effectLst/>
                <a:latin typeface="Pretendard-Bold"/>
              </a:rPr>
              <a:t>.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우리의 시간은 한정되어 있습니다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 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en-US" altLang="ko-KR" sz="1200" b="0" dirty="0">
                <a:effectLst/>
                <a:latin typeface="Pretendard" panose="02000503000000020004"/>
              </a:rPr>
              <a:t>AI/DX</a:t>
            </a:r>
            <a:r>
              <a:rPr lang="ko-KR" altLang="en-US" sz="1200" b="0" dirty="0">
                <a:effectLst/>
                <a:latin typeface="Pretendard" panose="02000503000000020004"/>
              </a:rPr>
              <a:t>는 반복적인 업무와 비효율에 갇혀 있는 시간을 대폭 줄일 수 있고</a:t>
            </a:r>
            <a:r>
              <a:rPr lang="en-US" altLang="ko-KR" sz="1200" b="0" dirty="0">
                <a:effectLst/>
                <a:latin typeface="Pretendard" panose="02000503000000020004"/>
              </a:rPr>
              <a:t>, 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나아가 사람의 간단한 생각만으로 해결하기 어려운 일들을 쉽게 해냅니다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 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그러면 우리는 사업적 임팩트를 창출하는 ‘진짜 업무’에 몰입할 수 있습니다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 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지금과 같은 </a:t>
            </a:r>
            <a:r>
              <a:rPr lang="en-US" altLang="ko-KR" sz="1200" b="0" dirty="0">
                <a:effectLst/>
                <a:latin typeface="Pretendard" panose="02000503000000020004"/>
              </a:rPr>
              <a:t>AX</a:t>
            </a:r>
            <a:r>
              <a:rPr lang="ko-KR" altLang="en-US" sz="1200" b="0" dirty="0">
                <a:effectLst/>
                <a:latin typeface="Pretendard" panose="02000503000000020004"/>
              </a:rPr>
              <a:t>시대에 이렇게 업무 효율화를 극대화하지 못한다면 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빠른 시일 안에 도태될 수밖에 없는 것이 냉정한 현실입니다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 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반대로 이 기회를 잘 살린다면 생산성을 획기적으로 높여 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압도적인 경쟁력을 갖출 수 있다는 의미입니다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 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즉</a:t>
            </a:r>
            <a:r>
              <a:rPr lang="en-US" altLang="ko-KR" sz="1200" b="0" dirty="0">
                <a:effectLst/>
                <a:latin typeface="Pretendard" panose="02000503000000020004"/>
              </a:rPr>
              <a:t>, AX</a:t>
            </a:r>
            <a:r>
              <a:rPr lang="ko-KR" altLang="en-US" sz="1200" b="0" dirty="0">
                <a:effectLst/>
                <a:latin typeface="Pretendard" panose="02000503000000020004"/>
              </a:rPr>
              <a:t>로의 전환은 선택의 문제가 아닌 생존과 직결된 필수 과제입니다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br>
              <a:rPr lang="ko-KR" altLang="en-US" sz="1200" b="0" dirty="0">
                <a:effectLst/>
                <a:latin typeface="Pretendard" panose="02000503000000020004"/>
              </a:rPr>
            </a:b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회사는 가장 우선적으로 제품개발</a:t>
            </a:r>
            <a:r>
              <a:rPr lang="en-US" altLang="ko-KR" sz="1200" b="0" dirty="0">
                <a:effectLst/>
                <a:latin typeface="Pretendard" panose="02000503000000020004"/>
              </a:rPr>
              <a:t>·</a:t>
            </a:r>
            <a:r>
              <a:rPr lang="ko-KR" altLang="en-US" sz="1200" b="0" dirty="0">
                <a:effectLst/>
                <a:latin typeface="Pretendard" panose="02000503000000020004"/>
              </a:rPr>
              <a:t>소재개발</a:t>
            </a:r>
            <a:r>
              <a:rPr lang="en-US" altLang="ko-KR" sz="1200" b="0" dirty="0">
                <a:effectLst/>
                <a:latin typeface="Pretendard" panose="02000503000000020004"/>
              </a:rPr>
              <a:t>·</a:t>
            </a:r>
            <a:r>
              <a:rPr lang="ko-KR" altLang="en-US" sz="1200" b="0" dirty="0">
                <a:effectLst/>
                <a:latin typeface="Pretendard" panose="02000503000000020004"/>
              </a:rPr>
              <a:t>제조운영 </a:t>
            </a:r>
            <a:r>
              <a:rPr lang="en-US" altLang="ko-KR" sz="1200" b="0" dirty="0">
                <a:effectLst/>
                <a:latin typeface="Pretendard" panose="02000503000000020004"/>
              </a:rPr>
              <a:t>3</a:t>
            </a:r>
            <a:r>
              <a:rPr lang="ko-KR" altLang="en-US" sz="1200" b="0" dirty="0">
                <a:effectLst/>
                <a:latin typeface="Pretendard" panose="02000503000000020004"/>
              </a:rPr>
              <a:t>대 핵심 영역에 </a:t>
            </a:r>
            <a:r>
              <a:rPr lang="en-US" altLang="ko-KR" sz="1200" b="0" dirty="0">
                <a:effectLst/>
                <a:latin typeface="Pretendard" panose="02000503000000020004"/>
              </a:rPr>
              <a:t>AI </a:t>
            </a:r>
            <a:r>
              <a:rPr lang="ko-KR" altLang="en-US" sz="1200" b="0" dirty="0">
                <a:effectLst/>
                <a:latin typeface="Pretendard" panose="02000503000000020004"/>
              </a:rPr>
              <a:t>적용을 본격화해</a:t>
            </a:r>
            <a:r>
              <a:rPr lang="en-US" altLang="ko-KR" sz="1200" b="0" dirty="0">
                <a:effectLst/>
                <a:latin typeface="Pretendard" panose="02000503000000020004"/>
              </a:rPr>
              <a:t>,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en-US" altLang="ko-KR" sz="1200" b="0" dirty="0">
                <a:effectLst/>
                <a:latin typeface="Pretendard" panose="02000503000000020004"/>
              </a:rPr>
              <a:t>2030</a:t>
            </a:r>
            <a:r>
              <a:rPr lang="ko-KR" altLang="en-US" sz="1200" b="0" dirty="0">
                <a:effectLst/>
                <a:latin typeface="Pretendard" panose="02000503000000020004"/>
              </a:rPr>
              <a:t>년까지 생산성을 최소 </a:t>
            </a:r>
            <a:r>
              <a:rPr lang="en-US" altLang="ko-KR" sz="1200" b="0" dirty="0">
                <a:effectLst/>
                <a:latin typeface="Pretendard" panose="02000503000000020004"/>
              </a:rPr>
              <a:t>30% </a:t>
            </a:r>
            <a:r>
              <a:rPr lang="ko-KR" altLang="en-US" sz="1200" b="0" dirty="0">
                <a:effectLst/>
                <a:latin typeface="Pretendard" panose="02000503000000020004"/>
              </a:rPr>
              <a:t>이상 개선하는 것을 목표로 하되 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그 시기를 앞당기기 위해 집중할 것입니다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 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br>
              <a:rPr lang="ko-KR" altLang="en-US" sz="1200" b="0" dirty="0">
                <a:effectLst/>
                <a:latin typeface="Pretendard" panose="02000503000000020004"/>
              </a:rPr>
            </a:b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시간은 우리를 기다려주지 않습니다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 </a:t>
            </a:r>
            <a:r>
              <a:rPr lang="ko-KR" altLang="en-US" sz="1200" b="0" dirty="0">
                <a:effectLst/>
                <a:latin typeface="Pretendard" panose="02000503000000020004"/>
              </a:rPr>
              <a:t>전환의 속도를 높여야 합니다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 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또한</a:t>
            </a:r>
            <a:r>
              <a:rPr lang="en-US" altLang="ko-KR" sz="1200" b="0" dirty="0">
                <a:effectLst/>
                <a:latin typeface="Pretendard" panose="02000503000000020004"/>
              </a:rPr>
              <a:t>, </a:t>
            </a:r>
            <a:r>
              <a:rPr lang="ko-KR" altLang="en-US" sz="1200" b="0" dirty="0">
                <a:effectLst/>
                <a:latin typeface="Pretendard" panose="02000503000000020004"/>
              </a:rPr>
              <a:t>각 부문별 </a:t>
            </a:r>
            <a:r>
              <a:rPr lang="en-US" altLang="ko-KR" sz="1200" b="0" dirty="0">
                <a:effectLst/>
                <a:latin typeface="Pretendard" panose="02000503000000020004"/>
              </a:rPr>
              <a:t>AX</a:t>
            </a:r>
            <a:r>
              <a:rPr lang="ko-KR" altLang="en-US" sz="1200" b="0" dirty="0">
                <a:effectLst/>
                <a:latin typeface="Pretendard" panose="02000503000000020004"/>
              </a:rPr>
              <a:t>관점의 프로세스 혁신과 핵심 업무 단위별 </a:t>
            </a:r>
            <a:r>
              <a:rPr lang="en-US" altLang="ko-KR" sz="1200" b="0" dirty="0">
                <a:effectLst/>
                <a:latin typeface="Pretendard" panose="02000503000000020004"/>
              </a:rPr>
              <a:t>AI Agent </a:t>
            </a:r>
            <a:r>
              <a:rPr lang="ko-KR" altLang="en-US" sz="1200" b="0" dirty="0">
                <a:effectLst/>
                <a:latin typeface="Pretendard" panose="02000503000000020004"/>
              </a:rPr>
              <a:t>개발로 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데이터 기반의 실행 중심 조직으로의 전환도 완벽하게 이뤄 나가겠습니다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 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br>
              <a:rPr lang="ko-KR" altLang="en-US" sz="1200" b="0" dirty="0">
                <a:effectLst/>
                <a:latin typeface="Pretendard" panose="02000503000000020004"/>
              </a:rPr>
            </a:b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br>
              <a:rPr lang="ko-KR" altLang="en-US" sz="1200" b="0" dirty="0">
                <a:effectLst/>
                <a:latin typeface="Pretendard" panose="02000503000000020004"/>
              </a:rPr>
            </a:b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구성원 여러분</a:t>
            </a:r>
            <a:r>
              <a:rPr lang="en-US" altLang="ko-KR" sz="1200" b="0" dirty="0">
                <a:effectLst/>
                <a:latin typeface="Pretendard" panose="02000503000000020004"/>
              </a:rPr>
              <a:t>,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br>
              <a:rPr lang="ko-KR" altLang="en-US" sz="1200" b="0" dirty="0">
                <a:effectLst/>
                <a:latin typeface="Pretendard" panose="02000503000000020004"/>
              </a:rPr>
            </a:b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en-US" altLang="ko-KR" sz="1200" b="0" dirty="0">
                <a:effectLst/>
                <a:latin typeface="Pretendard" panose="02000503000000020004"/>
              </a:rPr>
              <a:t>2026</a:t>
            </a:r>
            <a:r>
              <a:rPr lang="ko-KR" altLang="en-US" sz="1200" b="0" dirty="0">
                <a:effectLst/>
                <a:latin typeface="Pretendard" panose="02000503000000020004"/>
              </a:rPr>
              <a:t>년은 새로운 </a:t>
            </a:r>
            <a:r>
              <a:rPr lang="en-US" altLang="ko-KR" sz="1200" b="0" dirty="0">
                <a:effectLst/>
                <a:latin typeface="Pretendard" panose="02000503000000020004"/>
              </a:rPr>
              <a:t>5</a:t>
            </a:r>
            <a:r>
              <a:rPr lang="ko-KR" altLang="en-US" sz="1200" b="0" dirty="0">
                <a:effectLst/>
                <a:latin typeface="Pretendard" panose="02000503000000020004"/>
              </a:rPr>
              <a:t>년을 기록해 나갈 출발점입니다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우리의 전략은 명확합니다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 </a:t>
            </a:r>
            <a:r>
              <a:rPr lang="ko-KR" altLang="en-US" sz="1200" b="0" dirty="0">
                <a:effectLst/>
                <a:latin typeface="Pretendard" panose="02000503000000020004"/>
              </a:rPr>
              <a:t>남은 것은 결과로 증명하는 일뿐입니다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고객과 시장이 우리의 변화를 피부로 체감할 수 있도록</a:t>
            </a:r>
            <a:r>
              <a:rPr lang="en-US" altLang="ko-KR" sz="1200" b="0" dirty="0">
                <a:effectLst/>
                <a:latin typeface="Pretendard" panose="02000503000000020004"/>
              </a:rPr>
              <a:t>,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압도적인 제품 경쟁력과 원가 구조 혁신으로 확실한 ‘고객 가치’를 증명해 냅시다</a:t>
            </a:r>
            <a:r>
              <a:rPr lang="en-US" altLang="ko-KR" sz="1200" b="0" dirty="0">
                <a:effectLst/>
                <a:latin typeface="Pretendard" panose="02000503000000020004"/>
              </a:rPr>
              <a:t>.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br>
              <a:rPr lang="ko-KR" altLang="en-US" sz="1200" b="0" dirty="0">
                <a:effectLst/>
                <a:latin typeface="Pretendard" panose="02000503000000020004"/>
              </a:rPr>
            </a:b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특히 올해 본격화될 </a:t>
            </a:r>
            <a:r>
              <a:rPr lang="en-US" altLang="ko-KR" sz="1200" b="0" dirty="0">
                <a:effectLst/>
                <a:latin typeface="Pretendard" panose="02000503000000020004"/>
              </a:rPr>
              <a:t>EV </a:t>
            </a:r>
            <a:r>
              <a:rPr lang="ko-KR" altLang="en-US" sz="1200" b="0" dirty="0">
                <a:effectLst/>
                <a:latin typeface="Pretendard" panose="02000503000000020004"/>
              </a:rPr>
              <a:t>유휴 라인의 </a:t>
            </a:r>
            <a:r>
              <a:rPr lang="en-US" altLang="ko-KR" sz="1200" b="0" dirty="0">
                <a:effectLst/>
                <a:latin typeface="Pretendard" panose="02000503000000020004"/>
              </a:rPr>
              <a:t>ESS </a:t>
            </a:r>
            <a:r>
              <a:rPr lang="ko-KR" altLang="en-US" sz="1200" b="0" dirty="0">
                <a:effectLst/>
                <a:latin typeface="Pretendard" panose="02000503000000020004"/>
              </a:rPr>
              <a:t>전환과 안정적인 공급 역량 확보는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우리의 실행력과 협업 수준을 가늠할 시험대가 될 것입니다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이 과정에서 부서 간의 경계나 사일로</a:t>
            </a:r>
            <a:r>
              <a:rPr lang="en-US" altLang="ko-KR" sz="1200" b="0" dirty="0">
                <a:effectLst/>
                <a:latin typeface="Pretendard" panose="02000503000000020004"/>
              </a:rPr>
              <a:t>(Silo)</a:t>
            </a:r>
            <a:r>
              <a:rPr lang="ko-KR" altLang="en-US" sz="1200" b="0" dirty="0">
                <a:effectLst/>
                <a:latin typeface="Pretendard" panose="02000503000000020004"/>
              </a:rPr>
              <a:t>없는 협업이 정말 중요합니다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회사의 자원을 과감히 결집하고</a:t>
            </a:r>
            <a:r>
              <a:rPr lang="en-US" altLang="ko-KR" sz="1200" b="0" dirty="0">
                <a:effectLst/>
                <a:latin typeface="Pretendard" panose="02000503000000020004"/>
              </a:rPr>
              <a:t>, ‘</a:t>
            </a:r>
            <a:r>
              <a:rPr lang="ko-KR" altLang="en-US" sz="1200" b="0" dirty="0">
                <a:effectLst/>
                <a:latin typeface="Pretendard" panose="02000503000000020004"/>
              </a:rPr>
              <a:t>원팀’으로 움직여 주십시오</a:t>
            </a:r>
            <a:r>
              <a:rPr lang="en-US" altLang="ko-KR" sz="1200" b="0" dirty="0">
                <a:effectLst/>
                <a:latin typeface="Pretendard" panose="02000503000000020004"/>
              </a:rPr>
              <a:t>.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br>
              <a:rPr lang="ko-KR" altLang="en-US" sz="1200" b="0" dirty="0">
                <a:effectLst/>
                <a:latin typeface="Pretendard" panose="02000503000000020004"/>
              </a:rPr>
            </a:b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en-US" altLang="ko-KR" sz="1200" b="0" dirty="0">
                <a:effectLst/>
                <a:latin typeface="Pretendard" panose="02000503000000020004"/>
              </a:rPr>
              <a:t>Empower Every Possibility</a:t>
            </a:r>
            <a:r>
              <a:rPr lang="ko-KR" altLang="en-US" sz="1200" b="0" dirty="0">
                <a:effectLst/>
                <a:latin typeface="Pretendard" panose="02000503000000020004"/>
              </a:rPr>
              <a:t>라는 회사의 비전도</a:t>
            </a:r>
            <a:r>
              <a:rPr lang="en-US" altLang="ko-KR" sz="1200" b="0" dirty="0">
                <a:effectLst/>
                <a:latin typeface="Pretendard" panose="02000503000000020004"/>
              </a:rPr>
              <a:t>,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올해 이뤄야 할 강력한 ‘리바운드’도 결국 여러분의 실행 위에서 완성됩니다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우리 모두의 노력이 실질적인 도약으로 이어지도록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저 역시 끝까지 책임지고 함께 하겠습니다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br>
              <a:rPr lang="ko-KR" altLang="en-US" sz="1200" b="0" dirty="0">
                <a:effectLst/>
                <a:latin typeface="Pretendard" panose="02000503000000020004"/>
              </a:rPr>
            </a:b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새로운 역사를 써 내려갑시다</a:t>
            </a:r>
            <a:r>
              <a:rPr lang="en-US" altLang="ko-KR" sz="1200" b="0" dirty="0">
                <a:effectLst/>
                <a:latin typeface="Pretendard" panose="02000503000000020004"/>
              </a:rPr>
              <a:t>.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더 빠르고</a:t>
            </a:r>
            <a:r>
              <a:rPr lang="en-US" altLang="ko-KR" sz="1200" b="0" dirty="0">
                <a:effectLst/>
                <a:latin typeface="Pretendard" panose="02000503000000020004"/>
              </a:rPr>
              <a:t>, </a:t>
            </a:r>
            <a:r>
              <a:rPr lang="ko-KR" altLang="en-US" sz="1200" b="0" dirty="0">
                <a:effectLst/>
                <a:latin typeface="Pretendard" panose="02000503000000020004"/>
              </a:rPr>
              <a:t>더 강하고</a:t>
            </a:r>
            <a:r>
              <a:rPr lang="en-US" altLang="ko-KR" sz="1200" b="0" dirty="0">
                <a:effectLst/>
                <a:latin typeface="Pretendard" panose="02000503000000020004"/>
              </a:rPr>
              <a:t>, </a:t>
            </a:r>
            <a:r>
              <a:rPr lang="ko-KR" altLang="en-US" sz="1200" b="0" dirty="0">
                <a:effectLst/>
                <a:latin typeface="Pretendard" panose="02000503000000020004"/>
              </a:rPr>
              <a:t>더 단단한 한 해가 되기를 바랍니다</a:t>
            </a:r>
            <a:r>
              <a:rPr lang="en-US" altLang="ko-KR" sz="1200" b="0" dirty="0">
                <a:effectLst/>
                <a:latin typeface="Pretendard" panose="02000503000000020004"/>
              </a:rPr>
              <a:t>.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ko-KR" altLang="en-US" sz="1200" b="0" dirty="0">
                <a:effectLst/>
                <a:latin typeface="Pretendard" panose="02000503000000020004"/>
              </a:rPr>
              <a:t>새해 복 많이 받으십시오</a:t>
            </a:r>
            <a:r>
              <a:rPr lang="en-US" altLang="ko-KR" sz="1200" b="0" dirty="0">
                <a:effectLst/>
                <a:latin typeface="Pretendard" panose="02000503000000020004"/>
              </a:rPr>
              <a:t>.</a:t>
            </a: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br>
              <a:rPr lang="ko-KR" altLang="en-US" sz="1200" b="0" dirty="0">
                <a:effectLst/>
                <a:latin typeface="Gmarket Sans"/>
              </a:rPr>
            </a:b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br>
              <a:rPr lang="ko-KR" altLang="en-US" sz="1200" b="0" dirty="0">
                <a:effectLst/>
                <a:latin typeface="Pretendard" panose="02000503000000020004"/>
              </a:rPr>
            </a:b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br>
              <a:rPr lang="ko-KR" altLang="en-US" sz="1200" b="0" dirty="0">
                <a:effectLst/>
                <a:latin typeface="Pretendard" panose="02000503000000020004"/>
              </a:rPr>
            </a:br>
            <a:endParaRPr lang="ko-KR" altLang="en-US" sz="1200" b="0" dirty="0">
              <a:effectLst/>
              <a:latin typeface="Gmarket Sans"/>
            </a:endParaRPr>
          </a:p>
          <a:p>
            <a:pPr algn="l" fontAlgn="t"/>
            <a:r>
              <a:rPr lang="en-US" altLang="ko-KR" sz="1200" b="0" dirty="0">
                <a:effectLst/>
                <a:latin typeface="Pretendard" panose="02000503000000020004"/>
              </a:rPr>
              <a:t>CEO</a:t>
            </a:r>
            <a:r>
              <a:rPr lang="ko-KR" altLang="en-US" sz="1200" b="0" dirty="0">
                <a:effectLst/>
                <a:latin typeface="pretendard" panose="02000503000000020004"/>
              </a:rPr>
              <a:t> </a:t>
            </a:r>
            <a:r>
              <a:rPr lang="ko-KR" altLang="en-US" sz="1200" b="1" dirty="0">
                <a:effectLst/>
                <a:latin typeface="Pretendard" panose="02000503000000020004"/>
              </a:rPr>
              <a:t>김동명</a:t>
            </a:r>
            <a:endParaRPr lang="ko-KR" altLang="en-US" sz="1200" b="0" dirty="0">
              <a:effectLst/>
              <a:latin typeface="Gmarket Sans"/>
            </a:endParaRPr>
          </a:p>
          <a:p>
            <a:pPr algn="l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3828E8-47A3-430B-94EB-A028836CE4B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92693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3828E8-47A3-430B-94EB-A028836CE4B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7775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3828E8-47A3-430B-94EB-A028836CE4B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29045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828E8-47A3-430B-94EB-A028836CE4B2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794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.png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00C0-7E2C-4431-B855-4DECFBE92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094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00C0-7E2C-4431-B855-4DECFBE92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1600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00C0-7E2C-4431-B855-4DECFBE92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29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00C0-7E2C-4431-B855-4DECFBE92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942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00C0-7E2C-4431-B855-4DECFBE92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424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00C0-7E2C-4431-B855-4DECFBE92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77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00C0-7E2C-4431-B855-4DECFBE92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165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00C0-7E2C-4431-B855-4DECFBE92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6443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00C0-7E2C-4431-B855-4DECFBE92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85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00C0-7E2C-4431-B855-4DECFBE92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683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00C0-7E2C-4431-B855-4DECFBE92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799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00C0-7E2C-4431-B855-4DECFBE92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445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00C0-7E2C-4431-B855-4DECFBE92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872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00C0-7E2C-4431-B855-4DECFBE92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280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00C0-7E2C-4431-B855-4DECFBE92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86162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00C0-7E2C-4431-B855-4DECFBE92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681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00C0-7E2C-4431-B855-4DECFBE92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5071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00C0-7E2C-4431-B855-4DECFBE92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48778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00C0-7E2C-4431-B855-4DECFBE92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6961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00C0-7E2C-4431-B855-4DECFBE92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5891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00C0-7E2C-4431-B855-4DECFBE92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0030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00C0-7E2C-4431-B855-4DECFBE925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5383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A99FDF0D-546B-46BC-88CB-A44B7CACBB98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133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A99FDF0D-546B-46BC-88CB-A44B7CACBB98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3653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A99FDF0D-546B-46BC-88CB-A44B7CACBB98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0151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A99FDF0D-546B-46BC-88CB-A44B7CACBB98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04346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A99FDF0D-546B-46BC-88CB-A44B7CACBB98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05928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A99FDF0D-546B-46BC-88CB-A44B7CACBB98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5373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A99FDF0D-546B-46BC-88CB-A44B7CACBB98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4205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A99FDF0D-546B-46BC-88CB-A44B7CACBB98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00096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A99FDF0D-546B-46BC-88CB-A44B7CACBB98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9140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A99FDF0D-546B-46BC-88CB-A44B7CACBB98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3186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A99FDF0D-546B-46BC-88CB-A44B7CACBB98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8643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A99FDF0D-546B-46BC-88CB-A44B7CACBB98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9692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A99FDF0D-546B-46BC-88CB-A44B7CACBB98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8140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A99FDF0D-546B-46BC-88CB-A44B7CACBB98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5060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A99FDF0D-546B-46BC-88CB-A44B7CACBB98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8705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A99FDF0D-546B-46BC-88CB-A44B7CACBB98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35157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A99FDF0D-546B-46BC-88CB-A44B7CACBB98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44461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A99FDF0D-546B-46BC-88CB-A44B7CACBB98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826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A99FDF0D-546B-46BC-88CB-A44B7CACBB98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289144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A99FDF0D-546B-46BC-88CB-A44B7CACBB98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38048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A99FDF0D-546B-46BC-88CB-A44B7CACBB98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38768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A99FDF0D-546B-46BC-88CB-A44B7CACBB98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1641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0751" y="1871436"/>
            <a:ext cx="8420100" cy="614390"/>
          </a:xfrm>
          <a:prstGeom prst="rect">
            <a:avLst/>
          </a:prstGeom>
        </p:spPr>
        <p:txBody>
          <a:bodyPr lIns="36000" tIns="36000" rIns="36000" bIns="36000" anchor="t"/>
          <a:lstStyle>
            <a:lvl1pPr algn="l">
              <a:lnSpc>
                <a:spcPct val="110000"/>
              </a:lnSpc>
              <a:defRPr sz="320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8088" y="2591445"/>
            <a:ext cx="7429500" cy="331235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lnSpc>
                <a:spcPct val="12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grpSp>
        <p:nvGrpSpPr>
          <p:cNvPr id="4" name="그룹 3"/>
          <p:cNvGrpSpPr/>
          <p:nvPr userDrawn="1"/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sp>
          <p:nvSpPr>
            <p:cNvPr id="5" name="직사각형 4"/>
            <p:cNvSpPr/>
            <p:nvPr/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pic>
          <p:nvPicPr>
            <p:cNvPr id="6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574" b="66436"/>
            <a:stretch/>
          </p:blipFill>
          <p:spPr bwMode="auto">
            <a:xfrm>
              <a:off x="200025" y="188913"/>
              <a:ext cx="735289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55" t="77614"/>
            <a:stretch/>
          </p:blipFill>
          <p:spPr bwMode="auto">
            <a:xfrm>
              <a:off x="8249308" y="5229088"/>
              <a:ext cx="1456667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xt Box 2"/>
          <p:cNvSpPr txBox="1">
            <a:spLocks noChangeArrowheads="1"/>
          </p:cNvSpPr>
          <p:nvPr userDrawn="1"/>
        </p:nvSpPr>
        <p:spPr bwMode="gray">
          <a:xfrm>
            <a:off x="4442044" y="6660775"/>
            <a:ext cx="10150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dirty="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 dirty="0">
                <a:solidFill>
                  <a:srgbClr val="A50034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dirty="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dirty="0">
              <a:solidFill>
                <a:srgbClr val="A50034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pic>
        <p:nvPicPr>
          <p:cNvPr id="10" name="Picture 2" descr="C:\ECM\TEMP\부서함\Brand담당\CI 매뉴얼★\★로고파일-자회사名\14년ver\(주)LG\LG_가로조합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263" y="5078932"/>
            <a:ext cx="824060" cy="36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097484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50751" y="1871436"/>
            <a:ext cx="8420100" cy="583356"/>
          </a:xfrm>
          <a:prstGeom prst="rect">
            <a:avLst/>
          </a:prstGeom>
        </p:spPr>
        <p:txBody>
          <a:bodyPr lIns="36000" tIns="36000" rIns="36000" bIns="36000" anchor="t"/>
          <a:lstStyle>
            <a:lvl1pPr algn="l">
              <a:lnSpc>
                <a:spcPct val="110000"/>
              </a:lnSpc>
              <a:defRPr sz="3200" baseline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en-US" altLang="ko-KR" dirty="0"/>
              <a:t>Agenda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8088" y="2591445"/>
            <a:ext cx="7429500" cy="395869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spc="-7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sp>
          <p:nvSpPr>
            <p:cNvPr id="14" name="직사각형 13"/>
            <p:cNvSpPr/>
            <p:nvPr/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pic>
          <p:nvPicPr>
            <p:cNvPr id="15" name="Picture 3" descr="C:\ECM\TEMP\부서함\Brand담당\20년 연간업무계획\디지털 그래픽 모티브 개발★\★1st Manual Official Release\Graphic Asset_v1.0\1. Main motif - Solid color\png\Main_motif-LG_grey_solid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88574" b="66425"/>
            <a:stretch/>
          </p:blipFill>
          <p:spPr bwMode="auto">
            <a:xfrm>
              <a:off x="200025" y="188913"/>
              <a:ext cx="735032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3" descr="C:\ECM\TEMP\부서함\Brand담당\20년 연간업무계획\디지털 그래픽 모티브 개발★\★1st Manual Official Release\Graphic Asset_v1.0\1. Main motif - Solid color\png\Main_motif-LG_grey_solid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082" t="77634"/>
            <a:stretch/>
          </p:blipFill>
          <p:spPr bwMode="auto">
            <a:xfrm>
              <a:off x="8294844" y="5229088"/>
              <a:ext cx="1411131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Text Box 2"/>
          <p:cNvSpPr txBox="1">
            <a:spLocks noChangeArrowheads="1"/>
          </p:cNvSpPr>
          <p:nvPr userDrawn="1"/>
        </p:nvSpPr>
        <p:spPr bwMode="gray">
          <a:xfrm>
            <a:off x="4442044" y="6660775"/>
            <a:ext cx="10150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dirty="0">
                <a:solidFill>
                  <a:prstClr val="black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 dirty="0">
                <a:solidFill>
                  <a:prstClr val="black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dirty="0">
                <a:solidFill>
                  <a:prstClr val="black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dirty="0">
              <a:solidFill>
                <a:prstClr val="black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104756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94742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922724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202451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35888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지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90315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817" y="638031"/>
            <a:ext cx="9555479" cy="314574"/>
          </a:xfrm>
        </p:spPr>
        <p:txBody>
          <a:bodyPr wrap="square">
            <a:spAutoFit/>
          </a:bodyPr>
          <a:lstStyle>
            <a:lvl1pPr latinLnBrk="0">
              <a:defRPr baseline="0">
                <a:latin typeface="LG스마트체2.0 Bold" panose="020B0600000101010101" pitchFamily="50" charset="-127"/>
                <a:ea typeface="LG스마트체2.0 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62445" y="2214541"/>
            <a:ext cx="3865419" cy="1588127"/>
          </a:xfrm>
        </p:spPr>
        <p:txBody>
          <a:bodyPr wrap="square">
            <a:spAutoFit/>
          </a:bodyPr>
          <a:lstStyle>
            <a:lvl1pPr marL="93663" indent="-93663" latinLnBrk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300" b="1" spc="-70" baseline="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  <a:lvl2pPr marL="180975" indent="-92075" latinLnBrk="0">
              <a:lnSpc>
                <a:spcPct val="120000"/>
              </a:lnSpc>
              <a:spcBef>
                <a:spcPts val="0"/>
              </a:spcBef>
              <a:buFont typeface="Arial Narrow" panose="020B0606020202030204" pitchFamily="34" charset="0"/>
              <a:buChar char="-"/>
              <a:tabLst/>
              <a:defRPr sz="1200" spc="-70" baseline="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2pPr>
            <a:lvl3pPr marL="295275" indent="-114300" latinLnBrk="0">
              <a:lnSpc>
                <a:spcPct val="120000"/>
              </a:lnSpc>
              <a:spcBef>
                <a:spcPts val="0"/>
              </a:spcBef>
              <a:buFont typeface="LG Smart UI Regular" panose="020B0500000101010101" pitchFamily="50" charset="-127"/>
              <a:buChar char="·"/>
              <a:defRPr sz="1100" spc="-70" baseline="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3pPr>
            <a:lvl4pPr marL="144463" indent="-144463" latinLnBrk="0">
              <a:lnSpc>
                <a:spcPct val="120000"/>
              </a:lnSpc>
              <a:spcBef>
                <a:spcPts val="0"/>
              </a:spcBef>
              <a:buFont typeface="LG Smart UI Regular" panose="020B0500000101010101" pitchFamily="50" charset="-127"/>
              <a:buChar char="*"/>
              <a:tabLst/>
              <a:defRPr sz="1000" spc="-70" baseline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4pPr>
            <a:lvl5pPr marL="203200" indent="-203200" latinLnBrk="0">
              <a:lnSpc>
                <a:spcPct val="120000"/>
              </a:lnSpc>
              <a:spcBef>
                <a:spcPts val="0"/>
              </a:spcBef>
              <a:buFont typeface="LG Smart UI Regular" panose="020B0500000101010101" pitchFamily="50" charset="-127"/>
              <a:buChar char="☞"/>
              <a:defRPr sz="1400" b="1" spc="-70" baseline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5pPr>
            <a:lvl6pPr marL="179388" indent="-179388" latinLnBrk="0">
              <a:lnSpc>
                <a:spcPct val="120000"/>
              </a:lnSpc>
              <a:spcBef>
                <a:spcPts val="0"/>
              </a:spcBef>
              <a:buFont typeface="바탕" panose="02030600000101010101" pitchFamily="18" charset="-127"/>
              <a:buChar char="※"/>
              <a:defRPr sz="1100" spc="-70">
                <a:solidFill>
                  <a:srgbClr val="C40452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6pPr>
            <a:lvl7pPr marL="179388" indent="-179388" latinLnBrk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 sz="1000" spc="-70">
                <a:solidFill>
                  <a:srgbClr val="01378C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7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endParaRPr lang="ko-KR" altLang="en-US" dirty="0"/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  <a:p>
            <a:pPr lvl="5"/>
            <a:endParaRPr lang="en-US" dirty="0"/>
          </a:p>
          <a:p>
            <a:pPr lvl="6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2768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grpSp>
          <p:nvGrpSpPr>
            <p:cNvPr id="9" name="그룹 8"/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12" name="직사각형 11"/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3" name="Picture 2" descr="C:\ECM\TEMP\부서함\Brand담당\20년 연간업무계획\디지털 그래픽 모티브 개발★\★1st Manual Official Release\Graphic Asset_v1.0\1. Main motif - Solid color\png\Main_motif-LG_red_solid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5" y="188913"/>
                <a:ext cx="735289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2" descr="C:\ECM\TEMP\부서함\Brand담당\20년 연간업무계획\디지털 그래픽 모티브 개발★\★1st Manual Official Release\Graphic Asset_v1.0\1. Main motif - Solid color\png\Main_motif-LG_red_solid.png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249308" y="5229088"/>
                <a:ext cx="1456667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" name="Picture 2" descr="C:\ECM\TEMP\부서함\Brand담당\CI 매뉴얼★\★로고파일-자회사名\14년ver\(주)LG\LG_가로조합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5866" y="5137700"/>
              <a:ext cx="824060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1050751" y="1863715"/>
            <a:ext cx="3968051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000" tIns="46800" rIns="90000" bIns="46800" numCol="1" anchor="ctr" anchorCtr="0" compatLnSpc="1">
            <a:prstTxWarp prst="textNoShape">
              <a:avLst/>
            </a:prstTxWarp>
            <a:spAutoFit/>
          </a:bodyPr>
          <a:lstStyle>
            <a:lvl1pPr algn="l">
              <a:defRPr sz="3200" b="1" spc="-50" baseline="0">
                <a:solidFill>
                  <a:schemeClr val="accent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18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208088" y="2565400"/>
            <a:ext cx="2711296" cy="309958"/>
          </a:xfrm>
          <a:prstGeom prst="rect">
            <a:avLst/>
          </a:prstGeom>
        </p:spPr>
        <p:txBody>
          <a:bodyPr wrap="none" lIns="90000" tIns="46800" rIns="90000" bIns="46800" anchor="ctr">
            <a:spAutoFit/>
          </a:bodyPr>
          <a:lstStyle>
            <a:lvl1pPr marL="0" indent="0" algn="l">
              <a:buNone/>
              <a:defRPr sz="1400" b="0">
                <a:solidFill>
                  <a:schemeClr val="accent3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1" name="Text Box 2"/>
          <p:cNvSpPr txBox="1">
            <a:spLocks noChangeArrowheads="1"/>
          </p:cNvSpPr>
          <p:nvPr/>
        </p:nvSpPr>
        <p:spPr bwMode="gray">
          <a:xfrm>
            <a:off x="4442044" y="6660775"/>
            <a:ext cx="10150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b="1" dirty="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 dirty="0">
                <a:solidFill>
                  <a:srgbClr val="A50034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b="1" dirty="0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b="1" dirty="0">
              <a:solidFill>
                <a:srgbClr val="A50034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22" name="텍스트 개체 틀 3"/>
          <p:cNvSpPr>
            <a:spLocks noGrp="1"/>
          </p:cNvSpPr>
          <p:nvPr>
            <p:ph type="body" sz="half" idx="14"/>
          </p:nvPr>
        </p:nvSpPr>
        <p:spPr>
          <a:xfrm>
            <a:off x="1208088" y="5174022"/>
            <a:ext cx="2711296" cy="309958"/>
          </a:xfrm>
          <a:prstGeom prst="rect">
            <a:avLst/>
          </a:prstGeom>
        </p:spPr>
        <p:txBody>
          <a:bodyPr wrap="none" lIns="90000" tIns="46800" rIns="90000" bIns="46800" anchor="ctr">
            <a:spAutoFit/>
          </a:bodyPr>
          <a:lstStyle>
            <a:lvl1pPr marL="0" indent="0" algn="l">
              <a:buNone/>
              <a:defRPr sz="1400" b="0">
                <a:solidFill>
                  <a:schemeClr val="accent3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500608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74082" y="6650481"/>
            <a:ext cx="703454" cy="2154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fld id="{BC0336F6-AB5B-42A5-BA3E-85BD035988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0071EA-A57F-42AE-996E-B737BBBB8A6E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8152236" y="332421"/>
            <a:ext cx="1653315" cy="263791"/>
          </a:xfrm>
          <a:prstGeom prst="rect">
            <a:avLst/>
          </a:prstGeom>
        </p:spPr>
        <p:txBody>
          <a:bodyPr wrap="none" lIns="90000" tIns="46800" rIns="90000" bIns="46800" anchor="ctr">
            <a:spAutoFit/>
          </a:bodyPr>
          <a:lstStyle>
            <a:lvl1pPr marL="0" indent="0" algn="r">
              <a:buNone/>
              <a:defRPr sz="1100" b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D743EBE-FC96-4571-968F-3F4335EA0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92" y="283440"/>
            <a:ext cx="2455800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938123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1792" y="283440"/>
            <a:ext cx="2455800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74082" y="6650481"/>
            <a:ext cx="703454" cy="2154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fld id="{BC0336F6-AB5B-42A5-BA3E-85BD035988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모서리가 둥근 직사각형 55">
            <a:extLst>
              <a:ext uri="{FF2B5EF4-FFF2-40B4-BE49-F238E27FC236}">
                <a16:creationId xmlns:a16="http://schemas.microsoft.com/office/drawing/2014/main" id="{8FD11A06-32BD-4CDB-AD07-9B549D1522FC}"/>
              </a:ext>
            </a:extLst>
          </p:cNvPr>
          <p:cNvSpPr/>
          <p:nvPr/>
        </p:nvSpPr>
        <p:spPr>
          <a:xfrm>
            <a:off x="121792" y="-3827"/>
            <a:ext cx="1255927" cy="222714"/>
          </a:xfrm>
          <a:prstGeom prst="roundRect">
            <a:avLst>
              <a:gd name="adj" fmla="val 0"/>
            </a:avLst>
          </a:prstGeom>
          <a:solidFill>
            <a:srgbClr val="006600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" tIns="3600" rIns="18000" bIns="3600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4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논의사항</a:t>
            </a:r>
            <a:r>
              <a:rPr lang="en-US" altLang="ko-KR" sz="120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검토안</a:t>
            </a:r>
            <a:r>
              <a:rPr lang="en-US" altLang="ko-KR" sz="120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en-US" altLang="ko-KR" sz="14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4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0A433506-D085-4040-9AF4-F431DD5DAC9B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8152236" y="332421"/>
            <a:ext cx="1653315" cy="263791"/>
          </a:xfrm>
          <a:prstGeom prst="rect">
            <a:avLst/>
          </a:prstGeom>
        </p:spPr>
        <p:txBody>
          <a:bodyPr wrap="none" lIns="90000" tIns="46800" rIns="90000" bIns="46800" anchor="ctr">
            <a:spAutoFit/>
          </a:bodyPr>
          <a:lstStyle>
            <a:lvl1pPr marL="0" indent="0" algn="r">
              <a:buNone/>
              <a:defRPr sz="1100" b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336261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74082" y="6650481"/>
            <a:ext cx="703454" cy="2154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fld id="{BC0336F6-AB5B-42A5-BA3E-85BD035988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모서리가 둥근 직사각형 55">
            <a:extLst>
              <a:ext uri="{FF2B5EF4-FFF2-40B4-BE49-F238E27FC236}">
                <a16:creationId xmlns:a16="http://schemas.microsoft.com/office/drawing/2014/main" id="{8FD11A06-32BD-4CDB-AD07-9B549D1522FC}"/>
              </a:ext>
            </a:extLst>
          </p:cNvPr>
          <p:cNvSpPr/>
          <p:nvPr/>
        </p:nvSpPr>
        <p:spPr>
          <a:xfrm>
            <a:off x="121792" y="-3827"/>
            <a:ext cx="1255927" cy="222714"/>
          </a:xfrm>
          <a:prstGeom prst="roundRect">
            <a:avLst>
              <a:gd name="adj" fmla="val 0"/>
            </a:avLst>
          </a:prstGeom>
          <a:solidFill>
            <a:srgbClr val="006600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" tIns="3600" rIns="18000" bIns="3600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4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논의사항</a:t>
            </a:r>
            <a:r>
              <a:rPr lang="en-US" altLang="ko-KR" sz="120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추진안</a:t>
            </a:r>
            <a:r>
              <a:rPr lang="en-US" altLang="ko-KR" sz="120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en-US" altLang="ko-KR" sz="14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4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4BA8C9CB-1202-49A5-B605-F2C3D88AACBC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8152236" y="332421"/>
            <a:ext cx="1653315" cy="263791"/>
          </a:xfrm>
          <a:prstGeom prst="rect">
            <a:avLst/>
          </a:prstGeom>
        </p:spPr>
        <p:txBody>
          <a:bodyPr wrap="none" lIns="90000" tIns="46800" rIns="90000" bIns="46800" anchor="ctr">
            <a:spAutoFit/>
          </a:bodyPr>
          <a:lstStyle>
            <a:lvl1pPr marL="0" indent="0" algn="r">
              <a:buNone/>
              <a:defRPr sz="1100" b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99560FD-0472-494B-B3C0-C6ECA9089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92" y="283440"/>
            <a:ext cx="2455800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359715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74082" y="6650481"/>
            <a:ext cx="703454" cy="2154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fld id="{BC0336F6-AB5B-42A5-BA3E-85BD035988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모서리가 둥근 직사각형 55">
            <a:extLst>
              <a:ext uri="{FF2B5EF4-FFF2-40B4-BE49-F238E27FC236}">
                <a16:creationId xmlns:a16="http://schemas.microsoft.com/office/drawing/2014/main" id="{8FD11A06-32BD-4CDB-AD07-9B549D1522FC}"/>
              </a:ext>
            </a:extLst>
          </p:cNvPr>
          <p:cNvSpPr/>
          <p:nvPr/>
        </p:nvSpPr>
        <p:spPr>
          <a:xfrm>
            <a:off x="121792" y="-3827"/>
            <a:ext cx="764115" cy="222714"/>
          </a:xfrm>
          <a:prstGeom prst="roundRect">
            <a:avLst>
              <a:gd name="adj" fmla="val 0"/>
            </a:avLst>
          </a:prstGeom>
          <a:solidFill>
            <a:srgbClr val="006600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" tIns="3600" rIns="18000" bIns="3600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4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정보보고</a:t>
            </a:r>
            <a:r>
              <a:rPr lang="en-US" altLang="ko-KR" sz="14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4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A5149F7D-6057-4650-8904-DE8AA75F4ECE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8152236" y="332421"/>
            <a:ext cx="1653315" cy="263791"/>
          </a:xfrm>
          <a:prstGeom prst="rect">
            <a:avLst/>
          </a:prstGeom>
        </p:spPr>
        <p:txBody>
          <a:bodyPr wrap="none" lIns="90000" tIns="46800" rIns="90000" bIns="46800" anchor="ctr">
            <a:spAutoFit/>
          </a:bodyPr>
          <a:lstStyle>
            <a:lvl1pPr marL="0" indent="0" algn="r">
              <a:buNone/>
              <a:defRPr sz="1100" b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DB046B2-C3AA-4705-BCFB-5F2AADE31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92" y="283440"/>
            <a:ext cx="2455800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407552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74082" y="6650481"/>
            <a:ext cx="703454" cy="2154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fld id="{BC0336F6-AB5B-42A5-BA3E-85BD035988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모서리가 둥근 직사각형 55">
            <a:extLst>
              <a:ext uri="{FF2B5EF4-FFF2-40B4-BE49-F238E27FC236}">
                <a16:creationId xmlns:a16="http://schemas.microsoft.com/office/drawing/2014/main" id="{8FD11A06-32BD-4CDB-AD07-9B549D1522FC}"/>
              </a:ext>
            </a:extLst>
          </p:cNvPr>
          <p:cNvSpPr/>
          <p:nvPr/>
        </p:nvSpPr>
        <p:spPr>
          <a:xfrm>
            <a:off x="121792" y="-3827"/>
            <a:ext cx="764115" cy="222714"/>
          </a:xfrm>
          <a:prstGeom prst="roundRect">
            <a:avLst>
              <a:gd name="adj" fmla="val 0"/>
            </a:avLst>
          </a:prstGeom>
          <a:solidFill>
            <a:srgbClr val="006600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" tIns="3600" rIns="18000" bIns="3600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4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결과보고</a:t>
            </a:r>
            <a:r>
              <a:rPr lang="en-US" altLang="ko-KR" sz="14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4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8D85DD5A-AB36-45A4-9A72-1D89CEA2FAEF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8152236" y="332421"/>
            <a:ext cx="1653315" cy="263791"/>
          </a:xfrm>
          <a:prstGeom prst="rect">
            <a:avLst/>
          </a:prstGeom>
        </p:spPr>
        <p:txBody>
          <a:bodyPr wrap="none" lIns="90000" tIns="46800" rIns="90000" bIns="46800" anchor="ctr">
            <a:spAutoFit/>
          </a:bodyPr>
          <a:lstStyle>
            <a:lvl1pPr marL="0" indent="0" algn="r">
              <a:buNone/>
              <a:defRPr sz="1100" b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1EDC67D-85C7-433A-A0FC-7074F51A2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92" y="283440"/>
            <a:ext cx="2455800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7980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035B-37E8-421E-934F-B476FBCB336A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25CA-B373-4B39-AAC9-58DC22956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570577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035B-37E8-421E-934F-B476FBCB336A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25CA-B373-4B39-AAC9-58DC229567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8697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9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9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000C0-7E2C-4431-B855-4DECFBE925A8}" type="slidenum">
              <a:rPr lang="ko-KR" altLang="en-US" smtClean="0"/>
              <a:pPr/>
              <a:t>‹#›</a:t>
            </a:fld>
            <a:r>
              <a:rPr lang="en-US" altLang="ko-KR"/>
              <a:t>/30</a:t>
            </a:r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273000" y="514093"/>
            <a:ext cx="936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29B2B6D-96C0-82A4-C2CC-5DEC84915D63}"/>
              </a:ext>
            </a:extLst>
          </p:cNvPr>
          <p:cNvSpPr txBox="1"/>
          <p:nvPr userDrawn="1"/>
        </p:nvSpPr>
        <p:spPr>
          <a:xfrm>
            <a:off x="4516190" y="6674192"/>
            <a:ext cx="8736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655771D-368B-4AD3-887D-A96ECBAAC80A}" type="slidenum">
              <a:rPr lang="en-US" altLang="ko-KR" sz="90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pPr algn="ctr"/>
              <a:t>‹#›</a:t>
            </a:fld>
            <a:r>
              <a:rPr lang="en-US" altLang="ko-KR" sz="9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20</a:t>
            </a:r>
            <a:endParaRPr lang="ko-KR" altLang="en-US" sz="9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1655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000C0-7E2C-4431-B855-4DECFBE925A8}" type="slidenum">
              <a:rPr lang="ko-KR" altLang="en-US" smtClean="0"/>
              <a:pPr/>
              <a:t>‹#›</a:t>
            </a:fld>
            <a:r>
              <a:rPr lang="en-US" altLang="ko-KR"/>
              <a:t>/30</a:t>
            </a:r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273000" y="514093"/>
            <a:ext cx="936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923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273000" y="514093"/>
            <a:ext cx="936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CFF5E15-B806-DC40-ACD1-C78683A8B0C7}"/>
              </a:ext>
            </a:extLst>
          </p:cNvPr>
          <p:cNvSpPr txBox="1"/>
          <p:nvPr userDrawn="1"/>
        </p:nvSpPr>
        <p:spPr>
          <a:xfrm>
            <a:off x="4516190" y="6597352"/>
            <a:ext cx="873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655771D-368B-4AD3-887D-A96ECBAAC80A}" type="slidenum">
              <a:rPr lang="en-US" altLang="ko-KR" sz="100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pPr algn="ctr"/>
              <a:t>‹#›</a:t>
            </a:fld>
            <a:r>
              <a:rPr lang="en-US" altLang="ko-KR" sz="10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30</a:t>
            </a:r>
            <a:endParaRPr lang="ko-KR" altLang="en-US" sz="10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8176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273000" y="514093"/>
            <a:ext cx="936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16190" y="6597352"/>
            <a:ext cx="873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655771D-368B-4AD3-887D-A96ECBAAC80A}" type="slidenum">
              <a:rPr lang="en-US" altLang="ko-KR" sz="100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pPr algn="ctr"/>
              <a:t>‹#›</a:t>
            </a:fld>
            <a:r>
              <a:rPr lang="en-US" altLang="ko-KR" sz="10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30</a:t>
            </a:r>
            <a:endParaRPr lang="ko-KR" altLang="en-US" sz="10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6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 userDrawn="1"/>
        </p:nvCxnSpPr>
        <p:spPr>
          <a:xfrm>
            <a:off x="200025" y="544512"/>
            <a:ext cx="950595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5C8512F-08DD-2BE9-8C18-D64E699AD3BE}"/>
              </a:ext>
            </a:extLst>
          </p:cNvPr>
          <p:cNvSpPr txBox="1"/>
          <p:nvPr userDrawn="1"/>
        </p:nvSpPr>
        <p:spPr>
          <a:xfrm>
            <a:off x="4516190" y="6597352"/>
            <a:ext cx="873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655771D-368B-4AD3-887D-A96ECBAAC80A}" type="slidenum">
              <a:rPr lang="en-US" altLang="ko-KR" sz="1000" smtClea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pPr algn="ctr"/>
              <a:t>‹#›</a:t>
            </a:fld>
            <a:r>
              <a:rPr lang="en-US" altLang="ko-KR" sz="10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30</a:t>
            </a:r>
            <a:endParaRPr lang="ko-KR" altLang="en-US" sz="10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3714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en-US" altLang="en-US" sz="1600" b="1" kern="1200" spc="-100" baseline="0" dirty="0">
          <a:solidFill>
            <a:srgbClr val="000000"/>
          </a:solidFill>
          <a:latin typeface="LG스마트체2.0 Bold" panose="020B0600000101010101" pitchFamily="50" charset="-127"/>
          <a:ea typeface="LG스마트체2.0 Bold" panose="020B0600000101010101" pitchFamily="50" charset="-127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lang="ko-KR" altLang="en-US" sz="1300" b="1" kern="1200" spc="-70" baseline="0" dirty="0" smtClean="0">
          <a:solidFill>
            <a:schemeClr val="tx1"/>
          </a:solidFill>
          <a:latin typeface="LG스마트체 Regular" panose="020B0600000101010101" pitchFamily="50" charset="-127"/>
          <a:ea typeface="LG스마트체 Regular" panose="020B0600000101010101" pitchFamily="50" charset="-127"/>
          <a:cs typeface="+mn-cs"/>
        </a:defRPr>
      </a:lvl1pPr>
      <a:lvl2pPr marL="357188" indent="-187325" algn="l" defTabSz="914400" rtl="0" eaLnBrk="1" latinLnBrk="0" hangingPunct="1">
        <a:lnSpc>
          <a:spcPct val="100000"/>
        </a:lnSpc>
        <a:spcBef>
          <a:spcPts val="0"/>
        </a:spcBef>
        <a:buFont typeface="Arial Narrow" panose="020B0606020202030204" pitchFamily="34" charset="0"/>
        <a:buChar char="-"/>
        <a:tabLst/>
        <a:defRPr lang="ko-KR" altLang="en-US" sz="1200" kern="1200" spc="-70" baseline="0" dirty="0" smtClean="0">
          <a:solidFill>
            <a:schemeClr val="tx1"/>
          </a:solidFill>
          <a:latin typeface="LG스마트체 Regular" panose="020B0600000101010101" pitchFamily="50" charset="-127"/>
          <a:ea typeface="LG스마트체 Regular" panose="020B0600000101010101" pitchFamily="50" charset="-127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lang="ko-KR" altLang="en-US" sz="1100" kern="1200" spc="-70" baseline="0" dirty="0" smtClean="0">
          <a:solidFill>
            <a:schemeClr val="tx1"/>
          </a:solidFill>
          <a:latin typeface="LG스마트체 Regular" panose="020B0600000101010101" pitchFamily="50" charset="-127"/>
          <a:ea typeface="LG스마트체 Regular" panose="020B0600000101010101" pitchFamily="50" charset="-127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lang="ko-KR" altLang="en-US" sz="1000" kern="1200" spc="-70" baseline="0" dirty="0" smtClean="0">
          <a:solidFill>
            <a:srgbClr val="006600"/>
          </a:solidFill>
          <a:latin typeface="Arial Narrow" panose="020B0606020202030204" pitchFamily="34" charset="0"/>
          <a:ea typeface="LG스마트체 Regular" panose="020B0600000101010101" pitchFamily="50" charset="-127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lang="en-US" altLang="en-US" sz="1400" b="1" kern="1200" spc="-70" baseline="0" dirty="0">
          <a:solidFill>
            <a:srgbClr val="C00000"/>
          </a:solidFill>
          <a:latin typeface="LG스마트체 Regular" panose="020B0600000101010101" pitchFamily="50" charset="-127"/>
          <a:ea typeface="LG스마트체 Regular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957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LG스마트체2.0 Bold" panose="020B0600000101010101" pitchFamily="50" charset="-127"/>
          <a:ea typeface="LG스마트체2.0 Bold" panose="020B0600000101010101" pitchFamily="50" charset="-127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defRPr kumimoji="1" sz="1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defRPr kumimoji="1" sz="1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defRPr kumimoji="1" sz="1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defRPr kumimoji="1" sz="1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defRPr kumimoji="1" sz="14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defRPr kumimoji="1" sz="14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defRPr kumimoji="1" sz="14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defRPr kumimoji="1" sz="14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defRPr kumimoji="1" sz="1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0.xml"/><Relationship Id="rId5" Type="http://schemas.openxmlformats.org/officeDocument/2006/relationships/slide" Target="slide25.xml"/><Relationship Id="rId4" Type="http://schemas.openxmlformats.org/officeDocument/2006/relationships/slide" Target="slide3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slide" Target="slide35.xml"/><Relationship Id="rId4" Type="http://schemas.openxmlformats.org/officeDocument/2006/relationships/slide" Target="slide4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slide" Target="slide3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slide" Target="slide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0.xml"/><Relationship Id="rId13" Type="http://schemas.openxmlformats.org/officeDocument/2006/relationships/chart" Target="../charts/chart15.xml"/><Relationship Id="rId3" Type="http://schemas.openxmlformats.org/officeDocument/2006/relationships/slide" Target="slide9.xml"/><Relationship Id="rId7" Type="http://schemas.openxmlformats.org/officeDocument/2006/relationships/chart" Target="../charts/chart9.xml"/><Relationship Id="rId12" Type="http://schemas.openxmlformats.org/officeDocument/2006/relationships/chart" Target="../charts/chart14.xml"/><Relationship Id="rId2" Type="http://schemas.openxmlformats.org/officeDocument/2006/relationships/notesSlide" Target="../notesSlides/notesSlide21.xml"/><Relationship Id="rId16" Type="http://schemas.openxmlformats.org/officeDocument/2006/relationships/chart" Target="../charts/chart18.xml"/><Relationship Id="rId1" Type="http://schemas.openxmlformats.org/officeDocument/2006/relationships/slideLayout" Target="../slideLayouts/slideLayout18.xml"/><Relationship Id="rId6" Type="http://schemas.openxmlformats.org/officeDocument/2006/relationships/chart" Target="../charts/chart8.xml"/><Relationship Id="rId11" Type="http://schemas.openxmlformats.org/officeDocument/2006/relationships/chart" Target="../charts/chart13.xml"/><Relationship Id="rId5" Type="http://schemas.openxmlformats.org/officeDocument/2006/relationships/chart" Target="../charts/chart7.xml"/><Relationship Id="rId15" Type="http://schemas.openxmlformats.org/officeDocument/2006/relationships/chart" Target="../charts/chart17.xml"/><Relationship Id="rId10" Type="http://schemas.openxmlformats.org/officeDocument/2006/relationships/chart" Target="../charts/chart12.xml"/><Relationship Id="rId4" Type="http://schemas.openxmlformats.org/officeDocument/2006/relationships/chart" Target="../charts/chart6.xml"/><Relationship Id="rId9" Type="http://schemas.openxmlformats.org/officeDocument/2006/relationships/chart" Target="../charts/chart11.xml"/><Relationship Id="rId14" Type="http://schemas.openxmlformats.org/officeDocument/2006/relationships/chart" Target="../charts/char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51.xml"/><Relationship Id="rId2" Type="http://schemas.openxmlformats.org/officeDocument/2006/relationships/slide" Target="slide9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slide" Target="slide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" Target="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slide" Target="slide1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6.png"/><Relationship Id="rId11" Type="http://schemas.openxmlformats.org/officeDocument/2006/relationships/slide" Target="slide6.xml"/><Relationship Id="rId5" Type="http://schemas.openxmlformats.org/officeDocument/2006/relationships/image" Target="../media/image15.png"/><Relationship Id="rId10" Type="http://schemas.openxmlformats.org/officeDocument/2006/relationships/slide" Target="slide3.xml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slide" Target="slide1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grpSp>
          <p:nvGrpSpPr>
            <p:cNvPr id="6" name="그룹 5"/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4" name="직사각형 3"/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endParaRPr>
              </a:p>
            </p:txBody>
          </p:sp>
          <p:pic>
            <p:nvPicPr>
              <p:cNvPr id="1026" name="Picture 2" descr="C:\ECM\TEMP\부서함\Brand담당\20년 연간업무계획\디지털 그래픽 모티브 개발★\★1st Manual Official Release\Graphic Asset_v1.0\1. Main motif - Solid color\png\Main_motif-LG_red_solid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5" y="188913"/>
                <a:ext cx="735289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" name="Picture 2" descr="C:\ECM\TEMP\부서함\Brand담당\20년 연간업무계획\디지털 그래픽 모티브 개발★\★1st Manual Official Release\Graphic Asset_v1.0\1. Main motif - Solid color\png\Main_motif-LG_red_solid.png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249308" y="5229088"/>
                <a:ext cx="1456667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0" name="Picture 2" descr="C:\ECM\TEMP\부서함\Brand담당\CI 매뉴얼★\★로고파일-자회사名\14년ver\(주)LG\LG_가로조합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5866" y="5137700"/>
              <a:ext cx="824060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TextBox 10"/>
          <p:cNvSpPr txBox="1"/>
          <p:nvPr/>
        </p:nvSpPr>
        <p:spPr>
          <a:xfrm>
            <a:off x="1083618" y="1844824"/>
            <a:ext cx="394851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 </a:t>
            </a:r>
            <a:r>
              <a:rPr kumimoji="0" lang="en-US" altLang="ko-KR" sz="32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3.0</a:t>
            </a:r>
            <a:r>
              <a:rPr kumimoji="0" lang="ko-KR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32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Task</a:t>
            </a:r>
            <a:br>
              <a:rPr kumimoji="0" lang="en-US" altLang="ko-KR" sz="32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- 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중장기 노경전략 방향 수립 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" name="Rectangle 41"/>
          <p:cNvSpPr>
            <a:spLocks noChangeArrowheads="1"/>
          </p:cNvSpPr>
          <p:nvPr/>
        </p:nvSpPr>
        <p:spPr bwMode="auto">
          <a:xfrm>
            <a:off x="1208088" y="3610465"/>
            <a:ext cx="4845744" cy="1217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l" defTabSz="762000" rtl="0" eaLnBrk="1" fontAlgn="base" latinLnBrk="0" hangingPunct="1">
              <a:lnSpc>
                <a:spcPct val="120000"/>
              </a:lnSpc>
              <a:spcBef>
                <a:spcPts val="600"/>
              </a:spcBef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-10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Ⅰ. </a:t>
            </a:r>
            <a:r>
              <a:rPr kumimoji="1" lang="ko-KR" altLang="en-US" sz="1800" b="1" i="0" u="none" strike="noStrike" kern="1200" cap="none" spc="-10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추진배경</a:t>
            </a:r>
            <a:endParaRPr kumimoji="1" lang="en-US" altLang="ko-KR" sz="1800" b="1" i="0" u="none" strike="noStrike" kern="1200" cap="none" spc="-10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defTabSz="762000" fontAlgn="base" latinLnBrk="0">
              <a:lnSpc>
                <a:spcPct val="120000"/>
              </a:lnSpc>
              <a:spcBef>
                <a:spcPts val="600"/>
              </a:spcBef>
              <a:defRPr/>
            </a:pPr>
            <a:r>
              <a:rPr kumimoji="1" lang="en-US" altLang="ko-KR" b="1" spc="-10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Ⅱ. </a:t>
            </a:r>
            <a:r>
              <a:rPr kumimoji="1" lang="ko-KR" altLang="en-US" sz="1800" b="1" i="0" u="none" strike="noStrike" kern="1200" cap="none" spc="-10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노경 </a:t>
            </a:r>
            <a:r>
              <a:rPr kumimoji="1" lang="en-US" altLang="ko-KR" sz="1800" b="1" i="0" u="none" strike="noStrike" kern="1200" cap="none" spc="-10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3.0 </a:t>
            </a:r>
            <a:r>
              <a:rPr kumimoji="1" lang="ko-KR" altLang="en-US" sz="1800" b="1" i="0" u="none" strike="noStrike" kern="1200" cap="none" spc="-10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정의 및 실행방안</a:t>
            </a:r>
            <a:endParaRPr kumimoji="1" lang="en-US" altLang="ko-KR" sz="1800" b="1" i="0" u="none" strike="noStrike" kern="1200" cap="none" spc="-10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defTabSz="762000" fontAlgn="base" latinLnBrk="0">
              <a:lnSpc>
                <a:spcPct val="120000"/>
              </a:lnSpc>
              <a:spcBef>
                <a:spcPts val="600"/>
              </a:spcBef>
              <a:defRPr/>
            </a:pPr>
            <a:r>
              <a:rPr kumimoji="1" lang="en-US" altLang="ko-KR" sz="1800" b="1" i="0" u="none" strike="noStrike" kern="1200" cap="none" spc="-10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Ⅲ.</a:t>
            </a:r>
            <a:r>
              <a:rPr kumimoji="1" lang="ko-KR" altLang="en-US" b="1" spc="-10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추진과제 및 대응방향</a:t>
            </a:r>
            <a:endParaRPr kumimoji="1" lang="en-US" altLang="ko-KR" sz="1800" b="1" i="0" u="none" strike="noStrike" kern="1200" cap="none" spc="-10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" name="내용 개체 틀 4"/>
          <p:cNvSpPr txBox="1">
            <a:spLocks/>
          </p:cNvSpPr>
          <p:nvPr/>
        </p:nvSpPr>
        <p:spPr>
          <a:xfrm>
            <a:off x="1208088" y="5985215"/>
            <a:ext cx="6961187" cy="30777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lang="ko-KR" altLang="en-US" sz="1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j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CHO / </a:t>
            </a:r>
            <a:r>
              <a:rPr lang="ko-KR" altLang="en-US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노경담당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｜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2026. 3.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5699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91EE3FE-C653-D2FA-C387-17200CC7088F}"/>
              </a:ext>
            </a:extLst>
          </p:cNvPr>
          <p:cNvSpPr txBox="1"/>
          <p:nvPr/>
        </p:nvSpPr>
        <p:spPr>
          <a:xfrm>
            <a:off x="6333940" y="181068"/>
            <a:ext cx="3284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① 대내외 환경</a:t>
            </a: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21DFF7-60B0-B01A-2104-C06BF4CEA088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5725" indent="-85725">
              <a:buFont typeface="+mj-lt"/>
              <a:buAutoNum type="romanUcPeriod"/>
            </a:pPr>
            <a:r>
              <a:rPr lang="en-US" altLang="ko-KR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추진배경</a:t>
            </a:r>
            <a:endParaRPr lang="en-US" altLang="ko-KR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95BB152-3F11-907B-7BB6-C895C544E09B}"/>
              </a:ext>
            </a:extLst>
          </p:cNvPr>
          <p:cNvSpPr/>
          <p:nvPr/>
        </p:nvSpPr>
        <p:spPr>
          <a:xfrm>
            <a:off x="1793022" y="5084570"/>
            <a:ext cx="7625465" cy="156433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08000" lvl="0" indent="-1080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176213" algn="l"/>
              </a:tabLst>
              <a:defRPr/>
            </a:pPr>
            <a:r>
              <a:rPr lang="ko-KR" altLang="en-US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 정부 출범당시 공약하였던 친 노동성향의 국정과제들이 점차 가시화 되고 있음</a:t>
            </a:r>
            <a:br>
              <a:rPr lang="en-US" altLang="ko-KR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노란봉투법 시행</a:t>
            </a: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(’26.3.10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</a:t>
            </a: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*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시행령 개정완료 및 노동부 해석지침 배포</a:t>
            </a:r>
            <a:b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포괄임금제 폐지검토 </a:t>
            </a: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입법추진 중</a:t>
            </a: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b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법정 정년 단계적 연장 </a:t>
            </a: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올 하반기 논의예정</a:t>
            </a: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b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근로시간 단축 </a:t>
            </a: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</a:t>
            </a: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4.5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일제</a:t>
            </a: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연차휴가 개선 등</a:t>
            </a: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endParaRPr lang="en-US" altLang="ko-KR" sz="12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108000" lvl="0" indent="-1080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176213" algn="l"/>
              </a:tabLst>
              <a:defRPr/>
            </a:pPr>
            <a:r>
              <a:rPr lang="en-US" altLang="ko-KR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Physical AI</a:t>
            </a:r>
            <a:r>
              <a:rPr lang="ko-KR" altLang="en-US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의 현장 투입이 현실화 됨에 따라</a:t>
            </a:r>
            <a:r>
              <a:rPr lang="en-US" altLang="ko-KR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고용보장이 노사간 최대의 이슈로 부상할 수 있음</a:t>
            </a:r>
            <a:r>
              <a:rPr lang="en-US" altLang="ko-KR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(‘</a:t>
            </a:r>
            <a:r>
              <a:rPr lang="ko-KR" altLang="en-US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노로갈등</a:t>
            </a:r>
            <a:r>
              <a:rPr lang="en-US" altLang="ko-KR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’)</a:t>
            </a:r>
            <a:r>
              <a:rPr lang="ko-KR" altLang="en-US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lang="en-US" altLang="ko-KR" sz="1300" b="1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C499CFB-DA2F-69B0-3853-702AD9E4C1AB}"/>
              </a:ext>
            </a:extLst>
          </p:cNvPr>
          <p:cNvSpPr/>
          <p:nvPr/>
        </p:nvSpPr>
        <p:spPr>
          <a:xfrm>
            <a:off x="1793022" y="4044947"/>
            <a:ext cx="7912923" cy="943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8000" lvl="0" indent="-108000">
              <a:spcBef>
                <a:spcPts val="400"/>
              </a:spcBef>
              <a:buFont typeface="Wingdings" panose="05000000000000000000" pitchFamily="2" charset="2"/>
              <a:buChar char="§"/>
              <a:tabLst>
                <a:tab pos="176213" algn="l"/>
              </a:tabLst>
              <a:defRPr/>
            </a:pPr>
            <a:r>
              <a:rPr lang="ko-KR" altLang="en-US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삼성전자는 성과급 상한 폐지 등 성과급 이슈를 계기로 노조가입이 급속도로 확대되고 결국 과반수 노조가 출범함</a:t>
            </a:r>
            <a:br>
              <a:rPr lang="en-US" altLang="ko-KR" sz="13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삼성전자 초기업노조</a:t>
            </a: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</a:t>
            </a: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노조</a:t>
            </a: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조합원 </a:t>
            </a: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68,095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’26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 교섭결렬 선언 후 쟁의 찬반투표 진행</a:t>
            </a: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(3/9~3/18), 4/23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파업예고</a:t>
            </a:r>
            <a:endParaRPr lang="en-US" altLang="ko-KR" sz="12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108000" lvl="0" indent="-108000">
              <a:spcBef>
                <a:spcPts val="400"/>
              </a:spcBef>
              <a:buFont typeface="Wingdings" panose="05000000000000000000" pitchFamily="2" charset="2"/>
              <a:buChar char="§"/>
              <a:tabLst>
                <a:tab pos="176213" algn="l"/>
              </a:tabLst>
              <a:defRPr/>
            </a:pPr>
            <a:r>
              <a:rPr lang="en-US" altLang="ko-KR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</a:t>
            </a:r>
            <a:r>
              <a:rPr lang="ko-KR" altLang="en-US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전자는 설립 후 지속적인 대외 이슈제기</a:t>
            </a:r>
            <a:r>
              <a:rPr lang="en-US" altLang="ko-KR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노동부 진정</a:t>
            </a:r>
            <a:r>
              <a:rPr lang="en-US" altLang="ko-KR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소송</a:t>
            </a:r>
            <a:r>
              <a:rPr lang="en-US" altLang="ko-KR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언론보도 등</a:t>
            </a:r>
            <a:r>
              <a:rPr lang="en-US" altLang="ko-KR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lang="ko-KR" altLang="en-US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및 근로조건 개선 요구를 통해 세 확산을 </a:t>
            </a:r>
            <a:br>
              <a:rPr lang="en-US" altLang="ko-KR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지속하고 있음 </a:t>
            </a:r>
            <a:r>
              <a:rPr lang="en-US" altLang="ko-KR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en-US" altLang="ko-KR" sz="13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’24</a:t>
            </a:r>
            <a:r>
              <a:rPr lang="ko-KR" altLang="en-US" sz="13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년말 </a:t>
            </a:r>
            <a:r>
              <a:rPr lang="en-US" altLang="ko-KR" sz="13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1,400</a:t>
            </a:r>
            <a:r>
              <a:rPr lang="ko-KR" altLang="en-US" sz="13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명 → </a:t>
            </a:r>
            <a:r>
              <a:rPr lang="en-US" altLang="ko-KR" sz="13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’26</a:t>
            </a:r>
            <a:r>
              <a:rPr lang="ko-KR" altLang="en-US" sz="13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 현재 </a:t>
            </a:r>
            <a:r>
              <a:rPr lang="en-US" altLang="ko-KR" sz="13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2,068</a:t>
            </a:r>
            <a:r>
              <a:rPr lang="ko-KR" altLang="en-US" sz="13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r>
              <a:rPr lang="en-US" altLang="ko-KR" sz="13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en-US" altLang="ko-KR" sz="13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45B4E2-B196-67D3-A366-CA8E657F2FCA}"/>
              </a:ext>
            </a:extLst>
          </p:cNvPr>
          <p:cNvSpPr txBox="1"/>
          <p:nvPr/>
        </p:nvSpPr>
        <p:spPr>
          <a:xfrm>
            <a:off x="1793022" y="1153784"/>
            <a:ext cx="8151078" cy="127695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85725" indent="-8572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조직 내 인적구성은 사무직이 절대 우위에 있는 상황이나 현장 대비 적극적으로 조직화 되어 있지는 않음</a:t>
            </a:r>
            <a:b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단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,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제도개선이나 보상에 대한 불만은 계속 표출되고 있으며 최근 경영성과급 이슈로 세 확산이 지속되고 있음  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b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-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국내 사무직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9,914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명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현장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1,969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명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  <a:sym typeface="Wingdings 3" panose="05040102010807070707" pitchFamily="18" charset="2"/>
              </a:rPr>
              <a:t> 조합원 사무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  <a:sym typeface="Wingdings 3" panose="05040102010807070707" pitchFamily="18" charset="2"/>
              </a:rPr>
              <a:t>316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  <a:sym typeface="Wingdings 3" panose="05040102010807070707" pitchFamily="18" charset="2"/>
              </a:rPr>
              <a:t>명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  <a:sym typeface="Wingdings 3" panose="05040102010807070707" pitchFamily="18" charset="2"/>
              </a:rPr>
              <a:t> (3.2%) /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  <a:sym typeface="Wingdings 3" panose="05040102010807070707" pitchFamily="18" charset="2"/>
              </a:rPr>
              <a:t>현장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  <a:sym typeface="Wingdings 3" panose="05040102010807070707" pitchFamily="18" charset="2"/>
              </a:rPr>
              <a:t>1,961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  <a:sym typeface="Wingdings 3" panose="05040102010807070707" pitchFamily="18" charset="2"/>
              </a:rPr>
              <a:t>명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  <a:sym typeface="Wingdings 3" panose="05040102010807070707" pitchFamily="18" charset="2"/>
              </a:rPr>
              <a:t>(99.6%) </a:t>
            </a:r>
            <a:r>
              <a:rPr lang="en-US" altLang="ko-KR" sz="105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  <a:sym typeface="Wingdings 3" panose="05040102010807070707" pitchFamily="18" charset="2"/>
              </a:rPr>
              <a:t>*</a:t>
            </a:r>
            <a:r>
              <a:rPr lang="ko-KR" altLang="en-US" sz="105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  <a:sym typeface="Wingdings 3" panose="05040102010807070707" pitchFamily="18" charset="2"/>
              </a:rPr>
              <a:t>현장 주재원 </a:t>
            </a:r>
            <a:r>
              <a:rPr lang="en-US" altLang="ko-KR" sz="105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  <a:sym typeface="Wingdings 3" panose="05040102010807070707" pitchFamily="18" charset="2"/>
              </a:rPr>
              <a:t>79</a:t>
            </a:r>
            <a:r>
              <a:rPr lang="ko-KR" altLang="en-US" sz="105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  <a:sym typeface="Wingdings 3" panose="05040102010807070707" pitchFamily="18" charset="2"/>
              </a:rPr>
              <a:t>명 포함 시</a:t>
            </a:r>
            <a:r>
              <a:rPr lang="en-US" altLang="ko-KR" sz="105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  <a:sym typeface="Wingdings 3" panose="05040102010807070707" pitchFamily="18" charset="2"/>
              </a:rPr>
              <a:t> </a:t>
            </a:r>
            <a:r>
              <a:rPr lang="ko-KR" altLang="en-US" sz="105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  <a:sym typeface="Wingdings 3" panose="05040102010807070707" pitchFamily="18" charset="2"/>
              </a:rPr>
              <a:t>조합원 </a:t>
            </a:r>
            <a:r>
              <a:rPr lang="en-US" altLang="ko-KR" sz="105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  <a:sym typeface="Wingdings 3" panose="05040102010807070707" pitchFamily="18" charset="2"/>
              </a:rPr>
              <a:t>2,040</a:t>
            </a:r>
            <a:r>
              <a:rPr lang="ko-KR" altLang="en-US" sz="105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  <a:sym typeface="Wingdings 3" panose="05040102010807070707" pitchFamily="18" charset="2"/>
              </a:rPr>
              <a:t>명</a:t>
            </a:r>
            <a:endParaRPr lang="en-US" altLang="ko-KR" sz="1200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  <a:sym typeface="Wingdings 3" panose="05040102010807070707" pitchFamily="18" charset="2"/>
            </a:endParaRPr>
          </a:p>
          <a:p>
            <a:pPr marL="85725" indent="-8572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  <a:sym typeface="Wingdings 3" panose="05040102010807070707" pitchFamily="18" charset="2"/>
              </a:rPr>
              <a:t>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현장직은 노동조합 중심의 소통으로 일원화되어 있으나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,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사무직은 노경관리 주체가 모호함</a:t>
            </a:r>
            <a:b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-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사무직 노조의 영향력 미흡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, Junior Board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는 </a:t>
            </a:r>
            <a:r>
              <a:rPr lang="en-US" altLang="ko-KR" sz="1200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Change agent</a:t>
            </a:r>
            <a:r>
              <a:rPr lang="ko-KR" altLang="en-US" sz="1200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로서 </a:t>
            </a:r>
            <a:r>
              <a:rPr lang="en-US" altLang="ko-KR" sz="1200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VoE </a:t>
            </a:r>
            <a:r>
              <a:rPr lang="ko-KR" altLang="en-US" sz="1200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수렴 기능 중심 </a:t>
            </a:r>
            <a:endParaRPr lang="en-US" altLang="ko-KR" sz="1300"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13DC869-54C5-193A-E743-DFFDE8671021}"/>
              </a:ext>
            </a:extLst>
          </p:cNvPr>
          <p:cNvSpPr/>
          <p:nvPr/>
        </p:nvSpPr>
        <p:spPr bwMode="auto">
          <a:xfrm>
            <a:off x="1132720" y="1207016"/>
            <a:ext cx="525973" cy="1145443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FFFFF">
                <a:lumMod val="65000"/>
              </a:srgbClr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국내</a:t>
            </a:r>
            <a:endParaRPr kumimoji="0" lang="en-US" altLang="ko-KR" sz="1300" b="1" i="0" u="none" strike="noStrike" kern="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83FC26-5FDB-4225-21A6-D63069867B81}"/>
              </a:ext>
            </a:extLst>
          </p:cNvPr>
          <p:cNvSpPr/>
          <p:nvPr/>
        </p:nvSpPr>
        <p:spPr bwMode="auto">
          <a:xfrm>
            <a:off x="1132720" y="2523630"/>
            <a:ext cx="525973" cy="1322831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FFFFF">
                <a:lumMod val="65000"/>
              </a:srgbClr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kern="0" spc="-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해외</a:t>
            </a:r>
            <a:endParaRPr kumimoji="0" lang="en-US" altLang="ko-KR" sz="1300" b="1" i="0" u="none" strike="noStrike" kern="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33C9520-AD4B-025B-0EFA-7A038A99975E}"/>
              </a:ext>
            </a:extLst>
          </p:cNvPr>
          <p:cNvGrpSpPr/>
          <p:nvPr/>
        </p:nvGrpSpPr>
        <p:grpSpPr>
          <a:xfrm>
            <a:off x="336755" y="1175535"/>
            <a:ext cx="540946" cy="660984"/>
            <a:chOff x="650788" y="1598633"/>
            <a:chExt cx="540946" cy="35807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77E686-297E-4852-B99B-2BEC36EA5BD9}"/>
                </a:ext>
              </a:extLst>
            </p:cNvPr>
            <p:cNvSpPr txBox="1"/>
            <p:nvPr/>
          </p:nvSpPr>
          <p:spPr>
            <a:xfrm>
              <a:off x="650788" y="1598633"/>
              <a:ext cx="540946" cy="172058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대내</a:t>
              </a:r>
              <a:endPara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6336988-6BA1-48EE-36C2-9BDDD9AFADF3}"/>
                </a:ext>
              </a:extLst>
            </p:cNvPr>
            <p:cNvCxnSpPr>
              <a:cxnSpLocks/>
            </p:cNvCxnSpPr>
            <p:nvPr/>
          </p:nvCxnSpPr>
          <p:spPr>
            <a:xfrm>
              <a:off x="1135070" y="1619815"/>
              <a:ext cx="0" cy="336892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D1E75FC-E0C6-29EC-45DE-150CF56C69B5}"/>
              </a:ext>
            </a:extLst>
          </p:cNvPr>
          <p:cNvSpPr txBox="1"/>
          <p:nvPr/>
        </p:nvSpPr>
        <p:spPr>
          <a:xfrm>
            <a:off x="1793022" y="2479337"/>
            <a:ext cx="8019452" cy="13848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85725" indent="-8572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북미를 중심으로 한 생산법인 확대에 따른 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UAW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조직화 이슈가 표면화됨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b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- UAW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랜싱법인 접촉 및 중립협약 제안</a:t>
            </a:r>
            <a:endParaRPr lang="en-US" altLang="ko-KR" sz="1200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  <a:p>
            <a:pPr marL="85725" indent="-8572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ESWA(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폴란드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)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조직화에 따른 소수노조 포지션 유지 전략이 필요하며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,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ESOT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는 올해 단체교섭이 예정됨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(’26.7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월 만료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)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endParaRPr lang="en-US" altLang="ko-KR" sz="1300" b="1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  <a:p>
            <a:pPr marL="85725" indent="-8572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ESHM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은 현장직 대다수가 계약직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계약기간 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5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년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)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으로 정규직 전환 시점에 조직화 이슈 촉발 가능성이 높음</a:t>
            </a:r>
            <a:endParaRPr lang="en-US" altLang="ko-KR" sz="1300" b="1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  <a:p>
            <a:pPr marL="85725" indent="-8572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중국법인은 다년간 지속적인 인력효율화로 인해 조직 내 불안이 상존하고 있음</a:t>
            </a:r>
            <a:endParaRPr lang="en-US" altLang="ko-KR" sz="1300" b="1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302A847-6F9D-B0EB-6AE8-A7E396B1B6BB}"/>
              </a:ext>
            </a:extLst>
          </p:cNvPr>
          <p:cNvSpPr/>
          <p:nvPr/>
        </p:nvSpPr>
        <p:spPr bwMode="auto">
          <a:xfrm>
            <a:off x="1132719" y="4054940"/>
            <a:ext cx="525973" cy="88282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FFFFF">
                <a:lumMod val="65000"/>
              </a:srgbClr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타사</a:t>
            </a:r>
            <a:r>
              <a:rPr kumimoji="0" lang="en-US" altLang="ko-KR" sz="1300" b="1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br>
              <a:rPr kumimoji="0" lang="en-US" altLang="ko-KR" sz="1300" b="1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ko-KR" altLang="en-US" sz="1300" b="1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계열사</a:t>
            </a:r>
            <a:endParaRPr kumimoji="0" lang="en-US" altLang="ko-KR" sz="1300" b="1" i="0" u="none" strike="noStrike" kern="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8C6E5F2-9C0F-1BD6-8406-78676FAF121B}"/>
              </a:ext>
            </a:extLst>
          </p:cNvPr>
          <p:cNvSpPr/>
          <p:nvPr/>
        </p:nvSpPr>
        <p:spPr bwMode="auto">
          <a:xfrm>
            <a:off x="1132719" y="5130783"/>
            <a:ext cx="525973" cy="1440497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FFFFF">
                <a:lumMod val="65000"/>
              </a:srgbClr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노동</a:t>
            </a:r>
            <a:br>
              <a:rPr kumimoji="0" lang="en-US" altLang="ko-KR" sz="1300" b="1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ko-KR" altLang="en-US" sz="1300" b="1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환경</a:t>
            </a:r>
            <a:endParaRPr kumimoji="0" lang="en-US" altLang="ko-KR" sz="1300" b="1" i="0" u="none" strike="noStrike" kern="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D636FA-22EE-F119-2670-5E13AB37D0A9}"/>
              </a:ext>
            </a:extLst>
          </p:cNvPr>
          <p:cNvSpPr txBox="1"/>
          <p:nvPr/>
        </p:nvSpPr>
        <p:spPr>
          <a:xfrm>
            <a:off x="679010" y="611986"/>
            <a:ext cx="9036856" cy="347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5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사무직 </a:t>
            </a:r>
            <a:r>
              <a:rPr lang="en-US" altLang="ko-KR" sz="15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lang="ko-KR" altLang="en-US" sz="15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해외법인 노경이슈 가시화</a:t>
            </a:r>
            <a:r>
              <a:rPr lang="en-US" altLang="ko-KR" sz="15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5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및 대외 노동환경의 복잡성으로 인해 안정적 노경관리 필요함 </a:t>
            </a:r>
            <a:endParaRPr lang="en-US" altLang="ko-KR" sz="1500" b="1" dirty="0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70BC1D6-25C9-FABC-532D-C94AD5E72DF4}"/>
              </a:ext>
            </a:extLst>
          </p:cNvPr>
          <p:cNvGrpSpPr/>
          <p:nvPr/>
        </p:nvGrpSpPr>
        <p:grpSpPr>
          <a:xfrm>
            <a:off x="336755" y="4048227"/>
            <a:ext cx="540946" cy="660984"/>
            <a:chOff x="650788" y="1598633"/>
            <a:chExt cx="540946" cy="35807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188C867-C03B-4A77-BB64-E95CC65DEB0C}"/>
                </a:ext>
              </a:extLst>
            </p:cNvPr>
            <p:cNvSpPr txBox="1"/>
            <p:nvPr/>
          </p:nvSpPr>
          <p:spPr>
            <a:xfrm>
              <a:off x="650788" y="1598633"/>
              <a:ext cx="540946" cy="172058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대외</a:t>
              </a:r>
              <a:endPara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3222C05A-A00A-EE4B-81C9-8B30867DDAED}"/>
                </a:ext>
              </a:extLst>
            </p:cNvPr>
            <p:cNvCxnSpPr>
              <a:cxnSpLocks/>
            </p:cNvCxnSpPr>
            <p:nvPr/>
          </p:nvCxnSpPr>
          <p:spPr>
            <a:xfrm>
              <a:off x="1119572" y="1619815"/>
              <a:ext cx="0" cy="336892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0361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5725" indent="-85725">
              <a:buFont typeface="+mj-lt"/>
              <a:buAutoNum type="romanUcPeriod"/>
            </a:pPr>
            <a:r>
              <a:rPr lang="en-US" altLang="ko-KR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추진배경</a:t>
            </a:r>
            <a:endParaRPr lang="en-US" altLang="ko-KR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33940" y="181068"/>
            <a:ext cx="3284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② 엔솔 노경관계 전망</a:t>
            </a: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57BD1E-A780-7C08-B3C4-3DF2498389ED}"/>
              </a:ext>
            </a:extLst>
          </p:cNvPr>
          <p:cNvSpPr/>
          <p:nvPr/>
        </p:nvSpPr>
        <p:spPr bwMode="auto">
          <a:xfrm>
            <a:off x="2426376" y="1904030"/>
            <a:ext cx="2592288" cy="589156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5" tIns="45703" rIns="91405" bIns="45703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1276350" rtl="0" eaLnBrk="1" fontAlgn="base" latinLnBrk="0" hangingPunct="1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</a:pPr>
            <a:r>
              <a:rPr kumimoji="1" lang="ko-KR" altLang="en-US" sz="13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국내 현장</a:t>
            </a:r>
            <a:r>
              <a:rPr kumimoji="1" lang="en-US" altLang="ko-KR" sz="13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13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사무 집단적 관계 중심</a:t>
            </a:r>
            <a:endParaRPr kumimoji="1" lang="ko-KR" altLang="en-US" sz="13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7" name="오른쪽 화살표 2">
            <a:extLst>
              <a:ext uri="{FF2B5EF4-FFF2-40B4-BE49-F238E27FC236}">
                <a16:creationId xmlns:a16="http://schemas.microsoft.com/office/drawing/2014/main" id="{57A27D85-F6A7-7F89-F792-81101F5902EC}"/>
              </a:ext>
            </a:extLst>
          </p:cNvPr>
          <p:cNvSpPr/>
          <p:nvPr/>
        </p:nvSpPr>
        <p:spPr bwMode="auto">
          <a:xfrm>
            <a:off x="5244155" y="2090596"/>
            <a:ext cx="432048" cy="216024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5" tIns="45703" rIns="91405" bIns="45703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1276350" rtl="0" eaLnBrk="1" fontAlgn="base" latinLnBrk="0" hangingPunct="1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52A2DCA-35AF-381E-0E56-537E92A28C5D}"/>
              </a:ext>
            </a:extLst>
          </p:cNvPr>
          <p:cNvSpPr/>
          <p:nvPr/>
        </p:nvSpPr>
        <p:spPr bwMode="auto">
          <a:xfrm>
            <a:off x="5886104" y="1904030"/>
            <a:ext cx="2592288" cy="589156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5" tIns="45703" rIns="91405" bIns="45703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1276350" rtl="0" eaLnBrk="1" fontAlgn="base" latinLnBrk="0" hangingPunct="1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</a:pPr>
            <a:r>
              <a:rPr kumimoji="1" lang="en-US" altLang="ko-KR" sz="13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Global </a:t>
            </a:r>
            <a:r>
              <a:rPr kumimoji="1" lang="ko-KR" altLang="en-US" sz="13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관점 </a:t>
            </a:r>
            <a:r>
              <a:rPr kumimoji="1" lang="en-US" altLang="ko-KR" sz="13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1" lang="ko-KR" altLang="en-US" sz="13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사무</a:t>
            </a:r>
            <a:r>
              <a:rPr kumimoji="1" lang="en-US" altLang="ko-KR" sz="13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13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현장</a:t>
            </a:r>
            <a:r>
              <a:rPr kumimoji="1" lang="en-US" altLang="ko-KR" sz="13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13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해외</a:t>
            </a:r>
            <a:r>
              <a:rPr kumimoji="1" lang="en-US" altLang="ko-KR" sz="13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  <a:endParaRPr kumimoji="1" lang="ko-KR" altLang="en-US" sz="13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64F842-4C57-5271-319B-49C78E82965D}"/>
              </a:ext>
            </a:extLst>
          </p:cNvPr>
          <p:cNvSpPr txBox="1"/>
          <p:nvPr/>
        </p:nvSpPr>
        <p:spPr>
          <a:xfrm>
            <a:off x="2426376" y="2616348"/>
            <a:ext cx="2592288" cy="95690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no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사업계획 범위 내 임단협 타결</a:t>
            </a:r>
            <a:endParaRPr lang="en-US" altLang="ko-KR" sz="1200" b="1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altLang="ko-KR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현장안정화를 통한 노경갈등 최소화</a:t>
            </a:r>
            <a:endParaRPr lang="en-US" altLang="ko-KR" sz="1200" b="1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altLang="ko-KR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노동입법</a:t>
            </a:r>
            <a:r>
              <a:rPr lang="en-US" altLang="ko-KR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정책변화 시 대응방안 수립</a:t>
            </a:r>
            <a:endParaRPr lang="en-US" altLang="ko-KR" sz="1200" b="1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325BE5-AF63-C41E-B1A2-541EB56985A5}"/>
              </a:ext>
            </a:extLst>
          </p:cNvPr>
          <p:cNvSpPr txBox="1"/>
          <p:nvPr/>
        </p:nvSpPr>
        <p:spPr>
          <a:xfrm>
            <a:off x="5886104" y="2612439"/>
            <a:ext cx="2592288" cy="95690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noAutofit/>
          </a:bodyPr>
          <a:lstStyle/>
          <a:p>
            <a:pPr marL="85725" indent="-85725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사무직의 집단화 가능성 상존 </a:t>
            </a:r>
            <a:endParaRPr lang="en-US" altLang="ko-KR" sz="1200" b="1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  <a:p>
            <a:pPr marL="85725" indent="-85725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ko-KR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사무직 개별노무관리 중요성 대두</a:t>
            </a:r>
            <a:endParaRPr lang="en-US" altLang="ko-KR" sz="1200" b="1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  <a:p>
            <a:pPr marL="85725" indent="-85725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해외 현지법인 조직화 </a:t>
            </a:r>
            <a:r>
              <a:rPr lang="en-US" altLang="ko-KR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Risk</a:t>
            </a: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br>
              <a:rPr lang="en-US" altLang="ko-KR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  - </a:t>
            </a: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사업경쟁력 강화를 위한 노경의 역할</a:t>
            </a:r>
            <a:endParaRPr lang="en-US" altLang="ko-KR" sz="1200" b="1" dirty="0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99D7E1-E2CC-A340-6A04-060BFB8E8268}"/>
              </a:ext>
            </a:extLst>
          </p:cNvPr>
          <p:cNvSpPr txBox="1"/>
          <p:nvPr/>
        </p:nvSpPr>
        <p:spPr>
          <a:xfrm>
            <a:off x="2426376" y="3696415"/>
            <a:ext cx="2592288" cy="76988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no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개별 노무관리 </a:t>
            </a:r>
            <a:r>
              <a:rPr lang="en-US" altLang="ko-KR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: </a:t>
            </a: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현장직 중심 </a:t>
            </a:r>
            <a:endParaRPr lang="en-US" altLang="ko-KR" sz="1200" b="1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altLang="ko-KR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집단 노사관계 </a:t>
            </a:r>
            <a:r>
              <a:rPr lang="en-US" altLang="ko-KR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: </a:t>
            </a: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국내중심</a:t>
            </a:r>
            <a:endParaRPr lang="en-US" altLang="ko-KR" sz="1200" b="1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F2EFB2-A049-7D7C-0AF3-651452FD635C}"/>
              </a:ext>
            </a:extLst>
          </p:cNvPr>
          <p:cNvSpPr txBox="1"/>
          <p:nvPr/>
        </p:nvSpPr>
        <p:spPr>
          <a:xfrm>
            <a:off x="5886104" y="3688597"/>
            <a:ext cx="2592288" cy="76988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noAutofit/>
          </a:bodyPr>
          <a:lstStyle/>
          <a:p>
            <a:pPr marL="85725" indent="-85725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개별 노무관리 </a:t>
            </a:r>
            <a:r>
              <a:rPr lang="en-US" altLang="ko-KR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: </a:t>
            </a: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사무</a:t>
            </a:r>
            <a:r>
              <a:rPr lang="en-US" altLang="ko-KR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현장</a:t>
            </a:r>
            <a:endParaRPr lang="en-US" altLang="ko-KR" sz="1200" b="1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  <a:p>
            <a:pPr marL="85725" indent="-85725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ko-KR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집단 노사관계 </a:t>
            </a:r>
            <a:r>
              <a:rPr lang="en-US" altLang="ko-KR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: </a:t>
            </a: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국내</a:t>
            </a:r>
            <a:r>
              <a:rPr lang="en-US" altLang="ko-KR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해외 </a:t>
            </a:r>
            <a:endParaRPr lang="en-US" altLang="ko-KR" sz="1200" b="1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15" name="오른쪽 화살표 51">
            <a:extLst>
              <a:ext uri="{FF2B5EF4-FFF2-40B4-BE49-F238E27FC236}">
                <a16:creationId xmlns:a16="http://schemas.microsoft.com/office/drawing/2014/main" id="{912B3A92-CC18-EAD9-7587-063294E7D206}"/>
              </a:ext>
            </a:extLst>
          </p:cNvPr>
          <p:cNvSpPr/>
          <p:nvPr/>
        </p:nvSpPr>
        <p:spPr bwMode="auto">
          <a:xfrm>
            <a:off x="5244155" y="2988903"/>
            <a:ext cx="432048" cy="216024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5" tIns="45703" rIns="91405" bIns="45703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1276350" rtl="0" eaLnBrk="1" fontAlgn="base" latinLnBrk="0" hangingPunct="1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16" name="오른쪽 화살표 52">
            <a:extLst>
              <a:ext uri="{FF2B5EF4-FFF2-40B4-BE49-F238E27FC236}">
                <a16:creationId xmlns:a16="http://schemas.microsoft.com/office/drawing/2014/main" id="{DAA008BE-7D0B-3981-3B52-80A7DFD76EE3}"/>
              </a:ext>
            </a:extLst>
          </p:cNvPr>
          <p:cNvSpPr/>
          <p:nvPr/>
        </p:nvSpPr>
        <p:spPr bwMode="auto">
          <a:xfrm>
            <a:off x="5244155" y="4001652"/>
            <a:ext cx="432048" cy="216024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5" tIns="45703" rIns="91405" bIns="45703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1276350" rtl="0" eaLnBrk="1" fontAlgn="base" latinLnBrk="0" hangingPunct="1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F1FFD-47A2-8893-A172-73AA27251879}"/>
              </a:ext>
            </a:extLst>
          </p:cNvPr>
          <p:cNvSpPr txBox="1"/>
          <p:nvPr/>
        </p:nvSpPr>
        <p:spPr>
          <a:xfrm>
            <a:off x="1170908" y="5737173"/>
            <a:ext cx="7564184" cy="8240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타사의 사례와 같이 노경관리의 시기를 놓치면 회사 주도의 노경관리는 불가능할 것임</a:t>
            </a:r>
            <a:endParaRPr lang="en-US" altLang="ko-KR" sz="1300" b="1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Global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노경을 포함한 전사적 관점으로의 노경관리 패러다임 전환으로 전방위 노경관리 역량을 확대해야 함</a:t>
            </a:r>
            <a:endParaRPr lang="en-US" altLang="ko-KR" sz="1300" b="1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단기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중기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장기관점으로 노경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Risk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를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사전검토하고 이에 대한 선제적 대응방안을 구축토록 함</a:t>
            </a:r>
            <a:endParaRPr lang="en-US" altLang="ko-KR" sz="1300" b="1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E5F5BC-817D-25B8-F54C-D51A1C3DCA0E}"/>
              </a:ext>
            </a:extLst>
          </p:cNvPr>
          <p:cNvSpPr txBox="1"/>
          <p:nvPr/>
        </p:nvSpPr>
        <p:spPr>
          <a:xfrm>
            <a:off x="531776" y="588694"/>
            <a:ext cx="9036856" cy="624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500" b="1" dirty="0" err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현장직</a:t>
            </a:r>
            <a:r>
              <a:rPr lang="ko-KR" altLang="en-US" sz="15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중심의 노경관리에서 사무직</a:t>
            </a:r>
            <a:r>
              <a:rPr lang="en-US" altLang="ko-KR" sz="15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,</a:t>
            </a:r>
            <a:r>
              <a:rPr lang="ko-KR" altLang="en-US" sz="15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해외 생산법인을 포함한 </a:t>
            </a:r>
            <a:r>
              <a:rPr lang="ko-KR" altLang="en-US" sz="15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전사적 관점으로 노경관리 역량을 확대해야 하며</a:t>
            </a:r>
            <a:r>
              <a:rPr lang="en-US" altLang="ko-KR" sz="15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, </a:t>
            </a:r>
            <a:br>
              <a:rPr lang="en-US" altLang="ko-KR" sz="15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ko-KR" altLang="en-US" sz="15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노경 </a:t>
            </a:r>
            <a:r>
              <a:rPr lang="en-US" altLang="ko-KR" sz="15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Risk</a:t>
            </a:r>
            <a:r>
              <a:rPr lang="ko-KR" altLang="en-US" sz="15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를</a:t>
            </a:r>
            <a:r>
              <a:rPr lang="en-US" altLang="ko-KR" sz="15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5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사전에 발굴</a:t>
            </a:r>
            <a:r>
              <a:rPr lang="en-US" altLang="ko-KR" sz="15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lang="ko-KR" altLang="en-US" sz="15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해소하여</a:t>
            </a:r>
            <a:r>
              <a:rPr lang="en-US" altLang="ko-KR" sz="15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5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사업에 기여하는 노경관리 </a:t>
            </a:r>
            <a:r>
              <a:rPr lang="ko-KR" altLang="en-US" sz="15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체계를 구축하는 것이 </a:t>
            </a:r>
            <a:r>
              <a:rPr lang="ko-KR" altLang="en-US" sz="15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필요함</a:t>
            </a:r>
            <a:endParaRPr lang="en-US" altLang="ko-KR" sz="1500" b="1" dirty="0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752888-D8FA-202F-7A00-BB78F62CFE43}"/>
              </a:ext>
            </a:extLst>
          </p:cNvPr>
          <p:cNvSpPr txBox="1"/>
          <p:nvPr/>
        </p:nvSpPr>
        <p:spPr>
          <a:xfrm>
            <a:off x="2704027" y="1391928"/>
            <a:ext cx="2201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AS-IS</a:t>
            </a:r>
            <a:endParaRPr lang="en-US" altLang="ko-KR" sz="1400" b="1" dirty="0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78EEBB1-1DBC-09A7-C12B-1E838C260129}"/>
              </a:ext>
            </a:extLst>
          </p:cNvPr>
          <p:cNvCxnSpPr>
            <a:cxnSpLocks/>
          </p:cNvCxnSpPr>
          <p:nvPr/>
        </p:nvCxnSpPr>
        <p:spPr bwMode="auto">
          <a:xfrm>
            <a:off x="2704028" y="1699705"/>
            <a:ext cx="2201347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822B94E-819B-DF43-BC49-3686C7BFFE98}"/>
              </a:ext>
            </a:extLst>
          </p:cNvPr>
          <p:cNvSpPr txBox="1"/>
          <p:nvPr/>
        </p:nvSpPr>
        <p:spPr>
          <a:xfrm>
            <a:off x="6152077" y="1391928"/>
            <a:ext cx="2201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TO-BE</a:t>
            </a:r>
            <a:endParaRPr lang="en-US" altLang="ko-KR" sz="1400" b="1" dirty="0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221062F-4B14-7557-FC27-882AB4DCAF9F}"/>
              </a:ext>
            </a:extLst>
          </p:cNvPr>
          <p:cNvCxnSpPr>
            <a:cxnSpLocks/>
          </p:cNvCxnSpPr>
          <p:nvPr/>
        </p:nvCxnSpPr>
        <p:spPr bwMode="auto">
          <a:xfrm>
            <a:off x="6134039" y="1699705"/>
            <a:ext cx="2201347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AutoShape 1603">
            <a:extLst>
              <a:ext uri="{FF2B5EF4-FFF2-40B4-BE49-F238E27FC236}">
                <a16:creationId xmlns:a16="http://schemas.microsoft.com/office/drawing/2014/main" id="{60B42C9F-CDE9-23F8-7566-401FEB96B8D2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212042" y="5413374"/>
            <a:ext cx="3481917" cy="286519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777777"/>
              </a:gs>
              <a:gs pos="100000">
                <a:schemeClr val="bg1"/>
              </a:gs>
            </a:gsLst>
            <a:lin ang="5400000" scaled="1"/>
          </a:gradFill>
          <a:ln w="19050" algn="ctr">
            <a:noFill/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endParaRPr lang="ko-KR" altLang="en-US" sz="1200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B228E15-0652-98A7-DD39-75DED99B7C89}"/>
              </a:ext>
            </a:extLst>
          </p:cNvPr>
          <p:cNvSpPr/>
          <p:nvPr/>
        </p:nvSpPr>
        <p:spPr bwMode="auto">
          <a:xfrm>
            <a:off x="1427607" y="1904030"/>
            <a:ext cx="773277" cy="58915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rgbClr val="FFFFFF">
                <a:lumMod val="65000"/>
              </a:srgbClr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kern="0" spc="-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노사관계 </a:t>
            </a:r>
            <a:br>
              <a:rPr lang="en-US" altLang="ko-KR" sz="1300" b="1" kern="0" spc="-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300" b="1" kern="0" spc="-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중심 축</a:t>
            </a:r>
            <a:endParaRPr kumimoji="0" lang="en-US" altLang="ko-KR" sz="1300" b="1" i="0" u="none" strike="noStrike" kern="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BCD6314-5022-A6CC-0333-675A5D6A1A82}"/>
              </a:ext>
            </a:extLst>
          </p:cNvPr>
          <p:cNvSpPr/>
          <p:nvPr/>
        </p:nvSpPr>
        <p:spPr bwMode="auto">
          <a:xfrm>
            <a:off x="1427607" y="2625031"/>
            <a:ext cx="773277" cy="95690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rgbClr val="FFFFFF">
                <a:lumMod val="65000"/>
              </a:srgbClr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주요 </a:t>
            </a:r>
            <a:br>
              <a:rPr kumimoji="0" lang="en-US" altLang="ko-KR" sz="1300" b="1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ko-KR" altLang="en-US" sz="1300" b="1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이슈 </a:t>
            </a:r>
            <a:endParaRPr kumimoji="0" lang="en-US" altLang="ko-KR" sz="1300" b="1" i="0" u="none" strike="noStrike" kern="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7C9A1B2-D8BA-AB35-1408-1A91AAC4ED3C}"/>
              </a:ext>
            </a:extLst>
          </p:cNvPr>
          <p:cNvSpPr/>
          <p:nvPr/>
        </p:nvSpPr>
        <p:spPr bwMode="auto">
          <a:xfrm>
            <a:off x="1427607" y="3696312"/>
            <a:ext cx="773277" cy="79292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rgbClr val="FFFFFF">
                <a:lumMod val="65000"/>
              </a:srgbClr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kern="0" spc="-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관리 </a:t>
            </a:r>
            <a:br>
              <a:rPr lang="en-US" altLang="ko-KR" sz="1300" b="1" kern="0" spc="-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300" b="1" kern="0" spc="-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범위</a:t>
            </a:r>
            <a:r>
              <a:rPr kumimoji="0" lang="ko-KR" altLang="en-US" sz="1300" b="1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kumimoji="0" lang="en-US" altLang="ko-KR" sz="1300" b="1" i="0" u="none" strike="noStrike" kern="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8329387-3F3B-C70D-B076-ED3E0F9830B6}"/>
              </a:ext>
            </a:extLst>
          </p:cNvPr>
          <p:cNvSpPr/>
          <p:nvPr/>
        </p:nvSpPr>
        <p:spPr bwMode="auto">
          <a:xfrm>
            <a:off x="1427606" y="4589458"/>
            <a:ext cx="773277" cy="79292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rgbClr val="FFFFFF">
                <a:lumMod val="65000"/>
              </a:srgbClr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kern="0" spc="-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필요</a:t>
            </a:r>
            <a:br>
              <a:rPr lang="en-US" altLang="ko-KR" sz="1300" b="1" kern="0" spc="-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300" b="1" kern="0" spc="-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역량</a:t>
            </a:r>
            <a:r>
              <a:rPr kumimoji="0" lang="ko-KR" altLang="en-US" sz="1300" b="1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kumimoji="0" lang="en-US" altLang="ko-KR" sz="1300" b="1" i="0" u="none" strike="noStrike" kern="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8BCDAA-9820-B07F-BFBE-553D9F5BC42F}"/>
              </a:ext>
            </a:extLst>
          </p:cNvPr>
          <p:cNvSpPr txBox="1"/>
          <p:nvPr/>
        </p:nvSpPr>
        <p:spPr>
          <a:xfrm>
            <a:off x="2426376" y="4589458"/>
            <a:ext cx="2592288" cy="76988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no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법</a:t>
            </a:r>
            <a:r>
              <a:rPr lang="en-US" altLang="ko-KR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제도 관련 지식</a:t>
            </a:r>
            <a:r>
              <a:rPr lang="en-US" altLang="ko-KR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, </a:t>
            </a: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이해도</a:t>
            </a:r>
            <a:endParaRPr lang="en-US" altLang="ko-KR" sz="1200" b="1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altLang="ko-KR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현장 </a:t>
            </a:r>
            <a:r>
              <a:rPr lang="en-US" altLang="ko-KR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Network, </a:t>
            </a: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소통능력</a:t>
            </a:r>
            <a:endParaRPr lang="en-US" altLang="ko-KR" sz="1200" b="1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altLang="ko-KR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규제동향 센싱 및 분석력 등</a:t>
            </a:r>
            <a:endParaRPr lang="en-US" altLang="ko-KR" sz="1200" b="1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86E992-D927-214F-399C-04D480788956}"/>
              </a:ext>
            </a:extLst>
          </p:cNvPr>
          <p:cNvSpPr txBox="1"/>
          <p:nvPr/>
        </p:nvSpPr>
        <p:spPr>
          <a:xfrm>
            <a:off x="5886104" y="4577731"/>
            <a:ext cx="2592288" cy="76988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 anchorCtr="0">
            <a:noAutofit/>
          </a:bodyPr>
          <a:lstStyle/>
          <a:p>
            <a:pPr marL="85725" indent="-85725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현재 필요역량 강화 </a:t>
            </a:r>
            <a:r>
              <a:rPr lang="en-US" altLang="ko-KR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+  AI</a:t>
            </a: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를 활용한 </a:t>
            </a:r>
            <a:br>
              <a:rPr lang="en-US" altLang="ko-KR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 </a:t>
            </a: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실무역량 확보 </a:t>
            </a:r>
            <a:r>
              <a:rPr lang="en-US" altLang="ko-KR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lang="ko-KR" altLang="en-US" sz="12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운영</a:t>
            </a:r>
            <a:endParaRPr lang="en-US" altLang="ko-KR" sz="1200" b="1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5" name="오른쪽 화살표 52">
            <a:extLst>
              <a:ext uri="{FF2B5EF4-FFF2-40B4-BE49-F238E27FC236}">
                <a16:creationId xmlns:a16="http://schemas.microsoft.com/office/drawing/2014/main" id="{82F73D73-7C98-7B89-7270-340A6BB9E2F2}"/>
              </a:ext>
            </a:extLst>
          </p:cNvPr>
          <p:cNvSpPr/>
          <p:nvPr/>
        </p:nvSpPr>
        <p:spPr bwMode="auto">
          <a:xfrm>
            <a:off x="5244155" y="4877906"/>
            <a:ext cx="432048" cy="216024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5" tIns="45703" rIns="91405" bIns="45703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1276350" rtl="0" eaLnBrk="1" fontAlgn="base" latinLnBrk="0" hangingPunct="1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돋움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080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오른쪽 화살표 2">
            <a:extLst>
              <a:ext uri="{FF2B5EF4-FFF2-40B4-BE49-F238E27FC236}">
                <a16:creationId xmlns:a16="http://schemas.microsoft.com/office/drawing/2014/main" id="{664CE6A8-2A0F-5541-7607-52C2653C3C49}"/>
              </a:ext>
            </a:extLst>
          </p:cNvPr>
          <p:cNvSpPr/>
          <p:nvPr/>
        </p:nvSpPr>
        <p:spPr>
          <a:xfrm>
            <a:off x="3544555" y="3886457"/>
            <a:ext cx="3231069" cy="1425775"/>
          </a:xfrm>
          <a:prstGeom prst="rightArrow">
            <a:avLst>
              <a:gd name="adj1" fmla="val 50000"/>
              <a:gd name="adj2" fmla="val 20671"/>
            </a:avLst>
          </a:prstGeom>
          <a:gradFill flip="none" rotWithShape="1">
            <a:gsLst>
              <a:gs pos="7000">
                <a:schemeClr val="bg1">
                  <a:lumMod val="75000"/>
                </a:schemeClr>
              </a:gs>
              <a:gs pos="82000">
                <a:schemeClr val="bg1">
                  <a:lumMod val="95000"/>
                  <a:alpha val="48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384585" y="635244"/>
            <a:ext cx="913683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경영환경 변화에 따라 다방면의 노경이슈들이 예상되는 바</a:t>
            </a:r>
            <a:r>
              <a:rPr lang="en-US" altLang="ko-KR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당사의 노경관리 현 수준을 점검해보고 중장기 노경관계 </a:t>
            </a:r>
            <a:br>
              <a:rPr lang="en-US" altLang="ko-KR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안정화를 위한 새로운 노경관리 </a:t>
            </a:r>
            <a:r>
              <a:rPr lang="en-US" altLang="ko-KR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Framework</a:t>
            </a:r>
            <a:r>
              <a:rPr lang="ko-KR" altLang="en-US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을 정의하여 실행방안을 구체화 하고자 함</a:t>
            </a:r>
            <a:endParaRPr lang="en-US" altLang="ko-KR" sz="15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33940" y="181068"/>
            <a:ext cx="3284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① 노경</a:t>
            </a:r>
            <a:r>
              <a:rPr lang="en-US" altLang="ko-KR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3.0 </a:t>
            </a:r>
            <a:r>
              <a:rPr lang="ko-KR" altLang="en-US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정의</a:t>
            </a: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7435273C-D0DF-B740-3B56-ACFEA4B0F101}"/>
              </a:ext>
            </a:extLst>
          </p:cNvPr>
          <p:cNvGrpSpPr/>
          <p:nvPr/>
        </p:nvGrpSpPr>
        <p:grpSpPr>
          <a:xfrm>
            <a:off x="920477" y="1406078"/>
            <a:ext cx="2710077" cy="416226"/>
            <a:chOff x="981437" y="1390723"/>
            <a:chExt cx="2710077" cy="258443"/>
          </a:xfrm>
        </p:grpSpPr>
        <p:sp>
          <p:nvSpPr>
            <p:cNvPr id="42" name="오각형 23">
              <a:extLst>
                <a:ext uri="{FF2B5EF4-FFF2-40B4-BE49-F238E27FC236}">
                  <a16:creationId xmlns:a16="http://schemas.microsoft.com/office/drawing/2014/main" id="{86820292-3B5F-07FB-274E-118C0A1FF3F0}"/>
                </a:ext>
              </a:extLst>
            </p:cNvPr>
            <p:cNvSpPr/>
            <p:nvPr/>
          </p:nvSpPr>
          <p:spPr>
            <a:xfrm>
              <a:off x="981437" y="1390723"/>
              <a:ext cx="2710077" cy="258443"/>
            </a:xfrm>
            <a:prstGeom prst="homePlate">
              <a:avLst>
                <a:gd name="adj" fmla="val 23045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국내 </a:t>
              </a:r>
              <a:r>
                <a:rPr lang="ko-KR" altLang="en-US" sz="1200" b="1">
                  <a:solidFill>
                    <a:srgbClr val="FF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현장직 집단적 </a:t>
              </a:r>
              <a:br>
                <a:rPr lang="en-US" altLang="ko-KR" sz="1200" b="1">
                  <a:solidFill>
                    <a:srgbClr val="FF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</a:br>
              <a:r>
                <a:rPr lang="ko-KR" altLang="en-US" sz="1200" b="1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노사관계 중심</a:t>
              </a:r>
              <a:endParaRPr lang="ko-KR" altLang="en-US" sz="12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73857FA-EA5B-AAA2-E0C8-17F9BB5D192E}"/>
                </a:ext>
              </a:extLst>
            </p:cNvPr>
            <p:cNvSpPr/>
            <p:nvPr/>
          </p:nvSpPr>
          <p:spPr>
            <a:xfrm>
              <a:off x="983978" y="1392298"/>
              <a:ext cx="378632" cy="136199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/>
              <a:r>
                <a:rPr lang="ko-KR" altLang="en-US" sz="1000" b="1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</a:t>
              </a:r>
              <a:r>
                <a:rPr lang="en-US" altLang="ko-KR" sz="1000" b="1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1.0</a:t>
              </a:r>
              <a:endParaRPr lang="ko-KR" altLang="en-US" sz="10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6B66B8C-0948-8692-9AB6-928599163B26}"/>
              </a:ext>
            </a:extLst>
          </p:cNvPr>
          <p:cNvSpPr/>
          <p:nvPr/>
        </p:nvSpPr>
        <p:spPr>
          <a:xfrm>
            <a:off x="6370782" y="1855438"/>
            <a:ext cx="2971276" cy="117139"/>
          </a:xfrm>
          <a:prstGeom prst="rect">
            <a:avLst/>
          </a:prstGeom>
          <a:pattFill prst="pct50">
            <a:fgClr>
              <a:schemeClr val="bg1">
                <a:lumMod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487D5C9-9C81-F0E6-A219-BF4F9B6CBF08}"/>
              </a:ext>
            </a:extLst>
          </p:cNvPr>
          <p:cNvSpPr/>
          <p:nvPr/>
        </p:nvSpPr>
        <p:spPr>
          <a:xfrm>
            <a:off x="865038" y="1855439"/>
            <a:ext cx="5505744" cy="13041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6651CB71-F5F4-ED3B-FD36-B40D39E84BD9}"/>
              </a:ext>
            </a:extLst>
          </p:cNvPr>
          <p:cNvSpPr/>
          <p:nvPr/>
        </p:nvSpPr>
        <p:spPr>
          <a:xfrm>
            <a:off x="3592438" y="1850636"/>
            <a:ext cx="121955" cy="121955"/>
          </a:xfrm>
          <a:prstGeom prst="ellipse">
            <a:avLst/>
          </a:prstGeom>
          <a:solidFill>
            <a:schemeClr val="bg1"/>
          </a:solidFill>
          <a:ln w="38100">
            <a:solidFill>
              <a:srgbClr val="C303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BF9C1C3-80A4-CF9D-5DD6-3D2DCE5B9597}"/>
              </a:ext>
            </a:extLst>
          </p:cNvPr>
          <p:cNvSpPr/>
          <p:nvPr/>
        </p:nvSpPr>
        <p:spPr>
          <a:xfrm>
            <a:off x="6370782" y="1850636"/>
            <a:ext cx="121955" cy="121955"/>
          </a:xfrm>
          <a:prstGeom prst="ellipse">
            <a:avLst/>
          </a:prstGeom>
          <a:solidFill>
            <a:schemeClr val="bg1"/>
          </a:solidFill>
          <a:ln w="38100">
            <a:solidFill>
              <a:srgbClr val="C303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34" name="이등변 삼각형 33">
            <a:extLst>
              <a:ext uri="{FF2B5EF4-FFF2-40B4-BE49-F238E27FC236}">
                <a16:creationId xmlns:a16="http://schemas.microsoft.com/office/drawing/2014/main" id="{2BE1731F-C12D-30DB-5A5C-969CE5FA8F8B}"/>
              </a:ext>
            </a:extLst>
          </p:cNvPr>
          <p:cNvSpPr/>
          <p:nvPr/>
        </p:nvSpPr>
        <p:spPr>
          <a:xfrm rot="5400000">
            <a:off x="9255243" y="1858355"/>
            <a:ext cx="216024" cy="113883"/>
          </a:xfrm>
          <a:prstGeom prst="triangle">
            <a:avLst/>
          </a:prstGeom>
          <a:pattFill prst="pct50">
            <a:fgClr>
              <a:schemeClr val="bg1">
                <a:lumMod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53ECB76-9E8E-FBC7-F5E4-D1BA1D2439F3}"/>
              </a:ext>
            </a:extLst>
          </p:cNvPr>
          <p:cNvSpPr/>
          <p:nvPr/>
        </p:nvSpPr>
        <p:spPr>
          <a:xfrm>
            <a:off x="3337992" y="2036062"/>
            <a:ext cx="612000" cy="24128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/>
            <a:r>
              <a:rPr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’20.12</a:t>
            </a:r>
            <a:r>
              <a:rPr lang="ko-KR" altLang="en-US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br>
              <a:rPr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분사이전</a:t>
            </a:r>
            <a:r>
              <a:rPr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1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F497DAB-302D-A002-B482-1D7A6CD91A50}"/>
              </a:ext>
            </a:extLst>
          </p:cNvPr>
          <p:cNvSpPr/>
          <p:nvPr/>
        </p:nvSpPr>
        <p:spPr>
          <a:xfrm>
            <a:off x="6125759" y="2028442"/>
            <a:ext cx="612000" cy="24128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/>
            <a:r>
              <a:rPr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’26.3</a:t>
            </a:r>
            <a:r>
              <a:rPr lang="ko-KR" altLang="en-US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br>
              <a:rPr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현재</a:t>
            </a:r>
            <a:r>
              <a:rPr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1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DE6CF93C-2325-6ED3-690A-9F80D35CCDC1}"/>
              </a:ext>
            </a:extLst>
          </p:cNvPr>
          <p:cNvGrpSpPr/>
          <p:nvPr/>
        </p:nvGrpSpPr>
        <p:grpSpPr>
          <a:xfrm>
            <a:off x="3731759" y="1406078"/>
            <a:ext cx="2710077" cy="416226"/>
            <a:chOff x="3724139" y="1371215"/>
            <a:chExt cx="2710077" cy="258443"/>
          </a:xfrm>
        </p:grpSpPr>
        <p:sp>
          <p:nvSpPr>
            <p:cNvPr id="62" name="오각형 23">
              <a:extLst>
                <a:ext uri="{FF2B5EF4-FFF2-40B4-BE49-F238E27FC236}">
                  <a16:creationId xmlns:a16="http://schemas.microsoft.com/office/drawing/2014/main" id="{AAEEBDFB-1FFB-DD10-4417-1CEEE9CFEE7D}"/>
                </a:ext>
              </a:extLst>
            </p:cNvPr>
            <p:cNvSpPr/>
            <p:nvPr/>
          </p:nvSpPr>
          <p:spPr>
            <a:xfrm>
              <a:off x="3724139" y="1371215"/>
              <a:ext cx="2710077" cy="258443"/>
            </a:xfrm>
            <a:prstGeom prst="homePlate">
              <a:avLst>
                <a:gd name="adj" fmla="val 23045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국내 </a:t>
              </a:r>
              <a:r>
                <a:rPr lang="ko-KR" altLang="en-US" sz="1200" b="1">
                  <a:solidFill>
                    <a:srgbClr val="FF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현장</a:t>
              </a:r>
              <a:r>
                <a:rPr lang="en-US" altLang="ko-KR" sz="1200" b="1">
                  <a:solidFill>
                    <a:srgbClr val="FF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/</a:t>
              </a:r>
              <a:r>
                <a:rPr lang="ko-KR" altLang="en-US" sz="1200" b="1">
                  <a:solidFill>
                    <a:srgbClr val="FF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사무 </a:t>
              </a:r>
              <a:br>
                <a:rPr lang="en-US" altLang="ko-KR" sz="1200" b="1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</a:br>
              <a:r>
                <a:rPr lang="ko-KR" altLang="en-US" sz="1200" b="1">
                  <a:solidFill>
                    <a:srgbClr val="FF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집단적</a:t>
              </a:r>
              <a:r>
                <a:rPr lang="ko-KR" altLang="en-US" sz="1200" b="1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 노사관계</a:t>
              </a:r>
              <a:endParaRPr lang="ko-KR" altLang="en-US" sz="12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B5D9EDBB-4C86-F7A1-A4B2-69563020F07D}"/>
                </a:ext>
              </a:extLst>
            </p:cNvPr>
            <p:cNvSpPr/>
            <p:nvPr/>
          </p:nvSpPr>
          <p:spPr>
            <a:xfrm>
              <a:off x="3726680" y="1372790"/>
              <a:ext cx="378632" cy="136199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/>
              <a:r>
                <a:rPr lang="ko-KR" altLang="en-US" sz="1000" b="1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</a:t>
              </a:r>
              <a:r>
                <a:rPr lang="en-US" altLang="ko-KR" sz="1000" b="1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2.0</a:t>
              </a:r>
              <a:endParaRPr lang="ko-KR" altLang="en-US" sz="10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A9737A7D-0747-BC54-E4DE-75702FEFD238}"/>
              </a:ext>
            </a:extLst>
          </p:cNvPr>
          <p:cNvGrpSpPr/>
          <p:nvPr/>
        </p:nvGrpSpPr>
        <p:grpSpPr>
          <a:xfrm>
            <a:off x="6535421" y="1406078"/>
            <a:ext cx="2710077" cy="416226"/>
            <a:chOff x="3724139" y="1371215"/>
            <a:chExt cx="2710077" cy="258443"/>
          </a:xfrm>
        </p:grpSpPr>
        <p:sp>
          <p:nvSpPr>
            <p:cNvPr id="87" name="오각형 23">
              <a:extLst>
                <a:ext uri="{FF2B5EF4-FFF2-40B4-BE49-F238E27FC236}">
                  <a16:creationId xmlns:a16="http://schemas.microsoft.com/office/drawing/2014/main" id="{F608778C-E3F4-A6C4-44C6-28698ED26D9A}"/>
                </a:ext>
              </a:extLst>
            </p:cNvPr>
            <p:cNvSpPr/>
            <p:nvPr/>
          </p:nvSpPr>
          <p:spPr>
            <a:xfrm>
              <a:off x="3724139" y="1371215"/>
              <a:ext cx="2710077" cy="258443"/>
            </a:xfrm>
            <a:prstGeom prst="homePlate">
              <a:avLst>
                <a:gd name="adj" fmla="val 23045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국내 집단</a:t>
              </a:r>
              <a:r>
                <a:rPr lang="en-US" altLang="ko-KR" sz="1200" b="1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/</a:t>
              </a:r>
              <a:r>
                <a:rPr lang="ko-KR" altLang="en-US" sz="1200" b="1">
                  <a:solidFill>
                    <a:srgbClr val="FF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개별</a:t>
              </a:r>
              <a:r>
                <a:rPr lang="ko-KR" altLang="en-US" sz="1200" b="1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 노사관계 </a:t>
              </a:r>
              <a:r>
                <a:rPr lang="en-US" altLang="ko-KR" sz="1200" b="1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+</a:t>
              </a:r>
              <a:br>
                <a:rPr lang="en-US" altLang="ko-KR" sz="1200" b="1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</a:br>
              <a:r>
                <a:rPr lang="en-US" altLang="ko-KR" sz="1200" b="1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 </a:t>
              </a:r>
              <a:r>
                <a:rPr lang="en-US" altLang="ko-KR" sz="1200" b="1">
                  <a:solidFill>
                    <a:srgbClr val="FF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Global </a:t>
              </a:r>
              <a:r>
                <a:rPr lang="ko-KR" altLang="en-US" sz="1200" b="1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노사관계</a:t>
              </a:r>
              <a:endParaRPr lang="ko-KR" altLang="en-US" sz="12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F5ABEFE0-22DE-0142-7CA8-4ECB1C5EAC8D}"/>
                </a:ext>
              </a:extLst>
            </p:cNvPr>
            <p:cNvSpPr/>
            <p:nvPr/>
          </p:nvSpPr>
          <p:spPr>
            <a:xfrm>
              <a:off x="3726680" y="1372790"/>
              <a:ext cx="378632" cy="136199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/>
              <a:r>
                <a:rPr lang="ko-KR" altLang="en-US" sz="1000" b="1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</a:t>
              </a:r>
              <a:r>
                <a:rPr lang="en-US" altLang="ko-KR" sz="1000" b="1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3.0</a:t>
              </a:r>
              <a:endParaRPr lang="ko-KR" altLang="en-US" sz="10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994C09F-5300-7498-3259-8E6FA1E9DA20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+mj-lt"/>
              <a:buAutoNum type="romanUcPeriod" startAt="2"/>
              <a:tabLst>
                <a:tab pos="85725" algn="l"/>
              </a:tabLst>
            </a:pPr>
            <a:r>
              <a:rPr lang="en-US" altLang="ko-KR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 </a:t>
            </a:r>
            <a:r>
              <a:rPr lang="en-US" altLang="ko-KR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3.0 </a:t>
            </a: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정의 및 실행방안 </a:t>
            </a:r>
            <a:endParaRPr lang="en-US" altLang="ko-KR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B9362D-B0BE-BCDB-D26C-E8502B60E497}"/>
              </a:ext>
            </a:extLst>
          </p:cNvPr>
          <p:cNvSpPr/>
          <p:nvPr/>
        </p:nvSpPr>
        <p:spPr bwMode="auto">
          <a:xfrm>
            <a:off x="6680564" y="2621832"/>
            <a:ext cx="2528144" cy="388564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R="0" lvl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200" b="1" i="0" u="none" strike="noStrike" kern="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45A438D-0F89-85C3-BD49-CDA794865DAA}"/>
              </a:ext>
            </a:extLst>
          </p:cNvPr>
          <p:cNvSpPr/>
          <p:nvPr/>
        </p:nvSpPr>
        <p:spPr>
          <a:xfrm>
            <a:off x="3700788" y="2606038"/>
            <a:ext cx="2702377" cy="390144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lIns="36000" tIns="36000" rIns="0" bIns="36000" anchor="ctr">
            <a:noAutofit/>
          </a:bodyPr>
          <a:lstStyle/>
          <a:p>
            <a:endParaRPr lang="en-US" altLang="ko-KR" sz="1050" b="1" spc="-9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AF466E0-C2E2-B53A-F473-8E4663628024}"/>
              </a:ext>
            </a:extLst>
          </p:cNvPr>
          <p:cNvSpPr/>
          <p:nvPr/>
        </p:nvSpPr>
        <p:spPr>
          <a:xfrm>
            <a:off x="865038" y="2606038"/>
            <a:ext cx="2702377" cy="3901442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wrap="square" lIns="36000" tIns="36000" rIns="0" bIns="36000" anchor="ctr">
            <a:noAutofit/>
          </a:bodyPr>
          <a:lstStyle/>
          <a:p>
            <a:endParaRPr lang="en-US" altLang="ko-KR" sz="1050" b="1" spc="-9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5B4C219-3E50-C423-A2BB-5150E25F13B1}"/>
              </a:ext>
            </a:extLst>
          </p:cNvPr>
          <p:cNvSpPr/>
          <p:nvPr/>
        </p:nvSpPr>
        <p:spPr>
          <a:xfrm>
            <a:off x="1936187" y="2479066"/>
            <a:ext cx="631904" cy="2923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Frame</a:t>
            </a:r>
            <a:r>
              <a:rPr lang="ko-KR" altLang="en-US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lang="en-US" altLang="ko-KR" sz="13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46454B0-A276-8692-58D2-C6A9EC8C2C9B}"/>
              </a:ext>
            </a:extLst>
          </p:cNvPr>
          <p:cNvSpPr/>
          <p:nvPr/>
        </p:nvSpPr>
        <p:spPr>
          <a:xfrm>
            <a:off x="4776633" y="2479066"/>
            <a:ext cx="593432" cy="2923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Frame</a:t>
            </a:r>
            <a:endParaRPr lang="en-US" altLang="ko-KR" sz="13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26C57C8-0878-FEF3-59A1-8680BC857E71}"/>
              </a:ext>
            </a:extLst>
          </p:cNvPr>
          <p:cNvSpPr/>
          <p:nvPr/>
        </p:nvSpPr>
        <p:spPr>
          <a:xfrm>
            <a:off x="7439141" y="2469541"/>
            <a:ext cx="1112805" cy="292388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ko-KR" altLang="en-US" sz="13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</a:t>
            </a:r>
            <a:r>
              <a:rPr lang="en-US" altLang="ko-KR" sz="13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3.0 Frame</a:t>
            </a:r>
            <a:endParaRPr lang="en-US" altLang="ko-KR" sz="13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09EA95-67BB-5A19-BE73-8A57E6A1015B}"/>
              </a:ext>
            </a:extLst>
          </p:cNvPr>
          <p:cNvSpPr txBox="1"/>
          <p:nvPr/>
        </p:nvSpPr>
        <p:spPr>
          <a:xfrm>
            <a:off x="865038" y="5464717"/>
            <a:ext cx="2772485" cy="95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488" marR="0" lvl="0" indent="-90488" defTabSz="914400" rtl="0" eaLnBrk="1" fontAlgn="auto" latinLnBrk="1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2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사 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1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노 출범</a:t>
            </a:r>
            <a:br>
              <a:rPr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</a:b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- </a:t>
            </a: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가공노조 규약변경 찬반투표 가결</a:t>
            </a:r>
            <a:r>
              <a:rPr kumimoji="0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(87.2%)</a:t>
            </a:r>
            <a:b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</a:b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- </a:t>
            </a: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화학</a:t>
            </a: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-</a:t>
            </a: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엔솔 공동교섭</a:t>
            </a:r>
            <a:b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</a:b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  (</a:t>
            </a: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임금인상률 및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단체협약안 동일</a:t>
            </a: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)</a:t>
            </a:r>
            <a:endParaRPr kumimoji="0" lang="en-US" altLang="ko-KR" sz="12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+mn-cs"/>
            </a:endParaRPr>
          </a:p>
        </p:txBody>
      </p:sp>
      <p:sp>
        <p:nvSpPr>
          <p:cNvPr id="40" name="모서리가 둥근 직사각형 2">
            <a:extLst>
              <a:ext uri="{FF2B5EF4-FFF2-40B4-BE49-F238E27FC236}">
                <a16:creationId xmlns:a16="http://schemas.microsoft.com/office/drawing/2014/main" id="{BC9404AC-6C21-8CE4-0DC3-116BA6A32FB2}"/>
              </a:ext>
            </a:extLst>
          </p:cNvPr>
          <p:cNvSpPr/>
          <p:nvPr/>
        </p:nvSpPr>
        <p:spPr>
          <a:xfrm>
            <a:off x="7712497" y="3578542"/>
            <a:ext cx="1171450" cy="43603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2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현장노조</a:t>
            </a:r>
            <a:endParaRPr lang="en-US" altLang="ko-KR" sz="12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1" name="모서리가 둥근 직사각형 3">
            <a:extLst>
              <a:ext uri="{FF2B5EF4-FFF2-40B4-BE49-F238E27FC236}">
                <a16:creationId xmlns:a16="http://schemas.microsoft.com/office/drawing/2014/main" id="{01248FD3-E6B7-342F-FECA-971C9DFAF427}"/>
              </a:ext>
            </a:extLst>
          </p:cNvPr>
          <p:cNvSpPr/>
          <p:nvPr/>
        </p:nvSpPr>
        <p:spPr>
          <a:xfrm>
            <a:off x="7712497" y="4059356"/>
            <a:ext cx="1171450" cy="43603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2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사무노조</a:t>
            </a:r>
            <a:endParaRPr lang="en-US" altLang="ko-KR" sz="12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3" name="모서리가 둥근 직사각형 4">
            <a:extLst>
              <a:ext uri="{FF2B5EF4-FFF2-40B4-BE49-F238E27FC236}">
                <a16:creationId xmlns:a16="http://schemas.microsoft.com/office/drawing/2014/main" id="{6554CA48-CCBD-5ACF-F30B-8F5A83532269}"/>
              </a:ext>
            </a:extLst>
          </p:cNvPr>
          <p:cNvSpPr/>
          <p:nvPr/>
        </p:nvSpPr>
        <p:spPr>
          <a:xfrm>
            <a:off x="7712497" y="4714044"/>
            <a:ext cx="1171450" cy="43603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2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사무직 노경관리</a:t>
            </a:r>
            <a:endParaRPr lang="en-US" altLang="ko-KR" sz="12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4" name="모서리가 둥근 직사각형 5">
            <a:extLst>
              <a:ext uri="{FF2B5EF4-FFF2-40B4-BE49-F238E27FC236}">
                <a16:creationId xmlns:a16="http://schemas.microsoft.com/office/drawing/2014/main" id="{9CD84506-74E3-3707-2AC6-28ED2A677BE1}"/>
              </a:ext>
            </a:extLst>
          </p:cNvPr>
          <p:cNvSpPr/>
          <p:nvPr/>
        </p:nvSpPr>
        <p:spPr>
          <a:xfrm>
            <a:off x="7712497" y="5194858"/>
            <a:ext cx="1171450" cy="43603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2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현장직 인력운영</a:t>
            </a:r>
            <a:r>
              <a:rPr lang="en-US" altLang="ko-KR" sz="12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br>
              <a:rPr lang="en-US" altLang="ko-KR" sz="12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미래준비</a:t>
            </a:r>
            <a:endParaRPr lang="en-US" altLang="ko-KR" sz="12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5" name="모서리가 둥근 직사각형 6">
            <a:extLst>
              <a:ext uri="{FF2B5EF4-FFF2-40B4-BE49-F238E27FC236}">
                <a16:creationId xmlns:a16="http://schemas.microsoft.com/office/drawing/2014/main" id="{9A4EC628-ABFE-7DE9-DBC3-C0FFDE0B228C}"/>
              </a:ext>
            </a:extLst>
          </p:cNvPr>
          <p:cNvSpPr/>
          <p:nvPr/>
        </p:nvSpPr>
        <p:spPr>
          <a:xfrm>
            <a:off x="7709750" y="5823983"/>
            <a:ext cx="1171450" cy="43603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 </a:t>
            </a:r>
            <a:r>
              <a:rPr lang="ko-KR" altLang="en-US" sz="12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</a:t>
            </a:r>
            <a:endParaRPr lang="en-US" altLang="ko-KR" sz="12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0A9B0E1-8A16-1542-CF46-364E939311C5}"/>
              </a:ext>
            </a:extLst>
          </p:cNvPr>
          <p:cNvSpPr/>
          <p:nvPr/>
        </p:nvSpPr>
        <p:spPr>
          <a:xfrm>
            <a:off x="6750253" y="3930680"/>
            <a:ext cx="512908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050" b="1" i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집단적 </a:t>
            </a:r>
            <a:br>
              <a:rPr lang="en-US" altLang="ko-KR" sz="1050" b="1" i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050" b="1" i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노사관계</a:t>
            </a:r>
            <a:endParaRPr lang="en-US" altLang="ko-KR" sz="1050" b="1" i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D579508-BDD3-718E-100A-CE38B4E03759}"/>
              </a:ext>
            </a:extLst>
          </p:cNvPr>
          <p:cNvSpPr/>
          <p:nvPr/>
        </p:nvSpPr>
        <p:spPr>
          <a:xfrm>
            <a:off x="6782261" y="5828207"/>
            <a:ext cx="640174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050" b="1" i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</a:t>
            </a:r>
            <a:br>
              <a:rPr lang="en-US" altLang="ko-KR" sz="1050" b="1" i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050" b="1" i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노경관리</a:t>
            </a:r>
            <a:endParaRPr lang="en-US" altLang="ko-KR" sz="1050" b="1" i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4DFCA17-A821-B598-F944-4F4A325EE034}"/>
              </a:ext>
            </a:extLst>
          </p:cNvPr>
          <p:cNvSpPr/>
          <p:nvPr/>
        </p:nvSpPr>
        <p:spPr>
          <a:xfrm>
            <a:off x="6750253" y="5105659"/>
            <a:ext cx="61076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050" b="1" i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개별적</a:t>
            </a:r>
            <a:br>
              <a:rPr lang="en-US" altLang="ko-KR" sz="1050" b="1" i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050" b="1" i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노경관리</a:t>
            </a:r>
            <a:endParaRPr lang="en-US" altLang="ko-KR" sz="1050" b="1" i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3" name="오른쪽 중괄호 52">
            <a:extLst>
              <a:ext uri="{FF2B5EF4-FFF2-40B4-BE49-F238E27FC236}">
                <a16:creationId xmlns:a16="http://schemas.microsoft.com/office/drawing/2014/main" id="{2F7C4DEB-D853-38AC-6CFE-834296E9CA6E}"/>
              </a:ext>
            </a:extLst>
          </p:cNvPr>
          <p:cNvSpPr/>
          <p:nvPr/>
        </p:nvSpPr>
        <p:spPr>
          <a:xfrm flipH="1">
            <a:off x="7276357" y="4936733"/>
            <a:ext cx="377568" cy="625950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오른쪽 중괄호 55">
            <a:extLst>
              <a:ext uri="{FF2B5EF4-FFF2-40B4-BE49-F238E27FC236}">
                <a16:creationId xmlns:a16="http://schemas.microsoft.com/office/drawing/2014/main" id="{D3BC7730-FB31-5151-FE73-6919057AFD88}"/>
              </a:ext>
            </a:extLst>
          </p:cNvPr>
          <p:cNvSpPr/>
          <p:nvPr/>
        </p:nvSpPr>
        <p:spPr>
          <a:xfrm flipH="1">
            <a:off x="7292708" y="3732530"/>
            <a:ext cx="377568" cy="625950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C4FF4F2A-BDF7-23DD-AF42-7DB8C7798C26}"/>
              </a:ext>
            </a:extLst>
          </p:cNvPr>
          <p:cNvCxnSpPr/>
          <p:nvPr/>
        </p:nvCxnSpPr>
        <p:spPr>
          <a:xfrm>
            <a:off x="7315334" y="5984237"/>
            <a:ext cx="3549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FB07884-4F40-9624-4029-ADE87F7F14C1}"/>
              </a:ext>
            </a:extLst>
          </p:cNvPr>
          <p:cNvSpPr txBox="1"/>
          <p:nvPr/>
        </p:nvSpPr>
        <p:spPr>
          <a:xfrm>
            <a:off x="3790575" y="4143919"/>
            <a:ext cx="2772485" cy="2184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488" marR="0" lvl="0" indent="-90488" defTabSz="914400" rtl="0" eaLnBrk="1" fontAlgn="auto" latinLnBrk="1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사무직 노조 신설</a:t>
            </a:r>
            <a:b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</a:b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- ’22.2</a:t>
            </a: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월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설립총회 개최</a:t>
            </a:r>
            <a:b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</a:b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- ’22.6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월 교섭단위분리신청</a:t>
            </a: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(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기각</a:t>
            </a: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)</a:t>
            </a:r>
          </a:p>
          <a:p>
            <a:pPr marL="90488" indent="-90488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성과급 트럭시위</a:t>
            </a:r>
            <a:b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</a:b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- ’24.2</a:t>
            </a: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월</a:t>
            </a: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~3</a:t>
            </a: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월 성과급 항의 트럭시위 발생 </a:t>
            </a:r>
          </a:p>
          <a:p>
            <a:pPr marL="90488" marR="0" lvl="0" indent="-90488" defTabSz="914400" rtl="0" eaLnBrk="1" fontAlgn="auto" latinLnBrk="1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엔솔 독자교섭 실시</a:t>
            </a:r>
            <a:b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</a:b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- </a:t>
            </a: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조합원 총회 부결</a:t>
            </a: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(’24.6</a:t>
            </a: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월</a:t>
            </a: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)</a:t>
            </a:r>
            <a:b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</a:b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- </a:t>
            </a: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대의원대회 독자교섭 결정</a:t>
            </a: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(’24.10</a:t>
            </a: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월</a:t>
            </a: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)</a:t>
            </a:r>
          </a:p>
          <a:p>
            <a:pPr marL="90488" marR="0" lvl="0" indent="-90488" defTabSz="914400" rtl="0" eaLnBrk="1" fontAlgn="auto" latinLnBrk="1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 UC 1</a:t>
            </a:r>
            <a:r>
              <a:rPr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기</a:t>
            </a:r>
            <a:r>
              <a:rPr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(JV)</a:t>
            </a:r>
            <a:r>
              <a:rPr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 </a:t>
            </a:r>
            <a:r>
              <a:rPr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UAW </a:t>
            </a:r>
            <a:r>
              <a:rPr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조직화</a:t>
            </a:r>
            <a:endParaRPr kumimoji="0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+mn-cs"/>
            </a:endParaRPr>
          </a:p>
        </p:txBody>
      </p:sp>
      <p:sp>
        <p:nvSpPr>
          <p:cNvPr id="61" name="모서리가 둥근 직사각형 2">
            <a:extLst>
              <a:ext uri="{FF2B5EF4-FFF2-40B4-BE49-F238E27FC236}">
                <a16:creationId xmlns:a16="http://schemas.microsoft.com/office/drawing/2014/main" id="{B2B21B6B-99E4-F70D-A06F-B2389A32E435}"/>
              </a:ext>
            </a:extLst>
          </p:cNvPr>
          <p:cNvSpPr/>
          <p:nvPr/>
        </p:nvSpPr>
        <p:spPr>
          <a:xfrm>
            <a:off x="1866233" y="5519051"/>
            <a:ext cx="339327" cy="2034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현장노조</a:t>
            </a:r>
            <a:endParaRPr lang="en-US" altLang="ko-KR" sz="7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6" name="모서리가 둥근 직사각형 2">
            <a:extLst>
              <a:ext uri="{FF2B5EF4-FFF2-40B4-BE49-F238E27FC236}">
                <a16:creationId xmlns:a16="http://schemas.microsoft.com/office/drawing/2014/main" id="{D42C5ABD-86C8-07AA-5878-C19D3D9F55E5}"/>
              </a:ext>
            </a:extLst>
          </p:cNvPr>
          <p:cNvSpPr/>
          <p:nvPr/>
        </p:nvSpPr>
        <p:spPr>
          <a:xfrm>
            <a:off x="5074920" y="4198614"/>
            <a:ext cx="339327" cy="2034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사무노조</a:t>
            </a:r>
            <a:endParaRPr lang="en-US" altLang="ko-KR" sz="7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8" name="모서리가 둥근 직사각형 2">
            <a:extLst>
              <a:ext uri="{FF2B5EF4-FFF2-40B4-BE49-F238E27FC236}">
                <a16:creationId xmlns:a16="http://schemas.microsoft.com/office/drawing/2014/main" id="{1124FA1D-DF74-E109-5FC6-B073914F5A20}"/>
              </a:ext>
            </a:extLst>
          </p:cNvPr>
          <p:cNvSpPr/>
          <p:nvPr/>
        </p:nvSpPr>
        <p:spPr>
          <a:xfrm>
            <a:off x="5488423" y="6067709"/>
            <a:ext cx="339327" cy="2034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7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</a:t>
            </a:r>
            <a:br>
              <a:rPr lang="en-US" altLang="ko-KR" sz="7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7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</a:t>
            </a:r>
            <a:endParaRPr lang="en-US" altLang="ko-KR" sz="7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8D6E0E6-2AAE-55B0-AED3-85F68EF68A9D}"/>
              </a:ext>
            </a:extLst>
          </p:cNvPr>
          <p:cNvSpPr/>
          <p:nvPr/>
        </p:nvSpPr>
        <p:spPr>
          <a:xfrm>
            <a:off x="1141765" y="2944589"/>
            <a:ext cx="512908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050" b="1" i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집단적 </a:t>
            </a:r>
            <a:br>
              <a:rPr lang="en-US" altLang="ko-KR" sz="1050" b="1" i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050" b="1" i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노사관계</a:t>
            </a:r>
            <a:endParaRPr lang="en-US" altLang="ko-KR" sz="1050" b="1" i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039C08-B6AB-606E-8BFB-4F164FEDCE70}"/>
              </a:ext>
            </a:extLst>
          </p:cNvPr>
          <p:cNvSpPr/>
          <p:nvPr/>
        </p:nvSpPr>
        <p:spPr>
          <a:xfrm>
            <a:off x="1110848" y="3386469"/>
            <a:ext cx="555236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050" b="1" i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개별적</a:t>
            </a:r>
            <a:br>
              <a:rPr lang="en-US" altLang="ko-KR" sz="1050" b="1" i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050" b="1" i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노경관리</a:t>
            </a:r>
            <a:endParaRPr lang="en-US" altLang="ko-KR" sz="1050" b="1" i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2500D9A3-D753-1CFD-7B9C-1781F2BA6169}"/>
              </a:ext>
            </a:extLst>
          </p:cNvPr>
          <p:cNvSpPr/>
          <p:nvPr/>
        </p:nvSpPr>
        <p:spPr>
          <a:xfrm>
            <a:off x="4996592" y="2874763"/>
            <a:ext cx="1064955" cy="297818"/>
          </a:xfrm>
          <a:prstGeom prst="round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현장노조</a:t>
            </a:r>
            <a:endParaRPr lang="en-US" altLang="ko-KR" sz="120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모서리가 둥근 직사각형 5">
            <a:extLst>
              <a:ext uri="{FF2B5EF4-FFF2-40B4-BE49-F238E27FC236}">
                <a16:creationId xmlns:a16="http://schemas.microsoft.com/office/drawing/2014/main" id="{7C3D060C-719E-6CDD-6422-0D9D35BC180E}"/>
              </a:ext>
            </a:extLst>
          </p:cNvPr>
          <p:cNvSpPr/>
          <p:nvPr/>
        </p:nvSpPr>
        <p:spPr>
          <a:xfrm>
            <a:off x="4996591" y="3238013"/>
            <a:ext cx="1064955" cy="297818"/>
          </a:xfrm>
          <a:prstGeom prst="round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사무노조</a:t>
            </a:r>
            <a:endParaRPr lang="en-US" altLang="ko-KR" sz="120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2A23843-E341-AF48-DB8C-E373DECF432E}"/>
              </a:ext>
            </a:extLst>
          </p:cNvPr>
          <p:cNvSpPr/>
          <p:nvPr/>
        </p:nvSpPr>
        <p:spPr>
          <a:xfrm>
            <a:off x="4103666" y="3081748"/>
            <a:ext cx="512908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050" b="1" i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집단적 </a:t>
            </a:r>
            <a:br>
              <a:rPr lang="en-US" altLang="ko-KR" sz="1050" b="1" i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050" b="1" i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노사관계</a:t>
            </a:r>
            <a:endParaRPr lang="en-US" altLang="ko-KR" sz="1050" b="1" i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오른쪽 중괄호 17">
            <a:extLst>
              <a:ext uri="{FF2B5EF4-FFF2-40B4-BE49-F238E27FC236}">
                <a16:creationId xmlns:a16="http://schemas.microsoft.com/office/drawing/2014/main" id="{4F05EAB5-B1DA-659A-76BC-D601A0FDBAEE}"/>
              </a:ext>
            </a:extLst>
          </p:cNvPr>
          <p:cNvSpPr/>
          <p:nvPr/>
        </p:nvSpPr>
        <p:spPr>
          <a:xfrm flipH="1">
            <a:off x="4637103" y="2983788"/>
            <a:ext cx="377568" cy="421126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모서리가 둥근 직사각형 5">
            <a:extLst>
              <a:ext uri="{FF2B5EF4-FFF2-40B4-BE49-F238E27FC236}">
                <a16:creationId xmlns:a16="http://schemas.microsoft.com/office/drawing/2014/main" id="{FC468CFD-9BB0-E04B-C605-E589B525AE70}"/>
              </a:ext>
            </a:extLst>
          </p:cNvPr>
          <p:cNvSpPr/>
          <p:nvPr/>
        </p:nvSpPr>
        <p:spPr>
          <a:xfrm>
            <a:off x="5003433" y="3595386"/>
            <a:ext cx="1064955" cy="297818"/>
          </a:xfrm>
          <a:prstGeom prst="round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05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현장직 인사제도</a:t>
            </a:r>
            <a:br>
              <a:rPr lang="en-US" altLang="ko-KR" sz="105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05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</a:t>
            </a:r>
            <a:endParaRPr lang="en-US" altLang="ko-KR" sz="105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모서리가 둥근 직사각형 2">
            <a:extLst>
              <a:ext uri="{FF2B5EF4-FFF2-40B4-BE49-F238E27FC236}">
                <a16:creationId xmlns:a16="http://schemas.microsoft.com/office/drawing/2014/main" id="{BFB4179A-A47D-334D-3B61-771DA66B90AC}"/>
              </a:ext>
            </a:extLst>
          </p:cNvPr>
          <p:cNvSpPr/>
          <p:nvPr/>
        </p:nvSpPr>
        <p:spPr>
          <a:xfrm>
            <a:off x="1987931" y="2906224"/>
            <a:ext cx="1064955" cy="297818"/>
          </a:xfrm>
          <a:prstGeom prst="round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현장노조</a:t>
            </a:r>
            <a:endParaRPr lang="en-US" altLang="ko-KR" sz="120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" name="모서리가 둥근 직사각형 5">
            <a:extLst>
              <a:ext uri="{FF2B5EF4-FFF2-40B4-BE49-F238E27FC236}">
                <a16:creationId xmlns:a16="http://schemas.microsoft.com/office/drawing/2014/main" id="{55B4C6DD-2844-9E35-F928-94478684C60B}"/>
              </a:ext>
            </a:extLst>
          </p:cNvPr>
          <p:cNvSpPr/>
          <p:nvPr/>
        </p:nvSpPr>
        <p:spPr>
          <a:xfrm>
            <a:off x="1987282" y="3382026"/>
            <a:ext cx="1064955" cy="297818"/>
          </a:xfrm>
          <a:prstGeom prst="round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05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현장직 인사제도</a:t>
            </a:r>
            <a:br>
              <a:rPr lang="en-US" altLang="ko-KR" sz="105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05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</a:t>
            </a:r>
            <a:endParaRPr lang="en-US" altLang="ko-KR" sz="105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1FBFEED-DF74-6372-B22E-C75EAAD59345}"/>
              </a:ext>
            </a:extLst>
          </p:cNvPr>
          <p:cNvSpPr/>
          <p:nvPr/>
        </p:nvSpPr>
        <p:spPr>
          <a:xfrm>
            <a:off x="4056451" y="3570716"/>
            <a:ext cx="61076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050" b="1" i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개별적</a:t>
            </a:r>
            <a:br>
              <a:rPr lang="en-US" altLang="ko-KR" sz="1050" b="1" i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050" b="1" i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노경관리</a:t>
            </a:r>
            <a:endParaRPr lang="en-US" altLang="ko-KR" sz="1050" b="1" i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199B74B1-A6C0-7A12-7D58-36635DB8760D}"/>
              </a:ext>
            </a:extLst>
          </p:cNvPr>
          <p:cNvCxnSpPr/>
          <p:nvPr/>
        </p:nvCxnSpPr>
        <p:spPr>
          <a:xfrm>
            <a:off x="4648491" y="3743582"/>
            <a:ext cx="3549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54D1F777-6282-A510-D34B-0C083203CBF1}"/>
              </a:ext>
            </a:extLst>
          </p:cNvPr>
          <p:cNvCxnSpPr/>
          <p:nvPr/>
        </p:nvCxnSpPr>
        <p:spPr>
          <a:xfrm>
            <a:off x="1640506" y="3530222"/>
            <a:ext cx="3549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모서리가 둥근 직사각형 2">
            <a:extLst>
              <a:ext uri="{FF2B5EF4-FFF2-40B4-BE49-F238E27FC236}">
                <a16:creationId xmlns:a16="http://schemas.microsoft.com/office/drawing/2014/main" id="{A57B8D02-66BD-C901-1845-654280A6614F}"/>
              </a:ext>
            </a:extLst>
          </p:cNvPr>
          <p:cNvSpPr/>
          <p:nvPr/>
        </p:nvSpPr>
        <p:spPr>
          <a:xfrm>
            <a:off x="5034691" y="4867675"/>
            <a:ext cx="339327" cy="2034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사무노조</a:t>
            </a:r>
            <a:endParaRPr lang="en-US" altLang="ko-KR" sz="7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7" name="모서리가 둥근 직사각형 2">
            <a:extLst>
              <a:ext uri="{FF2B5EF4-FFF2-40B4-BE49-F238E27FC236}">
                <a16:creationId xmlns:a16="http://schemas.microsoft.com/office/drawing/2014/main" id="{C18A3F5A-5E0E-89D3-E3D9-C54CF3FDC1B8}"/>
              </a:ext>
            </a:extLst>
          </p:cNvPr>
          <p:cNvSpPr/>
          <p:nvPr/>
        </p:nvSpPr>
        <p:spPr>
          <a:xfrm>
            <a:off x="5222280" y="5378250"/>
            <a:ext cx="339327" cy="2034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현장노조</a:t>
            </a:r>
            <a:endParaRPr lang="en-US" altLang="ko-KR" sz="7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51DC15F9-FA2A-E3BF-D3BC-E36A05AC4B51}"/>
              </a:ext>
            </a:extLst>
          </p:cNvPr>
          <p:cNvCxnSpPr/>
          <p:nvPr/>
        </p:nvCxnSpPr>
        <p:spPr>
          <a:xfrm>
            <a:off x="1632989" y="3085474"/>
            <a:ext cx="35494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24EB600-E496-940F-3C9F-DCCCEE493C2F}"/>
              </a:ext>
            </a:extLst>
          </p:cNvPr>
          <p:cNvSpPr/>
          <p:nvPr/>
        </p:nvSpPr>
        <p:spPr>
          <a:xfrm>
            <a:off x="6794765" y="2779439"/>
            <a:ext cx="2330017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“</a:t>
            </a:r>
            <a:r>
              <a:rPr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 </a:t>
            </a:r>
            <a:r>
              <a:rPr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Fundamental</a:t>
            </a:r>
            <a:r>
              <a:rPr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강화를 기본으로</a:t>
            </a:r>
            <a:br>
              <a:rPr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확대된 </a:t>
            </a:r>
            <a:r>
              <a:rPr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Frame</a:t>
            </a:r>
            <a:r>
              <a:rPr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별 전략방향 도출 및 </a:t>
            </a:r>
            <a:br>
              <a:rPr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추진과제 실행</a:t>
            </a:r>
            <a:r>
              <a:rPr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”</a:t>
            </a:r>
            <a:endParaRPr lang="en-US" altLang="ko-KR" sz="12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14649C-8214-DB8C-631F-664D1E35537A}"/>
              </a:ext>
            </a:extLst>
          </p:cNvPr>
          <p:cNvSpPr txBox="1"/>
          <p:nvPr/>
        </p:nvSpPr>
        <p:spPr>
          <a:xfrm>
            <a:off x="895082" y="4145364"/>
            <a:ext cx="2772485" cy="1183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488" marR="0" lvl="0" indent="-90488" defTabSz="914400" rtl="0" eaLnBrk="1" fontAlgn="auto" latinLnBrk="1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 LG</a:t>
            </a:r>
            <a:r>
              <a:rPr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화학 </a:t>
            </a:r>
            <a:r>
              <a:rPr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1</a:t>
            </a:r>
            <a:r>
              <a:rPr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사 </a:t>
            </a:r>
            <a:r>
              <a:rPr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5</a:t>
            </a:r>
            <a:r>
              <a:rPr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노조 체제</a:t>
            </a:r>
            <a:b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</a:b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- </a:t>
            </a: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석유화학 </a:t>
            </a: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: </a:t>
            </a: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여수노조 </a:t>
            </a: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/ </a:t>
            </a: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대산노조 </a:t>
            </a:r>
            <a:b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</a:b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- </a:t>
            </a: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전지</a:t>
            </a: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·</a:t>
            </a: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첨단소재 </a:t>
            </a:r>
            <a:r>
              <a:rPr kumimoji="0" lang="en-US" altLang="ko-KR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: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오창청주</a:t>
            </a: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(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가공</a:t>
            </a: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)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 노조</a:t>
            </a:r>
            <a:b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</a:b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-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생명과학 </a:t>
            </a: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: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익산지회 </a:t>
            </a:r>
            <a: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/ </a:t>
            </a:r>
            <a:r>
              <a:rPr lang="ko-KR" altLang="en-US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온산노조</a:t>
            </a:r>
            <a:br>
              <a:rPr lang="en-US" altLang="ko-KR" sz="12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</a:br>
            <a:r>
              <a:rPr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→ </a:t>
            </a:r>
            <a:r>
              <a:rPr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’16</a:t>
            </a:r>
            <a:r>
              <a:rPr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년 이후 임단협 평균 </a:t>
            </a:r>
            <a:r>
              <a:rPr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5</a:t>
            </a:r>
            <a:r>
              <a:rPr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개월 이상 소요</a:t>
            </a:r>
            <a:endParaRPr kumimoji="0" lang="en-US" altLang="ko-KR" sz="12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+mn-cs"/>
            </a:endParaRPr>
          </a:p>
        </p:txBody>
      </p:sp>
      <p:sp>
        <p:nvSpPr>
          <p:cNvPr id="58" name="모서리가 둥근 직사각형 2">
            <a:extLst>
              <a:ext uri="{FF2B5EF4-FFF2-40B4-BE49-F238E27FC236}">
                <a16:creationId xmlns:a16="http://schemas.microsoft.com/office/drawing/2014/main" id="{C7CCACF9-2847-C6E9-16BE-A2CC08E706DA}"/>
              </a:ext>
            </a:extLst>
          </p:cNvPr>
          <p:cNvSpPr/>
          <p:nvPr/>
        </p:nvSpPr>
        <p:spPr>
          <a:xfrm>
            <a:off x="2519759" y="4209073"/>
            <a:ext cx="339327" cy="2034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현장노조</a:t>
            </a:r>
            <a:endParaRPr lang="en-US" altLang="ko-KR" sz="7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9" name="모서리가 둥근 직사각형 2">
            <a:extLst>
              <a:ext uri="{FF2B5EF4-FFF2-40B4-BE49-F238E27FC236}">
                <a16:creationId xmlns:a16="http://schemas.microsoft.com/office/drawing/2014/main" id="{3C9588C2-22E8-0D92-633A-0F6BBB4BEF08}"/>
              </a:ext>
            </a:extLst>
          </p:cNvPr>
          <p:cNvSpPr/>
          <p:nvPr/>
        </p:nvSpPr>
        <p:spPr>
          <a:xfrm>
            <a:off x="7679769" y="3587776"/>
            <a:ext cx="1171450" cy="43603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2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현장노조</a:t>
            </a:r>
            <a:endParaRPr lang="en-US" altLang="ko-KR" sz="12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1" name="모서리가 둥근 직사각형 3">
            <a:extLst>
              <a:ext uri="{FF2B5EF4-FFF2-40B4-BE49-F238E27FC236}">
                <a16:creationId xmlns:a16="http://schemas.microsoft.com/office/drawing/2014/main" id="{04333BA8-3458-D9B2-831C-D698C2B94B25}"/>
              </a:ext>
            </a:extLst>
          </p:cNvPr>
          <p:cNvSpPr/>
          <p:nvPr/>
        </p:nvSpPr>
        <p:spPr>
          <a:xfrm>
            <a:off x="7679769" y="4068590"/>
            <a:ext cx="1171450" cy="43603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2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사무노조</a:t>
            </a:r>
            <a:endParaRPr lang="en-US" altLang="ko-KR" sz="12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2" name="모서리가 둥근 직사각형 4">
            <a:extLst>
              <a:ext uri="{FF2B5EF4-FFF2-40B4-BE49-F238E27FC236}">
                <a16:creationId xmlns:a16="http://schemas.microsoft.com/office/drawing/2014/main" id="{88162B32-1D6C-47C7-AD0A-850D8104E111}"/>
              </a:ext>
            </a:extLst>
          </p:cNvPr>
          <p:cNvSpPr/>
          <p:nvPr/>
        </p:nvSpPr>
        <p:spPr>
          <a:xfrm>
            <a:off x="7679769" y="4723278"/>
            <a:ext cx="1171450" cy="43603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2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사무직 노경관리</a:t>
            </a:r>
            <a:endParaRPr lang="en-US" altLang="ko-KR" sz="12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3" name="모서리가 둥근 직사각형 5">
            <a:extLst>
              <a:ext uri="{FF2B5EF4-FFF2-40B4-BE49-F238E27FC236}">
                <a16:creationId xmlns:a16="http://schemas.microsoft.com/office/drawing/2014/main" id="{07495F2B-8893-9E2B-D857-8D54D3218584}"/>
              </a:ext>
            </a:extLst>
          </p:cNvPr>
          <p:cNvSpPr/>
          <p:nvPr/>
        </p:nvSpPr>
        <p:spPr>
          <a:xfrm>
            <a:off x="7679769" y="5204092"/>
            <a:ext cx="1171450" cy="43603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2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현장직 인력운영</a:t>
            </a:r>
            <a:endParaRPr lang="en-US" altLang="ko-KR" sz="12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820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8D1E47A-5B8A-8111-B861-8CCBF37DBE39}"/>
              </a:ext>
            </a:extLst>
          </p:cNvPr>
          <p:cNvCxnSpPr>
            <a:cxnSpLocks/>
          </p:cNvCxnSpPr>
          <p:nvPr/>
        </p:nvCxnSpPr>
        <p:spPr>
          <a:xfrm>
            <a:off x="4894433" y="3961080"/>
            <a:ext cx="4840271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83E64B9-61CE-AED6-AAE0-9088FA2FD548}"/>
              </a:ext>
            </a:extLst>
          </p:cNvPr>
          <p:cNvCxnSpPr>
            <a:cxnSpLocks/>
          </p:cNvCxnSpPr>
          <p:nvPr/>
        </p:nvCxnSpPr>
        <p:spPr>
          <a:xfrm flipV="1">
            <a:off x="7329805" y="2115812"/>
            <a:ext cx="0" cy="4156862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D9AF94B-E12E-A72B-218E-DF070FD6ECD1}"/>
              </a:ext>
            </a:extLst>
          </p:cNvPr>
          <p:cNvSpPr txBox="1"/>
          <p:nvPr/>
        </p:nvSpPr>
        <p:spPr>
          <a:xfrm>
            <a:off x="5903711" y="10080978"/>
            <a:ext cx="559532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SWOT</a:t>
            </a:r>
            <a:endParaRPr lang="en-US" altLang="ko-KR" sz="12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D848F8F-DCAB-8171-4B51-1ACF86139C22}"/>
              </a:ext>
            </a:extLst>
          </p:cNvPr>
          <p:cNvGrpSpPr/>
          <p:nvPr/>
        </p:nvGrpSpPr>
        <p:grpSpPr>
          <a:xfrm>
            <a:off x="5754524" y="1231028"/>
            <a:ext cx="3398717" cy="307777"/>
            <a:chOff x="2370695" y="1018908"/>
            <a:chExt cx="2201347" cy="307777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5D57C1-FBB3-8078-F01E-6DF889A05C81}"/>
                </a:ext>
              </a:extLst>
            </p:cNvPr>
            <p:cNvSpPr txBox="1"/>
            <p:nvPr/>
          </p:nvSpPr>
          <p:spPr>
            <a:xfrm>
              <a:off x="3071975" y="1018908"/>
              <a:ext cx="7715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solidFill>
                    <a:srgbClr val="000000"/>
                  </a:solidFill>
                  <a:latin typeface="Arial Narrow" pitchFamily="34" charset="0"/>
                  <a:ea typeface="LG스마트체 Regular" pitchFamily="50" charset="-127"/>
                  <a:cs typeface="Arial" pitchFamily="34" charset="0"/>
                </a:rPr>
                <a:t>SWOT </a:t>
              </a:r>
              <a:r>
                <a:rPr lang="ko-KR" altLang="en-US" sz="1400" b="1">
                  <a:solidFill>
                    <a:srgbClr val="000000"/>
                  </a:solidFill>
                  <a:latin typeface="Arial Narrow" pitchFamily="34" charset="0"/>
                  <a:ea typeface="LG스마트체 Regular" pitchFamily="50" charset="-127"/>
                  <a:cs typeface="Arial" pitchFamily="34" charset="0"/>
                </a:rPr>
                <a:t>분석</a:t>
              </a:r>
              <a:endParaRPr lang="en-US" altLang="ko-KR" sz="14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endParaRPr>
            </a:p>
          </p:txBody>
        </p: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F9045B74-4EE0-AC37-0417-FC77DD40652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70695" y="1326685"/>
              <a:ext cx="220134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DDA82D60-97BC-723C-099E-6C06927706F0}"/>
              </a:ext>
            </a:extLst>
          </p:cNvPr>
          <p:cNvGrpSpPr/>
          <p:nvPr/>
        </p:nvGrpSpPr>
        <p:grpSpPr>
          <a:xfrm>
            <a:off x="697580" y="1231028"/>
            <a:ext cx="3398717" cy="307777"/>
            <a:chOff x="2370695" y="1018908"/>
            <a:chExt cx="2201347" cy="307777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E0B0A5E-DA0C-8F34-E215-C6D0505D725E}"/>
                </a:ext>
              </a:extLst>
            </p:cNvPr>
            <p:cNvSpPr txBox="1"/>
            <p:nvPr/>
          </p:nvSpPr>
          <p:spPr>
            <a:xfrm>
              <a:off x="2793176" y="1018908"/>
              <a:ext cx="14985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>
                  <a:solidFill>
                    <a:srgbClr val="000000"/>
                  </a:solidFill>
                  <a:latin typeface="Arial Narrow" pitchFamily="34" charset="0"/>
                  <a:ea typeface="LG스마트체 Regular" pitchFamily="50" charset="-127"/>
                  <a:cs typeface="Arial" pitchFamily="34" charset="0"/>
                </a:rPr>
                <a:t>엔솔</a:t>
              </a:r>
              <a:r>
                <a:rPr lang="en-US" altLang="ko-KR" sz="1400" b="1">
                  <a:solidFill>
                    <a:srgbClr val="000000"/>
                  </a:solidFill>
                  <a:latin typeface="Arial Narrow" pitchFamily="34" charset="0"/>
                  <a:ea typeface="LG스마트체 Regular" pitchFamily="50" charset="-127"/>
                  <a:cs typeface="Arial" pitchFamily="34" charset="0"/>
                </a:rPr>
                <a:t>/</a:t>
              </a:r>
              <a:r>
                <a:rPr lang="ko-KR" altLang="en-US" sz="1400" b="1">
                  <a:solidFill>
                    <a:srgbClr val="000000"/>
                  </a:solidFill>
                  <a:latin typeface="Arial Narrow" pitchFamily="34" charset="0"/>
                  <a:ea typeface="LG스마트체 Regular" pitchFamily="50" charset="-127"/>
                  <a:cs typeface="Arial" pitchFamily="34" charset="0"/>
                </a:rPr>
                <a:t>계열사 노경 관리범위</a:t>
              </a:r>
              <a:endParaRPr lang="en-US" altLang="ko-KR" sz="14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endParaRPr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6AC7876D-88EA-D9EF-8EA5-C7A0B31426A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70695" y="1326685"/>
              <a:ext cx="220134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0BF28D16-5B5E-DFEA-3E31-E85206D7F6C1}"/>
              </a:ext>
            </a:extLst>
          </p:cNvPr>
          <p:cNvSpPr/>
          <p:nvPr/>
        </p:nvSpPr>
        <p:spPr>
          <a:xfrm>
            <a:off x="295133" y="579582"/>
            <a:ext cx="9369015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5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엔솔의 노경관리 수준을 한 차원 상승시키기 위해 필요한 추진과제를 선정하고 자원 및 역량을 집결하는 것이 요구됨 </a:t>
            </a:r>
            <a:endParaRPr lang="en-US" altLang="ko-KR" sz="15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D244C50-3806-15C9-FFAE-A8D7063E985C}"/>
              </a:ext>
            </a:extLst>
          </p:cNvPr>
          <p:cNvSpPr txBox="1"/>
          <p:nvPr/>
        </p:nvSpPr>
        <p:spPr>
          <a:xfrm>
            <a:off x="351443" y="5268496"/>
            <a:ext cx="4068923" cy="8728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tIns="0" rIns="0" bIns="0" anchor="ctr">
            <a:no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노경관리 대상의 모든 영역이 포함된 회사는 전자와 엔솔 뿐임</a:t>
            </a:r>
            <a:endParaRPr lang="en-US" altLang="ko-KR" sz="1200" b="1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노경관리의 역량 및 노하우 축적의 다양한 기회가 있는 만큼   </a:t>
            </a:r>
            <a:br>
              <a:rPr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   </a:t>
            </a:r>
            <a:r>
              <a: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철저한 준비를 통해 중장기적으로 그룹 노경을 선도할 수 있음</a:t>
            </a:r>
            <a:r>
              <a: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  <a:sym typeface="Wingdings 3" panose="05040102010807070707" pitchFamily="18" charset="2"/>
              </a:rPr>
              <a:t> </a:t>
            </a:r>
            <a:endParaRPr lang="ko-KR" altLang="en-US" sz="1200" b="1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E33E710-EF27-8774-53E3-531C33A66D42}"/>
              </a:ext>
            </a:extLst>
          </p:cNvPr>
          <p:cNvSpPr/>
          <p:nvPr/>
        </p:nvSpPr>
        <p:spPr>
          <a:xfrm>
            <a:off x="4871573" y="2013994"/>
            <a:ext cx="2396156" cy="1886909"/>
          </a:xfrm>
          <a:prstGeom prst="roundRect">
            <a:avLst>
              <a:gd name="adj" fmla="val 11611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14300" dist="12700" dir="2700000" algn="tl" rotWithShape="0">
              <a:schemeClr val="tx1">
                <a:lumMod val="75000"/>
                <a:lumOff val="25000"/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ts val="300"/>
              </a:spcBef>
              <a:tabLst>
                <a:tab pos="85725" algn="l"/>
              </a:tabLst>
              <a:defRPr/>
            </a:pPr>
            <a:endParaRPr kumimoji="0" lang="en-US" altLang="ko-KR" sz="12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5DD847D-DEC7-203E-FE4A-DAFB7DCA29D7}"/>
              </a:ext>
            </a:extLst>
          </p:cNvPr>
          <p:cNvSpPr/>
          <p:nvPr/>
        </p:nvSpPr>
        <p:spPr>
          <a:xfrm>
            <a:off x="7409806" y="2000975"/>
            <a:ext cx="2388124" cy="1886908"/>
          </a:xfrm>
          <a:prstGeom prst="roundRect">
            <a:avLst>
              <a:gd name="adj" fmla="val 11611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14300" dist="12700" dir="2700000" algn="tl" rotWithShape="0">
              <a:schemeClr val="tx1">
                <a:lumMod val="75000"/>
                <a:lumOff val="25000"/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ts val="300"/>
              </a:spcBef>
              <a:tabLst>
                <a:tab pos="85725" algn="l"/>
              </a:tabLst>
              <a:defRPr/>
            </a:pPr>
            <a:endParaRPr kumimoji="0" lang="en-US" altLang="ko-KR" sz="12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5405A0B-85D1-2D04-B7BC-41021820759C}"/>
              </a:ext>
            </a:extLst>
          </p:cNvPr>
          <p:cNvSpPr/>
          <p:nvPr/>
        </p:nvSpPr>
        <p:spPr>
          <a:xfrm>
            <a:off x="4863536" y="4049228"/>
            <a:ext cx="2388125" cy="2374149"/>
          </a:xfrm>
          <a:prstGeom prst="roundRect">
            <a:avLst>
              <a:gd name="adj" fmla="val 11611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14300" dist="12700" dir="2700000" algn="tl" rotWithShape="0">
              <a:schemeClr val="tx1">
                <a:lumMod val="75000"/>
                <a:lumOff val="25000"/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ts val="300"/>
              </a:spcBef>
              <a:tabLst>
                <a:tab pos="85725" algn="l"/>
              </a:tabLst>
              <a:defRPr/>
            </a:pPr>
            <a:endParaRPr kumimoji="0" lang="en-US" altLang="ko-KR" sz="12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7589ADB-1EFC-F81B-B248-D7115B462B85}"/>
              </a:ext>
            </a:extLst>
          </p:cNvPr>
          <p:cNvSpPr/>
          <p:nvPr/>
        </p:nvSpPr>
        <p:spPr>
          <a:xfrm>
            <a:off x="7409806" y="4049229"/>
            <a:ext cx="2388126" cy="2374148"/>
          </a:xfrm>
          <a:prstGeom prst="roundRect">
            <a:avLst>
              <a:gd name="adj" fmla="val 11611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14300" dist="12700" dir="2700000" algn="tl" rotWithShape="0">
              <a:schemeClr val="tx1">
                <a:lumMod val="75000"/>
                <a:lumOff val="25000"/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ts val="300"/>
              </a:spcBef>
              <a:tabLst>
                <a:tab pos="85725" algn="l"/>
              </a:tabLst>
              <a:defRPr/>
            </a:pPr>
            <a:endParaRPr kumimoji="0" lang="en-US" altLang="ko-KR" sz="12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B5AFC76-5429-1A64-F3C2-00A91ED459D6}"/>
              </a:ext>
            </a:extLst>
          </p:cNvPr>
          <p:cNvSpPr txBox="1"/>
          <p:nvPr/>
        </p:nvSpPr>
        <p:spPr>
          <a:xfrm>
            <a:off x="4947767" y="2280941"/>
            <a:ext cx="2250710" cy="148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5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현장노조 관리 경험 </a:t>
            </a:r>
            <a:endParaRPr lang="en-US" altLang="ko-KR" sz="1050" b="1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5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교섭중심의 </a:t>
            </a:r>
            <a:r>
              <a:rPr lang="en-US" altLang="ko-KR" sz="105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His</a:t>
            </a:r>
            <a:r>
              <a:rPr lang="en-US" altLang="ko-KR" sz="105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tory</a:t>
            </a:r>
            <a:r>
              <a:rPr lang="ko-KR" altLang="en-US" sz="105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관리 </a:t>
            </a:r>
            <a:endParaRPr lang="en-US" altLang="ko-KR" sz="105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5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노경인력의 다양한 출신배경 </a:t>
            </a:r>
            <a:endParaRPr lang="en-US" altLang="ko-KR" sz="105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5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노경조직의 </a:t>
            </a:r>
            <a:r>
              <a:rPr lang="en-US" altLang="ko-KR" sz="105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Teamwork</a:t>
            </a:r>
          </a:p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5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상대적으로 합리적인 현 집행부</a:t>
            </a:r>
            <a:endParaRPr lang="en-US" altLang="ko-KR" sz="1050" b="1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5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해외법인과의 실시간 소통채널 구축</a:t>
            </a:r>
            <a:endParaRPr lang="en-US" altLang="ko-KR" sz="1050" b="1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CAF004-0DC7-8338-1454-7CAF015B0902}"/>
              </a:ext>
            </a:extLst>
          </p:cNvPr>
          <p:cNvSpPr txBox="1"/>
          <p:nvPr/>
        </p:nvSpPr>
        <p:spPr>
          <a:xfrm>
            <a:off x="7501246" y="2256101"/>
            <a:ext cx="2246903" cy="1395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5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경험있는 노경담당자의 조직이동</a:t>
            </a:r>
            <a:endParaRPr lang="en-US" altLang="ko-KR" sz="1050" b="1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5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노경인력들의 다양한 경험 부재</a:t>
            </a:r>
            <a:endParaRPr lang="en-US" altLang="ko-KR" sz="1050" b="1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5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사무직 노경</a:t>
            </a:r>
            <a:r>
              <a:rPr lang="en-US" altLang="ko-KR" sz="105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Global </a:t>
            </a:r>
            <a:r>
              <a:rPr lang="ko-KR" altLang="en-US" sz="105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노경에 대한 </a:t>
            </a:r>
            <a:br>
              <a:rPr lang="en-US" altLang="ko-KR" sz="105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05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경험 부족</a:t>
            </a:r>
            <a:endParaRPr lang="en-US" altLang="ko-KR" sz="1050" b="1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5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개인의 노하우 확산이 부족함</a:t>
            </a:r>
            <a:endParaRPr lang="en-US" altLang="ko-KR" sz="105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5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노경인력의 부족</a:t>
            </a:r>
            <a:endParaRPr lang="en-US" altLang="ko-KR" sz="105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BFB9711-7D3E-CB12-B56C-B3E23C7AB64B}"/>
              </a:ext>
            </a:extLst>
          </p:cNvPr>
          <p:cNvSpPr txBox="1"/>
          <p:nvPr/>
        </p:nvSpPr>
        <p:spPr>
          <a:xfrm>
            <a:off x="4947767" y="4350533"/>
            <a:ext cx="2365970" cy="1627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5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국내</a:t>
            </a:r>
            <a:r>
              <a:rPr lang="en-US" altLang="ko-KR" sz="105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05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해외 노경의 다양한 </a:t>
            </a:r>
            <a:r>
              <a:rPr lang="en-US" altLang="ko-KR" sz="105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Event </a:t>
            </a:r>
            <a:br>
              <a:rPr lang="en-US" altLang="ko-KR" sz="105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05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발생에 따른 경험 및 노하우 축적 가능</a:t>
            </a:r>
            <a:endParaRPr lang="en-US" altLang="ko-KR" sz="1050" b="1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5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회사의 미래 성장가능성</a:t>
            </a:r>
            <a:endParaRPr lang="en-US" altLang="ko-KR" sz="1050" b="1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5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현장직 인원 감소화 추세</a:t>
            </a:r>
            <a:endParaRPr lang="en-US" altLang="ko-KR" sz="1050" b="1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5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사무직 노조 세력 미약</a:t>
            </a:r>
            <a:r>
              <a:rPr lang="en-US" altLang="ko-KR" sz="105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5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해외 노경조직의 빠른 체계 구축</a:t>
            </a:r>
            <a:endParaRPr lang="en-US" altLang="ko-KR" sz="105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5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젊은 조직으로 인한 빠른변화 수용</a:t>
            </a:r>
            <a:endParaRPr lang="en-US" altLang="ko-KR" sz="1050" b="1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1BE29BA-7B00-A288-C696-A1219776D067}"/>
              </a:ext>
            </a:extLst>
          </p:cNvPr>
          <p:cNvSpPr txBox="1"/>
          <p:nvPr/>
        </p:nvSpPr>
        <p:spPr>
          <a:xfrm>
            <a:off x="7504064" y="4331773"/>
            <a:ext cx="2598433" cy="2088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9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사무노조 세 확산 지속</a:t>
            </a:r>
            <a:endParaRPr lang="en-US" altLang="ko-KR" sz="900" b="1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9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과거 노사합의 사항에 따른 제약 </a:t>
            </a:r>
            <a:endParaRPr lang="en-US" altLang="ko-KR" sz="900" b="1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9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국내</a:t>
            </a:r>
            <a:r>
              <a:rPr lang="en-US" altLang="ko-KR" sz="9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9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해외 전 사업장의 조직화 움직임</a:t>
            </a:r>
            <a:endParaRPr lang="en-US" altLang="ko-KR" sz="900" b="1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9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사무</a:t>
            </a:r>
            <a:r>
              <a:rPr lang="en-US" altLang="ko-KR" sz="9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+</a:t>
            </a:r>
            <a:r>
              <a:rPr lang="ko-KR" altLang="en-US" sz="9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현장 연합의 제</a:t>
            </a:r>
            <a:r>
              <a:rPr lang="en-US" altLang="ko-KR" sz="9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lang="ko-KR" altLang="en-US" sz="9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노조 설립 가능성</a:t>
            </a:r>
            <a:endParaRPr lang="en-US" altLang="ko-KR" sz="9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9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조직책임자들의 조직관리 역량</a:t>
            </a:r>
            <a:r>
              <a:rPr lang="en-US" altLang="ko-KR" sz="9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9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경험 미흡</a:t>
            </a:r>
            <a:endParaRPr lang="en-US" altLang="ko-KR" sz="9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9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젊은 조직으로 인한 다양한 니즈</a:t>
            </a:r>
            <a:r>
              <a:rPr lang="en-US" altLang="ko-KR" sz="9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9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불만 확산</a:t>
            </a:r>
            <a:endParaRPr lang="en-US" altLang="ko-KR" sz="9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9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구성원의 다양한 출신배경</a:t>
            </a:r>
            <a:r>
              <a:rPr lang="en-US" altLang="ko-KR" sz="9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9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잦은 조직개편에 따른 리더십 제고의 한계</a:t>
            </a:r>
            <a:endParaRPr lang="en-US" altLang="ko-KR" sz="9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9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현장노조 변화 의지 미흡</a:t>
            </a:r>
            <a:endParaRPr lang="en-US" altLang="ko-KR" sz="900" b="1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9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 </a:t>
            </a:r>
            <a:r>
              <a:rPr lang="ko-KR" altLang="en-US" sz="9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정부의 친 노동정책</a:t>
            </a:r>
            <a:endParaRPr lang="en-US" altLang="ko-KR" sz="900" b="1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188124-9D83-8FFD-38D3-D97BC6CC669A}"/>
              </a:ext>
            </a:extLst>
          </p:cNvPr>
          <p:cNvSpPr txBox="1"/>
          <p:nvPr/>
        </p:nvSpPr>
        <p:spPr>
          <a:xfrm>
            <a:off x="5122201" y="2016247"/>
            <a:ext cx="197877" cy="219675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3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</a:t>
            </a:r>
            <a:endParaRPr lang="en-US" altLang="ko-KR" sz="13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5B778B-3534-C425-6903-58152F5C91A3}"/>
              </a:ext>
            </a:extLst>
          </p:cNvPr>
          <p:cNvSpPr txBox="1"/>
          <p:nvPr/>
        </p:nvSpPr>
        <p:spPr>
          <a:xfrm>
            <a:off x="7591984" y="2006124"/>
            <a:ext cx="197877" cy="219675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W</a:t>
            </a:r>
            <a:endParaRPr lang="en-US" altLang="ko-KR" sz="13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D27EBA-4927-5B99-3FDE-A078453779C0}"/>
              </a:ext>
            </a:extLst>
          </p:cNvPr>
          <p:cNvSpPr txBox="1"/>
          <p:nvPr/>
        </p:nvSpPr>
        <p:spPr>
          <a:xfrm>
            <a:off x="5122201" y="4049228"/>
            <a:ext cx="197877" cy="219675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</a:t>
            </a:r>
            <a:endParaRPr lang="en-US" altLang="ko-KR" sz="13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21ECDF-5547-84B3-0DD0-E208F5638071}"/>
              </a:ext>
            </a:extLst>
          </p:cNvPr>
          <p:cNvSpPr txBox="1"/>
          <p:nvPr/>
        </p:nvSpPr>
        <p:spPr>
          <a:xfrm>
            <a:off x="7591984" y="4050950"/>
            <a:ext cx="197877" cy="219675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</a:t>
            </a:r>
            <a:endParaRPr lang="en-US" altLang="ko-KR" sz="13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2" name="AutoShape 1603">
            <a:extLst>
              <a:ext uri="{FF2B5EF4-FFF2-40B4-BE49-F238E27FC236}">
                <a16:creationId xmlns:a16="http://schemas.microsoft.com/office/drawing/2014/main" id="{9E41E004-0E36-928E-0311-982B991BAAC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51148" y="4779969"/>
            <a:ext cx="4213120" cy="346688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777777"/>
              </a:gs>
              <a:gs pos="100000">
                <a:schemeClr val="bg1"/>
              </a:gs>
            </a:gsLst>
            <a:lin ang="5400000" scaled="1"/>
          </a:gradFill>
          <a:ln w="19050" algn="ctr">
            <a:noFill/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endParaRPr lang="ko-KR" altLang="en-US" sz="1200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EE0DD28-25D8-D06B-5731-39BB564FDF69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+mj-lt"/>
              <a:buAutoNum type="romanUcPeriod" startAt="2"/>
              <a:tabLst>
                <a:tab pos="85725" algn="l"/>
              </a:tabLst>
            </a:pPr>
            <a:r>
              <a:rPr lang="en-US" altLang="ko-KR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 </a:t>
            </a:r>
            <a:r>
              <a:rPr lang="en-US" altLang="ko-KR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3.0 </a:t>
            </a: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정의 및 실행방안 </a:t>
            </a:r>
            <a:endParaRPr lang="en-US" altLang="ko-KR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06EC8BD-9A17-2F58-615C-4EA06C067A6B}"/>
              </a:ext>
            </a:extLst>
          </p:cNvPr>
          <p:cNvSpPr txBox="1"/>
          <p:nvPr/>
        </p:nvSpPr>
        <p:spPr>
          <a:xfrm>
            <a:off x="6333940" y="181068"/>
            <a:ext cx="3284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② 엔솔 노경현황 분석</a:t>
            </a: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4CE00206-1393-B272-CAFF-59CAF1358A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118145"/>
              </p:ext>
            </p:extLst>
          </p:nvPr>
        </p:nvGraphicFramePr>
        <p:xfrm>
          <a:off x="358632" y="2017996"/>
          <a:ext cx="4015965" cy="2579743"/>
        </p:xfrm>
        <a:graphic>
          <a:graphicData uri="http://schemas.openxmlformats.org/drawingml/2006/table">
            <a:tbl>
              <a:tblPr/>
              <a:tblGrid>
                <a:gridCol w="11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15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1583">
                  <a:extLst>
                    <a:ext uri="{9D8B030D-6E8A-4147-A177-3AD203B41FA5}">
                      <a16:colId xmlns:a16="http://schemas.microsoft.com/office/drawing/2014/main" val="1336399718"/>
                    </a:ext>
                  </a:extLst>
                </a:gridCol>
                <a:gridCol w="411583">
                  <a:extLst>
                    <a:ext uri="{9D8B030D-6E8A-4147-A177-3AD203B41FA5}">
                      <a16:colId xmlns:a16="http://schemas.microsoft.com/office/drawing/2014/main" val="1607110277"/>
                    </a:ext>
                  </a:extLst>
                </a:gridCol>
                <a:gridCol w="411583">
                  <a:extLst>
                    <a:ext uri="{9D8B030D-6E8A-4147-A177-3AD203B41FA5}">
                      <a16:colId xmlns:a16="http://schemas.microsoft.com/office/drawing/2014/main" val="1175742133"/>
                    </a:ext>
                  </a:extLst>
                </a:gridCol>
                <a:gridCol w="411583">
                  <a:extLst>
                    <a:ext uri="{9D8B030D-6E8A-4147-A177-3AD203B41FA5}">
                      <a16:colId xmlns:a16="http://schemas.microsoft.com/office/drawing/2014/main" val="3541200934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3071929677"/>
                    </a:ext>
                  </a:extLst>
                </a:gridCol>
                <a:gridCol w="373625">
                  <a:extLst>
                    <a:ext uri="{9D8B030D-6E8A-4147-A177-3AD203B41FA5}">
                      <a16:colId xmlns:a16="http://schemas.microsoft.com/office/drawing/2014/main" val="2351780643"/>
                    </a:ext>
                  </a:extLst>
                </a:gridCol>
              </a:tblGrid>
              <a:tr h="321179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1200" b="1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계열사</a:t>
                      </a:r>
                      <a:endParaRPr lang="ko-KR" altLang="en-US" sz="1200" b="1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1100" b="1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1200" b="1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1200" b="1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1200" b="1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1200" b="1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/>
                      <a:endParaRPr lang="ko-KR" altLang="en-US" sz="100" b="1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엔솔</a:t>
                      </a:r>
                      <a:endParaRPr lang="en-US" altLang="ko-KR" sz="1200" b="1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1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전자</a:t>
                      </a:r>
                      <a:endParaRPr lang="ko-KR" altLang="en-US" sz="1200" b="1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디플</a:t>
                      </a:r>
                      <a:endParaRPr lang="en-US" altLang="ko-KR" sz="1200" b="1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이노</a:t>
                      </a:r>
                      <a:endParaRPr lang="en-US" altLang="ko-KR" sz="1200" b="1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화학</a:t>
                      </a:r>
                      <a:endParaRPr lang="en-US" altLang="ko-KR" sz="1200" b="1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생건</a:t>
                      </a:r>
                      <a:endParaRPr lang="en-US" altLang="ko-KR" sz="1200" b="1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유플 </a:t>
                      </a:r>
                      <a:endParaRPr lang="en-US" altLang="ko-KR" sz="1200" b="1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altLang="ko-KR" sz="1200" b="1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47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현장노조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u="non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u="non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1200" b="0" u="non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47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사무노조</a:t>
                      </a:r>
                      <a:endParaRPr lang="en-US" altLang="ko-KR" sz="12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u="none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u="none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u="none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1200" b="0" u="none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1200" b="0" u="none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u="none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1200" b="0" u="none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747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사무직 노경관리</a:t>
                      </a:r>
                      <a:endParaRPr lang="en-US" altLang="ko-KR" sz="12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en-US" altLang="ko-KR" sz="1200" b="0" u="non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en-US" altLang="ko-KR" sz="1200" b="0" u="non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u="non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en-US" altLang="ko-KR" sz="1200" b="0" u="non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en-US" altLang="ko-KR" sz="1200" b="0" u="non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u="non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en-US" altLang="ko-KR" sz="1200" b="0" u="none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747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현장직 인력운영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1200" b="0" u="none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1200" b="0" u="none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1200" b="0" u="none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1200" b="0" u="none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u="none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u="none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1200" b="0" u="none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747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Global </a:t>
                      </a:r>
                      <a:r>
                        <a:rPr lang="ko-KR" altLang="en-US" sz="12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노경</a:t>
                      </a:r>
                      <a:endParaRPr lang="en-US" altLang="ko-KR" sz="12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1200" b="0" u="none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1200" b="0" u="none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1200" b="0" u="none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u="none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u="none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u="none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○</a:t>
                      </a:r>
                      <a:endParaRPr lang="ko-KR" altLang="en-US" sz="1200" b="0" u="none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0541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EFD957D2-AF01-E946-E87F-160F65E666BB}"/>
              </a:ext>
            </a:extLst>
          </p:cNvPr>
          <p:cNvSpPr/>
          <p:nvPr/>
        </p:nvSpPr>
        <p:spPr>
          <a:xfrm>
            <a:off x="1881821" y="4540487"/>
            <a:ext cx="3311859" cy="1682142"/>
          </a:xfrm>
          <a:prstGeom prst="roundRect">
            <a:avLst>
              <a:gd name="adj" fmla="val 11611"/>
            </a:avLst>
          </a:prstGeom>
          <a:solidFill>
            <a:schemeClr val="bg1"/>
          </a:solidFill>
          <a:ln>
            <a:noFill/>
          </a:ln>
          <a:effectLst>
            <a:outerShdw blurRad="114300" dist="12700" dir="2700000" algn="tl" rotWithShape="0">
              <a:schemeClr val="tx1">
                <a:lumMod val="75000"/>
                <a:lumOff val="25000"/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ts val="300"/>
              </a:spcBef>
              <a:tabLst>
                <a:tab pos="85725" algn="l"/>
              </a:tabLst>
              <a:defRPr/>
            </a:pPr>
            <a:endParaRPr kumimoji="0" lang="en-US" altLang="ko-KR" sz="12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A059DB53-5FC7-8A7E-2F10-2E18D3063A71}"/>
              </a:ext>
            </a:extLst>
          </p:cNvPr>
          <p:cNvSpPr/>
          <p:nvPr/>
        </p:nvSpPr>
        <p:spPr>
          <a:xfrm>
            <a:off x="1876838" y="1847203"/>
            <a:ext cx="3335699" cy="2401902"/>
          </a:xfrm>
          <a:prstGeom prst="roundRect">
            <a:avLst>
              <a:gd name="adj" fmla="val 11611"/>
            </a:avLst>
          </a:prstGeom>
          <a:solidFill>
            <a:schemeClr val="bg1"/>
          </a:solidFill>
          <a:ln>
            <a:noFill/>
          </a:ln>
          <a:effectLst>
            <a:outerShdw blurRad="114300" dist="12700" dir="2700000" algn="tl" rotWithShape="0">
              <a:schemeClr val="tx1">
                <a:lumMod val="75000"/>
                <a:lumOff val="25000"/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ts val="300"/>
              </a:spcBef>
              <a:tabLst>
                <a:tab pos="85725" algn="l"/>
              </a:tabLst>
              <a:defRPr/>
            </a:pPr>
            <a:endParaRPr kumimoji="0" lang="en-US" altLang="ko-KR" sz="12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109AAD52-95D8-B56A-B149-048C5FBB76A4}"/>
              </a:ext>
            </a:extLst>
          </p:cNvPr>
          <p:cNvSpPr/>
          <p:nvPr/>
        </p:nvSpPr>
        <p:spPr>
          <a:xfrm>
            <a:off x="375059" y="635244"/>
            <a:ext cx="936901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5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 </a:t>
            </a:r>
            <a:r>
              <a:rPr lang="en-US" altLang="ko-KR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3.0 5</a:t>
            </a:r>
            <a:r>
              <a:rPr lang="ko-KR" altLang="en-US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대 과제를 선정하고 이를 실현하는데 </a:t>
            </a:r>
            <a:r>
              <a:rPr lang="ko-KR" altLang="en-US" sz="15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영향을 미치는 주 요인에 대한 노경부문의 지원 체계 </a:t>
            </a:r>
            <a:r>
              <a:rPr lang="ko-KR" altLang="en-US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구축 및 역량 강화를 </a:t>
            </a:r>
            <a:br>
              <a:rPr lang="en-US" altLang="ko-KR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실시토록 </a:t>
            </a:r>
            <a:r>
              <a:rPr lang="ko-KR" altLang="en-US" sz="15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함</a:t>
            </a:r>
            <a:endParaRPr lang="en-US" altLang="ko-KR" sz="15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DC0FDA5B-0C1E-960B-0A1A-87E94ECE1EAA}"/>
              </a:ext>
            </a:extLst>
          </p:cNvPr>
          <p:cNvGrpSpPr/>
          <p:nvPr/>
        </p:nvGrpSpPr>
        <p:grpSpPr>
          <a:xfrm>
            <a:off x="1922559" y="1264646"/>
            <a:ext cx="2886126" cy="307777"/>
            <a:chOff x="2787937" y="1018908"/>
            <a:chExt cx="1366862" cy="30777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CE9A59D-B5D5-17BE-D440-AF7D927F2FA9}"/>
                </a:ext>
              </a:extLst>
            </p:cNvPr>
            <p:cNvSpPr txBox="1"/>
            <p:nvPr/>
          </p:nvSpPr>
          <p:spPr>
            <a:xfrm>
              <a:off x="3117146" y="1018908"/>
              <a:ext cx="7715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>
                  <a:solidFill>
                    <a:srgbClr val="000000"/>
                  </a:solidFill>
                  <a:latin typeface="Arial Narrow" pitchFamily="34" charset="0"/>
                  <a:ea typeface="LG스마트체 Regular" pitchFamily="50" charset="-127"/>
                  <a:cs typeface="Arial" pitchFamily="34" charset="0"/>
                </a:rPr>
                <a:t>전략방향</a:t>
              </a:r>
              <a:endParaRPr lang="en-US" altLang="ko-KR" sz="14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endParaRPr>
            </a:p>
          </p:txBody>
        </p: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12C6448E-6BB8-8936-7783-234B190C255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787937" y="1326685"/>
              <a:ext cx="136686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758DA69-6491-CFCD-9808-8DBF4458F328}"/>
              </a:ext>
            </a:extLst>
          </p:cNvPr>
          <p:cNvSpPr txBox="1"/>
          <p:nvPr/>
        </p:nvSpPr>
        <p:spPr>
          <a:xfrm>
            <a:off x="6357187" y="181068"/>
            <a:ext cx="3284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③ 노경 </a:t>
            </a:r>
            <a:r>
              <a:rPr lang="en-US" altLang="ko-KR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3.0 </a:t>
            </a:r>
            <a:r>
              <a:rPr lang="ko-KR" altLang="en-US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전략방향</a:t>
            </a: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578F58-0629-F888-6F6D-2B062E62CED3}"/>
              </a:ext>
            </a:extLst>
          </p:cNvPr>
          <p:cNvSpPr txBox="1"/>
          <p:nvPr/>
        </p:nvSpPr>
        <p:spPr>
          <a:xfrm>
            <a:off x="1834860" y="3787441"/>
            <a:ext cx="31058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buFont typeface="Wingdings" panose="05000000000000000000" pitchFamily="2" charset="2"/>
              <a:buChar char="Ø"/>
            </a:pPr>
            <a: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생산법인 노경 펀더멘탈 확보 </a:t>
            </a:r>
            <a:r>
              <a:rPr lang="en-US" altLang="ko-KR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단기</a:t>
            </a:r>
            <a:r>
              <a:rPr lang="en-US" altLang="ko-KR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b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3" panose="05040102010807070707" pitchFamily="18" charset="2"/>
              </a:rPr>
              <a:t></a:t>
            </a: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현지 완결형 </a:t>
            </a:r>
            <a: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ER</a:t>
            </a: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관리체계 구축</a:t>
            </a:r>
            <a: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운영 </a:t>
            </a:r>
            <a:r>
              <a:rPr lang="en-US" altLang="ko-KR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중장기</a:t>
            </a:r>
            <a:r>
              <a:rPr lang="en-US" altLang="ko-KR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b="1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5BAE5AD-FE0F-EBEA-D697-380FD18668B6}"/>
              </a:ext>
            </a:extLst>
          </p:cNvPr>
          <p:cNvGrpSpPr/>
          <p:nvPr/>
        </p:nvGrpSpPr>
        <p:grpSpPr>
          <a:xfrm>
            <a:off x="6769323" y="1283039"/>
            <a:ext cx="2553504" cy="307777"/>
            <a:chOff x="2787937" y="1018908"/>
            <a:chExt cx="1366862" cy="30777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B3C15D5-2A2F-7ED1-B99C-722C80A526EF}"/>
                </a:ext>
              </a:extLst>
            </p:cNvPr>
            <p:cNvSpPr txBox="1"/>
            <p:nvPr/>
          </p:nvSpPr>
          <p:spPr>
            <a:xfrm>
              <a:off x="2989453" y="1018908"/>
              <a:ext cx="102694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>
                  <a:solidFill>
                    <a:srgbClr val="000000"/>
                  </a:solidFill>
                  <a:latin typeface="Arial Narrow" pitchFamily="34" charset="0"/>
                  <a:ea typeface="LG스마트체 Regular" pitchFamily="50" charset="-127"/>
                  <a:cs typeface="Arial" pitchFamily="34" charset="0"/>
                </a:rPr>
                <a:t>추진방안</a:t>
              </a:r>
              <a:endParaRPr lang="en-US" altLang="ko-KR" sz="14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endParaRP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811EDB03-4202-C1E1-1E9F-CBE98863078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787937" y="1326685"/>
              <a:ext cx="136686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9" name="모서리가 둥근 직사각형 5">
            <a:extLst>
              <a:ext uri="{FF2B5EF4-FFF2-40B4-BE49-F238E27FC236}">
                <a16:creationId xmlns:a16="http://schemas.microsoft.com/office/drawing/2014/main" id="{B5E9DA19-C405-59FF-D889-2DA9127BC207}"/>
              </a:ext>
            </a:extLst>
          </p:cNvPr>
          <p:cNvSpPr/>
          <p:nvPr/>
        </p:nvSpPr>
        <p:spPr>
          <a:xfrm>
            <a:off x="1254947" y="3331631"/>
            <a:ext cx="546490" cy="39639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1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현장직 </a:t>
            </a:r>
            <a:br>
              <a:rPr lang="en-US" altLang="ko-KR" sz="11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1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인력운영</a:t>
            </a:r>
            <a:endParaRPr lang="en-US" altLang="ko-KR" sz="11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" name="모서리가 둥근 직사각형 5">
            <a:extLst>
              <a:ext uri="{FF2B5EF4-FFF2-40B4-BE49-F238E27FC236}">
                <a16:creationId xmlns:a16="http://schemas.microsoft.com/office/drawing/2014/main" id="{8ECB66CD-4736-2A6F-A851-317D8A80311A}"/>
              </a:ext>
            </a:extLst>
          </p:cNvPr>
          <p:cNvSpPr/>
          <p:nvPr/>
        </p:nvSpPr>
        <p:spPr>
          <a:xfrm>
            <a:off x="1254947" y="3803842"/>
            <a:ext cx="546490" cy="36036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11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 </a:t>
            </a:r>
            <a:br>
              <a:rPr lang="en-US" altLang="ko-KR" sz="11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1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</a:t>
            </a:r>
            <a:endParaRPr lang="en-US" altLang="ko-KR" sz="11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" name="모서리가 둥근 직사각형 5">
            <a:extLst>
              <a:ext uri="{FF2B5EF4-FFF2-40B4-BE49-F238E27FC236}">
                <a16:creationId xmlns:a16="http://schemas.microsoft.com/office/drawing/2014/main" id="{6909512E-8AA5-D8B2-7E93-23BD1A63A012}"/>
              </a:ext>
            </a:extLst>
          </p:cNvPr>
          <p:cNvSpPr/>
          <p:nvPr/>
        </p:nvSpPr>
        <p:spPr>
          <a:xfrm>
            <a:off x="1254947" y="2851109"/>
            <a:ext cx="546490" cy="39639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1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사무직 </a:t>
            </a:r>
            <a:br>
              <a:rPr lang="en-US" altLang="ko-KR" sz="11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1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노경관리</a:t>
            </a:r>
            <a:endParaRPr lang="en-US" altLang="ko-KR" sz="11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" name="모서리가 둥근 직사각형 5">
            <a:extLst>
              <a:ext uri="{FF2B5EF4-FFF2-40B4-BE49-F238E27FC236}">
                <a16:creationId xmlns:a16="http://schemas.microsoft.com/office/drawing/2014/main" id="{00EAA337-148C-D3B7-F39B-5049C2CD53FB}"/>
              </a:ext>
            </a:extLst>
          </p:cNvPr>
          <p:cNvSpPr/>
          <p:nvPr/>
        </p:nvSpPr>
        <p:spPr>
          <a:xfrm>
            <a:off x="1254947" y="2362273"/>
            <a:ext cx="546490" cy="39639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1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사무</a:t>
            </a:r>
            <a:br>
              <a:rPr lang="en-US" altLang="ko-KR" sz="11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1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노조</a:t>
            </a:r>
            <a:endParaRPr lang="en-US" altLang="ko-KR" sz="11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모서리가 둥근 직사각형 5">
            <a:extLst>
              <a:ext uri="{FF2B5EF4-FFF2-40B4-BE49-F238E27FC236}">
                <a16:creationId xmlns:a16="http://schemas.microsoft.com/office/drawing/2014/main" id="{5220733C-C1EF-92A3-F02F-DB515008FFEB}"/>
              </a:ext>
            </a:extLst>
          </p:cNvPr>
          <p:cNvSpPr/>
          <p:nvPr/>
        </p:nvSpPr>
        <p:spPr>
          <a:xfrm>
            <a:off x="1254947" y="1898376"/>
            <a:ext cx="546490" cy="39639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1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</a:t>
            </a:r>
            <a:br>
              <a:rPr lang="en-US" altLang="ko-KR" sz="11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1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노조</a:t>
            </a:r>
            <a:endParaRPr lang="en-US" altLang="ko-KR" sz="11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5B1F62-92B5-8055-2693-F96CAE251709}"/>
              </a:ext>
            </a:extLst>
          </p:cNvPr>
          <p:cNvSpPr txBox="1"/>
          <p:nvPr/>
        </p:nvSpPr>
        <p:spPr>
          <a:xfrm>
            <a:off x="1834860" y="1858992"/>
            <a:ext cx="3044322" cy="431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85725" indent="-85725">
              <a:buFont typeface="Wingdings" panose="05000000000000000000" pitchFamily="2" charset="2"/>
              <a:buChar char="Ø"/>
            </a:pPr>
            <a: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회사 주도의 노사관계 정립</a:t>
            </a:r>
            <a:b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*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과거 </a:t>
            </a: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LG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전자 노사관계 정립 </a:t>
            </a: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History 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케이스 스터디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endParaRPr lang="ko-KR" altLang="en-US" b="1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357118-77C4-D409-3F1C-ADCAF9E691F1}"/>
              </a:ext>
            </a:extLst>
          </p:cNvPr>
          <p:cNvSpPr txBox="1"/>
          <p:nvPr/>
        </p:nvSpPr>
        <p:spPr>
          <a:xfrm>
            <a:off x="1834860" y="2343971"/>
            <a:ext cx="31016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buFont typeface="Wingdings" panose="05000000000000000000" pitchFamily="2" charset="2"/>
              <a:buChar char="Ø"/>
            </a:pPr>
            <a: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사무노조 건전화 및 상생관계 구축</a:t>
            </a:r>
            <a:b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1200" b="1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LG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생활건강 사무노조 케이스 스터디 </a:t>
            </a:r>
            <a:endParaRPr lang="ko-KR" altLang="en-US" b="1">
              <a:solidFill>
                <a:srgbClr val="0066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14063E-11C9-76EC-011C-01AA7D992FB5}"/>
              </a:ext>
            </a:extLst>
          </p:cNvPr>
          <p:cNvSpPr txBox="1"/>
          <p:nvPr/>
        </p:nvSpPr>
        <p:spPr>
          <a:xfrm>
            <a:off x="1834860" y="2839321"/>
            <a:ext cx="30919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buFont typeface="Wingdings" panose="05000000000000000000" pitchFamily="2" charset="2"/>
              <a:buChar char="Ø"/>
            </a:pPr>
            <a: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조직책임자 중심 노무관리 </a:t>
            </a:r>
            <a:r>
              <a:rPr lang="en-US" altLang="ko-KR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단기</a:t>
            </a:r>
            <a:r>
              <a:rPr lang="en-US" altLang="ko-KR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b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3" panose="05040102010807070707" pitchFamily="18" charset="2"/>
              </a:rPr>
              <a:t></a:t>
            </a: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자기 주도형 노무관리 체계 구축 </a:t>
            </a:r>
            <a:r>
              <a:rPr lang="en-US" altLang="ko-KR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중장기</a:t>
            </a:r>
            <a:r>
              <a:rPr lang="en-US" altLang="ko-KR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lang="ko-KR" altLang="en-US" b="1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B5679C-EC20-5236-FDC0-AE9C998F8F66}"/>
              </a:ext>
            </a:extLst>
          </p:cNvPr>
          <p:cNvSpPr txBox="1"/>
          <p:nvPr/>
        </p:nvSpPr>
        <p:spPr>
          <a:xfrm>
            <a:off x="1834860" y="3309370"/>
            <a:ext cx="35230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buFont typeface="Wingdings" panose="05000000000000000000" pitchFamily="2" charset="2"/>
              <a:buChar char="Ø"/>
            </a:pPr>
            <a: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인력운영 유연성 제고 </a:t>
            </a:r>
            <a: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Global </a:t>
            </a: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표준제도 구축 </a:t>
            </a:r>
            <a:r>
              <a:rPr lang="en-US" altLang="ko-KR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중기</a:t>
            </a:r>
            <a:r>
              <a:rPr lang="en-US" altLang="ko-KR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b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 3" panose="05040102010807070707" pitchFamily="18" charset="2"/>
              </a:rPr>
              <a:t></a:t>
            </a: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스마트 팩토리</a:t>
            </a:r>
            <a: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로봇화 대응 체계 구축 </a:t>
            </a:r>
            <a:r>
              <a:rPr lang="en-US" altLang="ko-KR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장기</a:t>
            </a:r>
            <a:r>
              <a:rPr lang="en-US" altLang="ko-KR" sz="11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200" b="1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44D2D46-B054-E524-BFC0-7294749FD630}"/>
              </a:ext>
            </a:extLst>
          </p:cNvPr>
          <p:cNvGrpSpPr/>
          <p:nvPr/>
        </p:nvGrpSpPr>
        <p:grpSpPr>
          <a:xfrm>
            <a:off x="287113" y="4713100"/>
            <a:ext cx="720000" cy="769283"/>
            <a:chOff x="399025" y="1673727"/>
            <a:chExt cx="720000" cy="54256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AF3AB4C-963B-4585-EC0F-56341CC29C15}"/>
                </a:ext>
              </a:extLst>
            </p:cNvPr>
            <p:cNvSpPr txBox="1"/>
            <p:nvPr/>
          </p:nvSpPr>
          <p:spPr>
            <a:xfrm>
              <a:off x="399025" y="1693225"/>
              <a:ext cx="720000" cy="368823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관리</a:t>
              </a:r>
              <a:br>
                <a:rPr lang="en-US" altLang="ko-KR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ko-KR" altLang="en-US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주체</a:t>
              </a:r>
              <a:endParaRPr lang="en-US" altLang="ko-KR" sz="13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A5D0987E-3C5D-A76F-23C9-0B5D424345A1}"/>
                </a:ext>
              </a:extLst>
            </p:cNvPr>
            <p:cNvCxnSpPr>
              <a:cxnSpLocks/>
            </p:cNvCxnSpPr>
            <p:nvPr/>
          </p:nvCxnSpPr>
          <p:spPr>
            <a:xfrm>
              <a:off x="1095184" y="1673727"/>
              <a:ext cx="0" cy="542566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4B0C28D-F1F2-39DF-B58D-ADC34EA9B024}"/>
              </a:ext>
            </a:extLst>
          </p:cNvPr>
          <p:cNvGrpSpPr/>
          <p:nvPr/>
        </p:nvGrpSpPr>
        <p:grpSpPr>
          <a:xfrm>
            <a:off x="251898" y="1930893"/>
            <a:ext cx="754982" cy="769283"/>
            <a:chOff x="340202" y="1673727"/>
            <a:chExt cx="754982" cy="542566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56C1C95-1C76-095D-6F3B-17FD6D4433DE}"/>
                </a:ext>
              </a:extLst>
            </p:cNvPr>
            <p:cNvSpPr txBox="1"/>
            <p:nvPr/>
          </p:nvSpPr>
          <p:spPr>
            <a:xfrm>
              <a:off x="340202" y="1724574"/>
              <a:ext cx="720000" cy="368823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 </a:t>
              </a:r>
              <a:r>
                <a:rPr lang="en-US" altLang="ko-KR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3.0</a:t>
              </a:r>
              <a:br>
                <a:rPr lang="en-US" altLang="ko-KR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en-US" altLang="ko-KR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5</a:t>
              </a:r>
              <a:r>
                <a:rPr lang="ko-KR" altLang="en-US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대 과제  </a:t>
              </a:r>
              <a:endParaRPr lang="en-US" altLang="ko-KR" sz="13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0199AC80-E3A4-C8EC-28BA-F677B42541C1}"/>
                </a:ext>
              </a:extLst>
            </p:cNvPr>
            <p:cNvCxnSpPr>
              <a:cxnSpLocks/>
            </p:cNvCxnSpPr>
            <p:nvPr/>
          </p:nvCxnSpPr>
          <p:spPr>
            <a:xfrm>
              <a:off x="1095184" y="1673727"/>
              <a:ext cx="0" cy="542566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18A8A0A6-F54D-2A95-636A-76DBE00ECD75}"/>
              </a:ext>
            </a:extLst>
          </p:cNvPr>
          <p:cNvSpPr txBox="1"/>
          <p:nvPr/>
        </p:nvSpPr>
        <p:spPr>
          <a:xfrm>
            <a:off x="1834860" y="4609068"/>
            <a:ext cx="30919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buFont typeface="Wingdings" panose="05000000000000000000" pitchFamily="2" charset="2"/>
              <a:buChar char="Ø"/>
            </a:pPr>
            <a: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노경 </a:t>
            </a:r>
            <a: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risk </a:t>
            </a: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인지도 </a:t>
            </a:r>
            <a: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조직관리 지원 </a:t>
            </a:r>
            <a: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b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비전</a:t>
            </a:r>
            <a: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·</a:t>
            </a: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철학</a:t>
            </a:r>
            <a: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·</a:t>
            </a: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경영상황 공유</a:t>
            </a: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endParaRPr lang="ko-KR" altLang="en-US" b="1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053B251-523F-0738-ADAF-41656AAB0102}"/>
              </a:ext>
            </a:extLst>
          </p:cNvPr>
          <p:cNvSpPr txBox="1"/>
          <p:nvPr/>
        </p:nvSpPr>
        <p:spPr>
          <a:xfrm>
            <a:off x="1834860" y="5198382"/>
            <a:ext cx="30443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buFont typeface="Wingdings" panose="05000000000000000000" pitchFamily="2" charset="2"/>
              <a:buChar char="Ø"/>
            </a:pPr>
            <a: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리더십 </a:t>
            </a:r>
            <a: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소통역량 </a:t>
            </a:r>
            <a: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정보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·VoE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관리</a:t>
            </a: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endParaRPr lang="ko-KR" altLang="en-US" b="1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0A552C4-DD29-2899-9E2A-461505C1E97A}"/>
              </a:ext>
            </a:extLst>
          </p:cNvPr>
          <p:cNvSpPr txBox="1"/>
          <p:nvPr/>
        </p:nvSpPr>
        <p:spPr>
          <a:xfrm>
            <a:off x="1834860" y="5644878"/>
            <a:ext cx="3250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buFont typeface="Wingdings" panose="05000000000000000000" pitchFamily="2" charset="2"/>
              <a:buChar char="Ø"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전문가 집단으로의 육성 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이슈대응역량 고도화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/</a:t>
            </a:r>
            <a:b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 </a:t>
            </a: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국내</a:t>
            </a:r>
            <a:r>
              <a:rPr lang="en-US" altLang="ko-KR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해외 노경 컨트롤 타워 기능</a:t>
            </a:r>
            <a:endParaRPr lang="ko-KR" altLang="en-US" b="1"/>
          </a:p>
        </p:txBody>
      </p:sp>
      <p:sp>
        <p:nvSpPr>
          <p:cNvPr id="57" name="모서리가 둥근 직사각형 5">
            <a:extLst>
              <a:ext uri="{FF2B5EF4-FFF2-40B4-BE49-F238E27FC236}">
                <a16:creationId xmlns:a16="http://schemas.microsoft.com/office/drawing/2014/main" id="{A1118F09-4BFE-B27D-4CEC-BC0E24FF002D}"/>
              </a:ext>
            </a:extLst>
          </p:cNvPr>
          <p:cNvSpPr/>
          <p:nvPr/>
        </p:nvSpPr>
        <p:spPr>
          <a:xfrm>
            <a:off x="1244988" y="4641855"/>
            <a:ext cx="546490" cy="36036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1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경영진</a:t>
            </a:r>
            <a:endParaRPr lang="en-US" altLang="ko-KR" sz="11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8" name="모서리가 둥근 직사각형 5">
            <a:extLst>
              <a:ext uri="{FF2B5EF4-FFF2-40B4-BE49-F238E27FC236}">
                <a16:creationId xmlns:a16="http://schemas.microsoft.com/office/drawing/2014/main" id="{C33C0302-BEB8-D920-66AE-E40C1B2C3169}"/>
              </a:ext>
            </a:extLst>
          </p:cNvPr>
          <p:cNvSpPr/>
          <p:nvPr/>
        </p:nvSpPr>
        <p:spPr>
          <a:xfrm>
            <a:off x="1235029" y="5670368"/>
            <a:ext cx="546490" cy="36036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ko-KR" sz="11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ER</a:t>
            </a:r>
            <a:br>
              <a:rPr lang="en-US" altLang="ko-KR" sz="11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1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조직</a:t>
            </a:r>
            <a:endParaRPr lang="en-US" altLang="ko-KR" sz="11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2" name="모서리가 둥근 직사각형 5">
            <a:extLst>
              <a:ext uri="{FF2B5EF4-FFF2-40B4-BE49-F238E27FC236}">
                <a16:creationId xmlns:a16="http://schemas.microsoft.com/office/drawing/2014/main" id="{4E41365F-C554-D13A-A4BD-A9DF64DDE591}"/>
              </a:ext>
            </a:extLst>
          </p:cNvPr>
          <p:cNvSpPr/>
          <p:nvPr/>
        </p:nvSpPr>
        <p:spPr>
          <a:xfrm>
            <a:off x="1244988" y="5151108"/>
            <a:ext cx="546490" cy="36036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1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현업</a:t>
            </a:r>
            <a:br>
              <a:rPr lang="en-US" altLang="ko-KR" sz="11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1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리더</a:t>
            </a:r>
            <a:endParaRPr lang="en-US" altLang="ko-KR" sz="1100" b="1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4" name="AutoShape 1603">
            <a:extLst>
              <a:ext uri="{FF2B5EF4-FFF2-40B4-BE49-F238E27FC236}">
                <a16:creationId xmlns:a16="http://schemas.microsoft.com/office/drawing/2014/main" id="{9C17F517-BCA1-720F-2BE8-C5E0C3B9FD2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56962" y="3888037"/>
            <a:ext cx="4634432" cy="260472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777777"/>
              </a:gs>
              <a:gs pos="100000">
                <a:schemeClr val="bg1"/>
              </a:gs>
            </a:gsLst>
            <a:lin ang="5400000" scaled="1"/>
          </a:gradFill>
          <a:ln w="19050" algn="ctr">
            <a:noFill/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endParaRPr lang="ko-KR" altLang="en-US" sz="1200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8459B14-4BC8-9316-DADC-A28E65D07826}"/>
              </a:ext>
            </a:extLst>
          </p:cNvPr>
          <p:cNvSpPr txBox="1"/>
          <p:nvPr/>
        </p:nvSpPr>
        <p:spPr>
          <a:xfrm>
            <a:off x="6628182" y="1831553"/>
            <a:ext cx="2769739" cy="126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lnSpc>
                <a:spcPct val="120000"/>
              </a:lnSpc>
              <a:spcBef>
                <a:spcPts val="300"/>
              </a:spcBef>
              <a:buFont typeface="Wingdings 2" panose="05020102010507070707" pitchFamily="18" charset="2"/>
              <a:buChar char="R"/>
              <a:tabLst>
                <a:tab pos="85725" algn="l"/>
              </a:tabLst>
            </a:pPr>
            <a:r>
              <a:rPr lang="en-US" altLang="ko-KR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경영진</a:t>
            </a:r>
            <a:r>
              <a:rPr lang="en-US" altLang="ko-KR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법인장</a:t>
            </a:r>
            <a:r>
              <a:rPr lang="en-US" altLang="ko-KR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노경정보 공유 정례화</a:t>
            </a:r>
            <a:r>
              <a:rPr lang="en-US" altLang="ko-KR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  </a:t>
            </a:r>
            <a:br>
              <a:rPr lang="en-US" altLang="ko-KR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ko-KR" altLang="en-US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역할확대</a:t>
            </a:r>
            <a:endParaRPr lang="en-US" altLang="ko-KR" sz="1200" b="1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 indent="-85725">
              <a:lnSpc>
                <a:spcPct val="120000"/>
              </a:lnSpc>
              <a:spcBef>
                <a:spcPts val="300"/>
              </a:spcBef>
              <a:buFont typeface="Wingdings 2" panose="05020102010507070707" pitchFamily="18" charset="2"/>
              <a:buChar char="R"/>
              <a:tabLst>
                <a:tab pos="85725" algn="l"/>
              </a:tabLst>
            </a:pPr>
            <a:r>
              <a:rPr lang="ko-KR" altLang="en-US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HR </a:t>
            </a:r>
            <a:r>
              <a:rPr lang="ko-KR" altLang="en-US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구성원 노경 이해도 제고 </a:t>
            </a:r>
            <a:br>
              <a:rPr lang="en-US" altLang="ko-KR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10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110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노경인력 </a:t>
            </a:r>
            <a:r>
              <a:rPr lang="en-US" altLang="ko-KR" sz="110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Pool </a:t>
            </a:r>
            <a:r>
              <a:rPr lang="ko-KR" altLang="en-US" sz="110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구축</a:t>
            </a:r>
            <a:endParaRPr lang="en-US" altLang="ko-KR" sz="110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 indent="-85725">
              <a:lnSpc>
                <a:spcPct val="120000"/>
              </a:lnSpc>
              <a:spcBef>
                <a:spcPts val="300"/>
              </a:spcBef>
              <a:buFont typeface="Wingdings 2" panose="05020102010507070707" pitchFamily="18" charset="2"/>
              <a:buChar char="R"/>
              <a:tabLst>
                <a:tab pos="85725" algn="l"/>
              </a:tabLst>
            </a:pPr>
            <a:r>
              <a:rPr lang="en-US" altLang="ko-KR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주재원 노경교육 필수화</a:t>
            </a:r>
            <a:endParaRPr lang="en-US" altLang="ko-KR" sz="1200" b="1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4914E5-B094-5F40-0D47-85F575C6BF68}"/>
              </a:ext>
            </a:extLst>
          </p:cNvPr>
          <p:cNvSpPr txBox="1"/>
          <p:nvPr/>
        </p:nvSpPr>
        <p:spPr>
          <a:xfrm>
            <a:off x="6628182" y="3560231"/>
            <a:ext cx="3013609" cy="760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lnSpc>
                <a:spcPct val="120000"/>
              </a:lnSpc>
              <a:spcBef>
                <a:spcPts val="300"/>
              </a:spcBef>
              <a:buFont typeface="Wingdings 2" panose="05020102010507070707" pitchFamily="18" charset="2"/>
              <a:buChar char="R"/>
              <a:tabLst>
                <a:tab pos="85725" algn="l"/>
              </a:tabLst>
            </a:pPr>
            <a:r>
              <a:rPr lang="en-US" altLang="ko-KR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노경부문 상시 </a:t>
            </a:r>
            <a:r>
              <a:rPr lang="en-US" altLang="ko-KR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Co-work </a:t>
            </a:r>
            <a:r>
              <a:rPr lang="ko-KR" altLang="en-US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체계</a:t>
            </a:r>
            <a:r>
              <a:rPr lang="en-US" altLang="ko-KR" sz="12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노하우 공유</a:t>
            </a:r>
            <a:br>
              <a:rPr lang="en-US" altLang="ko-KR" sz="12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- </a:t>
            </a:r>
            <a:r>
              <a:rPr lang="ko-KR" altLang="en-US" sz="110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업무 </a:t>
            </a:r>
            <a:r>
              <a:rPr lang="en-US" altLang="ko-KR" sz="110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Co-work, </a:t>
            </a:r>
            <a:r>
              <a:rPr lang="ko-KR" altLang="en-US" sz="110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상시</a:t>
            </a:r>
            <a:r>
              <a:rPr lang="en-US" altLang="ko-KR" sz="110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Task </a:t>
            </a:r>
            <a:r>
              <a:rPr lang="ko-KR" altLang="en-US" sz="110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실시</a:t>
            </a:r>
            <a:endParaRPr lang="en-US" altLang="ko-KR" sz="110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 indent="-85725">
              <a:lnSpc>
                <a:spcPct val="120000"/>
              </a:lnSpc>
              <a:spcBef>
                <a:spcPts val="300"/>
              </a:spcBef>
              <a:buFont typeface="Wingdings 2" panose="05020102010507070707" pitchFamily="18" charset="2"/>
              <a:buChar char="R"/>
              <a:tabLst>
                <a:tab pos="85725" algn="l"/>
              </a:tabLst>
            </a:pPr>
            <a:r>
              <a:rPr lang="en-US" altLang="ko-KR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AX </a:t>
            </a:r>
            <a:r>
              <a:rPr lang="ko-KR" altLang="en-US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기반 업무 표준 프로세스 구축</a:t>
            </a:r>
            <a:endParaRPr lang="en-US" altLang="ko-KR" sz="1200" b="1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0BACC5B-AA3D-0CF5-373A-C812EDE541D1}"/>
              </a:ext>
            </a:extLst>
          </p:cNvPr>
          <p:cNvSpPr txBox="1"/>
          <p:nvPr/>
        </p:nvSpPr>
        <p:spPr>
          <a:xfrm>
            <a:off x="6628182" y="5042637"/>
            <a:ext cx="3194691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spcBef>
                <a:spcPts val="600"/>
              </a:spcBef>
              <a:buFont typeface="Wingdings 2" panose="05020102010507070707" pitchFamily="18" charset="2"/>
              <a:buChar char="R"/>
              <a:tabLst>
                <a:tab pos="85725" algn="l"/>
              </a:tabLst>
            </a:pPr>
            <a:r>
              <a:rPr lang="ko-KR" altLang="en-US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노경관리 역량 고도화</a:t>
            </a:r>
            <a:endParaRPr lang="en-US" altLang="ko-KR" sz="1200" b="1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 indent="-85725">
              <a:spcBef>
                <a:spcPts val="600"/>
              </a:spcBef>
              <a:buFont typeface="Wingdings 2" panose="05020102010507070707" pitchFamily="18" charset="2"/>
              <a:buChar char="R"/>
              <a:tabLst>
                <a:tab pos="85725" algn="l"/>
              </a:tabLst>
            </a:pPr>
            <a:r>
              <a:rPr lang="en-US" altLang="ko-KR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노경조직 보강</a:t>
            </a:r>
            <a:r>
              <a:rPr lang="en-US" altLang="ko-KR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사이트 기반</a:t>
            </a:r>
            <a:r>
              <a:rPr lang="en-US" altLang="ko-KR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국내</a:t>
            </a:r>
            <a:r>
              <a:rPr lang="en-US" altLang="ko-KR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해외</a:t>
            </a:r>
            <a:r>
              <a:rPr lang="en-US" altLang="ko-KR" sz="12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1988AB1-2710-0C34-1EBC-96350FB1FB56}"/>
              </a:ext>
            </a:extLst>
          </p:cNvPr>
          <p:cNvSpPr/>
          <p:nvPr/>
        </p:nvSpPr>
        <p:spPr bwMode="auto">
          <a:xfrm>
            <a:off x="5759656" y="1911402"/>
            <a:ext cx="773277" cy="64807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rgbClr val="FFFFFF">
                <a:lumMod val="65000"/>
              </a:srgbClr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kern="0" spc="-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노경주체 </a:t>
            </a:r>
            <a:br>
              <a:rPr lang="en-US" altLang="ko-KR" sz="1300" b="1" kern="0" spc="-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300" b="1" kern="0" spc="-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역량강화</a:t>
            </a:r>
            <a:endParaRPr kumimoji="0" lang="en-US" altLang="ko-KR" sz="1300" b="1" i="0" u="none" strike="noStrike" kern="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E95077B8-037E-AD4C-9EA3-3A0902F77E5C}"/>
              </a:ext>
            </a:extLst>
          </p:cNvPr>
          <p:cNvSpPr/>
          <p:nvPr/>
        </p:nvSpPr>
        <p:spPr bwMode="auto">
          <a:xfrm>
            <a:off x="5769180" y="3588978"/>
            <a:ext cx="773277" cy="64807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rgbClr val="FFFFFF">
                <a:lumMod val="65000"/>
              </a:srgbClr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kern="0" spc="-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노경시스템 </a:t>
            </a:r>
            <a:br>
              <a:rPr lang="en-US" altLang="ko-KR" sz="1300" b="1" kern="0" spc="-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300" b="1" kern="0" spc="-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구축</a:t>
            </a:r>
            <a:endParaRPr kumimoji="0" lang="en-US" altLang="ko-KR" sz="1300" b="1" i="0" u="none" strike="noStrike" kern="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30F3ADD6-2B4A-DA1C-F111-5F149D4F361A}"/>
              </a:ext>
            </a:extLst>
          </p:cNvPr>
          <p:cNvSpPr/>
          <p:nvPr/>
        </p:nvSpPr>
        <p:spPr bwMode="auto">
          <a:xfrm>
            <a:off x="5774213" y="4996806"/>
            <a:ext cx="773277" cy="64807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rgbClr val="FFFFFF">
                <a:lumMod val="65000"/>
              </a:srgbClr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리소스 </a:t>
            </a:r>
            <a:br>
              <a:rPr kumimoji="0" lang="en-US" altLang="ko-KR" sz="1300" b="1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ko-KR" altLang="en-US" sz="1300" b="1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확보</a:t>
            </a:r>
            <a:endParaRPr kumimoji="0" lang="en-US" altLang="ko-KR" sz="1300" b="1" i="0" u="none" strike="noStrike" kern="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909945D-7FC9-CEEF-D38B-433E65D1331D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+mj-lt"/>
              <a:buAutoNum type="romanUcPeriod" startAt="2"/>
              <a:tabLst>
                <a:tab pos="85725" algn="l"/>
              </a:tabLst>
            </a:pPr>
            <a:r>
              <a:rPr lang="en-US" altLang="ko-KR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 </a:t>
            </a:r>
            <a:r>
              <a:rPr lang="en-US" altLang="ko-KR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3.0 </a:t>
            </a: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정의 및 실행방안 </a:t>
            </a:r>
            <a:endParaRPr lang="en-US" altLang="ko-KR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3667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그룹 58">
            <a:extLst>
              <a:ext uri="{FF2B5EF4-FFF2-40B4-BE49-F238E27FC236}">
                <a16:creationId xmlns:a16="http://schemas.microsoft.com/office/drawing/2014/main" id="{D43935C7-6A45-4AE0-4EA6-DC92025D1C83}"/>
              </a:ext>
            </a:extLst>
          </p:cNvPr>
          <p:cNvGrpSpPr/>
          <p:nvPr/>
        </p:nvGrpSpPr>
        <p:grpSpPr>
          <a:xfrm>
            <a:off x="273527" y="4420503"/>
            <a:ext cx="821657" cy="774316"/>
            <a:chOff x="387827" y="4267330"/>
            <a:chExt cx="821657" cy="59682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76FF792-283D-43BE-2565-6D68AA927DB7}"/>
                </a:ext>
              </a:extLst>
            </p:cNvPr>
            <p:cNvSpPr txBox="1"/>
            <p:nvPr/>
          </p:nvSpPr>
          <p:spPr>
            <a:xfrm>
              <a:off x="387827" y="4308313"/>
              <a:ext cx="720000" cy="446275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 </a:t>
              </a:r>
              <a:r>
                <a:rPr lang="en-US" altLang="ko-KR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Pool </a:t>
              </a:r>
              <a:br>
                <a:rPr lang="en-US" altLang="ko-KR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ko-KR" altLang="en-US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구축</a:t>
              </a:r>
              <a:endParaRPr lang="en-US" altLang="ko-KR" sz="13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756C1878-3656-1BCA-2F5C-5C38DAD6D94D}"/>
                </a:ext>
              </a:extLst>
            </p:cNvPr>
            <p:cNvCxnSpPr>
              <a:cxnSpLocks/>
            </p:cNvCxnSpPr>
            <p:nvPr/>
          </p:nvCxnSpPr>
          <p:spPr>
            <a:xfrm>
              <a:off x="1209484" y="4267330"/>
              <a:ext cx="0" cy="596820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A76F166-F03E-BC44-AE99-07F0215F8A68}"/>
              </a:ext>
            </a:extLst>
          </p:cNvPr>
          <p:cNvGrpSpPr/>
          <p:nvPr/>
        </p:nvGrpSpPr>
        <p:grpSpPr>
          <a:xfrm>
            <a:off x="242531" y="1671279"/>
            <a:ext cx="868419" cy="869106"/>
            <a:chOff x="242531" y="1734776"/>
            <a:chExt cx="868419" cy="59682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9ED2196-8FA8-15AE-8CDC-5ACDAF937B28}"/>
                </a:ext>
              </a:extLst>
            </p:cNvPr>
            <p:cNvSpPr txBox="1"/>
            <p:nvPr/>
          </p:nvSpPr>
          <p:spPr>
            <a:xfrm>
              <a:off x="242531" y="1814996"/>
              <a:ext cx="720000" cy="368822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노경관리 주체</a:t>
              </a:r>
              <a:br>
                <a:rPr lang="en-US" altLang="ko-KR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ko-KR" altLang="en-US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역할강화</a:t>
              </a:r>
              <a:endParaRPr lang="en-US" altLang="ko-KR" sz="13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A3FC91BB-084C-39AD-2FA8-AECC6DCE22B9}"/>
                </a:ext>
              </a:extLst>
            </p:cNvPr>
            <p:cNvCxnSpPr>
              <a:cxnSpLocks/>
            </p:cNvCxnSpPr>
            <p:nvPr/>
          </p:nvCxnSpPr>
          <p:spPr>
            <a:xfrm>
              <a:off x="1110950" y="1734776"/>
              <a:ext cx="0" cy="596820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F19A81B9-9DFD-6708-820D-A379E91AE0C9}"/>
              </a:ext>
            </a:extLst>
          </p:cNvPr>
          <p:cNvGrpSpPr/>
          <p:nvPr/>
        </p:nvGrpSpPr>
        <p:grpSpPr>
          <a:xfrm>
            <a:off x="1671166" y="961758"/>
            <a:ext cx="3398717" cy="307777"/>
            <a:chOff x="2370695" y="1018908"/>
            <a:chExt cx="2201347" cy="30777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80D8EEF-6D43-6533-196D-AE3684AF4DFF}"/>
                </a:ext>
              </a:extLst>
            </p:cNvPr>
            <p:cNvSpPr txBox="1"/>
            <p:nvPr/>
          </p:nvSpPr>
          <p:spPr>
            <a:xfrm>
              <a:off x="3117146" y="1018908"/>
              <a:ext cx="7715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>
                  <a:solidFill>
                    <a:srgbClr val="000000"/>
                  </a:solidFill>
                  <a:latin typeface="Arial Narrow" pitchFamily="34" charset="0"/>
                  <a:ea typeface="LG스마트체 Regular" pitchFamily="50" charset="-127"/>
                  <a:cs typeface="Arial" pitchFamily="34" charset="0"/>
                </a:rPr>
                <a:t>현황</a:t>
              </a:r>
              <a:endParaRPr lang="en-US" altLang="ko-KR" sz="14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endParaRP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3FF995C3-BE5C-0A60-148A-EB25510183B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70695" y="1326685"/>
              <a:ext cx="220134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2815F684-3A2D-9354-456D-AFCE8798A035}"/>
              </a:ext>
            </a:extLst>
          </p:cNvPr>
          <p:cNvGrpSpPr/>
          <p:nvPr/>
        </p:nvGrpSpPr>
        <p:grpSpPr>
          <a:xfrm>
            <a:off x="6182631" y="961758"/>
            <a:ext cx="3284604" cy="310452"/>
            <a:chOff x="5800986" y="1018908"/>
            <a:chExt cx="2201347" cy="31045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F53073F-ED6F-1BB1-F7E7-51B2BB0CB8DB}"/>
                </a:ext>
              </a:extLst>
            </p:cNvPr>
            <p:cNvSpPr txBox="1"/>
            <p:nvPr/>
          </p:nvSpPr>
          <p:spPr>
            <a:xfrm>
              <a:off x="6523916" y="1018908"/>
              <a:ext cx="84871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400" b="1">
                  <a:solidFill>
                    <a:srgbClr val="000000"/>
                  </a:solidFill>
                  <a:latin typeface="Arial Narrow" pitchFamily="34" charset="0"/>
                  <a:ea typeface="LG스마트체 Regular" pitchFamily="50" charset="-127"/>
                  <a:cs typeface="Arial" pitchFamily="34" charset="0"/>
                </a:rPr>
                <a:t>실행방안</a:t>
              </a:r>
              <a:endParaRPr lang="en-US" altLang="ko-KR" sz="14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endParaRPr>
            </a:p>
          </p:txBody>
        </p: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C96776AE-20B0-9FE2-5B00-5AE7D7E0073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800986" y="1329360"/>
              <a:ext cx="220134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6FDB8BB-AEC6-AE64-F443-1FFCCCCA30FB}"/>
              </a:ext>
            </a:extLst>
          </p:cNvPr>
          <p:cNvSpPr txBox="1"/>
          <p:nvPr/>
        </p:nvSpPr>
        <p:spPr>
          <a:xfrm>
            <a:off x="1358221" y="4357167"/>
            <a:ext cx="4354841" cy="75834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85725" indent="-8572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CHO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부분 내 노경인력 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Pool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부재 </a:t>
            </a:r>
            <a:b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-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노경조직에 대한 이해도 부족 및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Barrier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존재</a:t>
            </a:r>
            <a:b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 (“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노경은 아무나 할 수 없다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”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는 인식존재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)</a:t>
            </a:r>
            <a:endParaRPr lang="en-US" altLang="ko-KR" sz="1300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CB6563-4435-B695-603A-98EFAE8B8457}"/>
              </a:ext>
            </a:extLst>
          </p:cNvPr>
          <p:cNvSpPr txBox="1"/>
          <p:nvPr/>
        </p:nvSpPr>
        <p:spPr>
          <a:xfrm>
            <a:off x="6162810" y="1584829"/>
            <a:ext cx="3743190" cy="10753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85725" indent="-85725">
              <a:lnSpc>
                <a:spcPct val="120000"/>
              </a:lnSpc>
              <a:spcBef>
                <a:spcPts val="600"/>
              </a:spcBef>
              <a:buFont typeface="Wingdings 2" panose="05020102010507070707" pitchFamily="18" charset="2"/>
              <a:buChar char="R"/>
            </a:pPr>
            <a:r>
              <a:rPr kumimoji="0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경영진 노경 관심도 제고 방안 검토</a:t>
            </a:r>
            <a:r>
              <a:rPr kumimoji="0" lang="en-US" altLang="ko-KR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kumimoji="0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수립필요</a:t>
            </a:r>
            <a:r>
              <a:rPr kumimoji="0" lang="en-US" altLang="ko-KR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 </a:t>
            </a:r>
            <a:br>
              <a:rPr kumimoji="0" lang="en-US" altLang="ko-KR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-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노경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Report(Weekly ER Trend)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최고경영진 공유여부 검토</a:t>
            </a: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  <a:p>
            <a:pPr marL="85725" indent="-85725">
              <a:lnSpc>
                <a:spcPct val="120000"/>
              </a:lnSpc>
              <a:spcBef>
                <a:spcPts val="600"/>
              </a:spcBef>
              <a:buFont typeface="Wingdings 2" panose="05020102010507070707" pitchFamily="18" charset="2"/>
              <a:buChar char="R"/>
            </a:pPr>
            <a:r>
              <a:rPr lang="en-US" altLang="ko-KR" sz="13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300" b="1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신임팀장</a:t>
            </a:r>
            <a:r>
              <a:rPr lang="en-US" altLang="ko-KR" sz="1300" b="1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주재원 파견자 노경관리 교육 필수화</a:t>
            </a:r>
            <a:br>
              <a:rPr lang="en-US" altLang="ko-KR" sz="13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-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노경환경에 대한 이해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,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노무관리 필요성 강조</a:t>
            </a:r>
            <a:endParaRPr lang="en-US" altLang="ko-KR" sz="1300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08CEDD-2FB7-DF2A-8D70-51A3AC8EBE45}"/>
              </a:ext>
            </a:extLst>
          </p:cNvPr>
          <p:cNvSpPr txBox="1"/>
          <p:nvPr/>
        </p:nvSpPr>
        <p:spPr>
          <a:xfrm>
            <a:off x="6357187" y="181068"/>
            <a:ext cx="3284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④ 노경</a:t>
            </a:r>
            <a:r>
              <a:rPr lang="en-US" altLang="ko-KR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3.0 </a:t>
            </a:r>
            <a:r>
              <a:rPr lang="ko-KR" altLang="en-US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실행력 강화방안</a:t>
            </a:r>
            <a:r>
              <a:rPr lang="en-US" altLang="ko-KR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A2E608-9E28-606A-892C-892484AA9640}"/>
              </a:ext>
            </a:extLst>
          </p:cNvPr>
          <p:cNvSpPr txBox="1"/>
          <p:nvPr/>
        </p:nvSpPr>
        <p:spPr>
          <a:xfrm>
            <a:off x="1358221" y="1573290"/>
            <a:ext cx="4262186" cy="2148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indent="-85725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신임 법인장 온보딩 교육 시 노경교육 실시 중</a:t>
            </a:r>
            <a:b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단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,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사업부 조직책임자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주재원 파견자에 대한 노경교육 부재</a:t>
            </a:r>
            <a:b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-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노경관련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Agenda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는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이슈발생 시에만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Input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됨</a:t>
            </a:r>
            <a:endParaRPr lang="en-US" altLang="ko-KR" sz="1200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  <a:p>
            <a:pPr marL="85725" indent="-85725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3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조직관리는 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HR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부서의 역할로 보고 조직 자체적인 </a:t>
            </a:r>
            <a:r>
              <a:rPr lang="ko-KR" altLang="en-US" sz="13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이슈해결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,</a:t>
            </a:r>
            <a:b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예방노력 부재</a:t>
            </a:r>
            <a:endParaRPr lang="en-US" altLang="ko-KR" sz="1300" b="1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  <a:p>
            <a:pPr marL="85725" indent="-85725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조직책임자 </a:t>
            </a:r>
            <a:r>
              <a:rPr kumimoji="0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노경 </a:t>
            </a:r>
            <a:r>
              <a:rPr kumimoji="0" lang="en-US" altLang="ko-KR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Mind </a:t>
            </a:r>
            <a:r>
              <a:rPr kumimoji="0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함양 기회 부족</a:t>
            </a:r>
            <a:br>
              <a:rPr kumimoji="0" lang="en-US" altLang="ko-KR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조직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사람관리 인식 미흡</a:t>
            </a:r>
            <a:b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- </a:t>
            </a:r>
            <a:r>
              <a:rPr lang="ko-KR" altLang="en-US" sz="1200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평균 팀장 재임기간</a:t>
            </a:r>
            <a:r>
              <a:rPr lang="en-US" altLang="ko-KR" sz="1200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(2.7</a:t>
            </a:r>
            <a:r>
              <a:rPr lang="ko-KR" altLang="en-US" sz="1200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년</a:t>
            </a:r>
            <a:r>
              <a:rPr lang="en-US" altLang="ko-KR" sz="1200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), 3</a:t>
            </a:r>
            <a:r>
              <a:rPr lang="ko-KR" altLang="en-US" sz="1200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년 미만 재임 </a:t>
            </a:r>
            <a:r>
              <a:rPr lang="en-US" altLang="ko-KR" sz="1200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54%(361/668)</a:t>
            </a:r>
            <a:endParaRPr lang="en-US" altLang="ko-KR" sz="1300"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5916C39-648D-43A9-117D-2AD79ED03031}"/>
              </a:ext>
            </a:extLst>
          </p:cNvPr>
          <p:cNvGrpSpPr/>
          <p:nvPr/>
        </p:nvGrpSpPr>
        <p:grpSpPr>
          <a:xfrm rot="5400000">
            <a:off x="4786138" y="2550232"/>
            <a:ext cx="2342369" cy="357489"/>
            <a:chOff x="1056508" y="2023350"/>
            <a:chExt cx="4388785" cy="357489"/>
          </a:xfrm>
        </p:grpSpPr>
        <p:sp>
          <p:nvSpPr>
            <p:cNvPr id="15" name="화살표: 오각형 14">
              <a:extLst>
                <a:ext uri="{FF2B5EF4-FFF2-40B4-BE49-F238E27FC236}">
                  <a16:creationId xmlns:a16="http://schemas.microsoft.com/office/drawing/2014/main" id="{DAFD54F5-DCDB-56F4-E9F6-1E963C1E6D59}"/>
                </a:ext>
              </a:extLst>
            </p:cNvPr>
            <p:cNvSpPr/>
            <p:nvPr/>
          </p:nvSpPr>
          <p:spPr>
            <a:xfrm>
              <a:off x="1056508" y="2023350"/>
              <a:ext cx="2307376" cy="357487"/>
            </a:xfrm>
            <a:prstGeom prst="homePlate">
              <a:avLst/>
            </a:prstGeom>
            <a:solidFill>
              <a:schemeClr val="bg1">
                <a:lumMod val="65000"/>
              </a:scheme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vert="vert27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300" b="1" kern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단기</a:t>
              </a:r>
              <a:endParaRPr kumimoji="0" lang="ko-KR" altLang="en-US" sz="13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7" name="화살표: 갈매기형 수장 16">
              <a:extLst>
                <a:ext uri="{FF2B5EF4-FFF2-40B4-BE49-F238E27FC236}">
                  <a16:creationId xmlns:a16="http://schemas.microsoft.com/office/drawing/2014/main" id="{3DF42DAC-71A6-F553-CB0B-DBDA0237F742}"/>
                </a:ext>
              </a:extLst>
            </p:cNvPr>
            <p:cNvSpPr/>
            <p:nvPr/>
          </p:nvSpPr>
          <p:spPr>
            <a:xfrm>
              <a:off x="3137919" y="2023352"/>
              <a:ext cx="2307374" cy="357487"/>
            </a:xfrm>
            <a:prstGeom prst="chevron">
              <a:avLst/>
            </a:prstGeom>
            <a:solidFill>
              <a:schemeClr val="tx1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vert="vert27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중</a:t>
              </a:r>
              <a:br>
                <a:rPr kumimoji="0" lang="en-US" altLang="ko-KR" sz="13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kumimoji="0" lang="en-US" altLang="ko-KR" sz="13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·</a:t>
              </a:r>
              <a:br>
                <a:rPr kumimoji="0" lang="en-US" altLang="ko-KR" sz="13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kumimoji="0" lang="ko-KR" altLang="en-US" sz="13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장기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AF69FEF-14DC-8324-D089-95F00C7A1C88}"/>
              </a:ext>
            </a:extLst>
          </p:cNvPr>
          <p:cNvSpPr txBox="1"/>
          <p:nvPr/>
        </p:nvSpPr>
        <p:spPr>
          <a:xfrm>
            <a:off x="6162810" y="4289424"/>
            <a:ext cx="3948620" cy="97994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85725" indent="-85725">
              <a:lnSpc>
                <a:spcPct val="120000"/>
              </a:lnSpc>
              <a:spcBef>
                <a:spcPts val="600"/>
              </a:spcBef>
              <a:buFont typeface="Wingdings 2" panose="05020102010507070707" pitchFamily="18" charset="2"/>
              <a:buChar char="R"/>
            </a:pPr>
            <a:r>
              <a:rPr kumimoji="0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HR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구성원의 노경 이해도 제고 </a:t>
            </a:r>
            <a:b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-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기획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협력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운영 각 팀의 핵심 업무 공유 기회</a:t>
            </a:r>
            <a:b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 (HR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부문 내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Network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강화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)</a:t>
            </a:r>
            <a:b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 b="1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  </a:t>
            </a:r>
            <a:r>
              <a:rPr lang="en-US" altLang="ko-KR" sz="1100" b="1">
                <a:solidFill>
                  <a:srgbClr val="0066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*G HR</a:t>
            </a:r>
            <a:r>
              <a:rPr lang="ko-KR" altLang="en-US" sz="1100" b="1">
                <a:solidFill>
                  <a:srgbClr val="0066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팀 대상 노경 기본 교육 실시완료</a:t>
            </a:r>
            <a:r>
              <a:rPr lang="en-US" altLang="ko-KR" sz="1100" b="1">
                <a:solidFill>
                  <a:srgbClr val="0066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(1/14)</a:t>
            </a:r>
            <a:endParaRPr kumimoji="0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6233308-B518-24A9-1483-28B5C29264BF}"/>
              </a:ext>
            </a:extLst>
          </p:cNvPr>
          <p:cNvGrpSpPr/>
          <p:nvPr/>
        </p:nvGrpSpPr>
        <p:grpSpPr>
          <a:xfrm rot="5400000">
            <a:off x="4855263" y="5304142"/>
            <a:ext cx="2217611" cy="357489"/>
            <a:chOff x="1056508" y="2023350"/>
            <a:chExt cx="4388785" cy="357489"/>
          </a:xfrm>
        </p:grpSpPr>
        <p:sp>
          <p:nvSpPr>
            <p:cNvPr id="22" name="화살표: 오각형 21">
              <a:extLst>
                <a:ext uri="{FF2B5EF4-FFF2-40B4-BE49-F238E27FC236}">
                  <a16:creationId xmlns:a16="http://schemas.microsoft.com/office/drawing/2014/main" id="{07E07046-295B-7F7D-5383-20500F42CC1D}"/>
                </a:ext>
              </a:extLst>
            </p:cNvPr>
            <p:cNvSpPr/>
            <p:nvPr/>
          </p:nvSpPr>
          <p:spPr>
            <a:xfrm>
              <a:off x="1056508" y="2023350"/>
              <a:ext cx="2307376" cy="357487"/>
            </a:xfrm>
            <a:prstGeom prst="homePlate">
              <a:avLst/>
            </a:prstGeom>
            <a:solidFill>
              <a:schemeClr val="bg1">
                <a:lumMod val="65000"/>
              </a:scheme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vert="vert27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300" b="1" kern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단기</a:t>
              </a:r>
              <a:endParaRPr kumimoji="0" lang="ko-KR" altLang="en-US" sz="13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4" name="화살표: 갈매기형 수장 23">
              <a:extLst>
                <a:ext uri="{FF2B5EF4-FFF2-40B4-BE49-F238E27FC236}">
                  <a16:creationId xmlns:a16="http://schemas.microsoft.com/office/drawing/2014/main" id="{9C0D1FA4-C4EF-8A82-56C7-E058E4EF76B8}"/>
                </a:ext>
              </a:extLst>
            </p:cNvPr>
            <p:cNvSpPr/>
            <p:nvPr/>
          </p:nvSpPr>
          <p:spPr>
            <a:xfrm>
              <a:off x="3137919" y="2023352"/>
              <a:ext cx="2307374" cy="357487"/>
            </a:xfrm>
            <a:prstGeom prst="chevron">
              <a:avLst/>
            </a:prstGeom>
            <a:solidFill>
              <a:schemeClr val="tx1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vert="vert27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중</a:t>
              </a:r>
              <a:br>
                <a:rPr kumimoji="0" lang="en-US" altLang="ko-KR" sz="13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kumimoji="0" lang="en-US" altLang="ko-KR" sz="13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·</a:t>
              </a:r>
              <a:br>
                <a:rPr kumimoji="0" lang="en-US" altLang="ko-KR" sz="13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kumimoji="0" lang="ko-KR" altLang="en-US" sz="13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장기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AC06703-C413-4591-4451-DA38E38F8EE8}"/>
              </a:ext>
            </a:extLst>
          </p:cNvPr>
          <p:cNvSpPr txBox="1"/>
          <p:nvPr/>
        </p:nvSpPr>
        <p:spPr>
          <a:xfrm>
            <a:off x="6162810" y="5418050"/>
            <a:ext cx="3948620" cy="10338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85725" indent="-85725">
              <a:lnSpc>
                <a:spcPct val="120000"/>
              </a:lnSpc>
              <a:spcBef>
                <a:spcPts val="600"/>
              </a:spcBef>
              <a:buFont typeface="Wingdings 2" panose="05020102010507070707" pitchFamily="18" charset="2"/>
              <a:buChar char="R"/>
            </a:pP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ER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담당자 역할을 강화하여 국내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및 </a:t>
            </a:r>
            <a:b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 Global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노경 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Pool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구축</a:t>
            </a:r>
            <a:br>
              <a:rPr kumimoji="0" lang="en-US" altLang="ko-KR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-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노경핵심 역량 지표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+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개인별 성향을 감안한 </a:t>
            </a:r>
            <a:b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인력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Pool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구축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endParaRPr kumimoji="0" lang="en-US" altLang="ko-KR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72BB84-7E14-8DEB-6317-ABB449F61B76}"/>
              </a:ext>
            </a:extLst>
          </p:cNvPr>
          <p:cNvSpPr txBox="1"/>
          <p:nvPr/>
        </p:nvSpPr>
        <p:spPr>
          <a:xfrm>
            <a:off x="1358221" y="5330751"/>
            <a:ext cx="4354841" cy="5537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85725" indent="-8572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대노조 관련 업무만 수행한다는 오인 </a:t>
            </a:r>
            <a:b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- “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노경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=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노동조합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”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이라는 인식</a:t>
            </a:r>
            <a:endParaRPr lang="en-US" altLang="ko-KR" sz="130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DFA812-9AA2-CA09-CFC8-1DB2BB83A26D}"/>
              </a:ext>
            </a:extLst>
          </p:cNvPr>
          <p:cNvSpPr txBox="1"/>
          <p:nvPr/>
        </p:nvSpPr>
        <p:spPr>
          <a:xfrm>
            <a:off x="6162810" y="2777048"/>
            <a:ext cx="3743190" cy="979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marR="0" lvl="0" indent="-85725" algn="l" defTabSz="914400" rtl="0" eaLnBrk="1" fontAlgn="auto" latin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Char char="R"/>
              <a:tabLst/>
              <a:defRPr/>
            </a:pPr>
            <a:r>
              <a:rPr kumimoji="0" lang="en-US" altLang="ko-KR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현업에 대한 선제적 이슈해결 지원활동 실시</a:t>
            </a:r>
            <a:br>
              <a:rPr kumimoji="0" lang="en-US" altLang="ko-KR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-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조직 내 고충해결을 위한 선제적 관리</a:t>
            </a:r>
            <a:b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 (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노경관리 인덱스와 연계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주기적인 모니터링 및 </a:t>
            </a:r>
            <a:b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조직책임자 이슈 공유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  <a:endParaRPr kumimoji="0" lang="en-US" altLang="ko-KR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2" name="실행 단추: 앞으로 또는 다음 84">
            <a:hlinkClick r:id="rId3" action="ppaction://hlinksldjump"/>
            <a:extLst>
              <a:ext uri="{FF2B5EF4-FFF2-40B4-BE49-F238E27FC236}">
                <a16:creationId xmlns:a16="http://schemas.microsoft.com/office/drawing/2014/main" id="{05B91A63-FDB9-DAA2-A7A2-A8B2538D14E6}"/>
              </a:ext>
            </a:extLst>
          </p:cNvPr>
          <p:cNvSpPr/>
          <p:nvPr/>
        </p:nvSpPr>
        <p:spPr>
          <a:xfrm>
            <a:off x="8016919" y="5761513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8C15E4-E7A0-B268-0597-EB0A33427799}"/>
              </a:ext>
            </a:extLst>
          </p:cNvPr>
          <p:cNvSpPr txBox="1"/>
          <p:nvPr/>
        </p:nvSpPr>
        <p:spPr>
          <a:xfrm>
            <a:off x="8201492" y="5746015"/>
            <a:ext cx="111088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100" u="sng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ER</a:t>
            </a:r>
            <a:r>
              <a:rPr lang="ko-KR" altLang="en-US" sz="1100" u="sng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담당자 활동사항</a:t>
            </a:r>
            <a:endParaRPr lang="en-US" altLang="ko-KR" sz="1100" u="sng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B05A5C5-8128-6CA6-4975-AA991D88B563}"/>
              </a:ext>
            </a:extLst>
          </p:cNvPr>
          <p:cNvCxnSpPr>
            <a:cxnSpLocks/>
          </p:cNvCxnSpPr>
          <p:nvPr/>
        </p:nvCxnSpPr>
        <p:spPr>
          <a:xfrm>
            <a:off x="1423358" y="4121355"/>
            <a:ext cx="820280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794732E-C3E6-23FA-03CD-123964A5C4A5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+mj-lt"/>
              <a:buAutoNum type="romanUcPeriod" startAt="2"/>
              <a:tabLst>
                <a:tab pos="85725" algn="l"/>
              </a:tabLst>
            </a:pPr>
            <a:r>
              <a:rPr lang="en-US" altLang="ko-KR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 </a:t>
            </a:r>
            <a:r>
              <a:rPr lang="en-US" altLang="ko-KR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3.0 </a:t>
            </a: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정의 및 실행방안 </a:t>
            </a:r>
            <a:endParaRPr lang="en-US" altLang="ko-KR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0703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그룹 58">
            <a:extLst>
              <a:ext uri="{FF2B5EF4-FFF2-40B4-BE49-F238E27FC236}">
                <a16:creationId xmlns:a16="http://schemas.microsoft.com/office/drawing/2014/main" id="{D43935C7-6A45-4AE0-4EA6-DC92025D1C83}"/>
              </a:ext>
            </a:extLst>
          </p:cNvPr>
          <p:cNvGrpSpPr/>
          <p:nvPr/>
        </p:nvGrpSpPr>
        <p:grpSpPr>
          <a:xfrm>
            <a:off x="273527" y="4129818"/>
            <a:ext cx="821657" cy="851749"/>
            <a:chOff x="387827" y="4261378"/>
            <a:chExt cx="821657" cy="65650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76FF792-283D-43BE-2565-6D68AA927DB7}"/>
                </a:ext>
              </a:extLst>
            </p:cNvPr>
            <p:cNvSpPr txBox="1"/>
            <p:nvPr/>
          </p:nvSpPr>
          <p:spPr>
            <a:xfrm>
              <a:off x="387827" y="4338175"/>
              <a:ext cx="720000" cy="446275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AX </a:t>
              </a:r>
              <a:r>
                <a:rPr lang="ko-KR" altLang="en-US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기반 </a:t>
              </a:r>
              <a:br>
                <a:rPr lang="en-US" altLang="ko-KR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ko-KR" altLang="en-US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업무체계 </a:t>
              </a:r>
              <a:br>
                <a:rPr lang="en-US" altLang="ko-KR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ko-KR" altLang="en-US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구축</a:t>
              </a:r>
              <a:endParaRPr lang="en-US" altLang="ko-KR" sz="13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756C1878-3656-1BCA-2F5C-5C38DAD6D94D}"/>
                </a:ext>
              </a:extLst>
            </p:cNvPr>
            <p:cNvCxnSpPr>
              <a:cxnSpLocks/>
            </p:cNvCxnSpPr>
            <p:nvPr/>
          </p:nvCxnSpPr>
          <p:spPr>
            <a:xfrm>
              <a:off x="1209484" y="4261378"/>
              <a:ext cx="0" cy="656502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F724BE0-8C9A-AF71-93A0-C41CE3B78CF8}"/>
              </a:ext>
            </a:extLst>
          </p:cNvPr>
          <p:cNvGrpSpPr/>
          <p:nvPr/>
        </p:nvGrpSpPr>
        <p:grpSpPr>
          <a:xfrm>
            <a:off x="273527" y="1358398"/>
            <a:ext cx="821657" cy="860084"/>
            <a:chOff x="273527" y="1692621"/>
            <a:chExt cx="821657" cy="59681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9ED2196-8FA8-15AE-8CDC-5ACDAF937B28}"/>
                </a:ext>
              </a:extLst>
            </p:cNvPr>
            <p:cNvSpPr txBox="1"/>
            <p:nvPr/>
          </p:nvSpPr>
          <p:spPr>
            <a:xfrm>
              <a:off x="273527" y="1728972"/>
              <a:ext cx="720000" cy="446275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노경부문</a:t>
              </a:r>
              <a:br>
                <a:rPr lang="en-US" altLang="ko-KR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ko-KR" altLang="en-US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상시 </a:t>
              </a:r>
              <a:r>
                <a:rPr lang="en-US" altLang="ko-KR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Co-work</a:t>
              </a:r>
              <a:br>
                <a:rPr lang="en-US" altLang="ko-KR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ko-KR" altLang="en-US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체계</a:t>
              </a:r>
              <a:endParaRPr lang="en-US" altLang="ko-KR" sz="13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A3FC91BB-084C-39AD-2FA8-AECC6DCE22B9}"/>
                </a:ext>
              </a:extLst>
            </p:cNvPr>
            <p:cNvCxnSpPr>
              <a:cxnSpLocks/>
            </p:cNvCxnSpPr>
            <p:nvPr/>
          </p:nvCxnSpPr>
          <p:spPr>
            <a:xfrm>
              <a:off x="1095184" y="1692621"/>
              <a:ext cx="0" cy="596819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F19A81B9-9DFD-6708-820D-A379E91AE0C9}"/>
              </a:ext>
            </a:extLst>
          </p:cNvPr>
          <p:cNvGrpSpPr/>
          <p:nvPr/>
        </p:nvGrpSpPr>
        <p:grpSpPr>
          <a:xfrm>
            <a:off x="1671166" y="726267"/>
            <a:ext cx="3398717" cy="307777"/>
            <a:chOff x="2370695" y="1018908"/>
            <a:chExt cx="2201347" cy="30777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80D8EEF-6D43-6533-196D-AE3684AF4DFF}"/>
                </a:ext>
              </a:extLst>
            </p:cNvPr>
            <p:cNvSpPr txBox="1"/>
            <p:nvPr/>
          </p:nvSpPr>
          <p:spPr>
            <a:xfrm>
              <a:off x="3082013" y="1018908"/>
              <a:ext cx="7715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>
                  <a:solidFill>
                    <a:srgbClr val="000000"/>
                  </a:solidFill>
                  <a:latin typeface="Arial Narrow" pitchFamily="34" charset="0"/>
                  <a:ea typeface="LG스마트체 Regular" pitchFamily="50" charset="-127"/>
                  <a:cs typeface="Arial" pitchFamily="34" charset="0"/>
                </a:rPr>
                <a:t>현황</a:t>
              </a:r>
              <a:endParaRPr lang="en-US" altLang="ko-KR" sz="14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endParaRP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3FF995C3-BE5C-0A60-148A-EB25510183B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70695" y="1326685"/>
              <a:ext cx="220134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2815F684-3A2D-9354-456D-AFCE8798A035}"/>
              </a:ext>
            </a:extLst>
          </p:cNvPr>
          <p:cNvGrpSpPr/>
          <p:nvPr/>
        </p:nvGrpSpPr>
        <p:grpSpPr>
          <a:xfrm>
            <a:off x="6182631" y="723592"/>
            <a:ext cx="3284604" cy="310452"/>
            <a:chOff x="5800986" y="1018908"/>
            <a:chExt cx="2201347" cy="31045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F53073F-ED6F-1BB1-F7E7-51B2BB0CB8DB}"/>
                </a:ext>
              </a:extLst>
            </p:cNvPr>
            <p:cNvSpPr txBox="1"/>
            <p:nvPr/>
          </p:nvSpPr>
          <p:spPr>
            <a:xfrm>
              <a:off x="6523916" y="1018908"/>
              <a:ext cx="84871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400" b="1">
                  <a:solidFill>
                    <a:srgbClr val="000000"/>
                  </a:solidFill>
                  <a:latin typeface="Arial Narrow" pitchFamily="34" charset="0"/>
                  <a:ea typeface="LG스마트체 Regular" pitchFamily="50" charset="-127"/>
                  <a:cs typeface="Arial" pitchFamily="34" charset="0"/>
                </a:rPr>
                <a:t>실행방안</a:t>
              </a:r>
              <a:endParaRPr lang="en-US" altLang="ko-KR" sz="14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endParaRPr>
            </a:p>
          </p:txBody>
        </p: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C96776AE-20B0-9FE2-5B00-5AE7D7E0073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800986" y="1329360"/>
              <a:ext cx="220134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6FDB8BB-AEC6-AE64-F443-1FFCCCCA30FB}"/>
              </a:ext>
            </a:extLst>
          </p:cNvPr>
          <p:cNvSpPr txBox="1"/>
          <p:nvPr/>
        </p:nvSpPr>
        <p:spPr>
          <a:xfrm>
            <a:off x="1328825" y="4056817"/>
            <a:ext cx="4354841" cy="9971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72000" marR="0" lvl="0" indent="-72000" algn="l" defTabSz="914400" rtl="0" eaLnBrk="1" fontAlgn="ctr" latin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각 팀별 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AX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관련 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KPI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수립</a:t>
            </a:r>
            <a:b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-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노경기획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협력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: </a:t>
            </a:r>
            <a:r>
              <a:rPr kumimoji="0" lang="en-US" altLang="ko-KR" sz="1200" i="0" u="none" strike="noStrike" kern="1200" cap="none" spc="-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AX </a:t>
            </a:r>
            <a:r>
              <a:rPr kumimoji="0" lang="ko-KR" altLang="en-US" sz="1200" i="0" u="none" strike="noStrike" kern="1200" cap="none" spc="-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기반 </a:t>
            </a:r>
            <a:r>
              <a:rPr kumimoji="0" lang="en-US" altLang="ko-KR" sz="1200" i="0" u="none" strike="noStrike" kern="1200" cap="none" spc="-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‘</a:t>
            </a:r>
            <a:r>
              <a:rPr kumimoji="0" lang="ko-KR" altLang="en-US" sz="1200" i="0" u="none" strike="noStrike" kern="1200" cap="none" spc="-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노경관리 어시스턴트</a:t>
            </a:r>
            <a:r>
              <a:rPr kumimoji="0" lang="en-US" altLang="ko-KR" sz="1200" i="0" u="none" strike="noStrike" kern="1200" cap="none" spc="-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’ </a:t>
            </a:r>
            <a:r>
              <a:rPr kumimoji="0" lang="ko-KR" altLang="en-US" sz="1200" i="0" u="none" strike="noStrike" kern="1200" cap="none" spc="-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구축</a:t>
            </a:r>
            <a:b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-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노경운영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: </a:t>
            </a:r>
            <a:r>
              <a:rPr kumimoji="0" lang="en-US" altLang="ko-KR" sz="1200" i="0" u="none" strike="noStrike" kern="120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AI </a:t>
            </a:r>
            <a:r>
              <a:rPr kumimoji="0" lang="ko-KR" altLang="en-US" sz="1200" i="0" u="none" strike="noStrike" kern="120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기반 현장리더</a:t>
            </a:r>
            <a:r>
              <a:rPr kumimoji="0" lang="en-US" altLang="ko-KR" sz="1200" i="0" u="none" strike="noStrike" kern="120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0" lang="ko-KR" altLang="en-US" sz="1200" i="0" u="none" strike="noStrike" kern="120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실장</a:t>
            </a:r>
            <a:r>
              <a:rPr kumimoji="0" lang="en-US" altLang="ko-KR" sz="1200" i="0" u="none" strike="noStrike" kern="120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kumimoji="0" lang="ko-KR" altLang="en-US" sz="1200" i="0" u="none" strike="noStrike" kern="120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리더십 분석 및 </a:t>
            </a:r>
            <a:br>
              <a:rPr kumimoji="0" lang="en-US" altLang="ko-KR" sz="1200" i="0" u="none" strike="noStrike" kern="120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en-US" altLang="ko-KR" sz="1200" i="0" u="none" strike="noStrike" kern="120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          </a:t>
            </a:r>
            <a:r>
              <a:rPr kumimoji="0" lang="ko-KR" altLang="en-US" sz="1200" i="0" u="none" strike="noStrike" kern="120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관리 고도화</a:t>
            </a:r>
            <a:endParaRPr kumimoji="0" lang="en-US" altLang="ko-KR" sz="1300" i="0" u="none" strike="noStrike" kern="1200" cap="none" spc="-3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B430833-8696-5972-7A02-3B00D521A857}"/>
              </a:ext>
            </a:extLst>
          </p:cNvPr>
          <p:cNvSpPr txBox="1"/>
          <p:nvPr/>
        </p:nvSpPr>
        <p:spPr>
          <a:xfrm>
            <a:off x="1328825" y="1286510"/>
            <a:ext cx="4354841" cy="159094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85725" indent="-85725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노경부문 內 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3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개 팀 간 업무 중심의 협조는 원활하게 </a:t>
            </a:r>
            <a:b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수행 중</a:t>
            </a:r>
            <a:endParaRPr lang="en-US" altLang="ko-KR" sz="1300" b="1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  <a:p>
            <a:pPr marL="85725" indent="-85725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단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,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각 팀별 핵심업무 수행 노하우 및 지식은 개개인에 </a:t>
            </a:r>
            <a:b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의존적임</a:t>
            </a:r>
            <a:b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- Concern) “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현재 우리의 상황에서 누군가 부재 시 </a:t>
            </a:r>
            <a:b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                 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대체할 수 있는 사람이 있는가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”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endParaRPr lang="en-US" altLang="ko-KR" sz="1300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337318F-2973-93BA-D8EE-D021133533DF}"/>
              </a:ext>
            </a:extLst>
          </p:cNvPr>
          <p:cNvGrpSpPr/>
          <p:nvPr/>
        </p:nvGrpSpPr>
        <p:grpSpPr>
          <a:xfrm rot="5400000">
            <a:off x="4740251" y="5137213"/>
            <a:ext cx="2447633" cy="357489"/>
            <a:chOff x="1056508" y="2023351"/>
            <a:chExt cx="4388786" cy="357489"/>
          </a:xfrm>
        </p:grpSpPr>
        <p:sp>
          <p:nvSpPr>
            <p:cNvPr id="6" name="화살표: 오각형 5">
              <a:extLst>
                <a:ext uri="{FF2B5EF4-FFF2-40B4-BE49-F238E27FC236}">
                  <a16:creationId xmlns:a16="http://schemas.microsoft.com/office/drawing/2014/main" id="{ADB27C0C-E752-DA8A-F9C3-94D9A12EAE6F}"/>
                </a:ext>
              </a:extLst>
            </p:cNvPr>
            <p:cNvSpPr/>
            <p:nvPr/>
          </p:nvSpPr>
          <p:spPr>
            <a:xfrm>
              <a:off x="1056508" y="2023351"/>
              <a:ext cx="1500814" cy="357487"/>
            </a:xfrm>
            <a:prstGeom prst="homePlate">
              <a:avLst/>
            </a:prstGeom>
            <a:solidFill>
              <a:schemeClr val="bg1">
                <a:lumMod val="65000"/>
              </a:scheme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vert="vert27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300" b="1" kern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단기</a:t>
              </a:r>
              <a:endParaRPr kumimoji="0" lang="ko-KR" altLang="en-US" sz="13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9" name="화살표: 갈매기형 수장 8">
              <a:extLst>
                <a:ext uri="{FF2B5EF4-FFF2-40B4-BE49-F238E27FC236}">
                  <a16:creationId xmlns:a16="http://schemas.microsoft.com/office/drawing/2014/main" id="{8D09087B-6BE2-74CD-8429-8C4230A973E5}"/>
                </a:ext>
              </a:extLst>
            </p:cNvPr>
            <p:cNvSpPr/>
            <p:nvPr/>
          </p:nvSpPr>
          <p:spPr>
            <a:xfrm>
              <a:off x="2353494" y="2023353"/>
              <a:ext cx="3091800" cy="357487"/>
            </a:xfrm>
            <a:prstGeom prst="chevron">
              <a:avLst/>
            </a:prstGeom>
            <a:solidFill>
              <a:schemeClr val="tx1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vert="vert27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중</a:t>
              </a:r>
              <a:br>
                <a:rPr kumimoji="0" lang="en-US" altLang="ko-KR" sz="13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kumimoji="0" lang="en-US" altLang="ko-KR" sz="13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·</a:t>
              </a:r>
              <a:br>
                <a:rPr kumimoji="0" lang="en-US" altLang="ko-KR" sz="13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kumimoji="0" lang="ko-KR" altLang="en-US" sz="13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장기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49ABAE7-BB49-A9AA-8814-626EB0BE23C7}"/>
              </a:ext>
            </a:extLst>
          </p:cNvPr>
          <p:cNvSpPr txBox="1"/>
          <p:nvPr/>
        </p:nvSpPr>
        <p:spPr>
          <a:xfrm>
            <a:off x="6185205" y="1240834"/>
            <a:ext cx="3720795" cy="142314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85725" indent="-85725">
              <a:lnSpc>
                <a:spcPct val="120000"/>
              </a:lnSpc>
              <a:spcBef>
                <a:spcPts val="600"/>
              </a:spcBef>
              <a:buFont typeface="Wingdings 2" panose="05020102010507070707" pitchFamily="18" charset="2"/>
              <a:buChar char="R"/>
            </a:pPr>
            <a:r>
              <a:rPr kumimoji="0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Co-work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체계 수립 및 상시 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Task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운영  </a:t>
            </a:r>
            <a:b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- Big event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중심 업무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Co-work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실시</a:t>
            </a:r>
            <a:b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 (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해외법인 노조설립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,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현장직 인사제도 개편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,</a:t>
            </a:r>
            <a:b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 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독자적 노경관계 구축 등 핵심이슈 발생 시 팀별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Co-work)</a:t>
            </a:r>
            <a:b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- Task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를 통한 업무역량 강화 및 팀간 시너지 제고</a:t>
            </a:r>
            <a:b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-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노경담당 산하 글로벌 노경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Pool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구축</a:t>
            </a:r>
            <a:endParaRPr kumimoji="0" lang="en-US" altLang="ko-KR" sz="12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1DCEEB8-3717-3572-BF1E-D7C046F47D56}"/>
              </a:ext>
            </a:extLst>
          </p:cNvPr>
          <p:cNvGrpSpPr/>
          <p:nvPr/>
        </p:nvGrpSpPr>
        <p:grpSpPr>
          <a:xfrm rot="5400000">
            <a:off x="4728197" y="2343662"/>
            <a:ext cx="2471740" cy="357501"/>
            <a:chOff x="1056508" y="2023350"/>
            <a:chExt cx="3835068" cy="357501"/>
          </a:xfrm>
        </p:grpSpPr>
        <p:sp>
          <p:nvSpPr>
            <p:cNvPr id="13" name="화살표: 오각형 12">
              <a:hlinkClick r:id="rId3" action="ppaction://hlinksldjump"/>
              <a:extLst>
                <a:ext uri="{FF2B5EF4-FFF2-40B4-BE49-F238E27FC236}">
                  <a16:creationId xmlns:a16="http://schemas.microsoft.com/office/drawing/2014/main" id="{525EFD15-F68B-86AF-F73F-D5E0E0753804}"/>
                </a:ext>
              </a:extLst>
            </p:cNvPr>
            <p:cNvSpPr/>
            <p:nvPr/>
          </p:nvSpPr>
          <p:spPr>
            <a:xfrm>
              <a:off x="1056508" y="2023350"/>
              <a:ext cx="2216402" cy="357494"/>
            </a:xfrm>
            <a:prstGeom prst="homePlate">
              <a:avLst/>
            </a:prstGeom>
            <a:solidFill>
              <a:schemeClr val="bg1">
                <a:lumMod val="65000"/>
              </a:scheme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vert="vert27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300" b="1" kern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단기</a:t>
              </a:r>
              <a:endParaRPr kumimoji="0" lang="ko-KR" altLang="en-US" sz="13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5" name="화살표: 갈매기형 수장 14">
              <a:extLst>
                <a:ext uri="{FF2B5EF4-FFF2-40B4-BE49-F238E27FC236}">
                  <a16:creationId xmlns:a16="http://schemas.microsoft.com/office/drawing/2014/main" id="{C6014933-DDD5-EDC7-9F48-2DAA45264682}"/>
                </a:ext>
              </a:extLst>
            </p:cNvPr>
            <p:cNvSpPr/>
            <p:nvPr/>
          </p:nvSpPr>
          <p:spPr>
            <a:xfrm>
              <a:off x="3082611" y="2023356"/>
              <a:ext cx="1808965" cy="357495"/>
            </a:xfrm>
            <a:prstGeom prst="chevron">
              <a:avLst/>
            </a:prstGeom>
            <a:solidFill>
              <a:schemeClr val="tx1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vert="vert27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중</a:t>
              </a:r>
              <a:br>
                <a:rPr kumimoji="0" lang="en-US" altLang="ko-KR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kumimoji="0" lang="en-US" altLang="ko-KR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·</a:t>
              </a:r>
              <a:br>
                <a:rPr kumimoji="0" lang="en-US" altLang="ko-KR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kumimoji="0" lang="ko-KR" altLang="en-US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장기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90C5735-1DFB-AD37-3EA4-348629066A9D}"/>
              </a:ext>
            </a:extLst>
          </p:cNvPr>
          <p:cNvSpPr txBox="1"/>
          <p:nvPr/>
        </p:nvSpPr>
        <p:spPr>
          <a:xfrm>
            <a:off x="6185205" y="2798434"/>
            <a:ext cx="3612459" cy="553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marR="0" lvl="0" indent="-85725" algn="l" defTabSz="914400" rtl="0" eaLnBrk="1" fontAlgn="auto" latinLnBrk="1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Char char="R"/>
              <a:tabLst/>
              <a:defRPr/>
            </a:pPr>
            <a:r>
              <a:rPr kumimoji="0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부문 내 </a:t>
            </a:r>
            <a:r>
              <a:rPr kumimoji="0" lang="en-US" altLang="ko-KR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Rotation Rule </a:t>
            </a:r>
            <a:r>
              <a:rPr kumimoji="0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정립</a:t>
            </a:r>
            <a:br>
              <a:rPr kumimoji="0" lang="en-US" altLang="ko-KR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- eg)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동일업무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또는 팀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3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년 이상자 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Rotation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검토</a:t>
            </a:r>
            <a:endParaRPr kumimoji="0" lang="en-US" altLang="ko-K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33980A-852E-E433-807F-E0775F9AB596}"/>
              </a:ext>
            </a:extLst>
          </p:cNvPr>
          <p:cNvSpPr txBox="1"/>
          <p:nvPr/>
        </p:nvSpPr>
        <p:spPr>
          <a:xfrm>
            <a:off x="6182631" y="4004204"/>
            <a:ext cx="3720795" cy="75834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85725" indent="-85725">
              <a:lnSpc>
                <a:spcPct val="120000"/>
              </a:lnSpc>
              <a:spcBef>
                <a:spcPts val="600"/>
              </a:spcBef>
              <a:buFont typeface="Wingdings 2" panose="05020102010507070707" pitchFamily="18" charset="2"/>
              <a:buChar char="R"/>
            </a:pP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AI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노무사 개발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활용</a:t>
            </a:r>
            <a:br>
              <a:rPr lang="en-US" altLang="ko-KR" sz="13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법령</a:t>
            </a:r>
            <a:r>
              <a:rPr lang="en-US" altLang="ko-KR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사규</a:t>
            </a:r>
            <a:r>
              <a:rPr lang="en-US" altLang="ko-KR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등을 학습한 노무 특화형 </a:t>
            </a:r>
            <a:r>
              <a:rPr lang="en-US" altLang="ko-KR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AI Assistant</a:t>
            </a:r>
            <a:r>
              <a:rPr lang="ko-KR" altLang="en-US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를 통해</a:t>
            </a:r>
            <a:br>
              <a:rPr lang="en-US" altLang="ko-KR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r>
              <a:rPr lang="ko-KR" altLang="en-US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기초 검토를 </a:t>
            </a:r>
            <a:r>
              <a:rPr lang="en-US" altLang="ko-KR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AI</a:t>
            </a:r>
            <a:r>
              <a:rPr lang="ko-KR" altLang="en-US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가 지원함으로써 업무 효율성 제고</a:t>
            </a:r>
            <a:endParaRPr lang="en-US" altLang="ko-KR" sz="1200" spc="-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AD4A55A-0709-53DF-3E21-01A28781447E}"/>
              </a:ext>
            </a:extLst>
          </p:cNvPr>
          <p:cNvCxnSpPr>
            <a:cxnSpLocks/>
          </p:cNvCxnSpPr>
          <p:nvPr/>
        </p:nvCxnSpPr>
        <p:spPr>
          <a:xfrm>
            <a:off x="1423358" y="3909027"/>
            <a:ext cx="820280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7ED26CB-5805-497D-9D93-CC84A72FC6D2}"/>
              </a:ext>
            </a:extLst>
          </p:cNvPr>
          <p:cNvSpPr txBox="1"/>
          <p:nvPr/>
        </p:nvSpPr>
        <p:spPr>
          <a:xfrm>
            <a:off x="6182631" y="4830097"/>
            <a:ext cx="3801477" cy="17401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85725" indent="-85725">
              <a:lnSpc>
                <a:spcPct val="120000"/>
              </a:lnSpc>
              <a:spcBef>
                <a:spcPts val="600"/>
              </a:spcBef>
              <a:buFont typeface="Wingdings 2" panose="05020102010507070707" pitchFamily="18" charset="2"/>
              <a:buChar char="R"/>
            </a:pPr>
            <a:r>
              <a:rPr lang="ko-KR" altLang="en-US" sz="13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en-US" altLang="ko-KR" sz="13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AI ER Radar </a:t>
            </a:r>
            <a:r>
              <a:rPr lang="ko-KR" altLang="en-US" sz="13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구축</a:t>
            </a:r>
            <a:br>
              <a:rPr lang="en-US" altLang="ko-KR" sz="1300" b="1" dirty="0">
                <a:solidFill>
                  <a:srgbClr val="C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설문</a:t>
            </a:r>
            <a:r>
              <a:rPr lang="en-US" altLang="ko-KR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·ER Data·</a:t>
            </a:r>
            <a:r>
              <a:rPr lang="ko-KR" altLang="en-US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대외 이슈를 통합해 조직</a:t>
            </a:r>
            <a:r>
              <a:rPr lang="en-US" altLang="ko-KR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200" spc="-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법인별</a:t>
            </a:r>
            <a:r>
              <a:rPr lang="ko-KR" altLang="en-US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노경 리스크를</a:t>
            </a:r>
            <a:br>
              <a:rPr lang="en-US" altLang="ko-KR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조기 감지하여</a:t>
            </a:r>
            <a:r>
              <a:rPr lang="en-US" altLang="ko-KR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담당자 개인 경험 중심 대응에서 데이터 기반</a:t>
            </a:r>
            <a:br>
              <a:rPr lang="en-US" altLang="ko-KR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선제 대응 체계로 전환</a:t>
            </a:r>
            <a:endParaRPr lang="en-US" altLang="ko-KR" sz="1200" spc="-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85725" indent="-85725">
              <a:lnSpc>
                <a:spcPct val="120000"/>
              </a:lnSpc>
              <a:spcBef>
                <a:spcPts val="600"/>
              </a:spcBef>
              <a:buFont typeface="Wingdings 2" panose="05020102010507070707" pitchFamily="18" charset="2"/>
              <a:buChar char="R"/>
            </a:pPr>
            <a:r>
              <a:rPr lang="en-US" altLang="ko-KR" sz="13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AI </a:t>
            </a:r>
            <a:r>
              <a:rPr lang="ko-KR" altLang="en-US" sz="13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기반 노경 의사결정 지원체계 구축</a:t>
            </a:r>
            <a:br>
              <a:rPr lang="en-US" altLang="ko-KR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</a:t>
            </a:r>
            <a:r>
              <a:rPr lang="ko-KR" altLang="en-US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쟁점 발생 시 관련 법령</a:t>
            </a:r>
            <a:r>
              <a:rPr lang="en-US" altLang="ko-KR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유사사례</a:t>
            </a:r>
            <a:r>
              <a:rPr lang="en-US" altLang="ko-KR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과거 대응논리</a:t>
            </a:r>
            <a:r>
              <a:rPr lang="en-US" altLang="ko-KR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등을</a:t>
            </a:r>
            <a:br>
              <a:rPr lang="en-US" altLang="ko-KR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r>
              <a:rPr lang="ko-KR" altLang="en-US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종합적으로 분석해 최적의 대응 </a:t>
            </a:r>
            <a:r>
              <a:rPr lang="ko-KR" altLang="en-US" sz="1200" spc="-50">
                <a:latin typeface="Arial Narrow" panose="020B0606020202030204" pitchFamily="34" charset="0"/>
                <a:ea typeface="LG스마트체 Regular" panose="020B0600000101010101" pitchFamily="50" charset="-127"/>
              </a:rPr>
              <a:t>시나리오 제시</a:t>
            </a:r>
            <a:endParaRPr lang="en-US" altLang="ko-KR" sz="1200" spc="-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268170-B9D1-35D5-3D8C-F5B9729EB5FB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+mj-lt"/>
              <a:buAutoNum type="romanUcPeriod" startAt="2"/>
              <a:tabLst>
                <a:tab pos="85725" algn="l"/>
              </a:tabLst>
            </a:pPr>
            <a:r>
              <a:rPr lang="en-US" altLang="ko-KR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 </a:t>
            </a:r>
            <a:r>
              <a:rPr lang="en-US" altLang="ko-KR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3.0 </a:t>
            </a: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정의 및 실행방안 </a:t>
            </a:r>
            <a:endParaRPr lang="en-US" altLang="ko-KR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835473-4403-BCC8-9820-EB03D5601EDC}"/>
              </a:ext>
            </a:extLst>
          </p:cNvPr>
          <p:cNvSpPr txBox="1"/>
          <p:nvPr/>
        </p:nvSpPr>
        <p:spPr>
          <a:xfrm>
            <a:off x="6357187" y="181068"/>
            <a:ext cx="3284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④ 노경</a:t>
            </a:r>
            <a:r>
              <a:rPr lang="en-US" altLang="ko-KR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3.0 </a:t>
            </a:r>
            <a:r>
              <a:rPr lang="ko-KR" altLang="en-US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실행력 강화방안</a:t>
            </a:r>
            <a:r>
              <a:rPr lang="en-US" altLang="ko-KR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실행 단추: 앞으로 또는 다음 84">
            <a:extLst>
              <a:ext uri="{FF2B5EF4-FFF2-40B4-BE49-F238E27FC236}">
                <a16:creationId xmlns:a16="http://schemas.microsoft.com/office/drawing/2014/main" id="{152506FE-800D-5E74-A3BC-6D440C544FC3}"/>
              </a:ext>
            </a:extLst>
          </p:cNvPr>
          <p:cNvSpPr/>
          <p:nvPr/>
        </p:nvSpPr>
        <p:spPr>
          <a:xfrm>
            <a:off x="7752933" y="4093204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513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그룹 58">
            <a:extLst>
              <a:ext uri="{FF2B5EF4-FFF2-40B4-BE49-F238E27FC236}">
                <a16:creationId xmlns:a16="http://schemas.microsoft.com/office/drawing/2014/main" id="{D43935C7-6A45-4AE0-4EA6-DC92025D1C83}"/>
              </a:ext>
            </a:extLst>
          </p:cNvPr>
          <p:cNvGrpSpPr/>
          <p:nvPr/>
        </p:nvGrpSpPr>
        <p:grpSpPr>
          <a:xfrm>
            <a:off x="273527" y="3836249"/>
            <a:ext cx="821657" cy="730214"/>
            <a:chOff x="387827" y="4306761"/>
            <a:chExt cx="821657" cy="448402"/>
          </a:xfrm>
        </p:grpSpPr>
        <p:sp>
          <p:nvSpPr>
            <p:cNvPr id="7" name="TextBox 6">
              <a:hlinkClick r:id="rId3" action="ppaction://hlinksldjump"/>
              <a:extLst>
                <a:ext uri="{FF2B5EF4-FFF2-40B4-BE49-F238E27FC236}">
                  <a16:creationId xmlns:a16="http://schemas.microsoft.com/office/drawing/2014/main" id="{F76FF792-283D-43BE-2565-6D68AA927DB7}"/>
                </a:ext>
              </a:extLst>
            </p:cNvPr>
            <p:cNvSpPr txBox="1"/>
            <p:nvPr/>
          </p:nvSpPr>
          <p:spPr>
            <a:xfrm>
              <a:off x="387827" y="4343477"/>
              <a:ext cx="720000" cy="304813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 조직 </a:t>
              </a:r>
              <a:br>
                <a:rPr lang="en-US" altLang="ko-KR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ko-KR" altLang="en-US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보강</a:t>
              </a:r>
              <a:endParaRPr lang="en-US" altLang="ko-KR" sz="13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756C1878-3656-1BCA-2F5C-5C38DAD6D94D}"/>
                </a:ext>
              </a:extLst>
            </p:cNvPr>
            <p:cNvCxnSpPr>
              <a:cxnSpLocks/>
            </p:cNvCxnSpPr>
            <p:nvPr/>
          </p:nvCxnSpPr>
          <p:spPr>
            <a:xfrm>
              <a:off x="1209484" y="4306761"/>
              <a:ext cx="0" cy="448402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4F305651-C699-12C5-2520-FFF3D3DB625E}"/>
              </a:ext>
            </a:extLst>
          </p:cNvPr>
          <p:cNvGrpSpPr/>
          <p:nvPr/>
        </p:nvGrpSpPr>
        <p:grpSpPr>
          <a:xfrm>
            <a:off x="273527" y="1227909"/>
            <a:ext cx="821657" cy="769283"/>
            <a:chOff x="273527" y="1673727"/>
            <a:chExt cx="821657" cy="54256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9ED2196-8FA8-15AE-8CDC-5ACDAF937B28}"/>
                </a:ext>
              </a:extLst>
            </p:cNvPr>
            <p:cNvSpPr txBox="1"/>
            <p:nvPr/>
          </p:nvSpPr>
          <p:spPr>
            <a:xfrm>
              <a:off x="273527" y="1724573"/>
              <a:ext cx="720000" cy="368823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노경관리</a:t>
              </a:r>
              <a:br>
                <a:rPr lang="en-US" altLang="ko-KR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ko-KR" altLang="en-US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역량 고도화 </a:t>
              </a:r>
              <a:endParaRPr lang="en-US" altLang="ko-KR" sz="13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A3FC91BB-084C-39AD-2FA8-AECC6DCE22B9}"/>
                </a:ext>
              </a:extLst>
            </p:cNvPr>
            <p:cNvCxnSpPr>
              <a:cxnSpLocks/>
            </p:cNvCxnSpPr>
            <p:nvPr/>
          </p:nvCxnSpPr>
          <p:spPr>
            <a:xfrm>
              <a:off x="1095184" y="1673727"/>
              <a:ext cx="0" cy="542566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F19A81B9-9DFD-6708-820D-A379E91AE0C9}"/>
              </a:ext>
            </a:extLst>
          </p:cNvPr>
          <p:cNvGrpSpPr/>
          <p:nvPr/>
        </p:nvGrpSpPr>
        <p:grpSpPr>
          <a:xfrm>
            <a:off x="1579726" y="709449"/>
            <a:ext cx="3398717" cy="307777"/>
            <a:chOff x="2370695" y="1018908"/>
            <a:chExt cx="2201347" cy="30777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80D8EEF-6D43-6533-196D-AE3684AF4DFF}"/>
                </a:ext>
              </a:extLst>
            </p:cNvPr>
            <p:cNvSpPr txBox="1"/>
            <p:nvPr/>
          </p:nvSpPr>
          <p:spPr>
            <a:xfrm>
              <a:off x="3117146" y="1018908"/>
              <a:ext cx="7715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>
                  <a:solidFill>
                    <a:srgbClr val="000000"/>
                  </a:solidFill>
                  <a:latin typeface="Arial Narrow" pitchFamily="34" charset="0"/>
                  <a:ea typeface="LG스마트체 Regular" pitchFamily="50" charset="-127"/>
                  <a:cs typeface="Arial" pitchFamily="34" charset="0"/>
                </a:rPr>
                <a:t>현황</a:t>
              </a:r>
              <a:endParaRPr lang="en-US" altLang="ko-KR" sz="14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endParaRP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3FF995C3-BE5C-0A60-148A-EB25510183B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70695" y="1326685"/>
              <a:ext cx="220134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2815F684-3A2D-9354-456D-AFCE8798A035}"/>
              </a:ext>
            </a:extLst>
          </p:cNvPr>
          <p:cNvGrpSpPr/>
          <p:nvPr/>
        </p:nvGrpSpPr>
        <p:grpSpPr>
          <a:xfrm>
            <a:off x="6182631" y="706774"/>
            <a:ext cx="3284604" cy="310452"/>
            <a:chOff x="5800986" y="1018908"/>
            <a:chExt cx="2201347" cy="31045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F53073F-ED6F-1BB1-F7E7-51B2BB0CB8DB}"/>
                </a:ext>
              </a:extLst>
            </p:cNvPr>
            <p:cNvSpPr txBox="1"/>
            <p:nvPr/>
          </p:nvSpPr>
          <p:spPr>
            <a:xfrm>
              <a:off x="6523916" y="1018908"/>
              <a:ext cx="84871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400" b="1">
                  <a:solidFill>
                    <a:srgbClr val="000000"/>
                  </a:solidFill>
                  <a:latin typeface="Arial Narrow" pitchFamily="34" charset="0"/>
                  <a:ea typeface="LG스마트체 Regular" pitchFamily="50" charset="-127"/>
                  <a:cs typeface="Arial" pitchFamily="34" charset="0"/>
                </a:rPr>
                <a:t>실행방안</a:t>
              </a:r>
              <a:endParaRPr lang="en-US" altLang="ko-KR" sz="14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endParaRPr>
            </a:p>
          </p:txBody>
        </p: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C96776AE-20B0-9FE2-5B00-5AE7D7E0073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800986" y="1329360"/>
              <a:ext cx="220134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6FDB8BB-AEC6-AE64-F443-1FFCCCCA30FB}"/>
              </a:ext>
            </a:extLst>
          </p:cNvPr>
          <p:cNvSpPr txBox="1"/>
          <p:nvPr/>
        </p:nvSpPr>
        <p:spPr>
          <a:xfrm>
            <a:off x="1304850" y="3784954"/>
            <a:ext cx="4354841" cy="8322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85725" indent="-8572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노경부문 내 인적구성은 엔솔 출범 당시 대비 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2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명 증원</a:t>
            </a:r>
            <a:endParaRPr lang="en-US" altLang="ko-KR" sz="1300" b="1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  <a:p>
            <a:pPr marL="85725" indent="-8572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그러나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,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당면한 이슈 및 조직의 규모가 갈수록 증대되고 </a:t>
            </a:r>
            <a:b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있으며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이슈의 복잡성 또한 확대되고 있음 </a:t>
            </a:r>
            <a:endParaRPr lang="en-US" altLang="ko-KR" sz="1300"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FF81A29-7CF2-1578-959E-CCB1653EE09A}"/>
              </a:ext>
            </a:extLst>
          </p:cNvPr>
          <p:cNvGrpSpPr/>
          <p:nvPr/>
        </p:nvGrpSpPr>
        <p:grpSpPr>
          <a:xfrm rot="5400000">
            <a:off x="4654695" y="5035960"/>
            <a:ext cx="2786807" cy="357508"/>
            <a:chOff x="1056508" y="2023351"/>
            <a:chExt cx="5515245" cy="357508"/>
          </a:xfrm>
        </p:grpSpPr>
        <p:sp>
          <p:nvSpPr>
            <p:cNvPr id="50" name="화살표: 오각형 49">
              <a:extLst>
                <a:ext uri="{FF2B5EF4-FFF2-40B4-BE49-F238E27FC236}">
                  <a16:creationId xmlns:a16="http://schemas.microsoft.com/office/drawing/2014/main" id="{62FA9CFC-BCA7-7C23-C02D-CF133D88A25C}"/>
                </a:ext>
              </a:extLst>
            </p:cNvPr>
            <p:cNvSpPr/>
            <p:nvPr/>
          </p:nvSpPr>
          <p:spPr>
            <a:xfrm>
              <a:off x="1056508" y="2023351"/>
              <a:ext cx="2631526" cy="357492"/>
            </a:xfrm>
            <a:prstGeom prst="homePlate">
              <a:avLst/>
            </a:prstGeom>
            <a:solidFill>
              <a:schemeClr val="bg1">
                <a:lumMod val="65000"/>
              </a:scheme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vert="vert27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300" b="1" kern="0">
                  <a:solidFill>
                    <a:prstClr val="white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단기</a:t>
              </a:r>
              <a:endParaRPr kumimoji="0" lang="ko-KR" altLang="en-US" sz="13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2" name="화살표: 갈매기형 수장 51">
              <a:extLst>
                <a:ext uri="{FF2B5EF4-FFF2-40B4-BE49-F238E27FC236}">
                  <a16:creationId xmlns:a16="http://schemas.microsoft.com/office/drawing/2014/main" id="{E8D27E35-D70F-39CC-79EA-6F3BC77E981B}"/>
                </a:ext>
              </a:extLst>
            </p:cNvPr>
            <p:cNvSpPr/>
            <p:nvPr/>
          </p:nvSpPr>
          <p:spPr>
            <a:xfrm>
              <a:off x="3458313" y="2023370"/>
              <a:ext cx="3113440" cy="357489"/>
            </a:xfrm>
            <a:prstGeom prst="chevron">
              <a:avLst/>
            </a:prstGeom>
            <a:solidFill>
              <a:schemeClr val="tx1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vert="vert27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중</a:t>
              </a:r>
              <a:br>
                <a:rPr kumimoji="0" lang="en-US" altLang="ko-KR" sz="13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kumimoji="0" lang="en-US" altLang="ko-KR" sz="13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·</a:t>
              </a:r>
              <a:br>
                <a:rPr kumimoji="0" lang="en-US" altLang="ko-KR" sz="13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kumimoji="0" lang="ko-KR" altLang="en-US" sz="13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장기</a:t>
              </a: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75822FFD-AC3D-D200-DEF7-8B43F0B96142}"/>
              </a:ext>
            </a:extLst>
          </p:cNvPr>
          <p:cNvGrpSpPr/>
          <p:nvPr/>
        </p:nvGrpSpPr>
        <p:grpSpPr>
          <a:xfrm>
            <a:off x="7969224" y="6526692"/>
            <a:ext cx="1365885" cy="169277"/>
            <a:chOff x="7816824" y="6526692"/>
            <a:chExt cx="1365885" cy="169277"/>
          </a:xfrm>
        </p:grpSpPr>
        <p:sp>
          <p:nvSpPr>
            <p:cNvPr id="60" name="실행 단추: 앞으로 또는 다음 84">
              <a:hlinkClick r:id="rId4" action="ppaction://hlinksldjump"/>
              <a:extLst>
                <a:ext uri="{FF2B5EF4-FFF2-40B4-BE49-F238E27FC236}">
                  <a16:creationId xmlns:a16="http://schemas.microsoft.com/office/drawing/2014/main" id="{D69A7B5E-CB07-25AA-B9E5-DFB75B24FADB}"/>
                </a:ext>
              </a:extLst>
            </p:cNvPr>
            <p:cNvSpPr/>
            <p:nvPr/>
          </p:nvSpPr>
          <p:spPr>
            <a:xfrm>
              <a:off x="7816824" y="6536342"/>
              <a:ext cx="144000" cy="144000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FDF7963-CA73-7375-0080-15A77C22640D}"/>
                </a:ext>
              </a:extLst>
            </p:cNvPr>
            <p:cNvSpPr txBox="1"/>
            <p:nvPr/>
          </p:nvSpPr>
          <p:spPr>
            <a:xfrm>
              <a:off x="7980456" y="6526692"/>
              <a:ext cx="1202253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ko-KR" altLang="en-US" sz="1100" u="sng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엔솔</a:t>
              </a:r>
              <a:r>
                <a:rPr lang="en-US" altLang="ko-KR" sz="1100" u="sng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/</a:t>
              </a:r>
              <a:r>
                <a:rPr lang="ko-KR" altLang="en-US" sz="1100" u="sng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계열사 인원현황</a:t>
              </a:r>
              <a:endParaRPr lang="en-US" altLang="ko-KR" sz="11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33543C01-738E-F1E5-EE49-527D9F9A3AEF}"/>
              </a:ext>
            </a:extLst>
          </p:cNvPr>
          <p:cNvSpPr txBox="1"/>
          <p:nvPr/>
        </p:nvSpPr>
        <p:spPr>
          <a:xfrm>
            <a:off x="6338979" y="3748393"/>
            <a:ext cx="3554504" cy="12729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85725" indent="-85725">
              <a:lnSpc>
                <a:spcPct val="120000"/>
              </a:lnSpc>
              <a:spcBef>
                <a:spcPts val="300"/>
              </a:spcBef>
              <a:buFont typeface="Wingdings 2" panose="05020102010507070707" pitchFamily="18" charset="2"/>
              <a:buChar char="R"/>
            </a:pP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AI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를 통한 업무효율화 실시</a:t>
            </a:r>
            <a:b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-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현 인원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TO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내에서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AI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를 통해 비부가치 업무 제거 </a:t>
            </a:r>
            <a:b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및 핵심업무 집중</a:t>
            </a:r>
            <a:endParaRPr lang="en-US" altLang="ko-KR" sz="1200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  <a:p>
            <a:pPr marL="85725" indent="-85725">
              <a:lnSpc>
                <a:spcPct val="120000"/>
              </a:lnSpc>
              <a:spcBef>
                <a:spcPts val="300"/>
              </a:spcBef>
              <a:buFont typeface="Wingdings 2" panose="05020102010507070707" pitchFamily="18" charset="2"/>
              <a:buChar char="R"/>
            </a:pP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해외법인 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ER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조직 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Set-up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완료</a:t>
            </a:r>
            <a:b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-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북미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폴란드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구축 완료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),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인니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(ER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담당자 채용 중</a:t>
            </a:r>
            <a:r>
              <a:rPr lang="en-US" altLang="ko-KR" sz="13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)</a:t>
            </a:r>
            <a:endParaRPr lang="en-US" altLang="ko-KR" sz="1300"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5A263E8-EDA0-651F-6FA1-4BEDED9F1753}"/>
              </a:ext>
            </a:extLst>
          </p:cNvPr>
          <p:cNvSpPr txBox="1"/>
          <p:nvPr/>
        </p:nvSpPr>
        <p:spPr>
          <a:xfrm>
            <a:off x="6338979" y="4995029"/>
            <a:ext cx="3397220" cy="14800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85725" indent="-85725">
              <a:lnSpc>
                <a:spcPct val="120000"/>
              </a:lnSpc>
              <a:spcBef>
                <a:spcPts val="300"/>
              </a:spcBef>
              <a:buFont typeface="Wingdings 2" panose="05020102010507070707" pitchFamily="18" charset="2"/>
              <a:buChar char="R"/>
            </a:pP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노경 우수인력 확보 </a:t>
            </a:r>
            <a:b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-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내부 충원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(CHO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부문 내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/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커리어 플러스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)</a:t>
            </a:r>
            <a:b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-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외부 충원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타사 경력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)</a:t>
            </a:r>
            <a:endParaRPr lang="en-US" altLang="ko-KR" sz="1200" b="1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  <a:p>
            <a:pPr marL="85725" indent="-85725">
              <a:lnSpc>
                <a:spcPct val="120000"/>
              </a:lnSpc>
              <a:spcBef>
                <a:spcPts val="300"/>
              </a:spcBef>
              <a:buFont typeface="Wingdings 2" panose="05020102010507070707" pitchFamily="18" charset="2"/>
              <a:buChar char="R"/>
            </a:pP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국내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해외 사이트 기반 노경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조직 구축</a:t>
            </a:r>
            <a:b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- eg)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대전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: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노경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Part 3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명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노경담당 소속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)</a:t>
            </a:r>
            <a:b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      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서초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과천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: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노경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Part 2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명 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노경담당 소속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)</a:t>
            </a:r>
            <a:endParaRPr lang="en-US" altLang="ko-KR" sz="1300"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B430833-8696-5972-7A02-3B00D521A857}"/>
              </a:ext>
            </a:extLst>
          </p:cNvPr>
          <p:cNvSpPr txBox="1"/>
          <p:nvPr/>
        </p:nvSpPr>
        <p:spPr>
          <a:xfrm>
            <a:off x="1358221" y="1229112"/>
            <a:ext cx="4354841" cy="5537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85725" indent="-85725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노경 핵심역량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(8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개 지표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)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에 대한 조직차원의 육성 필요 </a:t>
            </a:r>
            <a:b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-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개인의 경험과 관심에 따라 차이</a:t>
            </a:r>
            <a:endParaRPr lang="en-US" altLang="ko-KR" sz="130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4899D250-1F42-3952-A7D5-4528E2ECAD36}"/>
              </a:ext>
            </a:extLst>
          </p:cNvPr>
          <p:cNvGrpSpPr/>
          <p:nvPr/>
        </p:nvGrpSpPr>
        <p:grpSpPr>
          <a:xfrm rot="5400000">
            <a:off x="4939298" y="2235480"/>
            <a:ext cx="2217611" cy="357489"/>
            <a:chOff x="1056508" y="2023350"/>
            <a:chExt cx="4388785" cy="357489"/>
          </a:xfrm>
        </p:grpSpPr>
        <p:sp>
          <p:nvSpPr>
            <p:cNvPr id="69" name="화살표: 오각형 68">
              <a:extLst>
                <a:ext uri="{FF2B5EF4-FFF2-40B4-BE49-F238E27FC236}">
                  <a16:creationId xmlns:a16="http://schemas.microsoft.com/office/drawing/2014/main" id="{297F8116-93ED-6A5B-28D4-4F6514FD67B6}"/>
                </a:ext>
              </a:extLst>
            </p:cNvPr>
            <p:cNvSpPr/>
            <p:nvPr/>
          </p:nvSpPr>
          <p:spPr>
            <a:xfrm>
              <a:off x="1056508" y="2023350"/>
              <a:ext cx="2307376" cy="357487"/>
            </a:xfrm>
            <a:prstGeom prst="homePlate">
              <a:avLst/>
            </a:prstGeom>
            <a:solidFill>
              <a:schemeClr val="bg1">
                <a:lumMod val="65000"/>
              </a:scheme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vert="vert27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300" b="1" kern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단기</a:t>
              </a:r>
              <a:endParaRPr kumimoji="0" lang="ko-KR" altLang="en-US" sz="13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70" name="화살표: 갈매기형 수장 69">
              <a:extLst>
                <a:ext uri="{FF2B5EF4-FFF2-40B4-BE49-F238E27FC236}">
                  <a16:creationId xmlns:a16="http://schemas.microsoft.com/office/drawing/2014/main" id="{105F93E4-8773-5222-D691-BA8D241A2728}"/>
                </a:ext>
              </a:extLst>
            </p:cNvPr>
            <p:cNvSpPr/>
            <p:nvPr/>
          </p:nvSpPr>
          <p:spPr>
            <a:xfrm>
              <a:off x="3137919" y="2023352"/>
              <a:ext cx="2307374" cy="357487"/>
            </a:xfrm>
            <a:prstGeom prst="chevron">
              <a:avLst/>
            </a:prstGeom>
            <a:solidFill>
              <a:schemeClr val="tx1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vert="vert27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중</a:t>
              </a:r>
              <a:br>
                <a:rPr kumimoji="0" lang="en-US" altLang="ko-KR" sz="13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kumimoji="0" lang="en-US" altLang="ko-KR" sz="13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·</a:t>
              </a:r>
              <a:br>
                <a:rPr kumimoji="0" lang="en-US" altLang="ko-KR" sz="13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</a:br>
              <a:r>
                <a:rPr kumimoji="0" lang="ko-KR" altLang="en-US" sz="13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장기</a:t>
              </a: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4F2FC513-2C92-303F-3603-07DD6BDAEDBD}"/>
              </a:ext>
            </a:extLst>
          </p:cNvPr>
          <p:cNvSpPr txBox="1"/>
          <p:nvPr/>
        </p:nvSpPr>
        <p:spPr>
          <a:xfrm>
            <a:off x="6338979" y="1225901"/>
            <a:ext cx="3397220" cy="12543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85725" indent="-85725">
              <a:lnSpc>
                <a:spcPct val="120000"/>
              </a:lnSpc>
              <a:spcBef>
                <a:spcPts val="300"/>
              </a:spcBef>
              <a:buFont typeface="Wingdings 2" panose="05020102010507070707" pitchFamily="18" charset="2"/>
              <a:buChar char="R"/>
            </a:pP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en-US" altLang="ko-KR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Junior</a:t>
            </a:r>
            <a:r>
              <a:rPr lang="ko-KR" altLang="en-US" sz="1300" b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3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노경 세미나</a:t>
            </a:r>
            <a:r>
              <a:rPr lang="en-US" altLang="ko-KR" sz="13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ko-KR" altLang="en-US" sz="13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실시 </a:t>
            </a:r>
            <a:r>
              <a:rPr lang="en-US" altLang="ko-KR" sz="13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lang="ko-KR" altLang="en-US" sz="13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월</a:t>
            </a:r>
            <a:r>
              <a:rPr lang="en-US" altLang="ko-KR" sz="13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1</a:t>
            </a:r>
            <a:r>
              <a:rPr lang="ko-KR" altLang="en-US" sz="13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회</a:t>
            </a:r>
            <a:r>
              <a:rPr lang="en-US" altLang="ko-KR" sz="13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)</a:t>
            </a:r>
            <a:r>
              <a:rPr lang="ko-KR" altLang="en-US" sz="13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endParaRPr lang="en-US" altLang="ko-KR" sz="1300" b="1" dirty="0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  <a:p>
            <a:pPr marL="85725" indent="-85725">
              <a:lnSpc>
                <a:spcPct val="120000"/>
              </a:lnSpc>
              <a:spcBef>
                <a:spcPts val="300"/>
              </a:spcBef>
              <a:buFont typeface="Wingdings 2" panose="05020102010507070707" pitchFamily="18" charset="2"/>
              <a:buChar char="R"/>
            </a:pPr>
            <a:r>
              <a:rPr lang="ko-KR" altLang="en-US" sz="13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노경 핵심역량 강화를 위한 교육 실시</a:t>
            </a:r>
            <a:br>
              <a:rPr lang="en-US" altLang="ko-KR" sz="1300" b="1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- </a:t>
            </a:r>
            <a:r>
              <a:rPr lang="en-US" altLang="ko-KR" sz="1200" dirty="0" err="1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eg</a:t>
            </a:r>
            <a:r>
              <a:rPr lang="en-US" altLang="ko-KR" sz="1200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) </a:t>
            </a:r>
            <a:r>
              <a:rPr lang="ko-KR" altLang="en-US" sz="1200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全 인원 어학자격 취득</a:t>
            </a:r>
            <a:r>
              <a:rPr lang="en-US" altLang="ko-KR" sz="1200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(</a:t>
            </a:r>
            <a:r>
              <a:rPr lang="ko-KR" altLang="en-US" sz="1200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주재원 기준 이상</a:t>
            </a:r>
            <a:r>
              <a:rPr lang="en-US" altLang="ko-KR" sz="1200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)</a:t>
            </a:r>
            <a:br>
              <a:rPr lang="en-US" altLang="ko-KR" sz="1200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      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인화원 단체교섭 </a:t>
            </a:r>
            <a:r>
              <a:rPr lang="ko-KR" altLang="en-US" sz="1200" dirty="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실무교육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필수 수강</a:t>
            </a:r>
            <a:b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      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노동대학원 추천</a:t>
            </a:r>
            <a:r>
              <a:rPr lang="en-US" altLang="ko-KR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, </a:t>
            </a:r>
            <a:r>
              <a:rPr lang="ko-KR" altLang="en-US" sz="120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노경주재원 양성</a:t>
            </a:r>
            <a:endParaRPr lang="en-US" altLang="ko-KR" sz="1300" dirty="0">
              <a:solidFill>
                <a:srgbClr val="000000"/>
              </a:solidFill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A54839-3D98-3A8E-1573-244083AFA049}"/>
              </a:ext>
            </a:extLst>
          </p:cNvPr>
          <p:cNvSpPr txBox="1"/>
          <p:nvPr/>
        </p:nvSpPr>
        <p:spPr>
          <a:xfrm>
            <a:off x="6338979" y="2582148"/>
            <a:ext cx="3478750" cy="55367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85725" indent="-85725">
              <a:lnSpc>
                <a:spcPct val="120000"/>
              </a:lnSpc>
              <a:spcBef>
                <a:spcPts val="300"/>
              </a:spcBef>
              <a:buFont typeface="Wingdings 2" panose="05020102010507070707" pitchFamily="18" charset="2"/>
              <a:buChar char="R"/>
            </a:pPr>
            <a:r>
              <a:rPr lang="ko-KR" altLang="en-US" sz="1300" b="1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</a:t>
            </a:r>
            <a:r>
              <a:rPr lang="en-US" altLang="ko-KR" sz="1300" b="1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HR</a:t>
            </a:r>
            <a:r>
              <a:rPr lang="ko-KR" altLang="en-US" sz="1300" b="1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주재원 선발 시 노경</a:t>
            </a:r>
            <a:r>
              <a:rPr lang="en-US" altLang="ko-KR" sz="1300" b="1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lang="ko-KR" altLang="en-US" sz="1300" b="1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인사</a:t>
            </a:r>
            <a:r>
              <a:rPr lang="en-US" altLang="ko-KR" sz="1300" b="1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/</a:t>
            </a:r>
            <a:r>
              <a:rPr lang="ko-KR" altLang="en-US" sz="1300" b="1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육성 등 </a:t>
            </a:r>
            <a:r>
              <a:rPr lang="en-US" altLang="ko-KR" sz="1300" b="1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HR</a:t>
            </a:r>
            <a:r>
              <a:rPr lang="ko-KR" altLang="en-US" sz="1300" b="1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전반의 </a:t>
            </a:r>
            <a:br>
              <a:rPr lang="en-US" altLang="ko-KR" sz="1300" b="1">
                <a:latin typeface="Arial Narrow" pitchFamily="34" charset="0"/>
                <a:ea typeface="LG스마트체 Regular" pitchFamily="50" charset="-127"/>
                <a:cs typeface="Arial" pitchFamily="34" charset="0"/>
              </a:rPr>
            </a:br>
            <a:r>
              <a:rPr lang="en-US" altLang="ko-KR" sz="1300" b="1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 </a:t>
            </a:r>
            <a:r>
              <a:rPr lang="ko-KR" altLang="en-US" sz="1300" b="1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경험이 확대될 수 있도록 의도적인 </a:t>
            </a:r>
            <a:r>
              <a:rPr lang="en-US" altLang="ko-KR" sz="1300" b="1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Rotation </a:t>
            </a:r>
            <a:r>
              <a:rPr lang="ko-KR" altLang="en-US" sz="1300" b="1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필요</a:t>
            </a:r>
            <a:endParaRPr lang="en-US" altLang="ko-KR" sz="1300"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6DB419F5-1AED-E0D4-23DB-4203FBCBCEBA}"/>
              </a:ext>
            </a:extLst>
          </p:cNvPr>
          <p:cNvGrpSpPr/>
          <p:nvPr/>
        </p:nvGrpSpPr>
        <p:grpSpPr>
          <a:xfrm>
            <a:off x="3754903" y="1596502"/>
            <a:ext cx="1209845" cy="169277"/>
            <a:chOff x="3553427" y="1832722"/>
            <a:chExt cx="1209845" cy="169277"/>
          </a:xfrm>
        </p:grpSpPr>
        <p:sp>
          <p:nvSpPr>
            <p:cNvPr id="4" name="실행 단추: 앞으로 또는 다음 84">
              <a:hlinkClick r:id="rId5" action="ppaction://hlinksldjump"/>
              <a:extLst>
                <a:ext uri="{FF2B5EF4-FFF2-40B4-BE49-F238E27FC236}">
                  <a16:creationId xmlns:a16="http://schemas.microsoft.com/office/drawing/2014/main" id="{1259A6B8-DFB3-6555-0582-AD4E9FF46B50}"/>
                </a:ext>
              </a:extLst>
            </p:cNvPr>
            <p:cNvSpPr/>
            <p:nvPr/>
          </p:nvSpPr>
          <p:spPr>
            <a:xfrm>
              <a:off x="3553427" y="1842630"/>
              <a:ext cx="144000" cy="144000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2973DB-35F4-4DC9-89C3-82C1AE251E19}"/>
                </a:ext>
              </a:extLst>
            </p:cNvPr>
            <p:cNvSpPr txBox="1"/>
            <p:nvPr/>
          </p:nvSpPr>
          <p:spPr>
            <a:xfrm>
              <a:off x="3724526" y="1832722"/>
              <a:ext cx="103874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ko-KR" altLang="en-US" sz="1100" u="sng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노경부문 역량분석</a:t>
              </a:r>
              <a:endParaRPr lang="en-US" altLang="ko-KR" sz="11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6" name="Rectangle 58">
            <a:extLst>
              <a:ext uri="{FF2B5EF4-FFF2-40B4-BE49-F238E27FC236}">
                <a16:creationId xmlns:a16="http://schemas.microsoft.com/office/drawing/2014/main" id="{917963C0-B987-84BA-4B30-19A4C6063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9188" y="4939993"/>
            <a:ext cx="679565" cy="249714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18873" tIns="0" rIns="18873" bIns="0" anchor="ctr"/>
          <a:lstStyle/>
          <a:p>
            <a:pPr marL="0" marR="0" lvl="0" indent="0" algn="ctr" defTabSz="95885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Light" pitchFamily="50" charset="-127"/>
                <a:cs typeface="+mn-cs"/>
              </a:rPr>
              <a:t>CHO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Light" pitchFamily="50" charset="-127"/>
              <a:cs typeface="+mn-cs"/>
            </a:endParaRPr>
          </a:p>
        </p:txBody>
      </p:sp>
      <p:sp>
        <p:nvSpPr>
          <p:cNvPr id="10" name="Rectangle 212">
            <a:extLst>
              <a:ext uri="{FF2B5EF4-FFF2-40B4-BE49-F238E27FC236}">
                <a16:creationId xmlns:a16="http://schemas.microsoft.com/office/drawing/2014/main" id="{360F43B9-2E81-3E5E-6425-047C3E467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3847" y="5151000"/>
            <a:ext cx="629461" cy="21504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8873" tIns="0" rIns="18873" bIns="0" anchor="ctr"/>
          <a:lstStyle/>
          <a:p>
            <a:pPr marL="0" marR="0" lvl="0" indent="0" algn="ctr" defTabSz="95885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Light" pitchFamily="50" charset="-127"/>
                <a:cs typeface="+mn-cs"/>
              </a:rPr>
              <a:t>노경지원팀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Light" pitchFamily="50" charset="-127"/>
              <a:cs typeface="+mn-cs"/>
            </a:endParaRPr>
          </a:p>
        </p:txBody>
      </p:sp>
      <p:sp>
        <p:nvSpPr>
          <p:cNvPr id="12" name="Rectangle 58">
            <a:extLst>
              <a:ext uri="{FF2B5EF4-FFF2-40B4-BE49-F238E27FC236}">
                <a16:creationId xmlns:a16="http://schemas.microsoft.com/office/drawing/2014/main" id="{9B456B4A-F1F6-612B-453D-B6E2C13C9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9188" y="5636904"/>
            <a:ext cx="679565" cy="249714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18873" tIns="0" rIns="18873" bIns="0" anchor="ctr"/>
          <a:lstStyle/>
          <a:p>
            <a:pPr marL="0" marR="0" lvl="0" indent="0" algn="ctr" defTabSz="95885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Light" pitchFamily="50" charset="-127"/>
                <a:cs typeface="+mn-cs"/>
              </a:rPr>
              <a:t>오창</a:t>
            </a: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Light" pitchFamily="50" charset="-127"/>
                <a:cs typeface="+mn-cs"/>
              </a:rPr>
              <a:t>.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Light" pitchFamily="50" charset="-127"/>
                <a:cs typeface="+mn-cs"/>
              </a:rPr>
              <a:t>노경담당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Light" pitchFamily="50" charset="-127"/>
              <a:cs typeface="+mn-cs"/>
            </a:endParaRPr>
          </a:p>
        </p:txBody>
      </p:sp>
      <p:sp>
        <p:nvSpPr>
          <p:cNvPr id="13" name="Rectangle 212">
            <a:extLst>
              <a:ext uri="{FF2B5EF4-FFF2-40B4-BE49-F238E27FC236}">
                <a16:creationId xmlns:a16="http://schemas.microsoft.com/office/drawing/2014/main" id="{010BC64A-5CEC-9064-DDB6-C3F34BBB7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3940" y="6008334"/>
            <a:ext cx="629461" cy="21504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8873" tIns="0" rIns="18873" bIns="0" anchor="ctr"/>
          <a:lstStyle/>
          <a:p>
            <a:pPr marL="0" marR="0" lvl="0" indent="0" algn="ctr" defTabSz="95885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Light" pitchFamily="50" charset="-127"/>
                <a:cs typeface="+mn-cs"/>
              </a:rPr>
              <a:t>오창</a:t>
            </a: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Light" pitchFamily="50" charset="-127"/>
                <a:cs typeface="+mn-cs"/>
              </a:rPr>
              <a:t>.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Light" pitchFamily="50" charset="-127"/>
                <a:cs typeface="+mn-cs"/>
              </a:rPr>
              <a:t>노경팀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Light" pitchFamily="50" charset="-127"/>
              <a:cs typeface="+mn-cs"/>
            </a:endParaRPr>
          </a:p>
        </p:txBody>
      </p:sp>
      <p:cxnSp>
        <p:nvCxnSpPr>
          <p:cNvPr id="15" name="꺾인 연결선 310">
            <a:extLst>
              <a:ext uri="{FF2B5EF4-FFF2-40B4-BE49-F238E27FC236}">
                <a16:creationId xmlns:a16="http://schemas.microsoft.com/office/drawing/2014/main" id="{499BAF13-0F09-BDEC-708D-4E4C0952D262}"/>
              </a:ext>
            </a:extLst>
          </p:cNvPr>
          <p:cNvCxnSpPr>
            <a:cxnSpLocks/>
            <a:stCxn id="6" idx="2"/>
            <a:endCxn id="10" idx="1"/>
          </p:cNvCxnSpPr>
          <p:nvPr/>
        </p:nvCxnSpPr>
        <p:spPr>
          <a:xfrm rot="16200000" flipH="1">
            <a:off x="2157001" y="5021677"/>
            <a:ext cx="68817" cy="404876"/>
          </a:xfrm>
          <a:prstGeom prst="bentConnector2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꺾인 연결선 310">
            <a:extLst>
              <a:ext uri="{FF2B5EF4-FFF2-40B4-BE49-F238E27FC236}">
                <a16:creationId xmlns:a16="http://schemas.microsoft.com/office/drawing/2014/main" id="{B367EBEF-7252-A6E6-D2F6-EAA4F3736160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5400000">
            <a:off x="1732963" y="5752326"/>
            <a:ext cx="121716" cy="39030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212">
            <a:extLst>
              <a:ext uri="{FF2B5EF4-FFF2-40B4-BE49-F238E27FC236}">
                <a16:creationId xmlns:a16="http://schemas.microsoft.com/office/drawing/2014/main" id="{4F7B967E-2B12-1E82-9D1D-8CC3F68E6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6751" y="6006344"/>
            <a:ext cx="629461" cy="21504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8873" tIns="0" rIns="18873" bIns="0" anchor="ctr"/>
          <a:lstStyle/>
          <a:p>
            <a:pPr marL="0" marR="0" lvl="0" indent="0" algn="ctr" defTabSz="95885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Light" pitchFamily="50" charset="-127"/>
                <a:cs typeface="+mn-cs"/>
              </a:rPr>
              <a:t>오창</a:t>
            </a:r>
            <a:br>
              <a:rPr lang="en-US" altLang="ko-KR" sz="800" b="1">
                <a:solidFill>
                  <a:prstClr val="black"/>
                </a:solidFill>
                <a:latin typeface="Arial Narrow" panose="020B0606020202030204" pitchFamily="34" charset="0"/>
                <a:ea typeface="LG스마트체 Light" pitchFamily="50" charset="-127"/>
              </a:rPr>
            </a:b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Light" pitchFamily="50" charset="-127"/>
                <a:cs typeface="+mn-cs"/>
              </a:rPr>
              <a:t>인사지원팀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Light" pitchFamily="50" charset="-127"/>
              <a:cs typeface="+mn-cs"/>
            </a:endParaRPr>
          </a:p>
        </p:txBody>
      </p:sp>
      <p:cxnSp>
        <p:nvCxnSpPr>
          <p:cNvPr id="20" name="꺾인 연결선 310">
            <a:extLst>
              <a:ext uri="{FF2B5EF4-FFF2-40B4-BE49-F238E27FC236}">
                <a16:creationId xmlns:a16="http://schemas.microsoft.com/office/drawing/2014/main" id="{455B380A-866F-5DA0-1812-AB4C60BBD4A7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1988971" y="5189707"/>
            <a:ext cx="0" cy="447197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58">
            <a:extLst>
              <a:ext uri="{FF2B5EF4-FFF2-40B4-BE49-F238E27FC236}">
                <a16:creationId xmlns:a16="http://schemas.microsoft.com/office/drawing/2014/main" id="{7F13083F-02DF-EA14-9645-06D66CE40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9188" y="5315174"/>
            <a:ext cx="679565" cy="249714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18873" tIns="0" rIns="18873" bIns="0" anchor="ctr"/>
          <a:lstStyle/>
          <a:p>
            <a:pPr marL="0" marR="0" lvl="0" indent="0" algn="ctr" defTabSz="95885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>
                <a:solidFill>
                  <a:srgbClr val="000000"/>
                </a:solidFill>
                <a:latin typeface="Arial Narrow" panose="020B0606020202030204" pitchFamily="34" charset="0"/>
                <a:ea typeface="LG스마트체 Light" pitchFamily="50" charset="-127"/>
              </a:rPr>
              <a:t>주재임원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Light" pitchFamily="50" charset="-127"/>
              <a:cs typeface="+mn-cs"/>
            </a:endParaRPr>
          </a:p>
        </p:txBody>
      </p:sp>
      <p:cxnSp>
        <p:nvCxnSpPr>
          <p:cNvPr id="24" name="꺾인 연결선 310">
            <a:extLst>
              <a:ext uri="{FF2B5EF4-FFF2-40B4-BE49-F238E27FC236}">
                <a16:creationId xmlns:a16="http://schemas.microsoft.com/office/drawing/2014/main" id="{041DE054-7BE7-693D-0320-F39BD92C7B65}"/>
              </a:ext>
            </a:extLst>
          </p:cNvPr>
          <p:cNvCxnSpPr>
            <a:cxnSpLocks/>
            <a:stCxn id="12" idx="2"/>
            <a:endCxn id="19" idx="0"/>
          </p:cNvCxnSpPr>
          <p:nvPr/>
        </p:nvCxnSpPr>
        <p:spPr>
          <a:xfrm rot="16200000" flipH="1">
            <a:off x="2095363" y="5780225"/>
            <a:ext cx="119726" cy="33251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12">
            <a:extLst>
              <a:ext uri="{FF2B5EF4-FFF2-40B4-BE49-F238E27FC236}">
                <a16:creationId xmlns:a16="http://schemas.microsoft.com/office/drawing/2014/main" id="{3A5EEA4E-2756-96D7-4518-C3A83D345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4545" y="6006344"/>
            <a:ext cx="355314" cy="2150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8873" tIns="0" rIns="18873" bIns="0" anchor="ctr"/>
          <a:lstStyle/>
          <a:p>
            <a:pPr marL="0" marR="0" lvl="0" indent="0" algn="ctr" defTabSz="95885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>
                <a:solidFill>
                  <a:prstClr val="black"/>
                </a:solidFill>
                <a:latin typeface="Arial Narrow" panose="020B0606020202030204" pitchFamily="34" charset="0"/>
                <a:ea typeface="LG스마트체 Light" pitchFamily="50" charset="-127"/>
              </a:rPr>
              <a:t>· · · · ·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Light" pitchFamily="50" charset="-127"/>
              <a:cs typeface="+mn-cs"/>
            </a:endParaRPr>
          </a:p>
        </p:txBody>
      </p:sp>
      <p:cxnSp>
        <p:nvCxnSpPr>
          <p:cNvPr id="26" name="꺾인 연결선 310">
            <a:extLst>
              <a:ext uri="{FF2B5EF4-FFF2-40B4-BE49-F238E27FC236}">
                <a16:creationId xmlns:a16="http://schemas.microsoft.com/office/drawing/2014/main" id="{DE0EFDD8-89ED-C33A-28F9-BFEF0509F809}"/>
              </a:ext>
            </a:extLst>
          </p:cNvPr>
          <p:cNvCxnSpPr>
            <a:cxnSpLocks/>
            <a:stCxn id="12" idx="2"/>
            <a:endCxn id="25" idx="0"/>
          </p:cNvCxnSpPr>
          <p:nvPr/>
        </p:nvCxnSpPr>
        <p:spPr>
          <a:xfrm rot="16200000" flipH="1">
            <a:off x="2390723" y="5484865"/>
            <a:ext cx="119726" cy="92323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58">
            <a:extLst>
              <a:ext uri="{FF2B5EF4-FFF2-40B4-BE49-F238E27FC236}">
                <a16:creationId xmlns:a16="http://schemas.microsoft.com/office/drawing/2014/main" id="{C6080758-099C-3E69-01F5-835797116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4579" y="5220971"/>
            <a:ext cx="679565" cy="249714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18873" tIns="0" rIns="18873" bIns="0" anchor="ctr"/>
          <a:lstStyle/>
          <a:p>
            <a:pPr marL="0" marR="0" lvl="0" indent="0" algn="ctr" defTabSz="95885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Light" pitchFamily="50" charset="-127"/>
                <a:cs typeface="+mn-cs"/>
              </a:rPr>
              <a:t>CHO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Light" pitchFamily="50" charset="-127"/>
              <a:cs typeface="+mn-cs"/>
            </a:endParaRPr>
          </a:p>
        </p:txBody>
      </p:sp>
      <p:sp>
        <p:nvSpPr>
          <p:cNvPr id="34" name="Rectangle 212">
            <a:extLst>
              <a:ext uri="{FF2B5EF4-FFF2-40B4-BE49-F238E27FC236}">
                <a16:creationId xmlns:a16="http://schemas.microsoft.com/office/drawing/2014/main" id="{58F7F50E-5839-6F44-281F-A726DF5E8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579" y="5985537"/>
            <a:ext cx="572237" cy="21504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8873" tIns="0" rIns="18873" bIns="0" anchor="ctr"/>
          <a:lstStyle/>
          <a:p>
            <a:pPr marL="0" marR="0" lvl="0" indent="0" algn="ctr" defTabSz="95885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>
                <a:solidFill>
                  <a:prstClr val="black"/>
                </a:solidFill>
                <a:latin typeface="Arial Narrow" panose="020B0606020202030204" pitchFamily="34" charset="0"/>
                <a:ea typeface="LG스마트체 Light" pitchFamily="50" charset="-127"/>
              </a:rPr>
              <a:t>노경기획팀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Light" pitchFamily="50" charset="-127"/>
              <a:cs typeface="+mn-cs"/>
            </a:endParaRPr>
          </a:p>
        </p:txBody>
      </p:sp>
      <p:sp>
        <p:nvSpPr>
          <p:cNvPr id="35" name="Rectangle 212">
            <a:extLst>
              <a:ext uri="{FF2B5EF4-FFF2-40B4-BE49-F238E27FC236}">
                <a16:creationId xmlns:a16="http://schemas.microsoft.com/office/drawing/2014/main" id="{A9658C24-FD8C-6423-9627-80E9EF076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930" y="5983547"/>
            <a:ext cx="572237" cy="21504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8873" tIns="0" rIns="18873" bIns="0" anchor="ctr"/>
          <a:lstStyle/>
          <a:p>
            <a:pPr marL="0" marR="0" lvl="0" indent="0" algn="ctr" defTabSz="95885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Light" pitchFamily="50" charset="-127"/>
                <a:cs typeface="+mn-cs"/>
              </a:rPr>
              <a:t>노경협력팀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Light" pitchFamily="50" charset="-127"/>
              <a:cs typeface="+mn-cs"/>
            </a:endParaRPr>
          </a:p>
        </p:txBody>
      </p:sp>
      <p:cxnSp>
        <p:nvCxnSpPr>
          <p:cNvPr id="36" name="꺾인 연결선 310">
            <a:extLst>
              <a:ext uri="{FF2B5EF4-FFF2-40B4-BE49-F238E27FC236}">
                <a16:creationId xmlns:a16="http://schemas.microsoft.com/office/drawing/2014/main" id="{33801F4D-7D68-F9CD-432F-5EDF644EAE93}"/>
              </a:ext>
            </a:extLst>
          </p:cNvPr>
          <p:cNvCxnSpPr>
            <a:cxnSpLocks/>
            <a:stCxn id="27" idx="2"/>
            <a:endCxn id="35" idx="0"/>
          </p:cNvCxnSpPr>
          <p:nvPr/>
        </p:nvCxnSpPr>
        <p:spPr>
          <a:xfrm flipH="1">
            <a:off x="4444049" y="5470685"/>
            <a:ext cx="313" cy="512862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58">
            <a:extLst>
              <a:ext uri="{FF2B5EF4-FFF2-40B4-BE49-F238E27FC236}">
                <a16:creationId xmlns:a16="http://schemas.microsoft.com/office/drawing/2014/main" id="{3F90ECBA-06B5-A26F-7764-13DBD1C50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7754" y="5555504"/>
            <a:ext cx="679565" cy="249714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18873" tIns="0" rIns="18873" bIns="0" anchor="ctr"/>
          <a:lstStyle/>
          <a:p>
            <a:pPr marL="0" marR="0" lvl="0" indent="0" algn="ctr" defTabSz="95885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>
                <a:solidFill>
                  <a:srgbClr val="000000"/>
                </a:solidFill>
                <a:latin typeface="Arial Narrow" panose="020B0606020202030204" pitchFamily="34" charset="0"/>
                <a:ea typeface="LG스마트체 Light" pitchFamily="50" charset="-127"/>
              </a:rPr>
              <a:t>주재임원</a:t>
            </a:r>
            <a:r>
              <a:rPr lang="en-US" altLang="ko-KR" sz="900" b="1">
                <a:solidFill>
                  <a:srgbClr val="000000"/>
                </a:solidFill>
                <a:latin typeface="Arial Narrow" panose="020B0606020202030204" pitchFamily="34" charset="0"/>
                <a:ea typeface="LG스마트체 Light" pitchFamily="50" charset="-127"/>
              </a:rPr>
              <a:t>/</a:t>
            </a:r>
            <a:br>
              <a:rPr lang="en-US" altLang="ko-KR" sz="900" b="1">
                <a:solidFill>
                  <a:srgbClr val="000000"/>
                </a:solidFill>
                <a:latin typeface="Arial Narrow" panose="020B0606020202030204" pitchFamily="34" charset="0"/>
                <a:ea typeface="LG스마트체 Light" pitchFamily="50" charset="-127"/>
              </a:rPr>
            </a:br>
            <a:r>
              <a:rPr lang="ko-KR" altLang="en-US" sz="900" b="1">
                <a:solidFill>
                  <a:srgbClr val="000000"/>
                </a:solidFill>
                <a:latin typeface="Arial Narrow" panose="020B0606020202030204" pitchFamily="34" charset="0"/>
                <a:ea typeface="LG스마트체 Light" pitchFamily="50" charset="-127"/>
              </a:rPr>
              <a:t>노경담당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Light" pitchFamily="50" charset="-127"/>
              <a:cs typeface="+mn-cs"/>
            </a:endParaRPr>
          </a:p>
        </p:txBody>
      </p:sp>
      <p:sp>
        <p:nvSpPr>
          <p:cNvPr id="38" name="Rectangle 212">
            <a:extLst>
              <a:ext uri="{FF2B5EF4-FFF2-40B4-BE49-F238E27FC236}">
                <a16:creationId xmlns:a16="http://schemas.microsoft.com/office/drawing/2014/main" id="{E99DCE59-14D6-58A2-985C-295704E20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3632" y="5983547"/>
            <a:ext cx="572237" cy="21504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8873" tIns="0" rIns="18873" bIns="0" anchor="ctr"/>
          <a:lstStyle/>
          <a:p>
            <a:pPr marL="0" marR="0" lvl="0" indent="0" algn="ctr" defTabSz="95885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Light" pitchFamily="50" charset="-127"/>
                <a:cs typeface="+mn-cs"/>
              </a:rPr>
              <a:t>노경운영팀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Light" pitchFamily="50" charset="-127"/>
              <a:cs typeface="+mn-cs"/>
            </a:endParaRPr>
          </a:p>
        </p:txBody>
      </p:sp>
      <p:cxnSp>
        <p:nvCxnSpPr>
          <p:cNvPr id="39" name="꺾인 연결선 310">
            <a:extLst>
              <a:ext uri="{FF2B5EF4-FFF2-40B4-BE49-F238E27FC236}">
                <a16:creationId xmlns:a16="http://schemas.microsoft.com/office/drawing/2014/main" id="{06434188-9592-8AD5-33EC-5705841F350E}"/>
              </a:ext>
            </a:extLst>
          </p:cNvPr>
          <p:cNvCxnSpPr>
            <a:cxnSpLocks/>
            <a:stCxn id="37" idx="2"/>
            <a:endCxn id="38" idx="0"/>
          </p:cNvCxnSpPr>
          <p:nvPr/>
        </p:nvCxnSpPr>
        <p:spPr>
          <a:xfrm rot="16200000" flipH="1">
            <a:off x="4709480" y="5543275"/>
            <a:ext cx="178329" cy="702214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꺾인 연결선 310">
            <a:extLst>
              <a:ext uri="{FF2B5EF4-FFF2-40B4-BE49-F238E27FC236}">
                <a16:creationId xmlns:a16="http://schemas.microsoft.com/office/drawing/2014/main" id="{50E996B6-4055-E34F-B928-3FCEBCD9ADDE}"/>
              </a:ext>
            </a:extLst>
          </p:cNvPr>
          <p:cNvCxnSpPr>
            <a:cxnSpLocks/>
            <a:stCxn id="37" idx="2"/>
            <a:endCxn id="34" idx="0"/>
          </p:cNvCxnSpPr>
          <p:nvPr/>
        </p:nvCxnSpPr>
        <p:spPr>
          <a:xfrm rot="5400000">
            <a:off x="4005959" y="5543958"/>
            <a:ext cx="180319" cy="70283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44212C5-DBEC-0005-F041-EB15DCF85CC1}"/>
              </a:ext>
            </a:extLst>
          </p:cNvPr>
          <p:cNvSpPr txBox="1"/>
          <p:nvPr/>
        </p:nvSpPr>
        <p:spPr>
          <a:xfrm>
            <a:off x="3290659" y="6238131"/>
            <a:ext cx="861582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▲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6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명</a:t>
            </a:r>
            <a:b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팀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1/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책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3/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선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1/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사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86D92F-801B-83BF-596D-2D1818876F2C}"/>
              </a:ext>
            </a:extLst>
          </p:cNvPr>
          <p:cNvSpPr txBox="1"/>
          <p:nvPr/>
        </p:nvSpPr>
        <p:spPr>
          <a:xfrm>
            <a:off x="4008494" y="6238131"/>
            <a:ext cx="861582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▲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6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명</a:t>
            </a:r>
            <a:b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팀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1/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책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4/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사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4F54BE-1AB2-0ABA-D3A9-235088F6815B}"/>
              </a:ext>
            </a:extLst>
          </p:cNvPr>
          <p:cNvSpPr txBox="1"/>
          <p:nvPr/>
        </p:nvSpPr>
        <p:spPr>
          <a:xfrm>
            <a:off x="4707278" y="6238131"/>
            <a:ext cx="861582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▲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4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명</a:t>
            </a:r>
            <a:b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팀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1/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책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2/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사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F360DD3-B780-EA84-C966-620684DF5321}"/>
              </a:ext>
            </a:extLst>
          </p:cNvPr>
          <p:cNvSpPr txBox="1"/>
          <p:nvPr/>
        </p:nvSpPr>
        <p:spPr>
          <a:xfrm>
            <a:off x="2313861" y="5409555"/>
            <a:ext cx="861582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▲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4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명</a:t>
            </a:r>
            <a:b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팀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1/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책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2/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사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63E7C8A-4FF5-DCDE-5309-CD1FCEB91310}"/>
              </a:ext>
            </a:extLst>
          </p:cNvPr>
          <p:cNvSpPr txBox="1"/>
          <p:nvPr/>
        </p:nvSpPr>
        <p:spPr>
          <a:xfrm>
            <a:off x="1444206" y="4654516"/>
            <a:ext cx="1148496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000" b="1" u="sng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[</a:t>
            </a:r>
            <a:r>
              <a:rPr lang="ko-KR" altLang="en-US" sz="1000" b="1" u="sng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분사 당시</a:t>
            </a:r>
            <a:r>
              <a:rPr lang="en-US" altLang="ko-KR" sz="1000" b="1" u="sng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: </a:t>
            </a:r>
            <a:r>
              <a:rPr lang="ko-KR" altLang="en-US" sz="1000" b="1" u="sng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총원 </a:t>
            </a:r>
            <a:r>
              <a:rPr lang="en-US" altLang="ko-KR" sz="1000" b="1" u="sng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14</a:t>
            </a:r>
            <a:r>
              <a:rPr lang="ko-KR" altLang="en-US" sz="1000" b="1" u="sng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명</a:t>
            </a:r>
            <a:r>
              <a:rPr lang="en-US" altLang="ko-KR" sz="1000" b="1" u="sng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69AEDD5-E1A6-4464-34F1-B5EB2B891869}"/>
              </a:ext>
            </a:extLst>
          </p:cNvPr>
          <p:cNvSpPr txBox="1"/>
          <p:nvPr/>
        </p:nvSpPr>
        <p:spPr>
          <a:xfrm>
            <a:off x="1195537" y="6260387"/>
            <a:ext cx="861582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▲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6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명</a:t>
            </a:r>
            <a:b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팀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1/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책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3/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선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1/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사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F396D07-EB76-0226-02C6-CAA9A18E141D}"/>
              </a:ext>
            </a:extLst>
          </p:cNvPr>
          <p:cNvSpPr txBox="1"/>
          <p:nvPr/>
        </p:nvSpPr>
        <p:spPr>
          <a:xfrm>
            <a:off x="1917181" y="6260387"/>
            <a:ext cx="861582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▲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4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명</a:t>
            </a:r>
            <a:b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팀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1/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책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2/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사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651B47-FEE0-96C4-7C57-72DE1205A577}"/>
              </a:ext>
            </a:extLst>
          </p:cNvPr>
          <p:cNvSpPr txBox="1"/>
          <p:nvPr/>
        </p:nvSpPr>
        <p:spPr>
          <a:xfrm>
            <a:off x="3872084" y="5011757"/>
            <a:ext cx="1148496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sz="1000" b="1" u="sng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[</a:t>
            </a:r>
            <a:r>
              <a:rPr lang="ko-KR" altLang="en-US" sz="1000" b="1" u="sng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현재</a:t>
            </a:r>
            <a:r>
              <a:rPr lang="en-US" altLang="ko-KR" sz="1000" b="1" u="sng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: </a:t>
            </a:r>
            <a:r>
              <a:rPr lang="ko-KR" altLang="en-US" sz="1000" b="1" u="sng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총원 </a:t>
            </a:r>
            <a:r>
              <a:rPr lang="en-US" altLang="ko-KR" sz="1000" b="1" u="sng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16</a:t>
            </a:r>
            <a:r>
              <a:rPr lang="ko-KR" altLang="en-US" sz="1000" b="1" u="sng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명</a:t>
            </a:r>
            <a:r>
              <a:rPr lang="en-US" altLang="ko-KR" sz="1000" b="1" u="sng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]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22C9C82-1C0C-093E-2E9A-91815C6AE82C}"/>
              </a:ext>
            </a:extLst>
          </p:cNvPr>
          <p:cNvCxnSpPr>
            <a:cxnSpLocks/>
          </p:cNvCxnSpPr>
          <p:nvPr/>
        </p:nvCxnSpPr>
        <p:spPr>
          <a:xfrm>
            <a:off x="1095184" y="3611822"/>
            <a:ext cx="820280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9B54085-1848-2697-6A82-362407343A34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Font typeface="+mj-lt"/>
              <a:buAutoNum type="romanUcPeriod" startAt="2"/>
              <a:tabLst>
                <a:tab pos="85725" algn="l"/>
              </a:tabLst>
            </a:pPr>
            <a:r>
              <a:rPr lang="en-US" altLang="ko-KR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 </a:t>
            </a:r>
            <a:r>
              <a:rPr lang="en-US" altLang="ko-KR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3.0 </a:t>
            </a: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정의 및 실행방안 </a:t>
            </a:r>
            <a:endParaRPr lang="en-US" altLang="ko-KR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512EC08-6715-838D-FB35-024696416DC5}"/>
              </a:ext>
            </a:extLst>
          </p:cNvPr>
          <p:cNvSpPr txBox="1"/>
          <p:nvPr/>
        </p:nvSpPr>
        <p:spPr>
          <a:xfrm>
            <a:off x="6357187" y="181068"/>
            <a:ext cx="3284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④ 노경</a:t>
            </a:r>
            <a:r>
              <a:rPr lang="en-US" altLang="ko-KR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3.0 </a:t>
            </a:r>
            <a:r>
              <a:rPr lang="ko-KR" altLang="en-US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실행력 강화방안</a:t>
            </a:r>
            <a:r>
              <a:rPr lang="en-US" altLang="ko-KR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12AD67AD-1301-9741-C538-D7794E8E754E}"/>
              </a:ext>
            </a:extLst>
          </p:cNvPr>
          <p:cNvGrpSpPr/>
          <p:nvPr/>
        </p:nvGrpSpPr>
        <p:grpSpPr>
          <a:xfrm>
            <a:off x="7976322" y="5105067"/>
            <a:ext cx="1182752" cy="169277"/>
            <a:chOff x="7976322" y="5105067"/>
            <a:chExt cx="1182752" cy="169277"/>
          </a:xfrm>
        </p:grpSpPr>
        <p:sp>
          <p:nvSpPr>
            <p:cNvPr id="21" name="실행 단추: 앞으로 또는 다음 84">
              <a:hlinkClick r:id="rId6" action="ppaction://hlinksldjump"/>
              <a:extLst>
                <a:ext uri="{FF2B5EF4-FFF2-40B4-BE49-F238E27FC236}">
                  <a16:creationId xmlns:a16="http://schemas.microsoft.com/office/drawing/2014/main" id="{2CCD6C4A-B3CE-5557-BCBE-658E4485A6D3}"/>
                </a:ext>
              </a:extLst>
            </p:cNvPr>
            <p:cNvSpPr/>
            <p:nvPr/>
          </p:nvSpPr>
          <p:spPr>
            <a:xfrm>
              <a:off x="7976322" y="5122466"/>
              <a:ext cx="144000" cy="144000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6EF8437-8B41-E046-A0F2-F2D3BE3663BE}"/>
                </a:ext>
              </a:extLst>
            </p:cNvPr>
            <p:cNvSpPr txBox="1"/>
            <p:nvPr/>
          </p:nvSpPr>
          <p:spPr>
            <a:xfrm>
              <a:off x="8134755" y="5105067"/>
              <a:ext cx="1024319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1100" u="sng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CHO </a:t>
              </a:r>
              <a:r>
                <a:rPr lang="ko-KR" altLang="en-US" sz="1100" u="sng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부문 내 </a:t>
              </a:r>
              <a:r>
                <a:rPr lang="en-US" altLang="ko-KR" sz="1100" u="sng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List</a:t>
              </a:r>
              <a:endParaRPr lang="en-US" altLang="ko-KR" sz="11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8725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6333940" y="181068"/>
            <a:ext cx="3284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① </a:t>
            </a:r>
            <a:r>
              <a:rPr lang="en-US" altLang="ko-KR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Overview</a:t>
            </a: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1" name="오각형 54">
            <a:extLst>
              <a:ext uri="{FF2B5EF4-FFF2-40B4-BE49-F238E27FC236}">
                <a16:creationId xmlns:a16="http://schemas.microsoft.com/office/drawing/2014/main" id="{FAFD4EAD-A913-094F-EFE2-C043831BDD6F}"/>
              </a:ext>
            </a:extLst>
          </p:cNvPr>
          <p:cNvSpPr/>
          <p:nvPr/>
        </p:nvSpPr>
        <p:spPr bwMode="auto">
          <a:xfrm>
            <a:off x="1305455" y="1518973"/>
            <a:ext cx="2700000" cy="294266"/>
          </a:xfrm>
          <a:prstGeom prst="homePlate">
            <a:avLst>
              <a:gd name="adj" fmla="val 33867"/>
            </a:avLst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29" tIns="45715" rIns="91429" bIns="45715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96" rtl="0" eaLnBrk="1" fontAlgn="auto" latinLnBrk="0" hangingPunct="1">
              <a:lnSpc>
                <a:spcPts val="1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377" algn="l"/>
              </a:tabLst>
              <a:defRPr/>
            </a:pPr>
            <a:r>
              <a:rPr kumimoji="0" lang="en-US" altLang="ko-KR" sz="13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Phase Ⅰ(</a:t>
            </a:r>
            <a:r>
              <a:rPr kumimoji="0" lang="ko-KR" altLang="en-US" sz="13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단기</a:t>
            </a:r>
            <a:r>
              <a:rPr kumimoji="0" lang="en-US" altLang="ko-KR" sz="13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1300" b="1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2" name="오각형 54">
            <a:extLst>
              <a:ext uri="{FF2B5EF4-FFF2-40B4-BE49-F238E27FC236}">
                <a16:creationId xmlns:a16="http://schemas.microsoft.com/office/drawing/2014/main" id="{5CC8364B-3B43-D8CF-0C34-2811AC1F67E5}"/>
              </a:ext>
            </a:extLst>
          </p:cNvPr>
          <p:cNvSpPr/>
          <p:nvPr/>
        </p:nvSpPr>
        <p:spPr bwMode="auto">
          <a:xfrm>
            <a:off x="4129640" y="1518973"/>
            <a:ext cx="2700000" cy="294266"/>
          </a:xfrm>
          <a:prstGeom prst="homePlate">
            <a:avLst>
              <a:gd name="adj" fmla="val 33867"/>
            </a:avLst>
          </a:prstGeom>
          <a:solidFill>
            <a:schemeClr val="bg1">
              <a:lumMod val="50000"/>
            </a:schemeClr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29" tIns="45715" rIns="91429" bIns="45715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96" rtl="0" eaLnBrk="1" fontAlgn="auto" latinLnBrk="0" hangingPunct="1">
              <a:lnSpc>
                <a:spcPts val="1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377" algn="l"/>
              </a:tabLst>
              <a:defRPr/>
            </a:pPr>
            <a:r>
              <a:rPr kumimoji="0" lang="en-US" altLang="ko-KR" sz="1300" b="1" i="0" u="none" strike="noStrike" kern="1200" cap="none" spc="-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Phase</a:t>
            </a:r>
            <a:r>
              <a:rPr kumimoji="0" lang="ko-KR" altLang="en-US" sz="1300" b="1" i="0" u="none" strike="noStrike" kern="1200" cap="none" spc="-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300" b="1" i="0" u="none" strike="noStrike" kern="1200" cap="none" spc="-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Ⅱ (</a:t>
            </a:r>
            <a:r>
              <a:rPr kumimoji="0" lang="ko-KR" altLang="en-US" sz="1300" b="1" i="0" u="none" strike="noStrike" kern="1200" cap="none" spc="-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중기</a:t>
            </a:r>
            <a:r>
              <a:rPr kumimoji="0" lang="en-US" altLang="ko-KR" sz="1300" b="1" i="0" u="none" strike="noStrike" kern="1200" cap="none" spc="-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en-US" altLang="ko-KR" sz="1300" b="1" i="0" u="none" strike="noStrike" kern="1200" cap="none" spc="-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3" name="오각형 54">
            <a:extLst>
              <a:ext uri="{FF2B5EF4-FFF2-40B4-BE49-F238E27FC236}">
                <a16:creationId xmlns:a16="http://schemas.microsoft.com/office/drawing/2014/main" id="{3AB51133-190A-9E70-C309-A4D3D77CC0A4}"/>
              </a:ext>
            </a:extLst>
          </p:cNvPr>
          <p:cNvSpPr/>
          <p:nvPr/>
        </p:nvSpPr>
        <p:spPr bwMode="auto">
          <a:xfrm>
            <a:off x="6886514" y="1518973"/>
            <a:ext cx="2700000" cy="294266"/>
          </a:xfrm>
          <a:prstGeom prst="homePlate">
            <a:avLst>
              <a:gd name="adj" fmla="val 33867"/>
            </a:avLst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29" tIns="45715" rIns="91429" bIns="45715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96" rtl="0" eaLnBrk="1" fontAlgn="auto" latinLnBrk="0" hangingPunct="1">
              <a:lnSpc>
                <a:spcPts val="1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377" algn="l"/>
              </a:tabLst>
              <a:defRPr/>
            </a:pPr>
            <a:r>
              <a:rPr kumimoji="0" lang="en-US" altLang="ko-KR" sz="1300" b="1" i="0" u="none" strike="noStrike" kern="1200" cap="none" spc="-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Phase Ⅲ (</a:t>
            </a:r>
            <a:r>
              <a:rPr kumimoji="0" lang="ko-KR" altLang="en-US" sz="1300" b="1" i="0" u="none" strike="noStrike" kern="1200" cap="none" spc="-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장기</a:t>
            </a:r>
            <a:r>
              <a:rPr kumimoji="0" lang="en-US" altLang="ko-KR" sz="1300" b="1" i="0" u="none" strike="noStrike" kern="1200" cap="none" spc="-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1300" b="1" i="0" u="none" strike="noStrike" kern="1200" cap="none" spc="-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449362-7A35-70F3-9453-4C26A74900D7}"/>
              </a:ext>
            </a:extLst>
          </p:cNvPr>
          <p:cNvSpPr txBox="1"/>
          <p:nvPr/>
        </p:nvSpPr>
        <p:spPr>
          <a:xfrm>
            <a:off x="202841" y="150290"/>
            <a:ext cx="296656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7800" indent="-177800">
              <a:buFont typeface="+mj-lt"/>
              <a:buAutoNum type="romanUcPeriod" startAt="3"/>
            </a:pP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추진과제 및 대응방향  </a:t>
            </a:r>
            <a:endParaRPr lang="en-US" altLang="ko-KR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7C4BBF-7C13-703B-C028-BB522984D29D}"/>
              </a:ext>
            </a:extLst>
          </p:cNvPr>
          <p:cNvSpPr txBox="1"/>
          <p:nvPr/>
        </p:nvSpPr>
        <p:spPr>
          <a:xfrm>
            <a:off x="1412212" y="1912810"/>
            <a:ext cx="2537488" cy="560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독자적 </a:t>
            </a:r>
            <a:r>
              <a:rPr lang="ko-KR" altLang="en-US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노경관계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구축</a:t>
            </a:r>
          </a:p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현장관리자</a:t>
            </a:r>
            <a:r>
              <a:rPr lang="ko-KR" altLang="en-US" sz="11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완결형 노무관리 체계 구축</a:t>
            </a:r>
            <a:endParaRPr lang="en-US" altLang="ko-KR" sz="1100" b="1" kern="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5E170B-A4B8-95C9-71A6-7B79AFE07077}"/>
              </a:ext>
            </a:extLst>
          </p:cNvPr>
          <p:cNvSpPr txBox="1"/>
          <p:nvPr/>
        </p:nvSpPr>
        <p:spPr>
          <a:xfrm>
            <a:off x="6890280" y="1912810"/>
            <a:ext cx="2943396" cy="1604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소수노조 전환 시 대응전략</a:t>
            </a:r>
            <a:endParaRPr kumimoji="0" lang="en-US" altLang="ko-KR" sz="11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국내 생산라인 축소에 따른 정리해고 등 </a:t>
            </a:r>
            <a:b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kumimoji="0" lang="ko-KR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집단적 분쟁 관리 방안 수립</a:t>
            </a:r>
            <a:endParaRPr kumimoji="0" lang="en-US" altLang="ko-KR" sz="11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해외 법인 노조와 국내 노조 연대 시 대응 전략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0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미래 </a:t>
            </a:r>
            <a:r>
              <a:rPr lang="ko-KR" altLang="en-US" sz="1100" b="1" ker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생산체계 전환을 </a:t>
            </a:r>
            <a:r>
              <a:rPr lang="ko-KR" altLang="en-US" sz="110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위한 협력적 노사관계 구축</a:t>
            </a:r>
            <a:endParaRPr lang="en-US" altLang="ko-KR" sz="1100" b="1" kern="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제조 자동화로 인한 조합원 </a:t>
            </a:r>
            <a:r>
              <a:rPr kumimoji="0" lang="ko-KR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감소 대응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70CE1E-D7DE-4F16-E083-8ED14E0EBF03}"/>
              </a:ext>
            </a:extLst>
          </p:cNvPr>
          <p:cNvSpPr txBox="1"/>
          <p:nvPr/>
        </p:nvSpPr>
        <p:spPr>
          <a:xfrm>
            <a:off x="4088768" y="1912810"/>
            <a:ext cx="2648887" cy="1373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회사 주도의 노사관계 구축</a:t>
            </a:r>
            <a:b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kumimoji="0" lang="en-US" altLang="ko-KR" sz="11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kumimoji="0" lang="ko-KR" altLang="en-US" sz="11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임단협 프로세스 개선</a:t>
            </a:r>
            <a:r>
              <a:rPr kumimoji="0" lang="en-US" altLang="ko-KR" sz="11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br>
              <a:rPr kumimoji="0" lang="en-US" altLang="ko-KR" sz="11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kumimoji="0" lang="en-US" altLang="ko-KR" sz="11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100" ker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노사관계 전반 이슈대응 </a:t>
            </a:r>
            <a:r>
              <a:rPr kumimoji="0" lang="ko-KR" altLang="en-US" sz="11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전략 고도화</a:t>
            </a:r>
            <a:br>
              <a:rPr kumimoji="0" lang="en-US" altLang="ko-KR" sz="11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kumimoji="0" lang="en-US" altLang="ko-KR" sz="11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(</a:t>
            </a:r>
            <a:r>
              <a:rPr kumimoji="0" lang="ko-KR" altLang="en-US" sz="11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직장폐쇄</a:t>
            </a:r>
            <a:r>
              <a:rPr kumimoji="0" lang="en-US" altLang="ko-KR" sz="11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1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손배</a:t>
            </a:r>
            <a:r>
              <a:rPr kumimoji="0" lang="en-US" altLang="ko-KR" sz="11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1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가처분</a:t>
            </a:r>
            <a:r>
              <a:rPr kumimoji="0" lang="en-US" altLang="ko-KR" sz="11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1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대체근로자 등</a:t>
            </a:r>
            <a:r>
              <a:rPr kumimoji="0" lang="en-US" altLang="ko-KR" sz="11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1100" kern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자동화</a:t>
            </a:r>
            <a: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·</a:t>
            </a:r>
            <a:r>
              <a:rPr kumimoji="0" lang="ko-KR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스마트팩토리 전환 관련 </a:t>
            </a:r>
            <a:b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kumimoji="0" lang="ko-KR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상생 협약 선제적 체결 검토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149231-1825-1370-D3F3-A35C5DD7DB4B}"/>
              </a:ext>
            </a:extLst>
          </p:cNvPr>
          <p:cNvSpPr txBox="1"/>
          <p:nvPr/>
        </p:nvSpPr>
        <p:spPr>
          <a:xfrm>
            <a:off x="1412212" y="3712736"/>
            <a:ext cx="2742928" cy="124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사무노조 관리 방향성 정립 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세 확산 시 대응 </a:t>
            </a:r>
            <a:r>
              <a:rPr kumimoji="0" lang="ko-KR" altLang="en-US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시나리오 </a:t>
            </a:r>
            <a: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Plan</a:t>
            </a:r>
            <a:endParaRPr lang="en-US" altLang="ko-KR" sz="1100" b="1" kern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법적</a:t>
            </a:r>
            <a:r>
              <a:rPr kumimoji="0" lang="ko-KR" altLang="en-US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이슈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대응</a:t>
            </a:r>
            <a:b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kumimoji="0" lang="en-US" altLang="ko-KR" sz="11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kumimoji="0" lang="ko-KR" altLang="en-US" sz="11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교단분리</a:t>
            </a:r>
            <a:r>
              <a:rPr lang="en-US" altLang="ko-KR" sz="1100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노사협의회</a:t>
            </a: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근로자대표</a:t>
            </a: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b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근로시간면제</a:t>
            </a: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공정대표의무 </a:t>
            </a:r>
            <a:r>
              <a:rPr lang="ko-KR" altLang="en-US" sz="1100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</a:t>
            </a:r>
            <a:endParaRPr lang="en-US" altLang="ko-KR" sz="1100" kern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865F8E-0122-4487-D724-E93E576850AE}"/>
              </a:ext>
            </a:extLst>
          </p:cNvPr>
          <p:cNvSpPr txBox="1"/>
          <p:nvPr/>
        </p:nvSpPr>
        <p:spPr>
          <a:xfrm>
            <a:off x="6886514" y="3712736"/>
            <a:ext cx="2781208" cy="560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과반수 노조 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교대노조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kumimoji="0" lang="ko-KR" altLang="en-US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출범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 </a:t>
            </a:r>
            <a:r>
              <a:rPr lang="ko-KR" altLang="en-US" sz="11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대응전략</a:t>
            </a:r>
            <a:endParaRPr lang="en-US" altLang="ko-KR" sz="1100" b="1" kern="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노</a:t>
            </a:r>
            <a:r>
              <a:rPr lang="en-US" altLang="ko-KR" sz="11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lang="ko-KR" altLang="en-US" sz="11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</a:t>
            </a:r>
            <a:r>
              <a:rPr lang="en-US" altLang="ko-KR" sz="11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(AI)</a:t>
            </a:r>
            <a:r>
              <a:rPr lang="ko-KR" altLang="en-US" sz="11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갈등 관리방안</a:t>
            </a:r>
            <a:endParaRPr lang="en-US" altLang="ko-KR" sz="1100" b="1" kern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13DAFE-3DFC-C160-1040-4E0A58C403AF}"/>
              </a:ext>
            </a:extLst>
          </p:cNvPr>
          <p:cNvSpPr txBox="1"/>
          <p:nvPr/>
        </p:nvSpPr>
        <p:spPr>
          <a:xfrm>
            <a:off x="4075753" y="3712736"/>
            <a:ext cx="2661902" cy="68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신규 노조설립 시 대응방안 </a:t>
            </a:r>
            <a:br>
              <a:rPr lang="en-US" altLang="ko-KR" sz="11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사무직 제</a:t>
            </a: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ko-KR" altLang="en-US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노조 설립 </a:t>
            </a:r>
            <a:b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사무</a:t>
            </a: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lang="ko-KR" altLang="en-US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현장 통합 노조 출현</a:t>
            </a:r>
            <a:endParaRPr lang="en-US" altLang="ko-KR" sz="1100" kern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34F93C-3C83-94E3-4C17-C67D2F0D22AB}"/>
              </a:ext>
            </a:extLst>
          </p:cNvPr>
          <p:cNvSpPr txBox="1"/>
          <p:nvPr/>
        </p:nvSpPr>
        <p:spPr>
          <a:xfrm>
            <a:off x="1372130" y="5347751"/>
            <a:ext cx="2537488" cy="840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0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노경관리 인덱스 구축 </a:t>
            </a:r>
            <a:endParaRPr lang="en-US" altLang="ko-KR" sz="1100" b="1" kern="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0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사업부 </a:t>
            </a:r>
            <a:r>
              <a:rPr lang="en-US" altLang="ko-KR" sz="110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HR </a:t>
            </a:r>
            <a:r>
              <a:rPr lang="ko-KR" altLang="en-US" sz="110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노경역량 강화</a:t>
            </a:r>
            <a:endParaRPr lang="en-US" altLang="ko-KR" sz="1100" b="1" kern="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10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Opinion</a:t>
            </a:r>
            <a:r>
              <a:rPr lang="ko-KR" altLang="en-US" sz="110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Leader </a:t>
            </a:r>
            <a:r>
              <a:rPr lang="ko-KR" altLang="en-US" sz="110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풀</a:t>
            </a:r>
            <a:r>
              <a:rPr lang="en-US" altLang="ko-KR" sz="110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확보 </a:t>
            </a:r>
            <a:endParaRPr lang="en-US" altLang="ko-KR" sz="1100" b="1" kern="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7E51BB-69F5-BDEC-F69E-B6425C30FA58}"/>
              </a:ext>
            </a:extLst>
          </p:cNvPr>
          <p:cNvSpPr txBox="1"/>
          <p:nvPr/>
        </p:nvSpPr>
        <p:spPr>
          <a:xfrm>
            <a:off x="4142427" y="5194003"/>
            <a:ext cx="2892017" cy="1323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00" b="1" ker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조직책임자 이상 노경마인드 </a:t>
            </a:r>
            <a:r>
              <a:rPr lang="ko-KR" altLang="en-US" sz="110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제고 프로그램 구축</a:t>
            </a:r>
            <a:endParaRPr lang="en-US" altLang="ko-KR" sz="1100" b="1" kern="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0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예방형 노무관리 체계 구축</a:t>
            </a:r>
            <a:endParaRPr lang="en-US" altLang="ko-KR" sz="1100" b="1" kern="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 indent="-85725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자기주도형 노무관리 체계 시스템화</a:t>
            </a:r>
            <a:endParaRPr kumimoji="0" lang="en-US" altLang="ko-KR" sz="11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00" b="1" ker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선제적 </a:t>
            </a:r>
            <a:r>
              <a:rPr lang="ko-KR" altLang="en-US" sz="110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노사협의회</a:t>
            </a:r>
            <a:r>
              <a:rPr lang="en-US" altLang="ko-KR" sz="110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근로자대표</a:t>
            </a:r>
            <a:r>
              <a:rPr lang="en-US" altLang="ko-KR" sz="110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10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설치 검토</a:t>
            </a:r>
            <a:endParaRPr lang="en-US" altLang="ko-KR" sz="1100" b="1" kern="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F75E60-8980-8A16-ABA6-7B486646FD7E}"/>
              </a:ext>
            </a:extLst>
          </p:cNvPr>
          <p:cNvSpPr txBox="1"/>
          <p:nvPr/>
        </p:nvSpPr>
        <p:spPr>
          <a:xfrm>
            <a:off x="6886514" y="5207456"/>
            <a:ext cx="3019486" cy="560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100" b="1" ker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조직책임자 완결형 노무관리 체계구축</a:t>
            </a:r>
            <a:endParaRPr lang="en-US" altLang="ko-KR" sz="1100" b="1" kern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 indent="-85725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자기주도형 노무관리 체계 시스템화</a:t>
            </a:r>
            <a:endParaRPr kumimoji="0" lang="en-US" altLang="ko-KR" sz="11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9989DA3-57AB-1B40-34AD-9135D68B6CC7}"/>
              </a:ext>
            </a:extLst>
          </p:cNvPr>
          <p:cNvSpPr txBox="1"/>
          <p:nvPr/>
        </p:nvSpPr>
        <p:spPr>
          <a:xfrm>
            <a:off x="287652" y="1957986"/>
            <a:ext cx="936000" cy="648000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ysClr val="window" lastClr="FFFFFF">
                <a:lumMod val="50000"/>
              </a:sys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현장노조</a:t>
            </a:r>
            <a:endParaRPr kumimoji="0" lang="en-US" altLang="ko-KR" sz="1100" b="1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8E78829-1D05-FB87-6B19-C6B57CD92ED7}"/>
              </a:ext>
            </a:extLst>
          </p:cNvPr>
          <p:cNvSpPr txBox="1"/>
          <p:nvPr/>
        </p:nvSpPr>
        <p:spPr>
          <a:xfrm>
            <a:off x="287652" y="3783743"/>
            <a:ext cx="936000" cy="648000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ysClr val="window" lastClr="FFFFFF">
                <a:lumMod val="50000"/>
              </a:sys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kern="0" spc="-50">
                <a:solidFill>
                  <a:prstClr val="black"/>
                </a:solidFill>
                <a:latin typeface="Arial Narrow"/>
                <a:ea typeface="LG스마트체 Regular"/>
              </a:rPr>
              <a:t>사무노조</a:t>
            </a:r>
            <a:endParaRPr kumimoji="0" lang="en-US" altLang="ko-KR" sz="1100" b="1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400958E-BBC5-D459-2123-81BA4A1C9A14}"/>
              </a:ext>
            </a:extLst>
          </p:cNvPr>
          <p:cNvSpPr txBox="1"/>
          <p:nvPr/>
        </p:nvSpPr>
        <p:spPr>
          <a:xfrm>
            <a:off x="287652" y="5441085"/>
            <a:ext cx="936000" cy="648000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ysClr val="window" lastClr="FFFFFF">
                <a:lumMod val="50000"/>
              </a:sys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kern="0" spc="-50">
                <a:solidFill>
                  <a:prstClr val="black"/>
                </a:solidFill>
                <a:latin typeface="Arial Narrow"/>
                <a:ea typeface="LG스마트체 Regular"/>
              </a:rPr>
              <a:t>사무직 </a:t>
            </a:r>
            <a:br>
              <a:rPr lang="en-US" altLang="ko-KR" sz="1100" b="1" kern="0" spc="-5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ko-KR" altLang="en-US" sz="1100" b="1" kern="0" spc="-50">
                <a:solidFill>
                  <a:prstClr val="black"/>
                </a:solidFill>
                <a:latin typeface="Arial Narrow"/>
                <a:ea typeface="LG스마트체 Regular"/>
              </a:rPr>
              <a:t>노경관리</a:t>
            </a:r>
            <a:endParaRPr kumimoji="0" lang="en-US" altLang="ko-KR" sz="1100" b="1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869BB74-0423-B924-A06F-D33BF9658047}"/>
              </a:ext>
            </a:extLst>
          </p:cNvPr>
          <p:cNvCxnSpPr>
            <a:cxnSpLocks/>
          </p:cNvCxnSpPr>
          <p:nvPr/>
        </p:nvCxnSpPr>
        <p:spPr>
          <a:xfrm>
            <a:off x="1415738" y="3563861"/>
            <a:ext cx="820280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2125FBA-D387-5132-2542-7C6FA719B1F3}"/>
              </a:ext>
            </a:extLst>
          </p:cNvPr>
          <p:cNvCxnSpPr>
            <a:cxnSpLocks/>
          </p:cNvCxnSpPr>
          <p:nvPr/>
        </p:nvCxnSpPr>
        <p:spPr>
          <a:xfrm>
            <a:off x="1464916" y="5057319"/>
            <a:ext cx="820280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06E5A73-B176-19C0-B253-464D5EF195EB}"/>
              </a:ext>
            </a:extLst>
          </p:cNvPr>
          <p:cNvSpPr/>
          <p:nvPr/>
        </p:nvSpPr>
        <p:spPr>
          <a:xfrm>
            <a:off x="384585" y="635244"/>
            <a:ext cx="913683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 </a:t>
            </a:r>
            <a:r>
              <a:rPr lang="en-US" altLang="ko-KR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3.0 Frame</a:t>
            </a:r>
            <a:r>
              <a:rPr lang="ko-KR" altLang="en-US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별 중점 추진 과제를 도출하고 개별 </a:t>
            </a:r>
            <a:r>
              <a:rPr lang="en-US" altLang="ko-KR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Task</a:t>
            </a:r>
            <a:r>
              <a:rPr lang="ko-KR" altLang="en-US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를 통해 대응안 구체화 및 이슈 대응 역량 강화를 추진토록 함</a:t>
            </a:r>
            <a:r>
              <a:rPr lang="ko-KR" altLang="en-US" sz="1500" b="1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endParaRPr lang="en-US" altLang="ko-KR" sz="1500" b="1" dirty="0">
              <a:solidFill>
                <a:srgbClr val="C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4490B9-7C78-2EAD-E5FC-1BFDEDA77DDA}"/>
              </a:ext>
            </a:extLst>
          </p:cNvPr>
          <p:cNvSpPr/>
          <p:nvPr/>
        </p:nvSpPr>
        <p:spPr>
          <a:xfrm>
            <a:off x="1306414" y="1345035"/>
            <a:ext cx="8202806" cy="140623"/>
          </a:xfrm>
          <a:prstGeom prst="rect">
            <a:avLst/>
          </a:prstGeom>
          <a:pattFill prst="pct50">
            <a:fgClr>
              <a:schemeClr val="bg1">
                <a:lumMod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7E7E5A5-6DD2-C095-46AB-4F64D7CA73E4}"/>
              </a:ext>
            </a:extLst>
          </p:cNvPr>
          <p:cNvSpPr/>
          <p:nvPr/>
        </p:nvSpPr>
        <p:spPr>
          <a:xfrm>
            <a:off x="3966813" y="1348463"/>
            <a:ext cx="121955" cy="121955"/>
          </a:xfrm>
          <a:prstGeom prst="ellipse">
            <a:avLst/>
          </a:prstGeom>
          <a:solidFill>
            <a:schemeClr val="bg1"/>
          </a:solidFill>
          <a:ln w="38100">
            <a:solidFill>
              <a:srgbClr val="C303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7734A4DA-7427-C5A7-23C3-E7AFE315156A}"/>
              </a:ext>
            </a:extLst>
          </p:cNvPr>
          <p:cNvSpPr/>
          <p:nvPr/>
        </p:nvSpPr>
        <p:spPr>
          <a:xfrm>
            <a:off x="6762279" y="1348463"/>
            <a:ext cx="121955" cy="121955"/>
          </a:xfrm>
          <a:prstGeom prst="ellipse">
            <a:avLst/>
          </a:prstGeom>
          <a:solidFill>
            <a:schemeClr val="bg1"/>
          </a:solidFill>
          <a:ln w="38100">
            <a:solidFill>
              <a:srgbClr val="C303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08006D2-A0EC-22A9-A85B-EE2C4ABFDCBF}"/>
              </a:ext>
            </a:extLst>
          </p:cNvPr>
          <p:cNvSpPr/>
          <p:nvPr/>
        </p:nvSpPr>
        <p:spPr>
          <a:xfrm>
            <a:off x="2323691" y="1136418"/>
            <a:ext cx="612000" cy="24128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/>
            <a:r>
              <a:rPr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 ~ 2</a:t>
            </a:r>
            <a:r>
              <a:rPr lang="ko-KR" altLang="en-US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</a:t>
            </a:r>
            <a:endParaRPr lang="ko-KR" altLang="en-US" sz="11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8BE237E-5E84-1D8F-4614-180FE415BA43}"/>
              </a:ext>
            </a:extLst>
          </p:cNvPr>
          <p:cNvSpPr/>
          <p:nvPr/>
        </p:nvSpPr>
        <p:spPr>
          <a:xfrm>
            <a:off x="5219382" y="1136418"/>
            <a:ext cx="612000" cy="24128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/>
            <a:r>
              <a:rPr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 </a:t>
            </a:r>
            <a:r>
              <a:rPr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~ 4</a:t>
            </a:r>
            <a:r>
              <a:rPr lang="ko-KR" altLang="en-US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</a:t>
            </a:r>
            <a:endParaRPr lang="ko-KR" altLang="en-US" sz="11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7AFC596-129B-ACB9-6B9F-FC11A6B2D898}"/>
              </a:ext>
            </a:extLst>
          </p:cNvPr>
          <p:cNvSpPr/>
          <p:nvPr/>
        </p:nvSpPr>
        <p:spPr>
          <a:xfrm>
            <a:off x="7892893" y="1144642"/>
            <a:ext cx="612000" cy="24128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/>
            <a:r>
              <a:rPr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r>
              <a:rPr lang="ko-KR" altLang="en-US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 </a:t>
            </a:r>
            <a:r>
              <a:rPr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~</a:t>
            </a:r>
            <a:endParaRPr lang="ko-KR" altLang="en-US" sz="11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실행 단추: 앞으로 또는 다음 84">
            <a:hlinkClick r:id="rId3" action="ppaction://hlinksldjump"/>
            <a:extLst>
              <a:ext uri="{FF2B5EF4-FFF2-40B4-BE49-F238E27FC236}">
                <a16:creationId xmlns:a16="http://schemas.microsoft.com/office/drawing/2014/main" id="{F6250078-8176-DCCE-5DF6-93FFF3A7B895}"/>
              </a:ext>
            </a:extLst>
          </p:cNvPr>
          <p:cNvSpPr/>
          <p:nvPr/>
        </p:nvSpPr>
        <p:spPr>
          <a:xfrm>
            <a:off x="6333940" y="6017085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2" name="모서리가 둥근 직사각형 2">
            <a:extLst>
              <a:ext uri="{FF2B5EF4-FFF2-40B4-BE49-F238E27FC236}">
                <a16:creationId xmlns:a16="http://schemas.microsoft.com/office/drawing/2014/main" id="{2416ED3D-654C-CAF1-9294-0E5148CC2167}"/>
              </a:ext>
            </a:extLst>
          </p:cNvPr>
          <p:cNvSpPr/>
          <p:nvPr/>
        </p:nvSpPr>
        <p:spPr>
          <a:xfrm>
            <a:off x="2783676" y="1956706"/>
            <a:ext cx="339327" cy="2034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중</a:t>
            </a:r>
            <a:endParaRPr lang="en-US" altLang="ko-KR" sz="7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3" name="모서리가 둥근 직사각형 2">
            <a:extLst>
              <a:ext uri="{FF2B5EF4-FFF2-40B4-BE49-F238E27FC236}">
                <a16:creationId xmlns:a16="http://schemas.microsoft.com/office/drawing/2014/main" id="{F73D6560-AF28-A590-D179-2E65B99FF3B4}"/>
              </a:ext>
            </a:extLst>
          </p:cNvPr>
          <p:cNvSpPr/>
          <p:nvPr/>
        </p:nvSpPr>
        <p:spPr>
          <a:xfrm>
            <a:off x="3709475" y="2229455"/>
            <a:ext cx="339327" cy="2034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중</a:t>
            </a:r>
            <a:endParaRPr lang="en-US" altLang="ko-KR" sz="7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4" name="모서리가 둥근 직사각형 2">
            <a:extLst>
              <a:ext uri="{FF2B5EF4-FFF2-40B4-BE49-F238E27FC236}">
                <a16:creationId xmlns:a16="http://schemas.microsoft.com/office/drawing/2014/main" id="{98F9D8A1-47EC-FAD6-D668-B6CA80137F59}"/>
              </a:ext>
            </a:extLst>
          </p:cNvPr>
          <p:cNvSpPr/>
          <p:nvPr/>
        </p:nvSpPr>
        <p:spPr>
          <a:xfrm>
            <a:off x="2404655" y="4300338"/>
            <a:ext cx="339327" cy="2034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중</a:t>
            </a:r>
            <a:endParaRPr lang="en-US" altLang="ko-KR" sz="7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5" name="모서리가 둥근 직사각형 2">
            <a:extLst>
              <a:ext uri="{FF2B5EF4-FFF2-40B4-BE49-F238E27FC236}">
                <a16:creationId xmlns:a16="http://schemas.microsoft.com/office/drawing/2014/main" id="{694AEB60-CE83-4583-C75E-256771503E01}"/>
              </a:ext>
            </a:extLst>
          </p:cNvPr>
          <p:cNvSpPr/>
          <p:nvPr/>
        </p:nvSpPr>
        <p:spPr>
          <a:xfrm>
            <a:off x="2766027" y="5403638"/>
            <a:ext cx="339327" cy="2034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중</a:t>
            </a:r>
            <a:endParaRPr lang="en-US" altLang="ko-KR" sz="7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6" name="모서리가 둥근 직사각형 2">
            <a:extLst>
              <a:ext uri="{FF2B5EF4-FFF2-40B4-BE49-F238E27FC236}">
                <a16:creationId xmlns:a16="http://schemas.microsoft.com/office/drawing/2014/main" id="{46F7528B-6B6E-55FF-5E1C-E3796A309B9B}"/>
              </a:ext>
            </a:extLst>
          </p:cNvPr>
          <p:cNvSpPr/>
          <p:nvPr/>
        </p:nvSpPr>
        <p:spPr>
          <a:xfrm>
            <a:off x="2999739" y="5692813"/>
            <a:ext cx="339327" cy="2034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중</a:t>
            </a:r>
            <a:endParaRPr lang="en-US" altLang="ko-KR" sz="7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066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6333940" y="181068"/>
            <a:ext cx="3284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① </a:t>
            </a:r>
            <a:r>
              <a:rPr lang="en-US" altLang="ko-KR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Overview</a:t>
            </a: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336280B3-15A4-EBE2-9901-B8CDAC470DAD}"/>
              </a:ext>
            </a:extLst>
          </p:cNvPr>
          <p:cNvSpPr txBox="1"/>
          <p:nvPr/>
        </p:nvSpPr>
        <p:spPr>
          <a:xfrm>
            <a:off x="1320953" y="2860580"/>
            <a:ext cx="2484000" cy="52219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-82296" algn="l" rtl="0">
              <a:lnSpc>
                <a:spcPct val="12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100" b="1" dirty="0">
                <a:solidFill>
                  <a:srgbClr val="000000"/>
                </a:solidFill>
                <a:latin typeface="LG스마트체 Regular"/>
                <a:ea typeface="LG Smart_H Regular"/>
                <a:cs typeface="+mn-cs"/>
              </a:rPr>
              <a:t>생산기술직 효율적 인력 재배치 </a:t>
            </a:r>
          </a:p>
          <a:p>
            <a:pPr marL="82296" indent="-82296" algn="l" rtl="0">
              <a:lnSpc>
                <a:spcPct val="12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100" b="1" dirty="0">
                <a:solidFill>
                  <a:srgbClr val="000000"/>
                </a:solidFill>
                <a:latin typeface="LG스마트체 Regular"/>
                <a:ea typeface="LG Smart_H Regular"/>
                <a:cs typeface="+mn-cs"/>
              </a:rPr>
              <a:t>기술전문가/명장 </a:t>
            </a:r>
            <a:r>
              <a:rPr lang="ko-KR" sz="1100" b="1">
                <a:solidFill>
                  <a:srgbClr val="000000"/>
                </a:solidFill>
                <a:latin typeface="LG스마트체 Regular"/>
                <a:ea typeface="LG Smart_H Regular"/>
                <a:cs typeface="+mn-cs"/>
              </a:rPr>
              <a:t>풀 구축</a:t>
            </a:r>
            <a:endParaRPr lang="ko-KR" sz="1100" b="1" dirty="0">
              <a:solidFill>
                <a:srgbClr val="000000"/>
              </a:solidFill>
              <a:latin typeface="LG스마트체 Regular"/>
              <a:ea typeface="LG Smart_H Regular"/>
              <a:cs typeface="+mn-cs"/>
            </a:endParaRP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E016892E-EFF1-2BB0-06BE-B53FF18F4A45}"/>
              </a:ext>
            </a:extLst>
          </p:cNvPr>
          <p:cNvSpPr txBox="1"/>
          <p:nvPr/>
        </p:nvSpPr>
        <p:spPr>
          <a:xfrm>
            <a:off x="4113054" y="2860580"/>
            <a:ext cx="2791653" cy="169174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-82296" algn="l" rtl="0">
              <a:lnSpc>
                <a:spcPct val="12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100" b="1" dirty="0">
                <a:solidFill>
                  <a:schemeClr val="tx1"/>
                </a:solidFill>
                <a:latin typeface="LG스마트체 Regular"/>
                <a:ea typeface="LG스마트체 Regular"/>
                <a:cs typeface="+mn-cs"/>
              </a:rPr>
              <a:t>생산기술직 </a:t>
            </a:r>
            <a:r>
              <a:rPr lang="ko-KR" sz="1100" b="1">
                <a:solidFill>
                  <a:schemeClr val="tx1"/>
                </a:solidFill>
                <a:latin typeface="LG스마트체 Regular"/>
                <a:ea typeface="LG스마트체 Regular"/>
                <a:cs typeface="+mn-cs"/>
              </a:rPr>
              <a:t>직무체계 수립</a:t>
            </a:r>
            <a:endParaRPr lang="en-US" altLang="ko-KR" sz="1100" b="1">
              <a:solidFill>
                <a:schemeClr val="tx1"/>
              </a:solidFill>
              <a:latin typeface="LG스마트체 Regular"/>
              <a:ea typeface="LG스마트체 Regular"/>
              <a:cs typeface="+mn-cs"/>
            </a:endParaRPr>
          </a:p>
          <a:p>
            <a:pPr marL="82296" indent="-82296">
              <a:lnSpc>
                <a:spcPct val="120000"/>
              </a:lnSpc>
              <a:spcBef>
                <a:spcPts val="300"/>
              </a:spcBef>
              <a:buFont typeface="Arial"/>
              <a:buChar char="•"/>
            </a:pPr>
            <a:r>
              <a:rPr lang="ko-KR" altLang="ko-KR" sz="1100" b="1">
                <a:solidFill>
                  <a:srgbClr val="000000"/>
                </a:solidFill>
                <a:latin typeface="LG스마트체 Regular"/>
                <a:ea typeface="LG Smart_H Regular"/>
                <a:cs typeface="+mn-cs"/>
              </a:rPr>
              <a:t>현장 인력구조 변화 대응 시나리오</a:t>
            </a:r>
            <a:br>
              <a:rPr lang="ko-KR" altLang="ko-KR" sz="1100" b="1">
                <a:solidFill>
                  <a:schemeClr val="tx1"/>
                </a:solidFill>
                <a:latin typeface="LG스마트체 Regular"/>
                <a:ea typeface="LG스마트체 Regular"/>
                <a:cs typeface="+mn-cs"/>
              </a:rPr>
            </a:br>
            <a:r>
              <a:rPr lang="en-US" altLang="ko-KR" sz="1100">
                <a:solidFill>
                  <a:srgbClr val="000000"/>
                </a:solidFill>
                <a:latin typeface="LG스마트체 Regular"/>
                <a:ea typeface="LG스마트체 Regular"/>
              </a:rPr>
              <a:t>- </a:t>
            </a:r>
            <a:r>
              <a:rPr lang="ko-KR" altLang="ko-KR" sz="1100">
                <a:solidFill>
                  <a:srgbClr val="000000"/>
                </a:solidFill>
                <a:latin typeface="LG스마트체 Regular"/>
                <a:ea typeface="LG스마트체 Regular"/>
                <a:cs typeface="+mn-cs"/>
              </a:rPr>
              <a:t>적정인력 </a:t>
            </a:r>
            <a:r>
              <a:rPr lang="ko-KR" altLang="en-US" sz="1100">
                <a:solidFill>
                  <a:srgbClr val="000000"/>
                </a:solidFill>
                <a:latin typeface="LG스마트체 Regular"/>
                <a:ea typeface="LG스마트체 Regular"/>
              </a:rPr>
              <a:t>산정</a:t>
            </a:r>
            <a:r>
              <a:rPr lang="en-US" altLang="ko-KR" sz="1100">
                <a:solidFill>
                  <a:srgbClr val="000000"/>
                </a:solidFill>
                <a:latin typeface="LG스마트체 Regular"/>
                <a:ea typeface="LG스마트체 Regular"/>
              </a:rPr>
              <a:t>, </a:t>
            </a:r>
            <a:r>
              <a:rPr lang="ko-KR" altLang="en-US" sz="1100">
                <a:solidFill>
                  <a:srgbClr val="000000"/>
                </a:solidFill>
                <a:latin typeface="LG스마트체 Regular"/>
                <a:ea typeface="LG스마트체 Regular"/>
              </a:rPr>
              <a:t>진급제도 개선 등</a:t>
            </a:r>
            <a:endParaRPr lang="ko-KR" sz="1100" b="1" dirty="0">
              <a:solidFill>
                <a:schemeClr val="tx1"/>
              </a:solidFill>
              <a:latin typeface="LG스마트체 Regular"/>
              <a:ea typeface="LG스마트체 Regular"/>
              <a:cs typeface="+mn-cs"/>
            </a:endParaRPr>
          </a:p>
          <a:p>
            <a:pPr marL="82296" indent="-82296" algn="l" rtl="0">
              <a:lnSpc>
                <a:spcPct val="12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100" b="1">
                <a:solidFill>
                  <a:schemeClr val="tx1"/>
                </a:solidFill>
                <a:latin typeface="LG스마트체 Regular"/>
                <a:ea typeface="LG스마트체 Regular"/>
                <a:cs typeface="+mn-cs"/>
              </a:rPr>
              <a:t>기술전문가</a:t>
            </a:r>
            <a:r>
              <a:rPr lang="ko-KR" sz="1100" b="1" dirty="0">
                <a:solidFill>
                  <a:schemeClr val="tx1"/>
                </a:solidFill>
                <a:latin typeface="LG스마트체 Regular"/>
                <a:ea typeface="LG스마트체 Regular"/>
                <a:cs typeface="+mn-cs"/>
              </a:rPr>
              <a:t>/명장 육성 및 활용</a:t>
            </a:r>
          </a:p>
          <a:p>
            <a:pPr marL="85725" indent="-85725" fontAlgn="base" latinLnBrk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ko-KR" sz="1100" b="1" i="0" spc="0" baseline="0" dirty="0">
                <a:solidFill>
                  <a:schemeClr val="tx1"/>
                </a:solidFill>
                <a:latin typeface="LG스마트체 Regular"/>
                <a:ea typeface="LG스마트체 Regular"/>
                <a:cs typeface="+mn-cs"/>
              </a:rPr>
              <a:t>현장 불합리 </a:t>
            </a:r>
            <a:r>
              <a:rPr lang="ko-KR" sz="1100" b="1" i="0" spc="0" baseline="0">
                <a:solidFill>
                  <a:schemeClr val="tx1"/>
                </a:solidFill>
                <a:latin typeface="LG스마트체 Regular"/>
                <a:ea typeface="LG스마트체 Regular"/>
                <a:cs typeface="+mn-cs"/>
              </a:rPr>
              <a:t>관행 개선</a:t>
            </a:r>
            <a:endParaRPr lang="en-US" altLang="ko-KR" sz="11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 indent="-85725" fontAlgn="base" latinLnBrk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직무</a:t>
            </a:r>
            <a:r>
              <a:rPr lang="en-US" altLang="ko-KR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·</a:t>
            </a:r>
            <a:r>
              <a:rPr lang="ko-KR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숙련</a:t>
            </a:r>
            <a:r>
              <a:rPr lang="en-US" altLang="ko-KR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·</a:t>
            </a:r>
            <a:r>
              <a:rPr lang="ko-KR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성과 연계형 제도 고도화</a:t>
            </a:r>
            <a:endParaRPr lang="en-US" altLang="ko-KR" sz="11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 indent="-85725" fontAlgn="base" latinLnBrk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100" b="1" ker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현장 인력운영 유연성 확보</a:t>
            </a:r>
            <a:endParaRPr lang="en-US" sz="1100" b="1" dirty="0">
              <a:latin typeface="LG스마트체 Regular"/>
              <a:ea typeface="LG스마트체 Regular"/>
              <a:cs typeface="+mn-cs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75762BEC-89A4-0DE0-A93C-108538655F11}"/>
              </a:ext>
            </a:extLst>
          </p:cNvPr>
          <p:cNvSpPr txBox="1"/>
          <p:nvPr/>
        </p:nvSpPr>
        <p:spPr>
          <a:xfrm>
            <a:off x="6891872" y="2860580"/>
            <a:ext cx="3024000" cy="120853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-82296" algn="l" rtl="0">
              <a:lnSpc>
                <a:spcPct val="12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100" b="1" dirty="0">
                <a:latin typeface="LG스마트체 Regular"/>
                <a:ea typeface="LG스마트체 Regular"/>
                <a:cs typeface="+mn-cs"/>
              </a:rPr>
              <a:t>생산기술직 인사제도 표준화</a:t>
            </a:r>
            <a:r>
              <a:rPr lang="ko-KR" sz="1100" b="1">
                <a:latin typeface="LG스마트체 Regular"/>
                <a:ea typeface="LG스마트체 Regular"/>
                <a:cs typeface="+mn-cs"/>
              </a:rPr>
              <a:t>(Global)</a:t>
            </a:r>
            <a:endParaRPr lang="ko-KR" sz="1100" b="1" dirty="0">
              <a:latin typeface="LG스마트체 Regular"/>
              <a:ea typeface="LG스마트체 Regular"/>
              <a:cs typeface="+mn-cs"/>
            </a:endParaRPr>
          </a:p>
          <a:p>
            <a:pPr marL="82296" indent="-82296" algn="l" rtl="0">
              <a:lnSpc>
                <a:spcPct val="12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100" b="1" dirty="0">
                <a:latin typeface="LG스마트체 Regular"/>
                <a:ea typeface="LG스마트체 Regular"/>
                <a:cs typeface="+mn-cs"/>
              </a:rPr>
              <a:t>생산기술직 </a:t>
            </a:r>
            <a:r>
              <a:rPr lang="ko-KR" sz="1100" b="1">
                <a:latin typeface="LG스마트체 Regular"/>
                <a:ea typeface="LG스마트체 Regular"/>
                <a:cs typeface="+mn-cs"/>
              </a:rPr>
              <a:t>인건비 절감</a:t>
            </a:r>
            <a:r>
              <a:rPr lang="en-US" altLang="ko-KR" sz="1100" b="1">
                <a:latin typeface="LG스마트체 Regular"/>
                <a:ea typeface="LG스마트체 Regular"/>
              </a:rPr>
              <a:t> </a:t>
            </a:r>
            <a:r>
              <a:rPr lang="ko-KR" altLang="en-US" sz="1100" b="1">
                <a:latin typeface="LG스마트체 Regular"/>
                <a:ea typeface="LG스마트체 Regular"/>
              </a:rPr>
              <a:t>및 인력효율화</a:t>
            </a:r>
            <a:endParaRPr lang="en-US" altLang="ko-KR" sz="1100" b="1">
              <a:latin typeface="LG스마트체 Regular"/>
              <a:ea typeface="LG스마트체 Regular"/>
            </a:endParaRPr>
          </a:p>
          <a:p>
            <a:pPr marL="82296" indent="-82296" algn="l" rtl="0">
              <a:lnSpc>
                <a:spcPct val="120000"/>
              </a:lnSpc>
              <a:spcBef>
                <a:spcPts val="300"/>
              </a:spcBef>
              <a:buFont typeface="Arial"/>
              <a:buChar char="•"/>
            </a:pPr>
            <a:r>
              <a:rPr lang="ko-KR" sz="1100" b="1">
                <a:latin typeface="LG스마트체 Regular"/>
                <a:ea typeface="LG스마트체 Regular"/>
                <a:cs typeface="+mn-cs"/>
              </a:rPr>
              <a:t>로봇</a:t>
            </a:r>
            <a:r>
              <a:rPr lang="en-US" sz="1100" b="1" dirty="0">
                <a:latin typeface="LG스마트체 Regular"/>
                <a:ea typeface="LG스마트체 Regular"/>
                <a:cs typeface="+mn-cs"/>
              </a:rPr>
              <a:t>, </a:t>
            </a:r>
            <a:r>
              <a:rPr lang="ko-KR" sz="1100" b="1" dirty="0">
                <a:latin typeface="LG스마트체 Regular"/>
                <a:ea typeface="LG스마트체 Regular"/>
                <a:cs typeface="+mn-cs"/>
              </a:rPr>
              <a:t>자동화 전환에 따른 </a:t>
            </a:r>
            <a:r>
              <a:rPr lang="ko-KR" sz="1100" b="1">
                <a:latin typeface="LG스마트체 Regular"/>
                <a:ea typeface="LG스마트체 Regular"/>
                <a:cs typeface="+mn-cs"/>
              </a:rPr>
              <a:t>인력구조 재편</a:t>
            </a:r>
            <a:endParaRPr lang="en-US" altLang="ko-KR" sz="1100" b="1">
              <a:latin typeface="LG스마트체 Regular"/>
              <a:ea typeface="LG스마트체 Regular"/>
              <a:cs typeface="+mn-cs"/>
            </a:endParaRPr>
          </a:p>
          <a:p>
            <a:pPr marL="85725" indent="-85725" fontAlgn="base" latinLnBrk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100" b="1" kern="0">
                <a:latin typeface="LG스마트체 Regular" panose="020B0600000101010101" pitchFamily="50" charset="-127"/>
                <a:ea typeface="LG스마트체 Regular"/>
              </a:rPr>
              <a:t>숙련도</a:t>
            </a:r>
            <a:r>
              <a:rPr lang="ko-KR" altLang="en-US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/>
              </a:rPr>
              <a:t> 기반 직무급 설계</a:t>
            </a:r>
            <a:br>
              <a:rPr lang="en-US" altLang="ko-KR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/>
              </a:rPr>
            </a:br>
            <a:r>
              <a:rPr lang="en-US" altLang="ko-KR" sz="11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/>
              </a:rPr>
              <a:t>- </a:t>
            </a:r>
            <a:r>
              <a:rPr lang="ko-KR" altLang="en-US" sz="11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G스마트체 Regular" panose="020B0600000101010101" pitchFamily="50" charset="-127"/>
                <a:ea typeface="LG스마트체 Regular"/>
              </a:rPr>
              <a:t>임금 연공성 완화</a:t>
            </a:r>
            <a:r>
              <a:rPr lang="en-US" altLang="ko-KR" sz="1100" kern="0">
                <a:latin typeface="LG스마트체 Regular" panose="020B0600000101010101" pitchFamily="50" charset="-127"/>
                <a:ea typeface="LG스마트체 Regular"/>
              </a:rPr>
              <a:t> </a:t>
            </a:r>
            <a:r>
              <a:rPr lang="ko-KR" altLang="en-US" sz="1100" kern="0">
                <a:latin typeface="LG스마트체 Regular" panose="020B0600000101010101" pitchFamily="50" charset="-127"/>
                <a:ea typeface="LG스마트체 Regular"/>
              </a:rPr>
              <a:t>또는 폐지</a:t>
            </a:r>
            <a:endParaRPr lang="en-US" altLang="ko-KR" sz="110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G스마트체 Regular" panose="020B0600000101010101" pitchFamily="50" charset="-127"/>
              <a:ea typeface="LG스마트체 Regula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4C07A9-0F0B-8683-E135-FDA647251FA2}"/>
              </a:ext>
            </a:extLst>
          </p:cNvPr>
          <p:cNvSpPr txBox="1"/>
          <p:nvPr/>
        </p:nvSpPr>
        <p:spPr>
          <a:xfrm>
            <a:off x="1320953" y="1460802"/>
            <a:ext cx="2787236" cy="1004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1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 </a:t>
            </a:r>
            <a:r>
              <a:rPr lang="ko-KR" altLang="en-US" sz="11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 </a:t>
            </a:r>
            <a:r>
              <a:rPr lang="en-US" altLang="ko-KR" sz="1100" b="1" kern="0">
                <a:latin typeface="Arial Narrow" panose="020B0606020202030204" pitchFamily="34" charset="0"/>
                <a:ea typeface="LG스마트체 Regular" panose="020B0600000101010101" pitchFamily="50" charset="-127"/>
              </a:rPr>
              <a:t>Fundamental </a:t>
            </a:r>
            <a:r>
              <a:rPr lang="ko-KR" altLang="en-US" sz="1100" b="1" kern="0">
                <a:latin typeface="Arial Narrow" panose="020B0606020202030204" pitchFamily="34" charset="0"/>
                <a:ea typeface="LG스마트체 Regular" panose="020B0600000101010101" pitchFamily="50" charset="-127"/>
              </a:rPr>
              <a:t>완성</a:t>
            </a:r>
            <a:endParaRPr lang="en-US" altLang="ko-KR" sz="1100" b="1" kern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1" i="0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법인별 </a:t>
            </a:r>
            <a:r>
              <a:rPr kumimoji="0" lang="ko-KR" altLang="en-US" sz="11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 안정화 </a:t>
            </a:r>
            <a:r>
              <a:rPr kumimoji="0" lang="ko-KR" altLang="en-US" sz="1100" b="1" i="0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이행</a:t>
            </a:r>
            <a:endParaRPr kumimoji="0" lang="ko-KR" altLang="en-US" sz="1100" b="0" i="0" strike="noStrike" kern="0" cap="none" spc="-5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 </a:t>
            </a:r>
            <a:r>
              <a:rPr lang="ko-KR" altLang="en-US" sz="11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 역량 </a:t>
            </a:r>
            <a:r>
              <a:rPr lang="ko-KR" altLang="en-US" sz="1100" b="1" kern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점검 </a:t>
            </a:r>
            <a:r>
              <a:rPr lang="en-US" altLang="ko-KR" sz="1100" b="1" kern="0">
                <a:latin typeface="Arial Narrow" panose="020B0606020202030204" pitchFamily="34" charset="0"/>
                <a:ea typeface="LG스마트체 Regular" panose="020B0600000101010101" pitchFamily="50" charset="-127"/>
              </a:rPr>
              <a:t>Tool </a:t>
            </a:r>
            <a:r>
              <a:rPr lang="ko-KR" altLang="en-US" sz="1100" b="1" kern="0">
                <a:latin typeface="Arial Narrow" panose="020B0606020202030204" pitchFamily="34" charset="0"/>
                <a:ea typeface="LG스마트체 Regular" panose="020B0600000101010101" pitchFamily="50" charset="-127"/>
              </a:rPr>
              <a:t>구축</a:t>
            </a:r>
            <a:r>
              <a:rPr lang="en-US" altLang="ko-KR" sz="1100" b="1" kern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b="1" kern="0"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</a:t>
            </a:r>
            <a:endParaRPr lang="en-US" altLang="ko-KR" sz="1100" b="1" kern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100" b="1" kern="0"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 </a:t>
            </a:r>
            <a:r>
              <a:rPr lang="ko-KR" altLang="en-US" sz="11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 담당자 </a:t>
            </a:r>
            <a:r>
              <a:rPr lang="en-US" altLang="ko-KR" sz="11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Pool </a:t>
            </a:r>
            <a:r>
              <a:rPr lang="ko-KR" altLang="en-US" sz="1100" b="1" kern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확보 </a:t>
            </a:r>
            <a:endParaRPr kumimoji="0" lang="en-US" altLang="ko-KR" sz="1100" b="0" i="0" strike="noStrike" kern="0" cap="none" spc="-50" normalizeH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C63559-C043-CCBD-C398-5A390A5833D3}"/>
              </a:ext>
            </a:extLst>
          </p:cNvPr>
          <p:cNvSpPr txBox="1"/>
          <p:nvPr/>
        </p:nvSpPr>
        <p:spPr>
          <a:xfrm>
            <a:off x="4113054" y="1460802"/>
            <a:ext cx="2700001" cy="762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marR="0" lvl="0" indent="-85725" algn="l" defTabSz="914400" rtl="0" eaLnBrk="1" fontAlgn="base" latinLnBrk="0" hangingPunct="1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1" i="0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 </a:t>
            </a:r>
            <a:r>
              <a:rPr kumimoji="0" lang="en-US" altLang="ko-KR" sz="11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ER </a:t>
            </a:r>
            <a:r>
              <a:rPr lang="en-US" altLang="ko-KR" sz="11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Control Tower</a:t>
            </a:r>
            <a:endParaRPr lang="en-US" altLang="ko-KR" sz="1100" kern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85725" marR="0" lvl="0" indent="-85725" algn="l" defTabSz="914400" rtl="0" eaLnBrk="1" fontAlgn="base" latinLnBrk="0" hangingPunct="1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1" i="0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 </a:t>
            </a:r>
            <a:r>
              <a:rPr kumimoji="0" lang="ko-KR" altLang="en-US" sz="1100" b="1" i="0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노경관리 주체별 역량 </a:t>
            </a:r>
            <a:r>
              <a:rPr kumimoji="0" lang="ko-KR" altLang="en-US" sz="11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강화</a:t>
            </a:r>
            <a:endParaRPr lang="en-US" altLang="ko-KR" sz="1100" b="1" kern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85725" marR="0" lvl="0" indent="-85725" algn="l" defTabSz="914400" rtl="0" eaLnBrk="1" fontAlgn="base" latinLnBrk="0" hangingPunct="1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1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 </a:t>
            </a:r>
            <a:r>
              <a:rPr lang="ko-KR" altLang="en-US" sz="11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표준 노사관리 모델 구축</a:t>
            </a:r>
            <a:endParaRPr lang="en-US" altLang="ko-KR" sz="1100" b="1" kern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6D35EA-8379-6F47-65E4-6D616BFB9B16}"/>
              </a:ext>
            </a:extLst>
          </p:cNvPr>
          <p:cNvSpPr txBox="1"/>
          <p:nvPr/>
        </p:nvSpPr>
        <p:spPr>
          <a:xfrm>
            <a:off x="6891872" y="1460802"/>
            <a:ext cx="2787236" cy="962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1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 완결형 노경관리 체계</a:t>
            </a:r>
            <a:endParaRPr lang="en-US" altLang="ko-KR" sz="1100" b="1" kern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1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 </a:t>
            </a:r>
            <a:r>
              <a:rPr lang="ko-KR" altLang="en-US" sz="11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</a:t>
            </a:r>
            <a:r>
              <a:rPr lang="en-US" altLang="ko-KR" sz="11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1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협력관계 컨설팅</a:t>
            </a:r>
            <a:endParaRPr lang="en-US" altLang="ko-KR" sz="1100" b="1" kern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85725" marR="0" lvl="0" indent="-85725" defTabSz="914400" eaLnBrk="1" fontAlgn="base" latinLnBrk="0" hangingPunct="1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1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 </a:t>
            </a:r>
            <a:r>
              <a:rPr kumimoji="0" lang="ko-KR" altLang="en-US" sz="11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생산법인 사업 전략 </a:t>
            </a:r>
            <a:r>
              <a:rPr kumimoji="0" lang="ko-KR" altLang="en-US" sz="1100" b="1" i="0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대응 시나리오</a:t>
            </a:r>
            <a:br>
              <a:rPr kumimoji="0" lang="en-US" altLang="ko-KR" sz="1100" b="1" i="0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en-US" altLang="ko-KR" sz="1100" i="0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kumimoji="0" lang="ko-KR" altLang="en-US" sz="1100" i="0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설립</a:t>
            </a:r>
            <a:r>
              <a:rPr kumimoji="0" lang="en-US" altLang="ko-KR" sz="1100" i="0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100" i="0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매각</a:t>
            </a:r>
            <a:r>
              <a:rPr kumimoji="0" lang="en-US" altLang="ko-KR" sz="1100" i="0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100" i="0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철수 등</a:t>
            </a:r>
            <a:endParaRPr lang="en-US" altLang="ko-KR" sz="1100" kern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199E86-700E-F958-0B74-34D31BDD01C2}"/>
              </a:ext>
            </a:extLst>
          </p:cNvPr>
          <p:cNvSpPr txBox="1"/>
          <p:nvPr/>
        </p:nvSpPr>
        <p:spPr>
          <a:xfrm>
            <a:off x="1320953" y="4854065"/>
            <a:ext cx="2537488" cy="1576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85725" indent="-85725" fontAlgn="base" latinLnBrk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1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노동정책 변화 대응 </a:t>
            </a:r>
            <a:br>
              <a:rPr lang="en-US" altLang="ko-KR" sz="11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</a:b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- </a:t>
            </a:r>
            <a:r>
              <a:rPr lang="ko-KR" altLang="en-US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노란봉투법 대응</a:t>
            </a:r>
            <a:b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</a:b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- </a:t>
            </a:r>
            <a:r>
              <a:rPr lang="ko-KR" altLang="en-US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포괄임금제 </a:t>
            </a:r>
            <a:endParaRPr lang="en-US" altLang="ko-KR" sz="1100" kern="0">
              <a:solidFill>
                <a:srgbClr val="000000"/>
              </a:solidFill>
              <a:latin typeface="LG스마트체 Regular" panose="020B0600000101010101" pitchFamily="50" charset="-127"/>
              <a:ea typeface="LG스마트체 Regular"/>
            </a:endParaRPr>
          </a:p>
          <a:p>
            <a:pPr marL="85725" indent="-85725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1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인력효율화 체계 완성</a:t>
            </a:r>
            <a:br>
              <a:rPr lang="en-US" altLang="ko-KR" sz="11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</a:b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- </a:t>
            </a:r>
            <a:r>
              <a:rPr lang="ko-KR" altLang="en-US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역량향상과정</a:t>
            </a: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, </a:t>
            </a:r>
            <a:r>
              <a:rPr lang="ko-KR" altLang="en-US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희망퇴직</a:t>
            </a: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, RMB</a:t>
            </a:r>
          </a:p>
          <a:p>
            <a:pPr marL="85725" indent="-85725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1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대외 네트워크 강화</a:t>
            </a:r>
            <a:br>
              <a:rPr lang="en-US" altLang="ko-KR" sz="11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</a:b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- </a:t>
            </a:r>
            <a:r>
              <a:rPr lang="ko-KR" altLang="en-US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학계</a:t>
            </a: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, </a:t>
            </a:r>
            <a:r>
              <a:rPr lang="ko-KR" altLang="en-US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타사</a:t>
            </a: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, </a:t>
            </a:r>
            <a:r>
              <a:rPr lang="ko-KR" altLang="en-US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정부기관 등</a:t>
            </a:r>
            <a:r>
              <a:rPr lang="ko-KR" altLang="en-US" sz="11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 </a:t>
            </a:r>
            <a:endParaRPr lang="en-US" altLang="ko-KR" sz="1100" b="1" kern="0">
              <a:solidFill>
                <a:srgbClr val="000000"/>
              </a:solidFill>
              <a:latin typeface="LG스마트체 Regular" panose="020B0600000101010101" pitchFamily="50" charset="-127"/>
              <a:ea typeface="LG스마트체 Regula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2F98BA-E4CD-DAA9-2A26-4A6106267E7C}"/>
              </a:ext>
            </a:extLst>
          </p:cNvPr>
          <p:cNvSpPr txBox="1"/>
          <p:nvPr/>
        </p:nvSpPr>
        <p:spPr>
          <a:xfrm>
            <a:off x="4113054" y="4854065"/>
            <a:ext cx="2771180" cy="174098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85725" indent="-85725" fontAlgn="base" latinLnBrk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1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노동정책 변화 대응 </a:t>
            </a:r>
            <a:br>
              <a:rPr lang="en-US" altLang="ko-KR" sz="11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</a:b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- </a:t>
            </a:r>
            <a:r>
              <a:rPr lang="ko-KR" altLang="en-US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근로시간 단축</a:t>
            </a: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(4.5</a:t>
            </a:r>
            <a:r>
              <a:rPr lang="ko-KR" altLang="en-US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일제</a:t>
            </a: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/</a:t>
            </a:r>
            <a:r>
              <a:rPr lang="ko-KR" altLang="en-US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연차휴가</a:t>
            </a: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)</a:t>
            </a:r>
            <a:b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</a:b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- </a:t>
            </a:r>
            <a:r>
              <a:rPr lang="ko-KR" altLang="en-US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법정 정년연장 </a:t>
            </a:r>
            <a:b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</a:b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- </a:t>
            </a:r>
            <a:r>
              <a:rPr lang="ko-KR" altLang="en-US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초 기업 교섭 활성화 </a:t>
            </a:r>
            <a:b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</a:b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- </a:t>
            </a:r>
            <a:r>
              <a:rPr lang="ko-KR" altLang="en-US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/>
              </a:rPr>
              <a:t>동일가치 노동 동일임금 </a:t>
            </a:r>
            <a:endParaRPr lang="en-US" altLang="ko-KR" sz="1100" kern="0">
              <a:solidFill>
                <a:srgbClr val="000000"/>
              </a:solidFill>
              <a:latin typeface="LG스마트체 Regular" panose="020B0600000101010101" pitchFamily="50" charset="-127"/>
              <a:ea typeface="LG스마트체 Regular"/>
            </a:endParaRPr>
          </a:p>
          <a:p>
            <a:pPr marL="85725" indent="-85725" fontAlgn="base" latinLnBrk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100" b="1" kern="0">
                <a:latin typeface="LG스마트체 Regular" panose="020B0600000101010101" pitchFamily="50" charset="-127"/>
                <a:ea typeface="LG스마트체 Regular"/>
              </a:rPr>
              <a:t>지능형 노경 의사결정 지원 플랫폼 구축</a:t>
            </a:r>
            <a:br>
              <a:rPr lang="en-US" altLang="ko-KR" sz="1100" b="1" kern="0">
                <a:latin typeface="LG스마트체 Regular" panose="020B0600000101010101" pitchFamily="50" charset="-127"/>
                <a:ea typeface="LG스마트체 Regular"/>
              </a:rPr>
            </a:b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담당자 개인 역량에 의존하던 판단구조를</a:t>
            </a:r>
            <a:b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데이터</a:t>
            </a:r>
            <a:r>
              <a:rPr lang="en-US" altLang="ko-KR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·AI</a:t>
            </a:r>
            <a:r>
              <a:rPr lang="ko-KR" altLang="en-US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기반 의사결정 구조로 전환</a:t>
            </a:r>
            <a:endParaRPr lang="en-US" altLang="ko-KR" sz="1100" b="1" kern="0">
              <a:latin typeface="LG스마트체 Regular" panose="020B0600000101010101" pitchFamily="50" charset="-127"/>
              <a:ea typeface="LG스마트체 Regula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AE19FB-56B4-C6B6-07D2-601525117AC1}"/>
              </a:ext>
            </a:extLst>
          </p:cNvPr>
          <p:cNvSpPr txBox="1"/>
          <p:nvPr/>
        </p:nvSpPr>
        <p:spPr>
          <a:xfrm>
            <a:off x="287652" y="1554885"/>
            <a:ext cx="936000" cy="648000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ysClr val="window" lastClr="FFFFFF">
                <a:lumMod val="50000"/>
              </a:sys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kern="0" spc="-50">
                <a:solidFill>
                  <a:prstClr val="black"/>
                </a:solidFill>
                <a:latin typeface="Arial Narrow"/>
                <a:ea typeface="LG스마트체 Regular"/>
              </a:rPr>
              <a:t>Global </a:t>
            </a:r>
            <a:r>
              <a:rPr lang="ko-KR" altLang="en-US" sz="1100" b="1" kern="0" spc="-50">
                <a:solidFill>
                  <a:prstClr val="black"/>
                </a:solidFill>
                <a:latin typeface="Arial Narrow"/>
                <a:ea typeface="LG스마트체 Regular"/>
              </a:rPr>
              <a:t>노경</a:t>
            </a:r>
            <a:endParaRPr kumimoji="0" lang="en-US" altLang="ko-KR" sz="1100" b="1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A550EF-68E0-B2B6-73CA-C704B20B3877}"/>
              </a:ext>
            </a:extLst>
          </p:cNvPr>
          <p:cNvSpPr txBox="1"/>
          <p:nvPr/>
        </p:nvSpPr>
        <p:spPr>
          <a:xfrm>
            <a:off x="287652" y="2928128"/>
            <a:ext cx="936000" cy="648000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ysClr val="window" lastClr="FFFFFF">
                <a:lumMod val="50000"/>
              </a:sys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현장직 </a:t>
            </a:r>
            <a:br>
              <a:rPr kumimoji="0" lang="en-US" altLang="ko-KR" sz="1100" b="1" i="0" u="none" strike="noStrike" kern="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</a:br>
            <a:r>
              <a:rPr lang="ko-KR" altLang="en-US" sz="1100" b="1" kern="0" spc="-50">
                <a:solidFill>
                  <a:prstClr val="black"/>
                </a:solidFill>
                <a:latin typeface="Arial Narrow"/>
                <a:ea typeface="LG스마트체 Regular"/>
              </a:rPr>
              <a:t>인력운영</a:t>
            </a:r>
            <a:endParaRPr kumimoji="0" lang="en-US" altLang="ko-KR" sz="1100" b="1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D758BA-34AD-9CAC-E42B-03AA271F0F75}"/>
              </a:ext>
            </a:extLst>
          </p:cNvPr>
          <p:cNvSpPr txBox="1"/>
          <p:nvPr/>
        </p:nvSpPr>
        <p:spPr>
          <a:xfrm>
            <a:off x="287652" y="4962740"/>
            <a:ext cx="936000" cy="648000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ysClr val="window" lastClr="FFFFFF">
                <a:lumMod val="50000"/>
              </a:sys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kern="0" spc="-50">
                <a:solidFill>
                  <a:prstClr val="black"/>
                </a:solidFill>
                <a:latin typeface="Arial Narrow"/>
                <a:ea typeface="LG스마트체 Regular"/>
              </a:rPr>
              <a:t>노경이슈</a:t>
            </a:r>
            <a:br>
              <a:rPr lang="en-US" altLang="ko-KR" sz="1100" b="1" kern="0" spc="-5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ko-KR" altLang="en-US" sz="1100" b="1" kern="0" spc="-50">
                <a:solidFill>
                  <a:prstClr val="black"/>
                </a:solidFill>
                <a:latin typeface="Arial Narrow"/>
                <a:ea typeface="LG스마트체 Regular"/>
              </a:rPr>
              <a:t>선행대응</a:t>
            </a:r>
            <a:endParaRPr kumimoji="0" lang="en-US" altLang="ko-KR" sz="1100" b="1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92BA963-ADCE-63A3-A3D8-97967FE1D250}"/>
              </a:ext>
            </a:extLst>
          </p:cNvPr>
          <p:cNvCxnSpPr>
            <a:cxnSpLocks/>
          </p:cNvCxnSpPr>
          <p:nvPr/>
        </p:nvCxnSpPr>
        <p:spPr>
          <a:xfrm>
            <a:off x="1423358" y="2663607"/>
            <a:ext cx="820280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9821E42-163A-3DE0-AB7E-578F698C9C3A}"/>
              </a:ext>
            </a:extLst>
          </p:cNvPr>
          <p:cNvCxnSpPr>
            <a:cxnSpLocks/>
          </p:cNvCxnSpPr>
          <p:nvPr/>
        </p:nvCxnSpPr>
        <p:spPr>
          <a:xfrm>
            <a:off x="1423358" y="4708218"/>
            <a:ext cx="820280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오각형 54">
            <a:extLst>
              <a:ext uri="{FF2B5EF4-FFF2-40B4-BE49-F238E27FC236}">
                <a16:creationId xmlns:a16="http://schemas.microsoft.com/office/drawing/2014/main" id="{C3F2C400-E0D6-3ED4-D91F-A73095124677}"/>
              </a:ext>
            </a:extLst>
          </p:cNvPr>
          <p:cNvSpPr/>
          <p:nvPr/>
        </p:nvSpPr>
        <p:spPr bwMode="auto">
          <a:xfrm>
            <a:off x="1305455" y="1031293"/>
            <a:ext cx="2700000" cy="294266"/>
          </a:xfrm>
          <a:prstGeom prst="homePlate">
            <a:avLst>
              <a:gd name="adj" fmla="val 33867"/>
            </a:avLst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29" tIns="45715" rIns="91429" bIns="45715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96" rtl="0" eaLnBrk="1" fontAlgn="auto" latinLnBrk="0" hangingPunct="1">
              <a:lnSpc>
                <a:spcPts val="1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377" algn="l"/>
              </a:tabLst>
              <a:defRPr/>
            </a:pPr>
            <a:r>
              <a:rPr kumimoji="0" lang="en-US" altLang="ko-KR" sz="13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Phase Ⅰ(</a:t>
            </a:r>
            <a:r>
              <a:rPr kumimoji="0" lang="ko-KR" altLang="en-US" sz="13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단기</a:t>
            </a:r>
            <a:r>
              <a:rPr kumimoji="0" lang="en-US" altLang="ko-KR" sz="13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1300" b="1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4" name="오각형 54">
            <a:extLst>
              <a:ext uri="{FF2B5EF4-FFF2-40B4-BE49-F238E27FC236}">
                <a16:creationId xmlns:a16="http://schemas.microsoft.com/office/drawing/2014/main" id="{1EC29460-B4DD-BCB1-9DB9-845813006980}"/>
              </a:ext>
            </a:extLst>
          </p:cNvPr>
          <p:cNvSpPr/>
          <p:nvPr/>
        </p:nvSpPr>
        <p:spPr bwMode="auto">
          <a:xfrm>
            <a:off x="4129640" y="1031293"/>
            <a:ext cx="2700000" cy="294266"/>
          </a:xfrm>
          <a:prstGeom prst="homePlate">
            <a:avLst>
              <a:gd name="adj" fmla="val 33867"/>
            </a:avLst>
          </a:prstGeom>
          <a:solidFill>
            <a:schemeClr val="bg1">
              <a:lumMod val="50000"/>
            </a:schemeClr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29" tIns="45715" rIns="91429" bIns="45715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96" rtl="0" eaLnBrk="1" fontAlgn="auto" latinLnBrk="0" hangingPunct="1">
              <a:lnSpc>
                <a:spcPts val="1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377" algn="l"/>
              </a:tabLst>
              <a:defRPr/>
            </a:pPr>
            <a:r>
              <a:rPr kumimoji="0" lang="en-US" altLang="ko-KR" sz="1300" b="1" i="0" u="none" strike="noStrike" kern="1200" cap="none" spc="-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Phase</a:t>
            </a:r>
            <a:r>
              <a:rPr kumimoji="0" lang="ko-KR" altLang="en-US" sz="1300" b="1" i="0" u="none" strike="noStrike" kern="1200" cap="none" spc="-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300" b="1" i="0" u="none" strike="noStrike" kern="1200" cap="none" spc="-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Ⅱ (</a:t>
            </a:r>
            <a:r>
              <a:rPr kumimoji="0" lang="ko-KR" altLang="en-US" sz="1300" b="1" i="0" u="none" strike="noStrike" kern="1200" cap="none" spc="-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중기</a:t>
            </a:r>
            <a:r>
              <a:rPr kumimoji="0" lang="en-US" altLang="ko-KR" sz="1300" b="1" i="0" u="none" strike="noStrike" kern="1200" cap="none" spc="-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en-US" altLang="ko-KR" sz="1300" b="1" i="0" u="none" strike="noStrike" kern="1200" cap="none" spc="-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5" name="오각형 54">
            <a:extLst>
              <a:ext uri="{FF2B5EF4-FFF2-40B4-BE49-F238E27FC236}">
                <a16:creationId xmlns:a16="http://schemas.microsoft.com/office/drawing/2014/main" id="{0718036E-C2AD-3F71-916D-6E2D7903CAE4}"/>
              </a:ext>
            </a:extLst>
          </p:cNvPr>
          <p:cNvSpPr/>
          <p:nvPr/>
        </p:nvSpPr>
        <p:spPr bwMode="auto">
          <a:xfrm>
            <a:off x="6886514" y="1031293"/>
            <a:ext cx="2700000" cy="294266"/>
          </a:xfrm>
          <a:prstGeom prst="homePlate">
            <a:avLst>
              <a:gd name="adj" fmla="val 33867"/>
            </a:avLst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29" tIns="45715" rIns="91429" bIns="45715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96" rtl="0" eaLnBrk="1" fontAlgn="auto" latinLnBrk="0" hangingPunct="1">
              <a:lnSpc>
                <a:spcPts val="1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377" algn="l"/>
              </a:tabLst>
              <a:defRPr/>
            </a:pPr>
            <a:r>
              <a:rPr kumimoji="0" lang="en-US" altLang="ko-KR" sz="1300" b="1" i="0" u="none" strike="noStrike" kern="1200" cap="none" spc="-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Phase Ⅲ (</a:t>
            </a:r>
            <a:r>
              <a:rPr kumimoji="0" lang="ko-KR" altLang="en-US" sz="1300" b="1" i="0" u="none" strike="noStrike" kern="1200" cap="none" spc="-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장기</a:t>
            </a:r>
            <a:r>
              <a:rPr kumimoji="0" lang="en-US" altLang="ko-KR" sz="1300" b="1" i="0" u="none" strike="noStrike" kern="1200" cap="none" spc="-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1300" b="1" i="0" u="none" strike="noStrike" kern="1200" cap="none" spc="-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06EACAE-9ED1-3B2D-65D1-97ABE23B6161}"/>
              </a:ext>
            </a:extLst>
          </p:cNvPr>
          <p:cNvSpPr/>
          <p:nvPr/>
        </p:nvSpPr>
        <p:spPr>
          <a:xfrm>
            <a:off x="1306414" y="857355"/>
            <a:ext cx="8202806" cy="140623"/>
          </a:xfrm>
          <a:prstGeom prst="rect">
            <a:avLst/>
          </a:prstGeom>
          <a:pattFill prst="pct50">
            <a:fgClr>
              <a:schemeClr val="bg1">
                <a:lumMod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4CA5994-0794-F07C-6D2E-C04E45E7CABA}"/>
              </a:ext>
            </a:extLst>
          </p:cNvPr>
          <p:cNvSpPr/>
          <p:nvPr/>
        </p:nvSpPr>
        <p:spPr>
          <a:xfrm>
            <a:off x="3966813" y="860783"/>
            <a:ext cx="121955" cy="121955"/>
          </a:xfrm>
          <a:prstGeom prst="ellipse">
            <a:avLst/>
          </a:prstGeom>
          <a:solidFill>
            <a:schemeClr val="bg1"/>
          </a:solidFill>
          <a:ln w="38100">
            <a:solidFill>
              <a:srgbClr val="C303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258E0D56-9A76-D21E-9495-92D98088127A}"/>
              </a:ext>
            </a:extLst>
          </p:cNvPr>
          <p:cNvSpPr/>
          <p:nvPr/>
        </p:nvSpPr>
        <p:spPr>
          <a:xfrm>
            <a:off x="6762279" y="860783"/>
            <a:ext cx="121955" cy="121955"/>
          </a:xfrm>
          <a:prstGeom prst="ellipse">
            <a:avLst/>
          </a:prstGeom>
          <a:solidFill>
            <a:schemeClr val="bg1"/>
          </a:solidFill>
          <a:ln w="38100">
            <a:solidFill>
              <a:srgbClr val="C303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85AE376-864C-DFB6-4F5E-62A1696E6904}"/>
              </a:ext>
            </a:extLst>
          </p:cNvPr>
          <p:cNvSpPr/>
          <p:nvPr/>
        </p:nvSpPr>
        <p:spPr>
          <a:xfrm>
            <a:off x="2323691" y="648738"/>
            <a:ext cx="612000" cy="24128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/>
            <a:r>
              <a:rPr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 ~ 2</a:t>
            </a:r>
            <a:r>
              <a:rPr lang="ko-KR" altLang="en-US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</a:t>
            </a:r>
            <a:endParaRPr lang="ko-KR" altLang="en-US" sz="11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D434342-3205-A442-E1F2-49A070A8240C}"/>
              </a:ext>
            </a:extLst>
          </p:cNvPr>
          <p:cNvSpPr/>
          <p:nvPr/>
        </p:nvSpPr>
        <p:spPr>
          <a:xfrm>
            <a:off x="5219382" y="648738"/>
            <a:ext cx="612000" cy="24128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/>
            <a:r>
              <a:rPr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 </a:t>
            </a:r>
            <a:r>
              <a:rPr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~ 4</a:t>
            </a:r>
            <a:r>
              <a:rPr lang="ko-KR" altLang="en-US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</a:t>
            </a:r>
            <a:endParaRPr lang="ko-KR" altLang="en-US" sz="11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AC097B4-EFF5-B4A8-DBB8-7BBBABF6B119}"/>
              </a:ext>
            </a:extLst>
          </p:cNvPr>
          <p:cNvSpPr/>
          <p:nvPr/>
        </p:nvSpPr>
        <p:spPr>
          <a:xfrm>
            <a:off x="7892893" y="656962"/>
            <a:ext cx="612000" cy="24128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/>
            <a:r>
              <a:rPr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r>
              <a:rPr lang="ko-KR" altLang="en-US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 </a:t>
            </a:r>
            <a:r>
              <a:rPr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~</a:t>
            </a:r>
            <a:endParaRPr lang="ko-KR" altLang="en-US" sz="11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0899E2-98DA-3AF7-3CDB-BC34B8314116}"/>
              </a:ext>
            </a:extLst>
          </p:cNvPr>
          <p:cNvSpPr txBox="1"/>
          <p:nvPr/>
        </p:nvSpPr>
        <p:spPr>
          <a:xfrm>
            <a:off x="6891872" y="4854065"/>
            <a:ext cx="2944322" cy="6868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85725" indent="-85725" fontAlgn="base" latinLnBrk="0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100" b="1" kern="0" dirty="0">
                <a:latin typeface="LG스마트체 Regular" panose="020B0600000101010101" pitchFamily="50" charset="-127"/>
                <a:ea typeface="LG스마트체 Regular"/>
              </a:rPr>
              <a:t>예측형 노경 </a:t>
            </a:r>
            <a:r>
              <a:rPr lang="en-US" altLang="ko-KR" sz="1100" b="1" kern="0" dirty="0">
                <a:latin typeface="LG스마트체 Regular" panose="020B0600000101010101" pitchFamily="50" charset="-127"/>
                <a:ea typeface="LG스마트체 Regular"/>
              </a:rPr>
              <a:t>Risk</a:t>
            </a:r>
            <a:r>
              <a:rPr lang="ko-KR" altLang="en-US" sz="1100" b="1" kern="0" dirty="0">
                <a:latin typeface="LG스마트체 Regular" panose="020B0600000101010101" pitchFamily="50" charset="-127"/>
                <a:ea typeface="LG스마트체 Regular"/>
              </a:rPr>
              <a:t> 관리체계 구축</a:t>
            </a:r>
            <a:br>
              <a:rPr lang="en-US" altLang="ko-KR" sz="1100" b="1" kern="0" dirty="0">
                <a:latin typeface="LG스마트체 Regular" panose="020B0600000101010101" pitchFamily="50" charset="-127"/>
                <a:ea typeface="LG스마트체 Regular"/>
              </a:rPr>
            </a:br>
            <a:r>
              <a:rPr lang="en-US" altLang="ko-KR" sz="1100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100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사후 대응 중심의 노경관리에서 </a:t>
            </a:r>
            <a:br>
              <a:rPr lang="en-US" altLang="ko-KR" sz="1100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100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ko-KR" altLang="en-US" sz="1100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선제적 예방 중심의 </a:t>
            </a:r>
            <a:r>
              <a:rPr lang="ko-KR" altLang="en-US" sz="11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운영모델로 전환</a:t>
            </a:r>
            <a:endParaRPr lang="en-US" altLang="ko-KR" sz="1100" kern="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" name="실행 단추: 앞으로 또는 다음 84">
            <a:hlinkClick r:id="rId3" action="ppaction://hlinksldjump"/>
            <a:extLst>
              <a:ext uri="{FF2B5EF4-FFF2-40B4-BE49-F238E27FC236}">
                <a16:creationId xmlns:a16="http://schemas.microsoft.com/office/drawing/2014/main" id="{BBC15A14-E6C8-F394-4D1E-4C1B72BC3365}"/>
              </a:ext>
            </a:extLst>
          </p:cNvPr>
          <p:cNvSpPr/>
          <p:nvPr/>
        </p:nvSpPr>
        <p:spPr>
          <a:xfrm>
            <a:off x="8343171" y="6450114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C56273-6C8D-B9B6-57B9-F47E1CA086E3}"/>
              </a:ext>
            </a:extLst>
          </p:cNvPr>
          <p:cNvSpPr txBox="1"/>
          <p:nvPr/>
        </p:nvSpPr>
        <p:spPr>
          <a:xfrm>
            <a:off x="8529072" y="6438691"/>
            <a:ext cx="1126052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100" u="sng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노경 </a:t>
            </a:r>
            <a:r>
              <a:rPr lang="en-US" altLang="ko-KR" sz="1100" u="sng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Task </a:t>
            </a:r>
            <a:r>
              <a:rPr lang="ko-KR" altLang="en-US" sz="1100" u="sng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계획</a:t>
            </a:r>
            <a:r>
              <a:rPr lang="en-US" altLang="ko-KR" sz="1100" u="sng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1100" u="sng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안</a:t>
            </a:r>
            <a:r>
              <a:rPr lang="en-US" altLang="ko-KR" sz="1100" u="sng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lang="en-US" altLang="ko-KR" sz="1100" i="1" u="sng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6" name="모서리가 둥근 직사각형 2">
            <a:extLst>
              <a:ext uri="{FF2B5EF4-FFF2-40B4-BE49-F238E27FC236}">
                <a16:creationId xmlns:a16="http://schemas.microsoft.com/office/drawing/2014/main" id="{8BCDA3E5-83A9-9945-1002-05667856C68A}"/>
              </a:ext>
            </a:extLst>
          </p:cNvPr>
          <p:cNvSpPr/>
          <p:nvPr/>
        </p:nvSpPr>
        <p:spPr>
          <a:xfrm>
            <a:off x="2860320" y="3150421"/>
            <a:ext cx="339327" cy="2034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중</a:t>
            </a:r>
            <a:endParaRPr lang="en-US" altLang="ko-KR" sz="7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7" name="모서리가 둥근 직사각형 2">
            <a:extLst>
              <a:ext uri="{FF2B5EF4-FFF2-40B4-BE49-F238E27FC236}">
                <a16:creationId xmlns:a16="http://schemas.microsoft.com/office/drawing/2014/main" id="{1012152A-4195-38A0-70FF-767059A7D7C9}"/>
              </a:ext>
            </a:extLst>
          </p:cNvPr>
          <p:cNvSpPr/>
          <p:nvPr/>
        </p:nvSpPr>
        <p:spPr>
          <a:xfrm>
            <a:off x="2573138" y="4914987"/>
            <a:ext cx="339327" cy="2034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중</a:t>
            </a:r>
            <a:endParaRPr lang="en-US" altLang="ko-KR" sz="7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8" name="모서리가 둥근 직사각형 2">
            <a:hlinkClick r:id="rId4" action="ppaction://hlinksldjump"/>
            <a:extLst>
              <a:ext uri="{FF2B5EF4-FFF2-40B4-BE49-F238E27FC236}">
                <a16:creationId xmlns:a16="http://schemas.microsoft.com/office/drawing/2014/main" id="{E9284B52-FC95-1891-1F27-E8105E68D111}"/>
              </a:ext>
            </a:extLst>
          </p:cNvPr>
          <p:cNvSpPr/>
          <p:nvPr/>
        </p:nvSpPr>
        <p:spPr>
          <a:xfrm>
            <a:off x="2704138" y="5537018"/>
            <a:ext cx="339327" cy="2034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중</a:t>
            </a:r>
            <a:endParaRPr lang="en-US" altLang="ko-KR" sz="7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5" name="모서리가 둥근 직사각형 2">
            <a:extLst>
              <a:ext uri="{FF2B5EF4-FFF2-40B4-BE49-F238E27FC236}">
                <a16:creationId xmlns:a16="http://schemas.microsoft.com/office/drawing/2014/main" id="{008A3567-B20B-AB75-7E29-1BD4279A859D}"/>
              </a:ext>
            </a:extLst>
          </p:cNvPr>
          <p:cNvSpPr/>
          <p:nvPr/>
        </p:nvSpPr>
        <p:spPr>
          <a:xfrm>
            <a:off x="3164682" y="1464528"/>
            <a:ext cx="339327" cy="2034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중</a:t>
            </a:r>
            <a:endParaRPr lang="en-US" altLang="ko-KR" sz="7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9" name="모서리가 둥근 직사각형 2">
            <a:extLst>
              <a:ext uri="{FF2B5EF4-FFF2-40B4-BE49-F238E27FC236}">
                <a16:creationId xmlns:a16="http://schemas.microsoft.com/office/drawing/2014/main" id="{CB7B38B7-FF92-CF51-2A3E-E4C3245AF00C}"/>
              </a:ext>
            </a:extLst>
          </p:cNvPr>
          <p:cNvSpPr/>
          <p:nvPr/>
        </p:nvSpPr>
        <p:spPr>
          <a:xfrm>
            <a:off x="3164681" y="1730780"/>
            <a:ext cx="339327" cy="2034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중</a:t>
            </a:r>
            <a:endParaRPr lang="en-US" altLang="ko-KR" sz="7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0" name="모서리가 둥근 직사각형 2">
            <a:extLst>
              <a:ext uri="{FF2B5EF4-FFF2-40B4-BE49-F238E27FC236}">
                <a16:creationId xmlns:a16="http://schemas.microsoft.com/office/drawing/2014/main" id="{B39C9405-9216-4E04-8C21-2D66C3F989FE}"/>
              </a:ext>
            </a:extLst>
          </p:cNvPr>
          <p:cNvSpPr/>
          <p:nvPr/>
        </p:nvSpPr>
        <p:spPr>
          <a:xfrm>
            <a:off x="3214660" y="2897243"/>
            <a:ext cx="339327" cy="2034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중</a:t>
            </a:r>
            <a:endParaRPr lang="en-US" altLang="ko-KR" sz="7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1" name="모서리가 둥근 직사각형 2">
            <a:extLst>
              <a:ext uri="{FF2B5EF4-FFF2-40B4-BE49-F238E27FC236}">
                <a16:creationId xmlns:a16="http://schemas.microsoft.com/office/drawing/2014/main" id="{6C05662D-7A7E-C1AE-7AAF-F55E0E4CC1D4}"/>
              </a:ext>
            </a:extLst>
          </p:cNvPr>
          <p:cNvSpPr/>
          <p:nvPr/>
        </p:nvSpPr>
        <p:spPr>
          <a:xfrm>
            <a:off x="2582077" y="5965083"/>
            <a:ext cx="339327" cy="2034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진행 중</a:t>
            </a:r>
            <a:endParaRPr lang="en-US" altLang="ko-KR" sz="7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" name="실행 단추: 앞으로 또는 다음 84">
            <a:hlinkClick r:id="rId4" action="ppaction://hlinksldjump"/>
            <a:extLst>
              <a:ext uri="{FF2B5EF4-FFF2-40B4-BE49-F238E27FC236}">
                <a16:creationId xmlns:a16="http://schemas.microsoft.com/office/drawing/2014/main" id="{DD1D1549-AC99-9A1A-76F6-2E7E2D5408A2}"/>
              </a:ext>
            </a:extLst>
          </p:cNvPr>
          <p:cNvSpPr/>
          <p:nvPr/>
        </p:nvSpPr>
        <p:spPr>
          <a:xfrm>
            <a:off x="3277584" y="5769947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EAA3CA-0F97-1F45-4DA1-54A2C108ED9A}"/>
              </a:ext>
            </a:extLst>
          </p:cNvPr>
          <p:cNvSpPr txBox="1"/>
          <p:nvPr/>
        </p:nvSpPr>
        <p:spPr>
          <a:xfrm>
            <a:off x="8441833" y="6147582"/>
            <a:ext cx="1362523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100" u="sng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현장직 인력변화 예상</a:t>
            </a:r>
            <a:endParaRPr lang="en-US" altLang="ko-KR" sz="1100" u="sng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BC9437-CE2C-30B4-B949-AB078058AADD}"/>
              </a:ext>
            </a:extLst>
          </p:cNvPr>
          <p:cNvSpPr txBox="1"/>
          <p:nvPr/>
        </p:nvSpPr>
        <p:spPr>
          <a:xfrm>
            <a:off x="202841" y="150290"/>
            <a:ext cx="296656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7800" indent="-177800">
              <a:buFont typeface="+mj-lt"/>
              <a:buAutoNum type="romanUcPeriod" startAt="3"/>
            </a:pP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추진과제 및 대응방향  </a:t>
            </a:r>
            <a:endParaRPr lang="en-US" altLang="ko-KR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실행 단추: 앞으로 또는 다음 84">
            <a:hlinkClick r:id="rId5" action="ppaction://hlinksldjump"/>
            <a:extLst>
              <a:ext uri="{FF2B5EF4-FFF2-40B4-BE49-F238E27FC236}">
                <a16:creationId xmlns:a16="http://schemas.microsoft.com/office/drawing/2014/main" id="{9B6DAC1D-9026-EA8F-9D33-656092413B75}"/>
              </a:ext>
            </a:extLst>
          </p:cNvPr>
          <p:cNvSpPr/>
          <p:nvPr/>
        </p:nvSpPr>
        <p:spPr>
          <a:xfrm>
            <a:off x="8338837" y="6163080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067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6333940" y="181068"/>
            <a:ext cx="3284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② 현장노조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58D18B7-C0AC-66A9-D7FE-6B77DFB31C64}"/>
              </a:ext>
            </a:extLst>
          </p:cNvPr>
          <p:cNvGrpSpPr/>
          <p:nvPr/>
        </p:nvGrpSpPr>
        <p:grpSpPr>
          <a:xfrm>
            <a:off x="1097326" y="822157"/>
            <a:ext cx="3694692" cy="308881"/>
            <a:chOff x="1160390" y="822157"/>
            <a:chExt cx="3694692" cy="308881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05A94DE-ED38-1F3A-82F8-F471C7B4DF48}"/>
                </a:ext>
              </a:extLst>
            </p:cNvPr>
            <p:cNvSpPr/>
            <p:nvPr/>
          </p:nvSpPr>
          <p:spPr>
            <a:xfrm>
              <a:off x="2281431" y="822157"/>
              <a:ext cx="1368960" cy="30888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현황 및 이슈 </a:t>
              </a:r>
              <a:endPara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85B0DB12-161E-4830-702E-C777DA5FF82A}"/>
                </a:ext>
              </a:extLst>
            </p:cNvPr>
            <p:cNvCxnSpPr>
              <a:cxnSpLocks/>
            </p:cNvCxnSpPr>
            <p:nvPr/>
          </p:nvCxnSpPr>
          <p:spPr>
            <a:xfrm>
              <a:off x="1160390" y="1113964"/>
              <a:ext cx="3694692" cy="0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AutoShape 1603">
            <a:extLst>
              <a:ext uri="{FF2B5EF4-FFF2-40B4-BE49-F238E27FC236}">
                <a16:creationId xmlns:a16="http://schemas.microsoft.com/office/drawing/2014/main" id="{BAE2A084-6BDF-9CE2-518C-2BBD2CC7A39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811229" y="2346752"/>
            <a:ext cx="2378195" cy="260472"/>
          </a:xfrm>
          <a:prstGeom prst="triangle">
            <a:avLst>
              <a:gd name="adj" fmla="val 50780"/>
            </a:avLst>
          </a:prstGeom>
          <a:gradFill rotWithShape="1">
            <a:gsLst>
              <a:gs pos="0">
                <a:srgbClr val="777777"/>
              </a:gs>
              <a:gs pos="100000">
                <a:schemeClr val="bg1"/>
              </a:gs>
            </a:gsLst>
            <a:lin ang="5400000" scaled="1"/>
          </a:gradFill>
          <a:ln w="19050" algn="ctr">
            <a:noFill/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Light" panose="020B0600000101010101" pitchFamily="50" charset="-127"/>
              <a:ea typeface="LG스마트체 Light" panose="020B0600000101010101" pitchFamily="50" charset="-127"/>
              <a:cs typeface="+mn-cs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2602CDE3-5178-0453-8938-F970ACF072BD}"/>
              </a:ext>
            </a:extLst>
          </p:cNvPr>
          <p:cNvGrpSpPr/>
          <p:nvPr/>
        </p:nvGrpSpPr>
        <p:grpSpPr>
          <a:xfrm>
            <a:off x="5192457" y="824862"/>
            <a:ext cx="4118394" cy="308881"/>
            <a:chOff x="5216106" y="824862"/>
            <a:chExt cx="4118394" cy="308881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BD331B02-B358-3727-08FD-673DB277053B}"/>
                </a:ext>
              </a:extLst>
            </p:cNvPr>
            <p:cNvSpPr/>
            <p:nvPr/>
          </p:nvSpPr>
          <p:spPr>
            <a:xfrm>
              <a:off x="6590823" y="824862"/>
              <a:ext cx="1368960" cy="30888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대응방향</a:t>
              </a:r>
              <a:endPara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5B3F8C95-499B-4BF4-842A-E90BEF4EC650}"/>
                </a:ext>
              </a:extLst>
            </p:cNvPr>
            <p:cNvCxnSpPr>
              <a:cxnSpLocks/>
            </p:cNvCxnSpPr>
            <p:nvPr/>
          </p:nvCxnSpPr>
          <p:spPr>
            <a:xfrm>
              <a:off x="5216106" y="1113964"/>
              <a:ext cx="4118394" cy="0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7BD5DBFD-54F2-DA2C-248E-E916D7949DAE}"/>
              </a:ext>
            </a:extLst>
          </p:cNvPr>
          <p:cNvGrpSpPr/>
          <p:nvPr/>
        </p:nvGrpSpPr>
        <p:grpSpPr>
          <a:xfrm>
            <a:off x="139908" y="1358004"/>
            <a:ext cx="809519" cy="910614"/>
            <a:chOff x="139908" y="1311510"/>
            <a:chExt cx="809519" cy="939670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1F64B3B-E404-22B3-3041-7D29008CF55F}"/>
                </a:ext>
              </a:extLst>
            </p:cNvPr>
            <p:cNvSpPr txBox="1"/>
            <p:nvPr/>
          </p:nvSpPr>
          <p:spPr>
            <a:xfrm>
              <a:off x="139908" y="1311510"/>
              <a:ext cx="720000" cy="869015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현장관리자</a:t>
              </a:r>
              <a:br>
                <a:rPr kumimoji="0" lang="en-US" altLang="ko-KR" sz="120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</a:br>
              <a:r>
                <a:rPr kumimoji="0" lang="ko-KR" altLang="en-US" sz="120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완결형</a:t>
              </a:r>
              <a:br>
                <a:rPr kumimoji="0" lang="en-US" altLang="ko-KR" sz="120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</a:br>
              <a:r>
                <a:rPr kumimoji="0" lang="ko-KR" altLang="en-US" sz="120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노무관리 </a:t>
              </a:r>
              <a:br>
                <a:rPr kumimoji="0" lang="en-US" altLang="ko-KR" sz="120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</a:br>
              <a:r>
                <a:rPr kumimoji="0" lang="ko-KR" altLang="en-US" sz="120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체계 구축</a:t>
              </a:r>
            </a:p>
          </p:txBody>
        </p: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125A280C-F5E4-1844-E40E-4D11FE69354C}"/>
                </a:ext>
              </a:extLst>
            </p:cNvPr>
            <p:cNvCxnSpPr>
              <a:cxnSpLocks/>
            </p:cNvCxnSpPr>
            <p:nvPr/>
          </p:nvCxnSpPr>
          <p:spPr>
            <a:xfrm>
              <a:off x="949427" y="1336620"/>
              <a:ext cx="0" cy="914560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973F0821-9BAB-E873-EFD6-93D944C47790}"/>
              </a:ext>
            </a:extLst>
          </p:cNvPr>
          <p:cNvGrpSpPr/>
          <p:nvPr/>
        </p:nvGrpSpPr>
        <p:grpSpPr>
          <a:xfrm>
            <a:off x="102330" y="3959091"/>
            <a:ext cx="862595" cy="820943"/>
            <a:chOff x="102330" y="3959091"/>
            <a:chExt cx="862595" cy="820943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5A66DA0-12CA-42A1-F021-ACB89E05BDD5}"/>
                </a:ext>
              </a:extLst>
            </p:cNvPr>
            <p:cNvSpPr txBox="1"/>
            <p:nvPr/>
          </p:nvSpPr>
          <p:spPr>
            <a:xfrm>
              <a:off x="102330" y="3983077"/>
              <a:ext cx="720000" cy="681743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-5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스마트팩토리</a:t>
              </a:r>
              <a:br>
                <a:rPr kumimoji="0" lang="en-US" altLang="ko-KR" sz="120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</a:br>
              <a:r>
                <a:rPr kumimoji="0" lang="ko-KR" altLang="en-US" sz="120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전환에 따른</a:t>
              </a:r>
              <a:br>
                <a:rPr kumimoji="0" lang="en-US" altLang="ko-KR" sz="120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</a:br>
              <a:r>
                <a:rPr lang="ko-KR" altLang="en-US" sz="1200" b="1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상생</a:t>
              </a:r>
              <a:r>
                <a:rPr kumimoji="0" lang="ko-KR" altLang="en-US" sz="120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협약 체결</a:t>
              </a:r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FCFCB3ED-536C-8D45-F218-58A9734299B6}"/>
                </a:ext>
              </a:extLst>
            </p:cNvPr>
            <p:cNvCxnSpPr>
              <a:cxnSpLocks/>
            </p:cNvCxnSpPr>
            <p:nvPr/>
          </p:nvCxnSpPr>
          <p:spPr>
            <a:xfrm>
              <a:off x="964925" y="3959091"/>
              <a:ext cx="0" cy="820943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B77DF71-E65F-F26A-D247-0870C523A66B}"/>
              </a:ext>
            </a:extLst>
          </p:cNvPr>
          <p:cNvSpPr txBox="1"/>
          <p:nvPr/>
        </p:nvSpPr>
        <p:spPr>
          <a:xfrm>
            <a:off x="1091484" y="1310975"/>
            <a:ext cx="3773172" cy="1422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marR="0" lvl="0" indent="-92075" algn="l" defTabSz="457200" rtl="0" eaLnBrk="1" fontAlgn="base" latinLnBrk="0" hangingPunct="1">
              <a:lnSpc>
                <a:spcPct val="120000"/>
              </a:lnSpc>
              <a:spcBef>
                <a:spcPts val="277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200" b="1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에너지플랜트의 체계 변화에 따른 현장리더의 노경관리 역할 비중 및 </a:t>
            </a:r>
            <a:r>
              <a:rPr kumimoji="1" lang="en-US" altLang="ko-KR" sz="1200" b="1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Mission </a:t>
            </a:r>
            <a:r>
              <a:rPr kumimoji="1" lang="ko-KR" altLang="en-US" sz="1200" b="1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약화</a:t>
            </a:r>
            <a:br>
              <a:rPr kumimoji="1" lang="en-US" altLang="ko-KR" sz="1200" b="1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1" lang="ko-KR" altLang="en-US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양산 체계 → </a:t>
            </a:r>
            <a:r>
              <a:rPr kumimoji="1" lang="en-US" altLang="ko-KR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Pilot / Mother Line </a:t>
            </a:r>
            <a:r>
              <a:rPr kumimoji="1" lang="ko-KR" altLang="en-US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전환으로 생산관리 역할 우선 경향 </a:t>
            </a:r>
            <a:br>
              <a:rPr kumimoji="1" lang="en-US" altLang="ko-KR" sz="1100" spc="-46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100" spc="-46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kumimoji="1" lang="ko-KR" altLang="en-US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잦은 조직개편으로  정보</a:t>
            </a:r>
            <a:r>
              <a:rPr kumimoji="1" lang="en-US" altLang="ko-KR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History </a:t>
            </a:r>
            <a:r>
              <a:rPr kumimoji="1" lang="ko-KR" altLang="en-US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및 우수인재  관리의 연속성 단절</a:t>
            </a:r>
            <a:br>
              <a:rPr kumimoji="1" lang="en-US" altLang="ko-KR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1" lang="ko-KR" altLang="en-US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 전략 연계 조직관리 컨텐츠 및 프로그램 축소</a:t>
            </a:r>
            <a:r>
              <a:rPr kumimoji="1" lang="en-US" altLang="ko-KR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1" lang="ko-KR" altLang="en-US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약화</a:t>
            </a:r>
          </a:p>
          <a:p>
            <a:pPr marL="92075" marR="0" lvl="0" indent="-92075" algn="l" defTabSz="457200" rtl="0" eaLnBrk="1" fontAlgn="base" latinLnBrk="0" hangingPunct="1">
              <a:lnSpc>
                <a:spcPct val="120000"/>
              </a:lnSpc>
              <a:spcBef>
                <a:spcPts val="277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§"/>
              <a:tabLst/>
              <a:defRPr/>
            </a:pPr>
            <a:endParaRPr kumimoji="1" lang="en-US" altLang="ko-KR" sz="1200" b="1" i="0" u="none" strike="noStrike" kern="1200" cap="none" spc="-4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5AC193-3F06-348A-0952-D164A889797D}"/>
              </a:ext>
            </a:extLst>
          </p:cNvPr>
          <p:cNvSpPr txBox="1"/>
          <p:nvPr/>
        </p:nvSpPr>
        <p:spPr>
          <a:xfrm>
            <a:off x="1091484" y="2598624"/>
            <a:ext cx="3555460" cy="9075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2075" marR="0" lvl="0" indent="-92075" algn="l" defTabSz="457200" rtl="0" eaLnBrk="1" fontAlgn="base" latinLnBrk="0" hangingPunct="1">
              <a:lnSpc>
                <a:spcPct val="120000"/>
              </a:lnSpc>
              <a:spcBef>
                <a:spcPts val="277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200" b="1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현장 리더 평가 지표 활용도 및 실효성 미비</a:t>
            </a:r>
            <a:br>
              <a:rPr kumimoji="1" lang="en-US" altLang="ko-KR" sz="1200" b="1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1" lang="ko-KR" altLang="en-US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 전략 연계 소통 및 실질적 조직관리 역량 평가 항목 부재 </a:t>
            </a:r>
            <a:br>
              <a:rPr kumimoji="1" lang="en-US" altLang="ko-KR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1" lang="ko-KR" altLang="en-US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조직관리 역량 강화</a:t>
            </a:r>
            <a:r>
              <a:rPr kumimoji="1" lang="en-US" altLang="ko-KR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1" lang="ko-KR" altLang="en-US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 목적의  실질적</a:t>
            </a:r>
            <a:r>
              <a:rPr kumimoji="1" lang="en-US" altLang="ko-KR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1" lang="ko-KR" altLang="en-US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구체적 피드백 부재</a:t>
            </a:r>
            <a:br>
              <a:rPr kumimoji="1" lang="ko-KR" altLang="en-US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spc="-46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: </a:t>
            </a:r>
            <a:r>
              <a:rPr kumimoji="1" lang="ko-KR" altLang="en-US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인사고과 상 직접적 영향 없고</a:t>
            </a:r>
            <a:r>
              <a:rPr kumimoji="1" lang="en-US" altLang="ko-KR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개선점 등에 대한 피드백 부족 </a:t>
            </a:r>
            <a:endParaRPr kumimoji="1" lang="ko-KR" altLang="en-US" sz="1200" i="0" u="none" strike="noStrike" kern="1200" cap="none" spc="-46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AF5809-E265-1138-35F7-4CCFB25CB953}"/>
              </a:ext>
            </a:extLst>
          </p:cNvPr>
          <p:cNvSpPr txBox="1"/>
          <p:nvPr/>
        </p:nvSpPr>
        <p:spPr>
          <a:xfrm>
            <a:off x="5136395" y="1310975"/>
            <a:ext cx="2328843" cy="2966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marR="0" lvl="0" indent="-171450" algn="l" defTabSz="457200" rtl="0" eaLnBrk="1" fontAlgn="base" latinLnBrk="0" hangingPunct="1">
              <a:lnSpc>
                <a:spcPct val="120000"/>
              </a:lnSpc>
              <a:spcBef>
                <a:spcPts val="277"/>
              </a:spcBef>
              <a:spcAft>
                <a:spcPts val="0"/>
              </a:spcAft>
              <a:buClrTx/>
              <a:buSzPct val="85000"/>
              <a:buFont typeface="Wingdings 2" panose="05020102010507070707" pitchFamily="18" charset="2"/>
              <a:buChar char="R"/>
              <a:tabLst/>
              <a:defRPr/>
            </a:pPr>
            <a:r>
              <a:rPr kumimoji="1" lang="ko-KR" altLang="en-US" sz="1200" b="1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현장 리더 역할 재정립 및 역량 강화</a:t>
            </a:r>
            <a:endParaRPr kumimoji="1" lang="en-US" altLang="ko-KR" sz="1200" b="1" i="0" u="none" strike="noStrike" kern="1200" cap="none" spc="-4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3C27445-23B1-2723-FFE9-779F75B50E64}"/>
              </a:ext>
            </a:extLst>
          </p:cNvPr>
          <p:cNvSpPr txBox="1"/>
          <p:nvPr/>
        </p:nvSpPr>
        <p:spPr>
          <a:xfrm>
            <a:off x="5361975" y="1576156"/>
            <a:ext cx="3790525" cy="21463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marR="0" lvl="0" indent="-85725" algn="l" defTabSz="457200" rtl="0" eaLnBrk="1" fontAlgn="base" latinLnBrk="0" hangingPunct="1">
              <a:lnSpc>
                <a:spcPct val="120000"/>
              </a:lnSpc>
              <a:spcBef>
                <a:spcPts val="277"/>
              </a:spcBef>
              <a:spcAft>
                <a:spcPts val="0"/>
              </a:spcAft>
              <a:buClrTx/>
              <a:buSzPct val="85000"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100" b="1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 마인드 제고</a:t>
            </a:r>
            <a:b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지표에 노경관리</a:t>
            </a: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소통활동 연계 지표 추가</a:t>
            </a: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확대</a:t>
            </a:r>
            <a:b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평가 결과 피드백 절차 수립 및 운영</a:t>
            </a:r>
            <a:b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1" lang="ko-KR" altLang="en-US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▶ 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개별 점수 안내 및 상</a:t>
            </a: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하위자에 대한 상벌 시행</a:t>
            </a:r>
            <a:b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   (OSI 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지급</a:t>
            </a: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인사고과 연계 추진 등</a:t>
            </a: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</a:t>
            </a:r>
          </a:p>
          <a:p>
            <a:pPr marL="85725" marR="0" lvl="0" indent="-85725" algn="l" defTabSz="457200" rtl="0" eaLnBrk="1" fontAlgn="base" latinLnBrk="0" hangingPunct="1">
              <a:lnSpc>
                <a:spcPct val="120000"/>
              </a:lnSpc>
              <a:spcBef>
                <a:spcPts val="277"/>
              </a:spcBef>
              <a:spcAft>
                <a:spcPts val="0"/>
              </a:spcAft>
              <a:buClrTx/>
              <a:buSzPct val="85000"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100" b="1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현장 소통 및 조직관리 역량 강화 지원</a:t>
            </a:r>
            <a:b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</a:t>
            </a: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현장리더 간 </a:t>
            </a: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1:1 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담당제를 통한 현장 소통 </a:t>
            </a:r>
            <a:r>
              <a:rPr kumimoji="1" lang="ko-KR" altLang="en-US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컨설팅 지원</a:t>
            </a:r>
            <a:br>
              <a:rPr kumimoji="1" lang="en-US" altLang="ko-KR" sz="1100" spc="-46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100" spc="-46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(</a:t>
            </a:r>
            <a:r>
              <a:rPr kumimoji="1" lang="ko-KR" altLang="en-US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현장리더 인터뷰를 통한 고충 및 지원 필요사항 확인</a:t>
            </a:r>
            <a:r>
              <a:rPr kumimoji="1" lang="en-US" altLang="ko-KR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b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월별 실장 </a:t>
            </a:r>
            <a:r>
              <a:rPr kumimoji="1" lang="ko-KR" altLang="en-US" sz="1100" b="0" i="0" u="none" strike="noStrike" kern="1200" cap="none" spc="-46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공유회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및 노경 소식지 등을 통한 소통 컨텐츠 지원</a:t>
            </a:r>
            <a:b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리더십 향상 과정에 노경 세션 추가 운영 및 조직관리  </a:t>
            </a: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B/P 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사례 공유</a:t>
            </a:r>
            <a:endParaRPr kumimoji="1" lang="en-US" altLang="ko-KR" sz="1100" b="0" i="0" u="none" strike="noStrike" kern="1200" cap="none" spc="-4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9" name="AutoShape 1603">
            <a:extLst>
              <a:ext uri="{FF2B5EF4-FFF2-40B4-BE49-F238E27FC236}">
                <a16:creationId xmlns:a16="http://schemas.microsoft.com/office/drawing/2014/main" id="{023E1A35-E017-89C9-0A6F-98E935E4360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61518" y="5090841"/>
            <a:ext cx="2877617" cy="260472"/>
          </a:xfrm>
          <a:prstGeom prst="triangle">
            <a:avLst>
              <a:gd name="adj" fmla="val 50780"/>
            </a:avLst>
          </a:prstGeom>
          <a:gradFill rotWithShape="1">
            <a:gsLst>
              <a:gs pos="0">
                <a:srgbClr val="777777"/>
              </a:gs>
              <a:gs pos="100000">
                <a:schemeClr val="bg1"/>
              </a:gs>
            </a:gsLst>
            <a:lin ang="5400000" scaled="1"/>
          </a:gradFill>
          <a:ln w="19050" algn="ctr">
            <a:noFill/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Light" panose="020B0600000101010101" pitchFamily="50" charset="-127"/>
              <a:ea typeface="LG스마트체 Light" panose="020B0600000101010101" pitchFamily="50" charset="-127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7FEFAEE-9778-C4B4-6E50-CD970064D458}"/>
              </a:ext>
            </a:extLst>
          </p:cNvPr>
          <p:cNvSpPr txBox="1"/>
          <p:nvPr/>
        </p:nvSpPr>
        <p:spPr>
          <a:xfrm>
            <a:off x="1091484" y="3913401"/>
            <a:ext cx="3609486" cy="518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indent="-92075" defTabSz="457200" fontAlgn="base" latinLnBrk="0">
              <a:lnSpc>
                <a:spcPct val="120000"/>
              </a:lnSpc>
              <a:spcBef>
                <a:spcPts val="277"/>
              </a:spcBef>
              <a:buSzPct val="85000"/>
              <a:buFont typeface="Wingdings" panose="05000000000000000000" pitchFamily="2" charset="2"/>
              <a:buChar char="§"/>
              <a:defRPr/>
            </a:pPr>
            <a:r>
              <a:rPr kumimoji="1" lang="en-US" altLang="ko-KR" sz="1200" b="1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AI, </a:t>
            </a:r>
            <a:r>
              <a:rPr kumimoji="1" lang="ko-KR" altLang="en-US" sz="1200" b="1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로봇 도입 등에 따른 </a:t>
            </a:r>
            <a:r>
              <a:rPr kumimoji="1" lang="ko-KR" altLang="en-US" sz="1200" b="1" i="0" u="none" strike="noStrike" kern="1200" cap="none" spc="-46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스마트팩토리</a:t>
            </a:r>
            <a:r>
              <a:rPr kumimoji="1" lang="ko-KR" altLang="en-US" sz="1200" b="1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1200" b="1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전환 가속화</a:t>
            </a:r>
            <a:br>
              <a:rPr kumimoji="1" lang="en-US" altLang="ko-KR" sz="1200" b="1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1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1" lang="ko-KR" altLang="en-US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피지컬</a:t>
            </a:r>
            <a:r>
              <a:rPr kumimoji="1" lang="en-US" altLang="ko-KR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10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</a:t>
            </a:r>
            <a:r>
              <a:rPr kumimoji="1" lang="en-US" altLang="ko-KR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I, </a:t>
            </a:r>
            <a:r>
              <a:rPr kumimoji="1" lang="ko-KR" altLang="en-US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로봇 등의 도입을 통한 설비 자동화 전환 가속</a:t>
            </a:r>
            <a:endParaRPr kumimoji="1" lang="en-US" altLang="ko-KR" sz="1200" b="0" i="0" u="none" strike="noStrike" kern="1200" cap="none" spc="-46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417919-43E1-7ADA-B3AE-37A647E0704E}"/>
              </a:ext>
            </a:extLst>
          </p:cNvPr>
          <p:cNvSpPr txBox="1"/>
          <p:nvPr/>
        </p:nvSpPr>
        <p:spPr>
          <a:xfrm>
            <a:off x="1091484" y="4480902"/>
            <a:ext cx="3790012" cy="9075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2075" indent="-92075" defTabSz="457200" fontAlgn="base" latinLnBrk="0">
              <a:lnSpc>
                <a:spcPct val="120000"/>
              </a:lnSpc>
              <a:spcBef>
                <a:spcPts val="277"/>
              </a:spcBef>
              <a:buSzPct val="85000"/>
              <a:buFont typeface="Wingdings" panose="05000000000000000000" pitchFamily="2" charset="2"/>
              <a:buChar char="§"/>
              <a:defRPr/>
            </a:pPr>
            <a:r>
              <a:rPr kumimoji="1" lang="ko-KR" altLang="en-US" sz="1200" b="1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고용 불안에 </a:t>
            </a:r>
            <a:r>
              <a:rPr kumimoji="1" lang="ko-KR" altLang="en-US" sz="1200" b="1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따른 </a:t>
            </a:r>
            <a:r>
              <a:rPr kumimoji="1" lang="ko-KR" altLang="en-US" sz="1200" b="1" spc="-46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노사 및 노로</a:t>
            </a:r>
            <a:r>
              <a:rPr kumimoji="1" lang="en-US" altLang="ko-KR" sz="1200" b="1" spc="-46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1" lang="ko-KR" altLang="en-US" sz="1200" b="1" spc="-46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노동조합</a:t>
            </a:r>
            <a:r>
              <a:rPr kumimoji="1" lang="en-US" altLang="ko-KR" sz="1200" b="1" spc="-46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</a:t>
            </a:r>
            <a:r>
              <a:rPr kumimoji="1" lang="ko-KR" altLang="en-US" sz="1200" b="1" spc="-46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로봇</a:t>
            </a:r>
            <a:r>
              <a:rPr kumimoji="1" lang="en-US" altLang="ko-KR" sz="1200" b="1" spc="-46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kumimoji="1" lang="ko-KR" altLang="en-US" sz="1200" b="1" spc="-46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갈등 발생</a:t>
            </a:r>
            <a:br>
              <a:rPr kumimoji="1" lang="en-US" altLang="ko-KR" sz="1200" b="1" spc="-46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100" b="1" spc="-46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kumimoji="1" lang="ko-KR" altLang="en-US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단순 반복 공정 중심인 생산직을 중심으로 인력 대체가 빠르게 </a:t>
            </a:r>
            <a:br>
              <a:rPr kumimoji="1" lang="en-US" altLang="ko-KR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이루어짐에 따라 고용 불안 인식 확산 및 노동조합 강경 입장 고수</a:t>
            </a:r>
            <a:br>
              <a:rPr kumimoji="1" lang="en-US" altLang="ko-KR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e.g) </a:t>
            </a:r>
            <a:r>
              <a:rPr kumimoji="1" lang="ko-KR" altLang="en-US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현대자동차 노동조합 사례 </a:t>
            </a:r>
            <a:r>
              <a:rPr kumimoji="1" lang="en-US" altLang="ko-KR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“</a:t>
            </a:r>
            <a:r>
              <a:rPr kumimoji="1" lang="ko-KR" altLang="en-US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노사합의 없이 단 </a:t>
            </a:r>
            <a:r>
              <a:rPr kumimoji="1" lang="en-US" altLang="ko-KR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1" lang="ko-KR" altLang="en-US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대의 로봇도 불가</a:t>
            </a:r>
            <a:r>
              <a:rPr kumimoji="1" lang="en-US" altLang="ko-KR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”</a:t>
            </a:r>
            <a:endParaRPr kumimoji="1" lang="en-US" altLang="ko-KR" sz="1200" b="0" i="0" u="none" strike="noStrike" kern="1200" cap="none" spc="-46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3C578E-9ED9-3B4E-D4C5-9C1A5613218A}"/>
              </a:ext>
            </a:extLst>
          </p:cNvPr>
          <p:cNvSpPr txBox="1"/>
          <p:nvPr/>
        </p:nvSpPr>
        <p:spPr>
          <a:xfrm>
            <a:off x="1091484" y="5454019"/>
            <a:ext cx="3769750" cy="9075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2075" indent="-92075" defTabSz="457200" fontAlgn="base" latinLnBrk="0">
              <a:lnSpc>
                <a:spcPct val="120000"/>
              </a:lnSpc>
              <a:spcBef>
                <a:spcPts val="277"/>
              </a:spcBef>
              <a:buSzPct val="85000"/>
              <a:buFont typeface="Wingdings" panose="05000000000000000000" pitchFamily="2" charset="2"/>
              <a:buChar char="§"/>
              <a:defRPr/>
            </a:pPr>
            <a:r>
              <a:rPr kumimoji="1" lang="ko-KR" altLang="en-US" sz="1200" b="1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인력 효율화 관련 </a:t>
            </a:r>
            <a:r>
              <a:rPr kumimoji="1" lang="ko-KR" altLang="en-US" sz="1200" b="1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법적 </a:t>
            </a:r>
            <a:r>
              <a:rPr kumimoji="1" lang="en-US" altLang="ko-KR" sz="1200" b="1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Risk </a:t>
            </a:r>
            <a:r>
              <a:rPr kumimoji="1" lang="ko-KR" altLang="en-US" sz="1200" b="1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존재</a:t>
            </a:r>
            <a:br>
              <a:rPr kumimoji="1" lang="en-US" altLang="ko-KR" sz="1200" b="1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1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1" lang="ko-KR" altLang="en-US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단체협약 제</a:t>
            </a:r>
            <a:r>
              <a:rPr kumimoji="1" lang="en-US" altLang="ko-KR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37</a:t>
            </a:r>
            <a:r>
              <a:rPr kumimoji="1" lang="ko-KR" altLang="en-US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</a:t>
            </a:r>
            <a:r>
              <a:rPr kumimoji="1" lang="en-US" altLang="ko-KR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1" lang="ko-KR" altLang="en-US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정리해고 및 고용안정협약</a:t>
            </a:r>
            <a:r>
              <a:rPr kumimoji="1" lang="en-US" altLang="ko-KR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</a:t>
            </a:r>
            <a:r>
              <a:rPr kumimoji="1" lang="ko-KR" altLang="en-US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및 근로기준법 제</a:t>
            </a:r>
            <a:r>
              <a:rPr kumimoji="1" lang="en-US" altLang="ko-KR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24</a:t>
            </a:r>
            <a:r>
              <a:rPr kumimoji="1" lang="ko-KR" altLang="en-US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</a:t>
            </a:r>
            <a:br>
              <a:rPr kumimoji="1" lang="en-US" altLang="ko-KR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(</a:t>
            </a:r>
            <a:r>
              <a:rPr kumimoji="1" lang="ko-KR" altLang="en-US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경영상 이유에 의한 해고의 제한</a:t>
            </a:r>
            <a:r>
              <a:rPr kumimoji="1" lang="en-US" altLang="ko-KR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r>
              <a:rPr kumimoji="1" lang="ko-KR" altLang="en-US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에 따라 자동화에 따른 인위적 </a:t>
            </a:r>
            <a:br>
              <a:rPr kumimoji="1" lang="en-US" altLang="ko-KR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1" lang="ko-KR" altLang="en-US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정리해고는 법적 </a:t>
            </a:r>
            <a:r>
              <a:rPr kumimoji="1" lang="en-US" altLang="ko-KR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Risk</a:t>
            </a:r>
            <a:r>
              <a:rPr kumimoji="1" lang="ko-KR" altLang="en-US" sz="1100" b="0" i="0" u="none" strike="noStrike" kern="1200" cap="none" spc="-46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존재</a:t>
            </a:r>
            <a:endParaRPr kumimoji="1" lang="en-US" altLang="ko-KR" sz="1200" b="0" i="0" u="none" strike="noStrike" kern="1200" cap="none" spc="-46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9B12889-CDC0-0D49-661F-A4BF0C13B92C}"/>
              </a:ext>
            </a:extLst>
          </p:cNvPr>
          <p:cNvSpPr txBox="1"/>
          <p:nvPr/>
        </p:nvSpPr>
        <p:spPr>
          <a:xfrm>
            <a:off x="1245629" y="6347404"/>
            <a:ext cx="23927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277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000" b="1" spc="-46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</a:t>
            </a:r>
            <a:r>
              <a:rPr kumimoji="1" lang="en-US" altLang="ko-KR" sz="1000" b="1" i="0" u="none" strike="noStrike" kern="1200" cap="none" spc="-46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1000" b="1" i="0" u="none" strike="noStrike" kern="1200" cap="none" spc="-46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최근 </a:t>
            </a:r>
            <a:r>
              <a:rPr kumimoji="1" lang="en-US" altLang="ko-KR" sz="1000" b="1" i="0" u="none" strike="noStrike" kern="1200" cap="none" spc="-46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</a:t>
            </a:r>
            <a:r>
              <a:rPr kumimoji="1" lang="ko-KR" altLang="en-US" sz="1000" b="1" i="0" u="none" strike="noStrike" kern="1200" cap="none" spc="-46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개년 고용안정위원회 </a:t>
            </a:r>
            <a:r>
              <a:rPr kumimoji="1" lang="ko-KR" altLang="en-US" sz="1000" b="1" i="0" u="none" strike="noStrike" kern="1200" cap="none" spc="-46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대상 인원</a:t>
            </a:r>
            <a:br>
              <a:rPr kumimoji="1" lang="en-US" altLang="ko-KR" sz="1000" b="1" spc="-46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en-US" altLang="ko-KR" sz="1000" b="1" spc="-46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= </a:t>
            </a:r>
            <a:r>
              <a:rPr kumimoji="1" lang="ko-KR" altLang="en-US" sz="1000" b="1" i="0" u="none" strike="noStrike" kern="1200" cap="none" spc="-46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총 </a:t>
            </a:r>
            <a:r>
              <a:rPr kumimoji="1" lang="en-US" altLang="ko-KR" sz="1000" b="1" i="0" u="none" strike="noStrike" kern="1200" cap="none" spc="-46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810</a:t>
            </a:r>
            <a:r>
              <a:rPr kumimoji="1" lang="ko-KR" altLang="en-US" sz="1000" b="1" i="0" u="none" strike="noStrike" kern="1200" cap="none" spc="-46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명</a:t>
            </a:r>
            <a:r>
              <a:rPr kumimoji="1" lang="en-US" altLang="ko-KR" sz="1000" b="1" spc="-46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000" b="1" i="0" u="none" strike="noStrike" kern="1200" cap="none" spc="-46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(23</a:t>
            </a:r>
            <a:r>
              <a:rPr kumimoji="1" lang="ko-KR" altLang="en-US" sz="1000" b="1" i="0" u="none" strike="noStrike" kern="1200" cap="none" spc="-46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년</a:t>
            </a:r>
            <a:r>
              <a:rPr kumimoji="1" lang="en-US" altLang="ko-KR" sz="1000" b="1" i="0" u="none" strike="noStrike" kern="1200" cap="none" spc="-46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384</a:t>
            </a:r>
            <a:r>
              <a:rPr kumimoji="1" lang="ko-KR" altLang="en-US" sz="1000" b="1" spc="-46" dirty="0">
                <a:solidFill>
                  <a:srgbClr val="00B05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r>
              <a:rPr kumimoji="1" lang="en-US" altLang="ko-KR" sz="1000" b="1" i="0" u="none" strike="noStrike" kern="1200" cap="none" spc="-46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/ 24</a:t>
            </a:r>
            <a:r>
              <a:rPr kumimoji="1" lang="ko-KR" altLang="en-US" sz="1000" b="1" i="0" u="none" strike="noStrike" kern="1200" cap="none" spc="-46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년 </a:t>
            </a:r>
            <a:r>
              <a:rPr kumimoji="1" lang="en-US" altLang="ko-KR" sz="1000" b="1" i="0" u="none" strike="noStrike" kern="1200" cap="none" spc="-46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129</a:t>
            </a:r>
            <a:r>
              <a:rPr kumimoji="1" lang="ko-KR" altLang="en-US" sz="1000" b="1" i="0" u="none" strike="noStrike" kern="1200" cap="none" spc="-46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명</a:t>
            </a:r>
            <a:r>
              <a:rPr kumimoji="1" lang="en-US" altLang="ko-KR" sz="1000" b="1" i="0" u="none" strike="noStrike" kern="1200" cap="none" spc="-46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/ 25</a:t>
            </a:r>
            <a:r>
              <a:rPr kumimoji="1" lang="ko-KR" altLang="en-US" sz="1000" b="1" i="0" u="none" strike="noStrike" kern="1200" cap="none" spc="-46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년 </a:t>
            </a:r>
            <a:r>
              <a:rPr kumimoji="1" lang="en-US" altLang="ko-KR" sz="1000" b="1" i="0" u="none" strike="noStrike" kern="1200" cap="none" spc="-46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297</a:t>
            </a:r>
            <a:r>
              <a:rPr kumimoji="1" lang="ko-KR" altLang="en-US" sz="1000" b="1" i="0" u="none" strike="noStrike" kern="1200" cap="none" spc="-46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명</a:t>
            </a:r>
            <a:r>
              <a:rPr kumimoji="1" lang="en-US" altLang="ko-KR" sz="1000" b="1" i="0" u="none" strike="noStrike" kern="1200" cap="none" spc="-46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7D7B4B3-68EC-7D68-6847-5AB5162D5FF1}"/>
              </a:ext>
            </a:extLst>
          </p:cNvPr>
          <p:cNvSpPr txBox="1"/>
          <p:nvPr/>
        </p:nvSpPr>
        <p:spPr>
          <a:xfrm>
            <a:off x="5136395" y="3913401"/>
            <a:ext cx="3442224" cy="501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marR="0" lvl="0" indent="-171450" algn="l" defTabSz="457200" rtl="0" eaLnBrk="1" fontAlgn="base" latinLnBrk="0" hangingPunct="1">
              <a:lnSpc>
                <a:spcPct val="120000"/>
              </a:lnSpc>
              <a:spcBef>
                <a:spcPts val="277"/>
              </a:spcBef>
              <a:spcAft>
                <a:spcPts val="0"/>
              </a:spcAft>
              <a:buClrTx/>
              <a:buSzPct val="85000"/>
              <a:buFont typeface="Wingdings 2" panose="05020102010507070707" pitchFamily="18" charset="2"/>
              <a:buChar char="R"/>
              <a:tabLst/>
              <a:defRPr/>
            </a:pPr>
            <a:r>
              <a:rPr kumimoji="1" lang="ko-KR" altLang="en-US" sz="1200" b="1" spc="-46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스마트팩토리</a:t>
            </a:r>
            <a:r>
              <a:rPr kumimoji="1" lang="ko-KR" altLang="en-US" sz="1200" b="1" spc="-46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관련 상생</a:t>
            </a:r>
            <a:r>
              <a:rPr kumimoji="1" lang="ko-KR" altLang="en-US" sz="1200" b="1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협약 선제적 체결 검토</a:t>
            </a:r>
            <a:br>
              <a:rPr kumimoji="1" lang="en-US" altLang="ko-KR" sz="1200" b="1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→ 생산성 </a:t>
            </a: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· 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인력 유연성 확보 및 법적</a:t>
            </a: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·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노사 분쟁 </a:t>
            </a: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Risk 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최소화</a:t>
            </a:r>
            <a:endParaRPr kumimoji="1" lang="en-US" altLang="ko-KR" sz="1100" b="0" i="0" u="none" strike="noStrike" kern="1200" cap="none" spc="-4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2EFEF02-40CE-503D-5D76-ECDADDE08D55}"/>
              </a:ext>
            </a:extLst>
          </p:cNvPr>
          <p:cNvSpPr txBox="1"/>
          <p:nvPr/>
        </p:nvSpPr>
        <p:spPr>
          <a:xfrm>
            <a:off x="5361975" y="4397407"/>
            <a:ext cx="4705134" cy="1333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marR="0" lvl="0" indent="-85725" algn="l" defTabSz="457200" rtl="0" eaLnBrk="1" fontAlgn="base" latinLnBrk="0" hangingPunct="1">
              <a:lnSpc>
                <a:spcPct val="120000"/>
              </a:lnSpc>
              <a:spcBef>
                <a:spcPts val="277"/>
              </a:spcBef>
              <a:spcAft>
                <a:spcPts val="0"/>
              </a:spcAft>
              <a:buClrTx/>
              <a:buSzPct val="85000"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100" b="1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협약 핵심 원칙 확립</a:t>
            </a:r>
            <a:b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1" lang="ko-KR" altLang="en-US" sz="1100" spc="-46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로봇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배치</a:t>
            </a: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en-US" altLang="ko-KR" sz="1100" spc="-46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AI</a:t>
            </a:r>
            <a:r>
              <a:rPr kumimoji="1" lang="ko-KR" altLang="en-US" sz="1100" spc="-46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기술 도입</a:t>
            </a:r>
            <a:r>
              <a:rPr kumimoji="1" lang="en-US" altLang="ko-KR" sz="1100" spc="-46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spc="-46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직무 재배치</a:t>
            </a:r>
            <a:r>
              <a:rPr kumimoji="1" lang="en-US" altLang="ko-KR" sz="1100" spc="-46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희망퇴직 등 회사의 경영권 및 인사권 보장</a:t>
            </a:r>
            <a:b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자동화 도입 자체에 대한 동의</a:t>
            </a: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특정 라인 존치</a:t>
            </a: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감축 총량 설정 등 무리한 요구 배제</a:t>
            </a:r>
            <a:endParaRPr kumimoji="1" lang="en-US" altLang="ko-KR" sz="1100" b="0" i="0" u="none" strike="noStrike" kern="1200" cap="none" spc="-4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85725" marR="0" lvl="0" indent="-85725" algn="l" defTabSz="457200" rtl="0" eaLnBrk="1" fontAlgn="base" latinLnBrk="0" hangingPunct="1">
              <a:lnSpc>
                <a:spcPct val="120000"/>
              </a:lnSpc>
              <a:spcBef>
                <a:spcPts val="277"/>
              </a:spcBef>
              <a:spcAft>
                <a:spcPts val="0"/>
              </a:spcAft>
              <a:buClrTx/>
              <a:buSzPct val="85000"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100" b="1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조합 협력 유인 설계</a:t>
            </a:r>
            <a:b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희망퇴직 프로그램</a:t>
            </a: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위로금</a:t>
            </a: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전직 교육</a:t>
            </a: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등</a:t>
            </a: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및 잔여 인원에 대한 직무 교육 등 </a:t>
            </a:r>
            <a:b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노사 분쟁 최소화할 수 있는 조합 협력 </a:t>
            </a:r>
            <a:r>
              <a:rPr kumimoji="1" lang="ko-KR" altLang="en-US" sz="1100" b="0" i="0" u="none" strike="noStrike" kern="1200" cap="none" spc="-46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유인책</a:t>
            </a:r>
            <a:r>
              <a:rPr kumimoji="1" lang="ko-KR" altLang="en-US" sz="1100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설계 필요</a:t>
            </a:r>
            <a:endParaRPr kumimoji="1" lang="en-US" altLang="ko-KR" sz="1100" b="0" i="0" u="none" strike="noStrike" kern="1200" cap="none" spc="-4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BB26335-DA34-788A-1D1A-E89A82150FB0}"/>
              </a:ext>
            </a:extLst>
          </p:cNvPr>
          <p:cNvSpPr txBox="1"/>
          <p:nvPr/>
        </p:nvSpPr>
        <p:spPr>
          <a:xfrm>
            <a:off x="5503501" y="5704145"/>
            <a:ext cx="12236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277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000" b="1" i="0" u="none" strike="noStrike" kern="1200" cap="none" spc="-46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kumimoji="1" lang="ko-KR" altLang="en-US" sz="1000" b="1" i="0" u="none" strike="noStrike" kern="1200" cap="none" spc="-46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노사 상생 협약 이력</a:t>
            </a:r>
            <a:endParaRPr kumimoji="1" lang="en-US" altLang="ko-KR" sz="1000" b="1" i="0" u="none" strike="noStrike" kern="1200" cap="none" spc="-46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0D1CD232-F93E-0706-658E-F83539A82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356109"/>
              </p:ext>
            </p:extLst>
          </p:nvPr>
        </p:nvGraphicFramePr>
        <p:xfrm>
          <a:off x="5576361" y="5950504"/>
          <a:ext cx="3621121" cy="709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2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6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734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연도</a:t>
                      </a:r>
                      <a:endParaRPr sz="9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9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내용</a:t>
                      </a: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9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방식</a:t>
                      </a: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346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en-US" altLang="ko-KR" sz="900" b="0" kern="1200" spc="-5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‘19</a:t>
                      </a:r>
                      <a:r>
                        <a:rPr lang="ko-KR" altLang="en-US" sz="9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</a:t>
                      </a:r>
                    </a:p>
                  </a:txBody>
                  <a:tcPr marL="46800" marR="468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9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사업경쟁력 확보 위한 공동 노력 선언</a:t>
                      </a: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900" b="0" u="none" kern="1200" spc="-5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임단협</a:t>
                      </a:r>
                      <a:r>
                        <a:rPr lang="ko-KR" altLang="en-US" sz="900" b="0" u="none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별도 합의</a:t>
                      </a: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346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en-US" altLang="ko-KR" sz="900" b="0" kern="1200" spc="-5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’20</a:t>
                      </a:r>
                      <a:r>
                        <a:rPr lang="ko-KR" altLang="en-US" sz="9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</a:t>
                      </a:r>
                    </a:p>
                  </a:txBody>
                  <a:tcPr marL="46800" marR="468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9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코로나</a:t>
                      </a:r>
                      <a:r>
                        <a:rPr lang="en-US" altLang="ko-KR" sz="9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19</a:t>
                      </a:r>
                      <a:r>
                        <a:rPr lang="ko-KR" altLang="en-US" sz="9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위기 극복 위한 노경간 상생 및 협약 도모</a:t>
                      </a: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en-US" altLang="ko-KR" sz="900" b="0" u="none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〃</a:t>
                      </a:r>
                      <a:endParaRPr lang="ko-KR" altLang="en-US" sz="900" b="0" u="none" kern="120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346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en-US" altLang="ko-KR" sz="9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’22</a:t>
                      </a:r>
                      <a:r>
                        <a:rPr lang="ko-KR" altLang="en-US" sz="9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</a:t>
                      </a:r>
                    </a:p>
                  </a:txBody>
                  <a:tcPr marL="46800" marR="468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9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노경간 협력 통한 사업경쟁력 제고 활동 추진</a:t>
                      </a: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0" u="none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〃</a:t>
                      </a:r>
                      <a:endParaRPr lang="ko-KR" altLang="en-US" sz="900" b="0" u="none" kern="120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052452"/>
                  </a:ext>
                </a:extLst>
              </a:tr>
            </a:tbl>
          </a:graphicData>
        </a:graphic>
      </p:graphicFrame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750092F-5F40-1332-A979-D08FC6EC562A}"/>
              </a:ext>
            </a:extLst>
          </p:cNvPr>
          <p:cNvCxnSpPr>
            <a:cxnSpLocks/>
          </p:cNvCxnSpPr>
          <p:nvPr/>
        </p:nvCxnSpPr>
        <p:spPr>
          <a:xfrm>
            <a:off x="1128893" y="3771992"/>
            <a:ext cx="820280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A5F9DD1-B70C-BC68-1760-29388E432A49}"/>
              </a:ext>
            </a:extLst>
          </p:cNvPr>
          <p:cNvSpPr txBox="1"/>
          <p:nvPr/>
        </p:nvSpPr>
        <p:spPr>
          <a:xfrm>
            <a:off x="202841" y="150290"/>
            <a:ext cx="296656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7800" indent="-177800">
              <a:buFont typeface="+mj-lt"/>
              <a:buAutoNum type="romanUcPeriod" startAt="3"/>
            </a:pP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추진과제 및 대응방향  </a:t>
            </a:r>
            <a:endParaRPr lang="en-US" altLang="ko-KR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6672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6333940" y="181068"/>
            <a:ext cx="3284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③ 사무노조</a:t>
            </a: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8A8290E-2BC7-AD4E-DD16-65F660661A71}"/>
              </a:ext>
            </a:extLst>
          </p:cNvPr>
          <p:cNvGrpSpPr/>
          <p:nvPr/>
        </p:nvGrpSpPr>
        <p:grpSpPr>
          <a:xfrm>
            <a:off x="1772383" y="1000122"/>
            <a:ext cx="3034716" cy="308881"/>
            <a:chOff x="1270445" y="1000122"/>
            <a:chExt cx="3034716" cy="308881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F4088B6-0AB2-44A4-D7E8-612754DD4239}"/>
                </a:ext>
              </a:extLst>
            </p:cNvPr>
            <p:cNvSpPr/>
            <p:nvPr/>
          </p:nvSpPr>
          <p:spPr>
            <a:xfrm>
              <a:off x="2117018" y="1000122"/>
              <a:ext cx="1368960" cy="30888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300" b="1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현황 및 이슈 </a:t>
              </a:r>
              <a:endPara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FE3A47DD-A15B-6EA4-9715-4A479CBB0B0E}"/>
                </a:ext>
              </a:extLst>
            </p:cNvPr>
            <p:cNvCxnSpPr>
              <a:cxnSpLocks/>
            </p:cNvCxnSpPr>
            <p:nvPr/>
          </p:nvCxnSpPr>
          <p:spPr>
            <a:xfrm>
              <a:off x="1270445" y="1289224"/>
              <a:ext cx="3034716" cy="0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AutoShape 1603">
            <a:extLst>
              <a:ext uri="{FF2B5EF4-FFF2-40B4-BE49-F238E27FC236}">
                <a16:creationId xmlns:a16="http://schemas.microsoft.com/office/drawing/2014/main" id="{1B651275-FA5A-33B7-2EA0-DC92302FA34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01392" y="2446865"/>
            <a:ext cx="1965450" cy="260472"/>
          </a:xfrm>
          <a:prstGeom prst="triangle">
            <a:avLst>
              <a:gd name="adj" fmla="val 50780"/>
            </a:avLst>
          </a:prstGeom>
          <a:gradFill rotWithShape="1">
            <a:gsLst>
              <a:gs pos="0">
                <a:srgbClr val="777777"/>
              </a:gs>
              <a:gs pos="100000">
                <a:schemeClr val="bg1"/>
              </a:gs>
            </a:gsLst>
            <a:lin ang="5400000" scaled="1"/>
          </a:gradFill>
          <a:ln w="19050" algn="ctr">
            <a:noFill/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endParaRPr lang="ko-KR" altLang="en-US" sz="1200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3F6CCDA-A1C9-CD28-BF3A-E28D315F75ED}"/>
              </a:ext>
            </a:extLst>
          </p:cNvPr>
          <p:cNvGrpSpPr/>
          <p:nvPr/>
        </p:nvGrpSpPr>
        <p:grpSpPr>
          <a:xfrm>
            <a:off x="5614186" y="1000122"/>
            <a:ext cx="3514047" cy="308881"/>
            <a:chOff x="5150413" y="1000122"/>
            <a:chExt cx="3034716" cy="308881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A0B9AB7-EF2B-A2BE-AA31-59320D6C9328}"/>
                </a:ext>
              </a:extLst>
            </p:cNvPr>
            <p:cNvSpPr/>
            <p:nvPr/>
          </p:nvSpPr>
          <p:spPr>
            <a:xfrm>
              <a:off x="6026851" y="1000122"/>
              <a:ext cx="1368960" cy="30888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300" b="1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대응방향</a:t>
              </a:r>
              <a:endPara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100F9C82-B00C-4980-7CC9-BDF425AD748B}"/>
                </a:ext>
              </a:extLst>
            </p:cNvPr>
            <p:cNvCxnSpPr>
              <a:cxnSpLocks/>
            </p:cNvCxnSpPr>
            <p:nvPr/>
          </p:nvCxnSpPr>
          <p:spPr>
            <a:xfrm>
              <a:off x="5150413" y="1289224"/>
              <a:ext cx="3034716" cy="0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EC8C1DFE-8BFE-2F6F-7896-D95E07DCC863}"/>
              </a:ext>
            </a:extLst>
          </p:cNvPr>
          <p:cNvGrpSpPr/>
          <p:nvPr/>
        </p:nvGrpSpPr>
        <p:grpSpPr>
          <a:xfrm>
            <a:off x="280730" y="1718763"/>
            <a:ext cx="1034532" cy="653391"/>
            <a:chOff x="14026" y="1671138"/>
            <a:chExt cx="1034532" cy="65339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FD5E8C0-882B-69FF-44DF-80882748EB11}"/>
                </a:ext>
              </a:extLst>
            </p:cNvPr>
            <p:cNvSpPr txBox="1"/>
            <p:nvPr/>
          </p:nvSpPr>
          <p:spPr>
            <a:xfrm>
              <a:off x="14026" y="1671138"/>
              <a:ext cx="1010575" cy="653391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120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세 확산 </a:t>
              </a:r>
              <a:br>
                <a:rPr kumimoji="0" lang="en-US" altLang="ko-KR" sz="1300" b="1" i="0" u="none" strike="noStrike" kern="120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</a:br>
              <a:r>
                <a:rPr kumimoji="0" lang="ko-KR" altLang="en-US" sz="1300" b="1" i="0" u="none" strike="noStrike" kern="120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대응 시나리오</a:t>
              </a:r>
              <a:br>
                <a:rPr kumimoji="0" lang="en-US" altLang="ko-KR" sz="1300" b="1" i="0" u="none" strike="noStrike" kern="120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</a:br>
              <a:r>
                <a:rPr kumimoji="0" lang="en-US" altLang="ko-KR" sz="1300" b="1" i="0" u="none" strike="noStrike" kern="120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Plan</a:t>
              </a:r>
              <a:endParaRPr kumimoji="0" lang="ko-KR" altLang="en-US" sz="13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B385C2A-0C36-5365-2554-AAB4D707B12B}"/>
                </a:ext>
              </a:extLst>
            </p:cNvPr>
            <p:cNvCxnSpPr>
              <a:cxnSpLocks/>
            </p:cNvCxnSpPr>
            <p:nvPr/>
          </p:nvCxnSpPr>
          <p:spPr>
            <a:xfrm>
              <a:off x="1048558" y="1673769"/>
              <a:ext cx="0" cy="650760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A8D6D1DF-17A4-74E5-B314-CF3FCF455425}"/>
              </a:ext>
            </a:extLst>
          </p:cNvPr>
          <p:cNvGrpSpPr/>
          <p:nvPr/>
        </p:nvGrpSpPr>
        <p:grpSpPr>
          <a:xfrm>
            <a:off x="366299" y="3992916"/>
            <a:ext cx="1010575" cy="760569"/>
            <a:chOff x="14026" y="1693991"/>
            <a:chExt cx="1010575" cy="51910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FD8A909-8B67-428B-2850-7465DEE6EDD8}"/>
                </a:ext>
              </a:extLst>
            </p:cNvPr>
            <p:cNvSpPr txBox="1"/>
            <p:nvPr/>
          </p:nvSpPr>
          <p:spPr>
            <a:xfrm>
              <a:off x="14026" y="1693991"/>
              <a:ext cx="1010575" cy="446275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120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법적이슈 </a:t>
              </a:r>
              <a:br>
                <a:rPr kumimoji="0" lang="en-US" altLang="ko-KR" sz="1300" b="1" i="0" u="none" strike="noStrike" kern="120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</a:br>
              <a:r>
                <a:rPr kumimoji="0" lang="ko-KR" altLang="en-US" sz="1300" b="1" i="0" u="none" strike="noStrike" kern="120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대응</a:t>
              </a:r>
              <a:endParaRPr kumimoji="0" lang="ko-KR" altLang="en-US" sz="13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41CDC0AA-D65A-7FB6-5383-D1EE483488E9}"/>
                </a:ext>
              </a:extLst>
            </p:cNvPr>
            <p:cNvCxnSpPr>
              <a:cxnSpLocks/>
            </p:cNvCxnSpPr>
            <p:nvPr/>
          </p:nvCxnSpPr>
          <p:spPr>
            <a:xfrm>
              <a:off x="964738" y="1719853"/>
              <a:ext cx="0" cy="493242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AutoShape 1603">
            <a:extLst>
              <a:ext uri="{FF2B5EF4-FFF2-40B4-BE49-F238E27FC236}">
                <a16:creationId xmlns:a16="http://schemas.microsoft.com/office/drawing/2014/main" id="{25568D6B-DBF9-216C-B101-B2F63980E26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01392" y="4845405"/>
            <a:ext cx="1965450" cy="260472"/>
          </a:xfrm>
          <a:prstGeom prst="triangle">
            <a:avLst>
              <a:gd name="adj" fmla="val 50780"/>
            </a:avLst>
          </a:prstGeom>
          <a:gradFill rotWithShape="1">
            <a:gsLst>
              <a:gs pos="0">
                <a:srgbClr val="777777"/>
              </a:gs>
              <a:gs pos="100000">
                <a:schemeClr val="bg1"/>
              </a:gs>
            </a:gsLst>
            <a:lin ang="5400000" scaled="1"/>
          </a:gradFill>
          <a:ln w="19050" algn="ctr">
            <a:noFill/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endParaRPr lang="ko-KR" altLang="en-US" sz="1200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A406E4AA-0B63-3A9A-2786-48259BC5A924}"/>
              </a:ext>
            </a:extLst>
          </p:cNvPr>
          <p:cNvSpPr txBox="1"/>
          <p:nvPr/>
        </p:nvSpPr>
        <p:spPr>
          <a:xfrm>
            <a:off x="1652759" y="1645672"/>
            <a:ext cx="3479875" cy="14816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indent="-92075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’22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 설립된 이후 사무노조는 교섭권 없는 소수노조로 포지셔닝 되었음</a:t>
            </a:r>
            <a:endParaRPr lang="en-US" altLang="ko-KR" sz="1200" b="1" kern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92075" indent="-92075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단</a:t>
            </a: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’26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 성과급 지급 이후 사무노조에서는 온라인 중심으로 적극적인 소통활동을 실시한 바</a:t>
            </a: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b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최근 조합원이 기존 대비 크게 증가하였음</a:t>
            </a:r>
            <a:b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-’24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 </a:t>
            </a: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64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명 → 최근 교섭창구단일화 </a:t>
            </a: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316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주장</a:t>
            </a: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lang="en-US" altLang="ko-KR" sz="1200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5C37503E-3D9B-10E7-F9EB-25FE5C3F8FAF}"/>
              </a:ext>
            </a:extLst>
          </p:cNvPr>
          <p:cNvSpPr txBox="1"/>
          <p:nvPr/>
        </p:nvSpPr>
        <p:spPr>
          <a:xfrm>
            <a:off x="5629426" y="1645672"/>
            <a:ext cx="4588993" cy="9614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indent="-92075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 2" panose="05020102010507070707" pitchFamily="18" charset="2"/>
              <a:buChar char="R"/>
              <a:defRPr/>
            </a:pP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사무노조 조합원 규모 증가에 따른 예상이슈 </a:t>
            </a:r>
            <a:b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및 회사 대응전략 선검토 </a:t>
            </a:r>
            <a:b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- 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임단협 </a:t>
            </a: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조합활동 </a:t>
            </a: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전임자 </a:t>
            </a: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공정대표의무 위반</a:t>
            </a: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b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부당노동행위 </a:t>
            </a: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언론대응 등 노사관계 전반 대응원칙 수립 </a:t>
            </a:r>
            <a:endParaRPr lang="en-US" altLang="ko-KR" sz="1200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B56D749E-3CEE-C5A6-5744-3A268ADD1150}"/>
              </a:ext>
            </a:extLst>
          </p:cNvPr>
          <p:cNvSpPr txBox="1"/>
          <p:nvPr/>
        </p:nvSpPr>
        <p:spPr>
          <a:xfrm>
            <a:off x="1645922" y="3992916"/>
            <a:ext cx="3639752" cy="21464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indent="-92075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’22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 교섭단위 분리신청을 제기하였으나</a:t>
            </a: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b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기각되었고 이후 대외 이슈제기는 없었음 </a:t>
            </a:r>
            <a:endParaRPr lang="en-US" altLang="ko-KR" sz="1200" b="1" kern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92075" indent="-92075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최근 조합원 확대에 따라 회사와의 공식 </a:t>
            </a: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Comm.</a:t>
            </a:r>
            <a:b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채널 확보 및 선명성 확보를 위한 대외 이슈제기</a:t>
            </a: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b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가능성이 높음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b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* 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교섭단위분리신청</a:t>
            </a: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부당노동행위 구제신청 </a:t>
            </a:r>
            <a:b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공정대표의무 위반 시정신청</a:t>
            </a:r>
            <a:b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노사협의회</a:t>
            </a: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고충처리위원회 진정</a:t>
            </a:r>
            <a:b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연차촉진제 관련 진정</a:t>
            </a:r>
            <a:endParaRPr lang="en-US" altLang="ko-KR" sz="1200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92E42D04-FD21-E599-C3B5-B2708AC21EB9}"/>
              </a:ext>
            </a:extLst>
          </p:cNvPr>
          <p:cNvSpPr txBox="1"/>
          <p:nvPr/>
        </p:nvSpPr>
        <p:spPr>
          <a:xfrm>
            <a:off x="5591327" y="3951728"/>
            <a:ext cx="3367774" cy="7398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indent="-92075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 2" panose="05020102010507070707" pitchFamily="18" charset="2"/>
              <a:buChar char="R"/>
              <a:defRPr/>
            </a:pP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사무노조가 제기할 수 있는 다양한 대외 이슈에    </a:t>
            </a:r>
            <a:b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대한 노경부문 자체 </a:t>
            </a: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Task 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실시하여 각 이슈별 </a:t>
            </a:r>
            <a:b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대응 시나리오를 구체화함</a:t>
            </a:r>
            <a:endParaRPr lang="en-US" altLang="ko-KR" sz="1200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DC40E767-9894-6CE8-CD03-4F16D6339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75373"/>
              </p:ext>
            </p:extLst>
          </p:nvPr>
        </p:nvGraphicFramePr>
        <p:xfrm>
          <a:off x="5721342" y="4847327"/>
          <a:ext cx="3182681" cy="1457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21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endParaRPr sz="1000" b="1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46800" marR="468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000" b="1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대응 기조</a:t>
                      </a:r>
                      <a:endParaRPr lang="ko-KR" altLang="en-US" sz="1000" b="1" kern="1200" spc="-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en-US" altLang="ko-KR" sz="1000" b="1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Risk</a:t>
                      </a:r>
                      <a:endParaRPr lang="ko-KR" altLang="en-US" sz="1000" b="1" kern="1200" spc="-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216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교섭단위분리</a:t>
                      </a:r>
                      <a:endParaRPr lang="ko-KR" altLang="en-US" sz="1000" b="0" kern="1200" spc="-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교섭단위 분리 필요성 부정</a:t>
                      </a:r>
                      <a:endParaRPr lang="ko-KR" altLang="en-US" sz="1000" b="0" kern="1200" spc="-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000" b="0" u="none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고</a:t>
                      </a:r>
                      <a:endParaRPr lang="ko-KR" altLang="en-US" sz="1000" b="0" u="none" kern="1200" spc="-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216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부당노동행위</a:t>
                      </a:r>
                      <a:endParaRPr lang="ko-KR" altLang="en-US" sz="1000" b="0" kern="1200" spc="-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혐의 없음</a:t>
                      </a:r>
                      <a:endParaRPr lang="ko-KR" altLang="en-US" sz="1000" b="0" kern="1200" spc="-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000" b="0" u="none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중</a:t>
                      </a:r>
                      <a:endParaRPr lang="ko-KR" altLang="en-US" sz="1000" b="0" u="none" kern="1200" spc="-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216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공정대표의무</a:t>
                      </a:r>
                      <a:endParaRPr lang="ko-KR" altLang="en-US" sz="1000" b="0" kern="1200" spc="-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노조사무실 기 제공</a:t>
                      </a:r>
                      <a:r>
                        <a:rPr lang="en-US" altLang="ko-KR" sz="1000" b="0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조합활동 보장</a:t>
                      </a:r>
                      <a:endParaRPr lang="ko-KR" altLang="en-US" sz="1000" b="0" kern="1200" spc="-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000" b="0" u="none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고</a:t>
                      </a:r>
                      <a:endParaRPr lang="ko-KR" altLang="en-US" sz="1000" b="0" u="none" kern="1200" spc="-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216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노사협의회</a:t>
                      </a:r>
                      <a:endParaRPr lang="ko-KR" altLang="en-US" sz="1000" b="0" kern="1200" spc="-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en-US" altLang="ko-KR" sz="1000" b="0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JB</a:t>
                      </a: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를 통한 운영</a:t>
                      </a:r>
                      <a:r>
                        <a:rPr lang="en-US" altLang="ko-KR" sz="1000" b="0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*</a:t>
                      </a: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시정지시 수용</a:t>
                      </a:r>
                      <a:endParaRPr lang="ko-KR" altLang="en-US" sz="1000" b="0" kern="1200" spc="-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000" b="0" u="none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고</a:t>
                      </a:r>
                      <a:endParaRPr lang="ko-KR" altLang="en-US" sz="1000" b="0" u="none" kern="1200" spc="-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617873"/>
                  </a:ext>
                </a:extLst>
              </a:tr>
              <a:tr h="182216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고충처리위원회</a:t>
                      </a:r>
                      <a:endParaRPr lang="ko-KR" altLang="en-US" sz="1000" b="0" kern="1200" spc="-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고충처리시스템 운영 </a:t>
                      </a:r>
                      <a:endParaRPr lang="ko-KR" altLang="en-US" sz="1000" b="0" kern="1200" spc="-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000" b="0" u="none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중</a:t>
                      </a:r>
                      <a:endParaRPr lang="ko-KR" altLang="en-US" sz="1000" b="0" u="none" kern="1200" spc="-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882893"/>
                  </a:ext>
                </a:extLst>
              </a:tr>
              <a:tr h="182216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연차촉진제</a:t>
                      </a:r>
                      <a:endParaRPr lang="ko-KR" altLang="en-US" sz="1000" b="0" kern="1200" spc="-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정당한 노무수령거부 조치 실시</a:t>
                      </a:r>
                      <a:endParaRPr lang="ko-KR" altLang="en-US" sz="1000" b="0" kern="1200" spc="-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000" b="0" u="none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저</a:t>
                      </a:r>
                      <a:endParaRPr lang="ko-KR" altLang="en-US" sz="1000" b="0" u="none" kern="1200" spc="-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5207227"/>
                  </a:ext>
                </a:extLst>
              </a:tr>
              <a:tr h="182216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고정</a:t>
                      </a:r>
                      <a:r>
                        <a:rPr lang="en-US" altLang="ko-KR" sz="1000" b="0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OT</a:t>
                      </a:r>
                      <a:endParaRPr lang="ko-KR" altLang="en-US" sz="1000" b="0" kern="1200" spc="-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000" b="0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당사 포괄임금제 미운영 </a:t>
                      </a:r>
                      <a:endParaRPr lang="ko-KR" altLang="en-US" sz="1000" b="0" kern="1200" spc="-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000" b="0" u="none" kern="1200" spc="-5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저</a:t>
                      </a:r>
                      <a:endParaRPr lang="ko-KR" altLang="en-US" sz="1000" b="0" u="none" kern="1200" spc="-5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052452"/>
                  </a:ext>
                </a:extLst>
              </a:tr>
            </a:tbl>
          </a:graphicData>
        </a:graphic>
      </p:graphicFrame>
      <p:sp>
        <p:nvSpPr>
          <p:cNvPr id="26" name="TextBox 5">
            <a:extLst>
              <a:ext uri="{FF2B5EF4-FFF2-40B4-BE49-F238E27FC236}">
                <a16:creationId xmlns:a16="http://schemas.microsoft.com/office/drawing/2014/main" id="{81D54F4C-1273-2884-D4BE-562FFC3E2FD7}"/>
              </a:ext>
            </a:extLst>
          </p:cNvPr>
          <p:cNvSpPr txBox="1"/>
          <p:nvPr/>
        </p:nvSpPr>
        <p:spPr>
          <a:xfrm>
            <a:off x="5629427" y="2670904"/>
            <a:ext cx="3367774" cy="51443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indent="-92075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 2" panose="05020102010507070707" pitchFamily="18" charset="2"/>
              <a:buChar char="R"/>
              <a:defRPr/>
            </a:pP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사무노조와의 건전한 파트너십 형성을 위한</a:t>
            </a:r>
            <a:b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소통활동 강화 </a:t>
            </a:r>
            <a:endParaRPr lang="en-US" altLang="ko-KR" sz="1200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BE30BCC-50BA-E088-E2D8-4F2AAFFFD7F4}"/>
              </a:ext>
            </a:extLst>
          </p:cNvPr>
          <p:cNvCxnSpPr>
            <a:cxnSpLocks/>
          </p:cNvCxnSpPr>
          <p:nvPr/>
        </p:nvCxnSpPr>
        <p:spPr>
          <a:xfrm>
            <a:off x="1509495" y="3555661"/>
            <a:ext cx="74570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1CC492D-8130-D5AA-F06F-2A6C29917068}"/>
              </a:ext>
            </a:extLst>
          </p:cNvPr>
          <p:cNvSpPr txBox="1"/>
          <p:nvPr/>
        </p:nvSpPr>
        <p:spPr>
          <a:xfrm>
            <a:off x="202841" y="150290"/>
            <a:ext cx="296656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7800" indent="-177800">
              <a:buFont typeface="+mj-lt"/>
              <a:buAutoNum type="romanUcPeriod" startAt="3"/>
            </a:pP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추진과제 및 대응방향  </a:t>
            </a:r>
            <a:endParaRPr lang="en-US" altLang="ko-KR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229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6333940" y="181068"/>
            <a:ext cx="3284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③ 사무노조</a:t>
            </a: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8A8290E-2BC7-AD4E-DD16-65F660661A71}"/>
              </a:ext>
            </a:extLst>
          </p:cNvPr>
          <p:cNvGrpSpPr/>
          <p:nvPr/>
        </p:nvGrpSpPr>
        <p:grpSpPr>
          <a:xfrm>
            <a:off x="1850159" y="1000122"/>
            <a:ext cx="3034716" cy="308881"/>
            <a:chOff x="1270445" y="1000122"/>
            <a:chExt cx="3034716" cy="308881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F4088B6-0AB2-44A4-D7E8-612754DD4239}"/>
                </a:ext>
              </a:extLst>
            </p:cNvPr>
            <p:cNvSpPr/>
            <p:nvPr/>
          </p:nvSpPr>
          <p:spPr>
            <a:xfrm>
              <a:off x="2117018" y="1000122"/>
              <a:ext cx="1368960" cy="30888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300" b="1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현황 및 이슈 </a:t>
              </a:r>
              <a:endPara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FE3A47DD-A15B-6EA4-9715-4A479CBB0B0E}"/>
                </a:ext>
              </a:extLst>
            </p:cNvPr>
            <p:cNvCxnSpPr>
              <a:cxnSpLocks/>
            </p:cNvCxnSpPr>
            <p:nvPr/>
          </p:nvCxnSpPr>
          <p:spPr>
            <a:xfrm>
              <a:off x="1270445" y="1289224"/>
              <a:ext cx="3034716" cy="0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AutoShape 1603">
            <a:extLst>
              <a:ext uri="{FF2B5EF4-FFF2-40B4-BE49-F238E27FC236}">
                <a16:creationId xmlns:a16="http://schemas.microsoft.com/office/drawing/2014/main" id="{1B651275-FA5A-33B7-2EA0-DC92302FA34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39743" y="2601482"/>
            <a:ext cx="1965450" cy="286519"/>
          </a:xfrm>
          <a:prstGeom prst="triangle">
            <a:avLst>
              <a:gd name="adj" fmla="val 50780"/>
            </a:avLst>
          </a:prstGeom>
          <a:gradFill rotWithShape="1">
            <a:gsLst>
              <a:gs pos="0">
                <a:srgbClr val="777777"/>
              </a:gs>
              <a:gs pos="100000">
                <a:schemeClr val="bg1"/>
              </a:gs>
            </a:gsLst>
            <a:lin ang="5400000" scaled="1"/>
          </a:gradFill>
          <a:ln w="19050" algn="ctr">
            <a:noFill/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endParaRPr lang="ko-KR" altLang="en-US" sz="1200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3F6CCDA-A1C9-CD28-BF3A-E28D315F75ED}"/>
              </a:ext>
            </a:extLst>
          </p:cNvPr>
          <p:cNvGrpSpPr/>
          <p:nvPr/>
        </p:nvGrpSpPr>
        <p:grpSpPr>
          <a:xfrm>
            <a:off x="5606302" y="1000122"/>
            <a:ext cx="3687470" cy="308881"/>
            <a:chOff x="5150413" y="1000122"/>
            <a:chExt cx="3034716" cy="308881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A0B9AB7-EF2B-A2BE-AA31-59320D6C9328}"/>
                </a:ext>
              </a:extLst>
            </p:cNvPr>
            <p:cNvSpPr/>
            <p:nvPr/>
          </p:nvSpPr>
          <p:spPr>
            <a:xfrm>
              <a:off x="6026851" y="1000122"/>
              <a:ext cx="1368960" cy="30888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300" b="1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대응방향</a:t>
              </a:r>
              <a:endPara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100F9C82-B00C-4980-7CC9-BDF425AD748B}"/>
                </a:ext>
              </a:extLst>
            </p:cNvPr>
            <p:cNvCxnSpPr>
              <a:cxnSpLocks/>
            </p:cNvCxnSpPr>
            <p:nvPr/>
          </p:nvCxnSpPr>
          <p:spPr>
            <a:xfrm>
              <a:off x="5150413" y="1289224"/>
              <a:ext cx="3034716" cy="0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EC8C1DFE-8BFE-2F6F-7896-D95E07DCC863}"/>
              </a:ext>
            </a:extLst>
          </p:cNvPr>
          <p:cNvGrpSpPr/>
          <p:nvPr/>
        </p:nvGrpSpPr>
        <p:grpSpPr>
          <a:xfrm>
            <a:off x="469915" y="1732005"/>
            <a:ext cx="1010575" cy="794218"/>
            <a:chOff x="14026" y="1673769"/>
            <a:chExt cx="1010575" cy="52989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FD5E8C0-882B-69FF-44DF-80882748EB11}"/>
                </a:ext>
              </a:extLst>
            </p:cNvPr>
            <p:cNvSpPr txBox="1"/>
            <p:nvPr/>
          </p:nvSpPr>
          <p:spPr>
            <a:xfrm>
              <a:off x="14026" y="1693352"/>
              <a:ext cx="1010575" cy="446276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120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신설노조 </a:t>
              </a:r>
              <a:br>
                <a:rPr kumimoji="0" lang="en-US" altLang="ko-KR" sz="1300" b="1" i="0" u="none" strike="noStrike" kern="120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</a:br>
              <a:r>
                <a:rPr kumimoji="0" lang="ko-KR" altLang="en-US" sz="1300" b="1" i="0" u="none" strike="noStrike" kern="120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설립 시 </a:t>
              </a:r>
              <a:br>
                <a:rPr kumimoji="0" lang="en-US" altLang="ko-KR" sz="1300" b="1" i="0" u="none" strike="noStrike" kern="120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</a:br>
              <a:r>
                <a:rPr kumimoji="0" lang="ko-KR" altLang="en-US" sz="1300" b="1" i="0" u="none" strike="noStrike" kern="120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대응방안</a:t>
              </a:r>
              <a:endParaRPr kumimoji="0" lang="ko-KR" altLang="en-US" sz="13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B385C2A-0C36-5365-2554-AAB4D707B1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3857" y="1673769"/>
              <a:ext cx="881" cy="529899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A8D6D1DF-17A4-74E5-B314-CF3FCF455425}"/>
              </a:ext>
            </a:extLst>
          </p:cNvPr>
          <p:cNvGrpSpPr/>
          <p:nvPr/>
        </p:nvGrpSpPr>
        <p:grpSpPr>
          <a:xfrm>
            <a:off x="469034" y="4364173"/>
            <a:ext cx="1010575" cy="888070"/>
            <a:chOff x="14026" y="1671138"/>
            <a:chExt cx="1010575" cy="65339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FD8A909-8B67-428B-2850-7465DEE6EDD8}"/>
                </a:ext>
              </a:extLst>
            </p:cNvPr>
            <p:cNvSpPr txBox="1"/>
            <p:nvPr/>
          </p:nvSpPr>
          <p:spPr>
            <a:xfrm>
              <a:off x="14026" y="1671138"/>
              <a:ext cx="1010575" cy="653391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120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과반수노조 </a:t>
              </a:r>
              <a:br>
                <a:rPr kumimoji="0" lang="en-US" altLang="ko-KR" sz="1300" b="1" i="0" u="none" strike="noStrike" kern="120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</a:br>
              <a:r>
                <a:rPr kumimoji="0" lang="ko-KR" altLang="en-US" sz="1300" b="1" i="0" u="none" strike="noStrike" kern="120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출범 시 </a:t>
              </a:r>
              <a:br>
                <a:rPr kumimoji="0" lang="en-US" altLang="ko-KR" sz="1300" b="1" i="0" u="none" strike="noStrike" kern="120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</a:br>
              <a:r>
                <a:rPr kumimoji="0" lang="ko-KR" altLang="en-US" sz="1300" b="1" i="0" u="none" strike="noStrike" kern="120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대응전략</a:t>
              </a:r>
              <a:endParaRPr kumimoji="0" lang="ko-KR" altLang="en-US" sz="13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41CDC0AA-D65A-7FB6-5383-D1EE483488E9}"/>
                </a:ext>
              </a:extLst>
            </p:cNvPr>
            <p:cNvCxnSpPr>
              <a:cxnSpLocks/>
            </p:cNvCxnSpPr>
            <p:nvPr/>
          </p:nvCxnSpPr>
          <p:spPr>
            <a:xfrm>
              <a:off x="964738" y="1673769"/>
              <a:ext cx="0" cy="650760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AutoShape 1603">
            <a:extLst>
              <a:ext uri="{FF2B5EF4-FFF2-40B4-BE49-F238E27FC236}">
                <a16:creationId xmlns:a16="http://schemas.microsoft.com/office/drawing/2014/main" id="{25568D6B-DBF9-216C-B101-B2F63980E26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32123" y="4895352"/>
            <a:ext cx="1965450" cy="260472"/>
          </a:xfrm>
          <a:prstGeom prst="triangle">
            <a:avLst>
              <a:gd name="adj" fmla="val 50780"/>
            </a:avLst>
          </a:prstGeom>
          <a:gradFill rotWithShape="1">
            <a:gsLst>
              <a:gs pos="0">
                <a:srgbClr val="777777"/>
              </a:gs>
              <a:gs pos="100000">
                <a:schemeClr val="bg1"/>
              </a:gs>
            </a:gsLst>
            <a:lin ang="5400000" scaled="1"/>
          </a:gradFill>
          <a:ln w="19050" algn="ctr">
            <a:noFill/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endParaRPr lang="ko-KR" altLang="en-US" sz="1200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181B8FD4-F6F9-F568-02C8-799C4339AFDA}"/>
              </a:ext>
            </a:extLst>
          </p:cNvPr>
          <p:cNvSpPr txBox="1"/>
          <p:nvPr/>
        </p:nvSpPr>
        <p:spPr>
          <a:xfrm>
            <a:off x="1604722" y="1655815"/>
            <a:ext cx="3639752" cy="222336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indent="-92075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 사무노조의 설립배경은 </a:t>
            </a:r>
            <a:r>
              <a:rPr lang="ko-KR" altLang="en-US" sz="1200" b="1" kern="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성과급 등 </a:t>
            </a:r>
            <a:r>
              <a:rPr lang="ko-KR" altLang="en-US" sz="1200" b="1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사무직 공통의 이슈가 요인으로 작용한 것이 아닌</a:t>
            </a:r>
            <a:r>
              <a:rPr lang="en-US" altLang="ko-KR" sz="1200" b="1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인적사유</a:t>
            </a:r>
            <a:r>
              <a:rPr lang="en-US" altLang="ko-KR" sz="1200" b="1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ko-KR" altLang="en-US" sz="1200" b="1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면직책</a:t>
            </a:r>
            <a:r>
              <a:rPr lang="en-US" altLang="ko-KR" sz="1200" b="1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br>
              <a:rPr lang="en-US" altLang="ko-KR" sz="1200" b="1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ko-KR" altLang="en-US" sz="1200" b="1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가 크게 작용하였음 </a:t>
            </a:r>
            <a:br>
              <a:rPr lang="en-US" altLang="ko-KR" sz="1200" b="1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20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* </a:t>
            </a:r>
            <a:r>
              <a:rPr lang="ko-KR" altLang="en-US" sz="120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초기 설립자 </a:t>
            </a:r>
            <a:r>
              <a:rPr lang="en-US" altLang="ko-KR" sz="120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</a:t>
            </a:r>
            <a:r>
              <a:rPr lang="ko-KR" altLang="en-US" sz="120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면직책 팀장</a:t>
            </a:r>
            <a:r>
              <a:rPr lang="en-US" altLang="ko-KR" sz="120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(’63</a:t>
            </a:r>
            <a:r>
              <a:rPr lang="ko-KR" altLang="en-US" sz="120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년生</a:t>
            </a:r>
            <a:r>
              <a:rPr lang="en-US" altLang="ko-KR" sz="120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현재 퇴직</a:t>
            </a:r>
            <a:r>
              <a:rPr lang="en-US" altLang="ko-KR" sz="120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</a:p>
          <a:p>
            <a:pPr marL="92075" indent="-92075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200" b="1" kern="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b="1" kern="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또한 현장출신인 </a:t>
            </a:r>
            <a:r>
              <a:rPr lang="en-US" altLang="ko-KR" sz="1200" b="1" kern="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200" b="1" kern="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실장</a:t>
            </a:r>
            <a:r>
              <a:rPr lang="en-US" altLang="ko-KR" sz="1200" b="1" kern="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200" b="1" kern="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들이 주도세력이라는 여론이 </a:t>
            </a:r>
            <a:br>
              <a:rPr lang="en-US" altLang="ko-KR" sz="1200" b="1" kern="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200" b="1" kern="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b="1" kern="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이어져 사무노조 주체의 적격성 이슈가 있음</a:t>
            </a:r>
            <a:endParaRPr lang="en-US" altLang="ko-KR" sz="1200" b="1" kern="0" spc="-50">
              <a:solidFill>
                <a:prstClr val="black"/>
              </a:solidFill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92075" indent="-92075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200" b="1" kern="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b="1" kern="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최근 현장노조의 리더십 약화 </a:t>
            </a:r>
            <a:r>
              <a:rPr lang="en-US" altLang="ko-KR" sz="1200" b="1" kern="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 b="1" kern="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삼성전자 사례 등에 </a:t>
            </a:r>
            <a:br>
              <a:rPr lang="en-US" altLang="ko-KR" sz="1200" b="1" kern="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200" b="1" kern="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b="1" kern="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의해 사무</a:t>
            </a:r>
            <a:r>
              <a:rPr lang="en-US" altLang="ko-KR" sz="1200" b="1" kern="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</a:t>
            </a:r>
            <a:r>
              <a:rPr lang="ko-KR" altLang="en-US" sz="1200" b="1" kern="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현장 통합노조 결성에 대한 구성원 여론이   </a:t>
            </a:r>
            <a:br>
              <a:rPr lang="en-US" altLang="ko-KR" sz="1200" b="1" kern="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200" b="1" kern="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b="1" kern="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포착됨</a:t>
            </a:r>
            <a:r>
              <a:rPr lang="en-US" altLang="ko-KR" sz="1200" b="1" kern="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(BL</a:t>
            </a:r>
            <a:r>
              <a:rPr lang="ko-KR" altLang="en-US" sz="1200" b="1" kern="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앱</a:t>
            </a:r>
            <a:r>
              <a:rPr lang="en-US" altLang="ko-KR" sz="1200" b="1" kern="0" spc="-50">
                <a:solidFill>
                  <a:prstClr val="black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 </a:t>
            </a:r>
            <a:endParaRPr lang="en-US" altLang="ko-KR" sz="1200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AutoShape 1603">
            <a:extLst>
              <a:ext uri="{FF2B5EF4-FFF2-40B4-BE49-F238E27FC236}">
                <a16:creationId xmlns:a16="http://schemas.microsoft.com/office/drawing/2014/main" id="{4674B0E3-0F01-4FDF-126D-F164D894677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52767" y="4947018"/>
            <a:ext cx="1965450" cy="260472"/>
          </a:xfrm>
          <a:prstGeom prst="triangle">
            <a:avLst>
              <a:gd name="adj" fmla="val 50780"/>
            </a:avLst>
          </a:prstGeom>
          <a:gradFill rotWithShape="1">
            <a:gsLst>
              <a:gs pos="0">
                <a:srgbClr val="777777"/>
              </a:gs>
              <a:gs pos="100000">
                <a:schemeClr val="bg1"/>
              </a:gs>
            </a:gsLst>
            <a:lin ang="5400000" scaled="1"/>
          </a:gradFill>
          <a:ln w="19050" algn="ctr">
            <a:noFill/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endParaRPr lang="ko-KR" altLang="en-US" sz="1200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901AE93A-E4F5-BE2B-501E-B6A45E70B90D}"/>
              </a:ext>
            </a:extLst>
          </p:cNvPr>
          <p:cNvSpPr txBox="1"/>
          <p:nvPr/>
        </p:nvSpPr>
        <p:spPr>
          <a:xfrm>
            <a:off x="5653074" y="1679150"/>
            <a:ext cx="3367774" cy="12600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indent="-92075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 2" panose="05020102010507070707" pitchFamily="18" charset="2"/>
              <a:buChar char="R"/>
              <a:defRPr/>
            </a:pP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신설노조 설립 시 대응방안 수립 </a:t>
            </a:r>
            <a:b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- 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조직화 대응 매뉴얼 수정보완</a:t>
            </a:r>
            <a:b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(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징후 포착 → 초기 노조 대응 → 노사관계 구축</a:t>
            </a: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  <a:p>
            <a:pPr marL="92075" indent="-92075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 2" panose="05020102010507070707" pitchFamily="18" charset="2"/>
              <a:buChar char="R"/>
              <a:defRPr/>
            </a:pP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통합노조 출범 시 대응 매뉴얼 구축 </a:t>
            </a:r>
            <a:b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-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조합활동</a:t>
            </a: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단체교섭</a:t>
            </a: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노동부 대응</a:t>
            </a: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쟁의행위 등</a:t>
            </a:r>
            <a:endParaRPr lang="en-US" altLang="ko-KR" sz="1200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598D68D3-2812-B211-D864-B8067A30F5BB}"/>
              </a:ext>
            </a:extLst>
          </p:cNvPr>
          <p:cNvSpPr txBox="1"/>
          <p:nvPr/>
        </p:nvSpPr>
        <p:spPr>
          <a:xfrm>
            <a:off x="5637833" y="4316424"/>
            <a:ext cx="4348690" cy="14816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indent="-92075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 2" panose="05020102010507070707" pitchFamily="18" charset="2"/>
              <a:buChar char="R"/>
              <a:defRPr/>
            </a:pP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사무직 교섭대표노조 관련 대응  </a:t>
            </a:r>
            <a:b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- 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교섭창구단일화 과정에서 노조 이의신청 가능    </a:t>
            </a:r>
            <a:b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(LG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생건 사례 </a:t>
            </a: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B/M 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통해 대응안 선 수립</a:t>
            </a: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en-US" altLang="ko-KR" sz="1200" b="1" kern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92075" indent="-92075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 2" panose="05020102010507070707" pitchFamily="18" charset="2"/>
              <a:buChar char="R"/>
              <a:defRPr/>
            </a:pP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전략적 교섭형태 검토</a:t>
            </a:r>
            <a:b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현장노조를 통한 개별교섭 유도 </a:t>
            </a: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or 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창구단일화 </a:t>
            </a:r>
            <a:b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(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교섭시기 및 조기타결 가능성 등을 고려한 전략적 선택 필요</a:t>
            </a: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lang="en-US" altLang="ko-KR" sz="1200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" name="TextBox 5">
            <a:extLst>
              <a:ext uri="{FF2B5EF4-FFF2-40B4-BE49-F238E27FC236}">
                <a16:creationId xmlns:a16="http://schemas.microsoft.com/office/drawing/2014/main" id="{68492283-8682-B55F-74C6-6DAD609A1E11}"/>
              </a:ext>
            </a:extLst>
          </p:cNvPr>
          <p:cNvSpPr txBox="1"/>
          <p:nvPr/>
        </p:nvSpPr>
        <p:spPr>
          <a:xfrm>
            <a:off x="1565504" y="4315249"/>
            <a:ext cx="3639752" cy="192475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indent="-92075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조직 인적 구성이 사무직 절대우위에 따라 </a:t>
            </a:r>
            <a:b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사무직 공통 이슈 발생 시</a:t>
            </a: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조합원수의 비약적인 </a:t>
            </a:r>
            <a:b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증가 가능함</a:t>
            </a:r>
            <a:b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- ’26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 </a:t>
            </a: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2K Project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를 시작으로 주요 이벤트 발생 시 </a:t>
            </a:r>
            <a:b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</a:t>
            </a:r>
            <a:r>
              <a:rPr lang="ko-KR" altLang="en-US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적극적인 세력 확대 활동 가능성 증가 </a:t>
            </a:r>
            <a:endParaRPr lang="en-US" altLang="ko-KR" sz="1200" kern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92075" indent="-92075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2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현장직의 자연적인 인원 감소</a:t>
            </a: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신규채용 없음</a:t>
            </a: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  </a:t>
            </a:r>
            <a:b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계약직 증가</a:t>
            </a: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 따라 장기적으로는 사무노조가 </a:t>
            </a:r>
            <a:b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과반노조 가능성 높음</a:t>
            </a:r>
            <a:endParaRPr lang="en-US" altLang="ko-KR" sz="1200" b="1" kern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094FF2D0-7108-796B-B8FA-E1370835F8E9}"/>
              </a:ext>
            </a:extLst>
          </p:cNvPr>
          <p:cNvCxnSpPr>
            <a:cxnSpLocks/>
          </p:cNvCxnSpPr>
          <p:nvPr/>
        </p:nvCxnSpPr>
        <p:spPr>
          <a:xfrm>
            <a:off x="1620220" y="3995169"/>
            <a:ext cx="74570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68E8D1E-5D4F-5328-19E4-E8D6A42F8766}"/>
              </a:ext>
            </a:extLst>
          </p:cNvPr>
          <p:cNvSpPr txBox="1"/>
          <p:nvPr/>
        </p:nvSpPr>
        <p:spPr>
          <a:xfrm>
            <a:off x="202841" y="150290"/>
            <a:ext cx="296656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7800" indent="-177800">
              <a:buFont typeface="+mj-lt"/>
              <a:buAutoNum type="romanUcPeriod" startAt="3"/>
            </a:pP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추진과제 및 대응방향  </a:t>
            </a:r>
            <a:endParaRPr lang="en-US" altLang="ko-KR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6163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6333940" y="181068"/>
            <a:ext cx="3284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④ 사무직 노경관리</a:t>
            </a: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F4088B6-0AB2-44A4-D7E8-612754DD4239}"/>
              </a:ext>
            </a:extLst>
          </p:cNvPr>
          <p:cNvSpPr/>
          <p:nvPr/>
        </p:nvSpPr>
        <p:spPr>
          <a:xfrm>
            <a:off x="2590331" y="1000122"/>
            <a:ext cx="1368960" cy="30888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현황 및 이슈 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E3A47DD-A15B-6EA4-9715-4A479CBB0B0E}"/>
              </a:ext>
            </a:extLst>
          </p:cNvPr>
          <p:cNvCxnSpPr>
            <a:cxnSpLocks/>
          </p:cNvCxnSpPr>
          <p:nvPr/>
        </p:nvCxnSpPr>
        <p:spPr>
          <a:xfrm>
            <a:off x="1592022" y="1289224"/>
            <a:ext cx="3338188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utoShape 1603">
            <a:extLst>
              <a:ext uri="{FF2B5EF4-FFF2-40B4-BE49-F238E27FC236}">
                <a16:creationId xmlns:a16="http://schemas.microsoft.com/office/drawing/2014/main" id="{1B651275-FA5A-33B7-2EA0-DC92302FA34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084267" y="3460976"/>
            <a:ext cx="4255325" cy="260472"/>
          </a:xfrm>
          <a:prstGeom prst="triangle">
            <a:avLst>
              <a:gd name="adj" fmla="val 50780"/>
            </a:avLst>
          </a:prstGeom>
          <a:gradFill rotWithShape="1">
            <a:gsLst>
              <a:gs pos="0">
                <a:srgbClr val="777777"/>
              </a:gs>
              <a:gs pos="100000">
                <a:schemeClr val="bg1"/>
              </a:gs>
            </a:gsLst>
            <a:lin ang="5400000" scaled="1"/>
          </a:gradFill>
          <a:ln w="19050" algn="ctr">
            <a:noFill/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endParaRPr lang="ko-KR" altLang="en-US" sz="1200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A0B9AB7-EF2B-A2BE-AA31-59320D6C9328}"/>
              </a:ext>
            </a:extLst>
          </p:cNvPr>
          <p:cNvSpPr/>
          <p:nvPr/>
        </p:nvSpPr>
        <p:spPr>
          <a:xfrm>
            <a:off x="6496354" y="1000122"/>
            <a:ext cx="1368960" cy="30888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대응방향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00F9C82-B00C-4980-7CC9-BDF425AD748B}"/>
              </a:ext>
            </a:extLst>
          </p:cNvPr>
          <p:cNvCxnSpPr>
            <a:cxnSpLocks/>
          </p:cNvCxnSpPr>
          <p:nvPr/>
        </p:nvCxnSpPr>
        <p:spPr>
          <a:xfrm>
            <a:off x="5420555" y="1289224"/>
            <a:ext cx="3338188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D954BB29-F46D-7CF0-2635-426B3B343BA6}"/>
              </a:ext>
            </a:extLst>
          </p:cNvPr>
          <p:cNvGrpSpPr/>
          <p:nvPr/>
        </p:nvGrpSpPr>
        <p:grpSpPr>
          <a:xfrm>
            <a:off x="367590" y="1721955"/>
            <a:ext cx="1010575" cy="926084"/>
            <a:chOff x="40832" y="1664782"/>
            <a:chExt cx="1010575" cy="33689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FB6336B-E5A4-9B46-C826-7C89930789E4}"/>
                </a:ext>
              </a:extLst>
            </p:cNvPr>
            <p:cNvSpPr txBox="1"/>
            <p:nvPr/>
          </p:nvSpPr>
          <p:spPr>
            <a:xfrm>
              <a:off x="40832" y="1691937"/>
              <a:ext cx="1010575" cy="251913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노경관리 </a:t>
              </a:r>
              <a:br>
                <a:rPr lang="en-US" altLang="ko-KR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ko-KR" altLang="en-US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인덱스</a:t>
              </a:r>
              <a:br>
                <a:rPr lang="en-US" altLang="ko-KR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ko-KR" altLang="en-US" sz="1300" b="1" spc="-5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구축 </a:t>
              </a:r>
              <a:endParaRPr kumimoji="0" lang="ko-KR" altLang="en-US" sz="13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74B34517-569A-5C56-A08A-6A9332B10030}"/>
                </a:ext>
              </a:extLst>
            </p:cNvPr>
            <p:cNvCxnSpPr>
              <a:cxnSpLocks/>
            </p:cNvCxnSpPr>
            <p:nvPr/>
          </p:nvCxnSpPr>
          <p:spPr>
            <a:xfrm>
              <a:off x="1010458" y="1664782"/>
              <a:ext cx="0" cy="336890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C40BB61-4F6F-F471-7935-DAAF95084035}"/>
              </a:ext>
            </a:extLst>
          </p:cNvPr>
          <p:cNvSpPr txBox="1"/>
          <p:nvPr/>
        </p:nvSpPr>
        <p:spPr>
          <a:xfrm>
            <a:off x="5420555" y="1705945"/>
            <a:ext cx="3596205" cy="1259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14300" lvl="0" indent="-114300" latinLnBrk="0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 b="1" kern="0" spc="-50">
                <a:solidFill>
                  <a:srgbClr val="000000"/>
                </a:solidFill>
              </a:defRPr>
            </a:lvl1pPr>
          </a:lstStyle>
          <a:p>
            <a:pPr lvl="0" latinLnBrk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Wingdings 2" panose="05020102010507070707" pitchFamily="18" charset="2"/>
              <a:buChar char="R"/>
            </a:pP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서베이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결과 및 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HR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Data 활용</a:t>
            </a:r>
            <a:b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200" b="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서베이</a:t>
            </a:r>
            <a:r>
              <a:rPr lang="ko-KR" altLang="en-US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리더십</a:t>
            </a:r>
            <a:r>
              <a:rPr lang="en-US" altLang="ko-KR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직원경험 </a:t>
            </a:r>
            <a:r>
              <a:rPr lang="en-US" altLang="ko-KR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br>
              <a:rPr lang="en-US" altLang="ko-KR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HR Data : </a:t>
            </a:r>
            <a:r>
              <a:rPr lang="ko-KR" altLang="en-US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근로시간</a:t>
            </a:r>
            <a:r>
              <a:rPr lang="en-US" altLang="ko-KR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실휴가사용율</a:t>
            </a:r>
            <a:r>
              <a:rPr lang="en-US" altLang="ko-KR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소통활동</a:t>
            </a:r>
            <a:r>
              <a:rPr lang="en-US" altLang="ko-KR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200" b="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퇴직률</a:t>
            </a:r>
            <a:br>
              <a:rPr lang="en-US" altLang="ko-KR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         </a:t>
            </a:r>
            <a:r>
              <a:rPr lang="ko-KR" altLang="en-US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징계이력</a:t>
            </a:r>
            <a:r>
              <a:rPr lang="en-US" altLang="ko-KR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등</a:t>
            </a:r>
            <a:endParaRPr lang="en-US" altLang="ko-KR" sz="1200" b="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latinLnBrk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Wingdings 2" panose="05020102010507070707" pitchFamily="18" charset="2"/>
              <a:buChar char="R"/>
            </a:pP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AI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기반 조직별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ER Risk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진단 및 지원 우선순위 도출</a:t>
            </a:r>
            <a:endParaRPr lang="en-US" altLang="ko-KR" sz="12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2EEE6A-26A2-4B35-51EA-6E2B14F5794F}"/>
              </a:ext>
            </a:extLst>
          </p:cNvPr>
          <p:cNvSpPr txBox="1"/>
          <p:nvPr/>
        </p:nvSpPr>
        <p:spPr>
          <a:xfrm>
            <a:off x="1558595" y="1687124"/>
            <a:ext cx="3561050" cy="11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14300" lvl="0" indent="-114300" latinLnBrk="0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 b="1" kern="0" spc="-50">
                <a:solidFill>
                  <a:srgbClr val="000000"/>
                </a:solidFill>
              </a:defRPr>
            </a:lvl1pPr>
          </a:lstStyle>
          <a:p>
            <a:pPr lvl="0" latinLnBrk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조직책임자들에게 조직관리 필요성을 강조하고 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노경마인드를 제고하기 위한 관리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Tool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필요 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→ 정성적 판단이 아닌 객관적 지표에 근거하여 </a:t>
            </a:r>
            <a:b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</a:t>
            </a:r>
            <a:r>
              <a:rPr lang="ko-KR" altLang="en-US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조직의 현 상태를 확인해보고 조직 內 잠재 이슈를 </a:t>
            </a:r>
            <a:b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</a:t>
            </a:r>
            <a:r>
              <a:rPr lang="ko-KR" altLang="en-US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인지하게 만드는 토대</a:t>
            </a:r>
            <a: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조직관리</a:t>
            </a:r>
            <a: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필요성 제고</a:t>
            </a:r>
            <a: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B5F242-DD81-000D-9CAF-C913C3152739}"/>
              </a:ext>
            </a:extLst>
          </p:cNvPr>
          <p:cNvSpPr txBox="1"/>
          <p:nvPr/>
        </p:nvSpPr>
        <p:spPr>
          <a:xfrm>
            <a:off x="1592022" y="3116857"/>
            <a:ext cx="3561050" cy="739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14300" lvl="0" indent="-114300" latinLnBrk="0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 b="1" kern="0" spc="-50">
                <a:solidFill>
                  <a:srgbClr val="000000"/>
                </a:solidFill>
              </a:defRPr>
            </a:lvl1pPr>
          </a:lstStyle>
          <a:p>
            <a:pPr lvl="0" latinLnBrk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HR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지표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근로시간 현황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휴가사용율 등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에 대한 현업 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피드백은 각 사업부별 실시되고 있으나 결과에 대한 공유 外 조직관리 관점에서의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Implication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제공은 부족함 </a:t>
            </a:r>
            <a:endParaRPr lang="en-US" altLang="ko-KR" sz="12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53D0A27-A03B-DE0C-9939-CB7C1EE6EE6F}"/>
              </a:ext>
            </a:extLst>
          </p:cNvPr>
          <p:cNvSpPr/>
          <p:nvPr/>
        </p:nvSpPr>
        <p:spPr>
          <a:xfrm>
            <a:off x="5573980" y="3042197"/>
            <a:ext cx="3893214" cy="2888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900" indent="-88900" defTabSz="457200" latinLnBrk="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200" b="1">
                <a:solidFill>
                  <a:prstClr val="black"/>
                </a:solidFill>
                <a:latin typeface="Arial Narrow"/>
                <a:ea typeface="LG스마트체 Regular"/>
              </a:rPr>
              <a:t> Report </a:t>
            </a:r>
            <a:r>
              <a:rPr lang="ko-KR" altLang="en-US" sz="1200" b="1">
                <a:solidFill>
                  <a:prstClr val="black"/>
                </a:solidFill>
                <a:latin typeface="Arial Narrow"/>
                <a:ea typeface="LG스마트체 Regular"/>
              </a:rPr>
              <a:t>형식으로 조직책임자 </a:t>
            </a:r>
            <a:r>
              <a:rPr lang="en-US" altLang="ko-KR" sz="1200" b="1">
                <a:solidFill>
                  <a:prstClr val="black"/>
                </a:solidFill>
                <a:latin typeface="Arial Narrow"/>
                <a:ea typeface="LG스마트체 Regular"/>
              </a:rPr>
              <a:t>Feedback </a:t>
            </a:r>
            <a:r>
              <a:rPr lang="ko-KR" altLang="en-US" sz="1200" b="1">
                <a:solidFill>
                  <a:prstClr val="black"/>
                </a:solidFill>
                <a:latin typeface="Arial Narrow"/>
                <a:ea typeface="LG스마트체 Regular"/>
              </a:rPr>
              <a:t>실시</a:t>
            </a:r>
            <a:b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  <a:t>- </a:t>
            </a:r>
            <a:r>
              <a:rPr lang="ko-KR" altLang="en-US" sz="1200">
                <a:solidFill>
                  <a:prstClr val="black"/>
                </a:solidFill>
                <a:latin typeface="Arial Narrow"/>
                <a:ea typeface="LG스마트체 Regular"/>
              </a:rPr>
              <a:t>부문담당을 </a:t>
            </a:r>
            <a: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  <a:t>Target</a:t>
            </a:r>
            <a:r>
              <a:rPr lang="ko-KR" altLang="en-US" sz="1200">
                <a:solidFill>
                  <a:prstClr val="black"/>
                </a:solidFill>
                <a:latin typeface="Arial Narrow"/>
                <a:ea typeface="LG스마트체 Regular"/>
              </a:rPr>
              <a:t>으로 하되</a:t>
            </a:r>
            <a: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  <a:t>, </a:t>
            </a:r>
            <a:r>
              <a:rPr lang="ko-KR" altLang="en-US" sz="1200">
                <a:solidFill>
                  <a:prstClr val="black"/>
                </a:solidFill>
                <a:latin typeface="Arial Narrow"/>
                <a:ea typeface="LG스마트체 Regular"/>
              </a:rPr>
              <a:t>필요한 경우 그룹장</a:t>
            </a:r>
            <a: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  <a:t>/</a:t>
            </a:r>
            <a:r>
              <a:rPr lang="ko-KR" altLang="en-US" sz="1200">
                <a:solidFill>
                  <a:prstClr val="black"/>
                </a:solidFill>
                <a:latin typeface="Arial Narrow"/>
                <a:ea typeface="LG스마트체 Regular"/>
              </a:rPr>
              <a:t>센터장    </a:t>
            </a:r>
            <a:b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  <a:t>  </a:t>
            </a:r>
            <a:r>
              <a:rPr lang="ko-KR" altLang="en-US" sz="1200">
                <a:solidFill>
                  <a:prstClr val="black"/>
                </a:solidFill>
                <a:latin typeface="Arial Narrow"/>
                <a:ea typeface="LG스마트체 Regular"/>
              </a:rPr>
              <a:t>보고 여부 검토</a:t>
            </a:r>
            <a:endParaRPr lang="en-US" altLang="ko-KR" sz="120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marL="88900" indent="-88900" defTabSz="457200" latinLnBrk="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200" b="1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1200" b="1">
                <a:solidFill>
                  <a:prstClr val="black"/>
                </a:solidFill>
                <a:latin typeface="Arial Narrow"/>
                <a:ea typeface="LG스마트체 Regular"/>
              </a:rPr>
              <a:t>하위 조직에 대해서는 맞춤형 솔루션 지원 검토</a:t>
            </a:r>
            <a:b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  <a:t>- </a:t>
            </a:r>
            <a:r>
              <a:rPr lang="ko-KR" altLang="en-US" sz="1200">
                <a:solidFill>
                  <a:prstClr val="black"/>
                </a:solidFill>
                <a:latin typeface="Arial Narrow"/>
                <a:ea typeface="LG스마트체 Regular"/>
              </a:rPr>
              <a:t>유관부서와 </a:t>
            </a:r>
            <a: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  <a:t>Co-work</a:t>
            </a:r>
            <a:r>
              <a:rPr lang="ko-KR" altLang="en-US" sz="1200">
                <a:solidFill>
                  <a:prstClr val="black"/>
                </a:solidFill>
                <a:latin typeface="Arial Narrow"/>
                <a:ea typeface="LG스마트체 Regular"/>
              </a:rPr>
              <a:t>하여 지원방안 수립 </a:t>
            </a:r>
            <a:b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  <a:t>  (eg.</a:t>
            </a:r>
            <a:r>
              <a:rPr lang="ko-KR" altLang="en-US" sz="1200">
                <a:solidFill>
                  <a:prstClr val="black"/>
                </a:solidFill>
                <a:latin typeface="Arial Narrow"/>
                <a:ea typeface="LG스마트체 Regular"/>
              </a:rPr>
              <a:t>근로시간 이슈 </a:t>
            </a:r>
            <a: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  <a:t>: </a:t>
            </a:r>
            <a:r>
              <a:rPr lang="ko-KR" altLang="en-US" sz="1200">
                <a:solidFill>
                  <a:prstClr val="black"/>
                </a:solidFill>
                <a:latin typeface="Arial Narrow"/>
                <a:ea typeface="LG스마트체 Regular"/>
              </a:rPr>
              <a:t>인원조정</a:t>
            </a:r>
            <a: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  <a:t>/</a:t>
            </a:r>
            <a:r>
              <a:rPr lang="ko-KR" altLang="en-US" sz="1200">
                <a:solidFill>
                  <a:prstClr val="black"/>
                </a:solidFill>
                <a:latin typeface="Arial Narrow"/>
                <a:ea typeface="LG스마트체 Regular"/>
              </a:rPr>
              <a:t>업무재분배</a:t>
            </a:r>
            <a: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  <a:t>, </a:t>
            </a:r>
            <a:r>
              <a:rPr lang="ko-KR" altLang="en-US" sz="1200">
                <a:solidFill>
                  <a:prstClr val="black"/>
                </a:solidFill>
                <a:latin typeface="Arial Narrow"/>
                <a:ea typeface="LG스마트체 Regular"/>
              </a:rPr>
              <a:t>낭비업무 제거</a:t>
            </a:r>
            <a: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b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  <a:t>        </a:t>
            </a:r>
            <a:r>
              <a:rPr lang="ko-KR" altLang="en-US" sz="1200">
                <a:solidFill>
                  <a:prstClr val="black"/>
                </a:solidFill>
                <a:latin typeface="Arial Narrow"/>
                <a:ea typeface="LG스마트체 Regular"/>
              </a:rPr>
              <a:t>휴가사용율 </a:t>
            </a:r>
            <a: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  <a:t>: </a:t>
            </a:r>
            <a:r>
              <a:rPr lang="ko-KR" altLang="en-US" sz="1200">
                <a:solidFill>
                  <a:prstClr val="black"/>
                </a:solidFill>
                <a:latin typeface="Arial Narrow"/>
                <a:ea typeface="LG스마트체 Regular"/>
              </a:rPr>
              <a:t>휴가사용 장려문화</a:t>
            </a:r>
            <a: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1200">
                <a:solidFill>
                  <a:prstClr val="black"/>
                </a:solidFill>
                <a:latin typeface="Arial Narrow"/>
                <a:ea typeface="LG스마트체 Regular"/>
              </a:rPr>
              <a:t>구축 지원</a:t>
            </a:r>
            <a:b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  <a:t>        </a:t>
            </a:r>
            <a:r>
              <a:rPr lang="ko-KR" altLang="en-US" sz="1200">
                <a:solidFill>
                  <a:prstClr val="black"/>
                </a:solidFill>
                <a:latin typeface="Arial Narrow"/>
                <a:ea typeface="LG스마트체 Regular"/>
              </a:rPr>
              <a:t>조직문화 </a:t>
            </a:r>
            <a: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  <a:t>: </a:t>
            </a:r>
            <a:r>
              <a:rPr lang="ko-KR" altLang="en-US" sz="1200">
                <a:solidFill>
                  <a:prstClr val="black"/>
                </a:solidFill>
                <a:latin typeface="Arial Narrow"/>
                <a:ea typeface="LG스마트체 Regular"/>
              </a:rPr>
              <a:t>조직개발 </a:t>
            </a:r>
            <a: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  <a:t>P/G </a:t>
            </a:r>
            <a:r>
              <a:rPr lang="ko-KR" altLang="en-US" sz="1200">
                <a:solidFill>
                  <a:prstClr val="black"/>
                </a:solidFill>
                <a:latin typeface="Arial Narrow"/>
                <a:ea typeface="LG스마트체 Regular"/>
              </a:rPr>
              <a:t>지원검토 등</a:t>
            </a:r>
            <a: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  <a:t>) </a:t>
            </a:r>
            <a:r>
              <a:rPr lang="ko-KR" altLang="en-US" sz="120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120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1200" b="1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endParaRPr lang="en-US" altLang="ko-KR" sz="1200" b="1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marL="88900" indent="-88900" defTabSz="457200" latinLnBrk="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200" b="1">
                <a:solidFill>
                  <a:prstClr val="black"/>
                </a:solidFill>
                <a:latin typeface="Arial Narrow"/>
                <a:ea typeface="LG스마트체 Regular"/>
              </a:rPr>
              <a:t> Data </a:t>
            </a:r>
            <a:r>
              <a:rPr lang="ko-KR" altLang="en-US" sz="1200" b="1">
                <a:solidFill>
                  <a:prstClr val="black"/>
                </a:solidFill>
                <a:latin typeface="Arial Narrow"/>
                <a:ea typeface="LG스마트체 Regular"/>
              </a:rPr>
              <a:t>축적을 통한 전년대비 증감</a:t>
            </a:r>
            <a:r>
              <a:rPr lang="en-US" altLang="ko-KR" sz="1200" b="1">
                <a:solidFill>
                  <a:prstClr val="black"/>
                </a:solidFill>
                <a:latin typeface="Arial Narrow"/>
                <a:ea typeface="LG스마트체 Regular"/>
              </a:rPr>
              <a:t>(</a:t>
            </a:r>
            <a:r>
              <a:rPr lang="ko-KR" altLang="en-US" sz="1200" b="1">
                <a:solidFill>
                  <a:prstClr val="black"/>
                </a:solidFill>
                <a:latin typeface="Arial Narrow"/>
                <a:ea typeface="LG스마트체 Regular"/>
              </a:rPr>
              <a:t>개선여부</a:t>
            </a:r>
            <a:r>
              <a:rPr lang="en-US" altLang="ko-KR" sz="1200" b="1">
                <a:solidFill>
                  <a:prstClr val="black"/>
                </a:solidFill>
                <a:latin typeface="Arial Narrow"/>
                <a:ea typeface="LG스마트체 Regular"/>
              </a:rPr>
              <a:t>) </a:t>
            </a:r>
            <a:r>
              <a:rPr lang="ko-KR" altLang="en-US" sz="1200" b="1">
                <a:solidFill>
                  <a:prstClr val="black"/>
                </a:solidFill>
                <a:latin typeface="Arial Narrow"/>
                <a:ea typeface="LG스마트체 Regular"/>
              </a:rPr>
              <a:t>파악</a:t>
            </a:r>
            <a:br>
              <a:rPr lang="en-US" altLang="ko-KR" sz="1200" b="1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  <a:t>- </a:t>
            </a:r>
            <a:r>
              <a:rPr lang="ko-KR" altLang="en-US" sz="1200">
                <a:solidFill>
                  <a:prstClr val="black"/>
                </a:solidFill>
                <a:latin typeface="Arial Narrow"/>
                <a:ea typeface="LG스마트체 Regular"/>
              </a:rPr>
              <a:t>전년대비 개선여부를 피드백 양식에 포함</a:t>
            </a:r>
            <a: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  <a:t>, </a:t>
            </a:r>
            <a:r>
              <a:rPr lang="ko-KR" altLang="en-US" sz="1200">
                <a:solidFill>
                  <a:prstClr val="black"/>
                </a:solidFill>
                <a:latin typeface="Arial Narrow"/>
                <a:ea typeface="LG스마트체 Regular"/>
              </a:rPr>
              <a:t>조직문화 개선 </a:t>
            </a:r>
            <a:b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  <a:t>   PG </a:t>
            </a:r>
            <a:r>
              <a:rPr lang="ko-KR" altLang="en-US" sz="1200">
                <a:solidFill>
                  <a:prstClr val="black"/>
                </a:solidFill>
                <a:latin typeface="Arial Narrow"/>
                <a:ea typeface="LG스마트체 Regular"/>
              </a:rPr>
              <a:t>운영 등  </a:t>
            </a:r>
            <a:b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  <a:t>  </a:t>
            </a:r>
            <a:r>
              <a:rPr lang="ko-KR" altLang="en-US" sz="1200">
                <a:solidFill>
                  <a:prstClr val="black"/>
                </a:solidFill>
                <a:latin typeface="Arial Narrow"/>
                <a:ea typeface="LG스마트체 Regular"/>
              </a:rPr>
              <a:t>→ 개선이 미비한 조직은 차상위자 보고  </a:t>
            </a:r>
            <a:r>
              <a:rPr lang="en-US" altLang="ko-KR" sz="120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60FCF5-9D95-BC9D-F812-421EE004AF6C}"/>
              </a:ext>
            </a:extLst>
          </p:cNvPr>
          <p:cNvSpPr txBox="1"/>
          <p:nvPr/>
        </p:nvSpPr>
        <p:spPr>
          <a:xfrm>
            <a:off x="202841" y="150290"/>
            <a:ext cx="296656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7800" indent="-177800">
              <a:buFont typeface="+mj-lt"/>
              <a:buAutoNum type="romanUcPeriod" startAt="3"/>
            </a:pP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추진과제 및 대응방향  </a:t>
            </a:r>
            <a:endParaRPr lang="en-US" altLang="ko-KR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0416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6333940" y="181068"/>
            <a:ext cx="3284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④ 사무직 노경관리</a:t>
            </a: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F4088B6-0AB2-44A4-D7E8-612754DD4239}"/>
              </a:ext>
            </a:extLst>
          </p:cNvPr>
          <p:cNvSpPr/>
          <p:nvPr/>
        </p:nvSpPr>
        <p:spPr>
          <a:xfrm>
            <a:off x="2195123" y="795167"/>
            <a:ext cx="1368960" cy="30888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현황 및 이슈 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E3A47DD-A15B-6EA4-9715-4A479CBB0B0E}"/>
              </a:ext>
            </a:extLst>
          </p:cNvPr>
          <p:cNvCxnSpPr>
            <a:cxnSpLocks/>
          </p:cNvCxnSpPr>
          <p:nvPr/>
        </p:nvCxnSpPr>
        <p:spPr>
          <a:xfrm>
            <a:off x="1196814" y="1084269"/>
            <a:ext cx="3338188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utoShape 1603">
            <a:extLst>
              <a:ext uri="{FF2B5EF4-FFF2-40B4-BE49-F238E27FC236}">
                <a16:creationId xmlns:a16="http://schemas.microsoft.com/office/drawing/2014/main" id="{1B651275-FA5A-33B7-2EA0-DC92302FA34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825304" y="3827245"/>
            <a:ext cx="4634432" cy="260472"/>
          </a:xfrm>
          <a:prstGeom prst="triangle">
            <a:avLst>
              <a:gd name="adj" fmla="val 50780"/>
            </a:avLst>
          </a:prstGeom>
          <a:gradFill rotWithShape="1">
            <a:gsLst>
              <a:gs pos="0">
                <a:srgbClr val="777777"/>
              </a:gs>
              <a:gs pos="100000">
                <a:schemeClr val="bg1"/>
              </a:gs>
            </a:gsLst>
            <a:lin ang="5400000" scaled="1"/>
          </a:gradFill>
          <a:ln w="19050" algn="ctr">
            <a:noFill/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endParaRPr lang="ko-KR" altLang="en-US" sz="1200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A0B9AB7-EF2B-A2BE-AA31-59320D6C9328}"/>
              </a:ext>
            </a:extLst>
          </p:cNvPr>
          <p:cNvSpPr/>
          <p:nvPr/>
        </p:nvSpPr>
        <p:spPr>
          <a:xfrm>
            <a:off x="6716005" y="795167"/>
            <a:ext cx="1368960" cy="30888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대응방향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00F9C82-B00C-4980-7CC9-BDF425AD748B}"/>
              </a:ext>
            </a:extLst>
          </p:cNvPr>
          <p:cNvCxnSpPr>
            <a:cxnSpLocks/>
          </p:cNvCxnSpPr>
          <p:nvPr/>
        </p:nvCxnSpPr>
        <p:spPr>
          <a:xfrm>
            <a:off x="5504827" y="1084269"/>
            <a:ext cx="3672007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DEF5FE1-30AF-D4F6-E7D2-3AD907FCBDED}"/>
              </a:ext>
            </a:extLst>
          </p:cNvPr>
          <p:cNvSpPr txBox="1"/>
          <p:nvPr/>
        </p:nvSpPr>
        <p:spPr>
          <a:xfrm>
            <a:off x="45720" y="1402137"/>
            <a:ext cx="1010575" cy="810171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선제적인 </a:t>
            </a:r>
            <a:br>
              <a:rPr kumimoji="0" lang="en-US" altLang="ko-KR" sz="13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13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근로자대표</a:t>
            </a:r>
            <a:br>
              <a:rPr kumimoji="0" lang="en-US" altLang="ko-KR" sz="13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3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3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노사협의회</a:t>
            </a:r>
            <a:r>
              <a:rPr kumimoji="0" lang="en-US" altLang="ko-KR" sz="13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r>
              <a:rPr kumimoji="0" lang="ko-KR" altLang="en-US" sz="13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br>
              <a:rPr kumimoji="0" lang="en-US" altLang="ko-KR" sz="13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13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선출 검토</a:t>
            </a:r>
            <a:endParaRPr kumimoji="0" lang="ko-KR" altLang="en-US" sz="1300" b="1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09C7BAC-17B0-AAE2-D9EB-2A3E7BCE067E}"/>
              </a:ext>
            </a:extLst>
          </p:cNvPr>
          <p:cNvCxnSpPr>
            <a:cxnSpLocks/>
          </p:cNvCxnSpPr>
          <p:nvPr/>
        </p:nvCxnSpPr>
        <p:spPr>
          <a:xfrm>
            <a:off x="1025007" y="1357371"/>
            <a:ext cx="0" cy="1083467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72BAC8C-D75A-33E5-5D4E-274E7EA1F2CD}"/>
              </a:ext>
            </a:extLst>
          </p:cNvPr>
          <p:cNvSpPr txBox="1"/>
          <p:nvPr/>
        </p:nvSpPr>
        <p:spPr>
          <a:xfrm>
            <a:off x="1116023" y="2388398"/>
            <a:ext cx="3561050" cy="1183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14300" lvl="0" indent="-114300" latinLnBrk="0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 b="1" kern="0" spc="-50">
                <a:solidFill>
                  <a:srgbClr val="000000"/>
                </a:solidFill>
              </a:defRPr>
            </a:lvl1pPr>
          </a:lstStyle>
          <a:p>
            <a:pPr lvl="0" latinLnBrk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당사 근로자대표 이슈 존재  </a:t>
            </a:r>
            <a:b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근로자대표와 서면합의가 필요한 </a:t>
            </a:r>
            <a:r>
              <a:rPr lang="en-US" altLang="ko-KR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HR</a:t>
            </a:r>
            <a:r>
              <a:rPr lang="ko-KR" altLang="en-US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제도</a:t>
            </a:r>
            <a:br>
              <a:rPr lang="en-US" altLang="ko-KR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(</a:t>
            </a:r>
            <a:r>
              <a:rPr lang="ko-KR" altLang="en-US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특히 유연근로제 관련</a:t>
            </a:r>
            <a:r>
              <a:rPr lang="en-US" altLang="ko-KR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절차적 </a:t>
            </a:r>
            <a:r>
              <a:rPr lang="ko-KR" altLang="en-US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정당성 이슈 존재</a:t>
            </a:r>
            <a:br>
              <a:rPr lang="en-US" altLang="ko-KR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향후 유연근무제 추가도입 시 법적 </a:t>
            </a:r>
            <a:r>
              <a:rPr lang="en-US" altLang="ko-KR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Risk </a:t>
            </a:r>
            <a:r>
              <a:rPr lang="ko-KR" altLang="en-US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존재 </a:t>
            </a:r>
            <a:br>
              <a:rPr lang="en-US" altLang="ko-KR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(3</a:t>
            </a:r>
            <a:r>
              <a:rPr lang="ko-KR" altLang="en-US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개월 초과 탄력근로자 또는 </a:t>
            </a:r>
            <a:r>
              <a:rPr lang="en-US" altLang="ko-KR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개월 </a:t>
            </a:r>
            <a:r>
              <a:rPr lang="ko-KR" altLang="en-US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초과 선택근로제</a:t>
            </a:r>
            <a:r>
              <a:rPr lang="en-US" altLang="ko-KR" sz="1200" b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27E2BC-E42C-B410-12C4-D1E81842ACF0}"/>
              </a:ext>
            </a:extLst>
          </p:cNvPr>
          <p:cNvSpPr txBox="1"/>
          <p:nvPr/>
        </p:nvSpPr>
        <p:spPr>
          <a:xfrm>
            <a:off x="1116023" y="3707956"/>
            <a:ext cx="3865668" cy="1626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14300" lvl="0" indent="-114300" latinLnBrk="0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 b="1" kern="0" spc="-50">
                <a:solidFill>
                  <a:srgbClr val="000000"/>
                </a:solidFill>
              </a:defRPr>
            </a:lvl1pPr>
          </a:lstStyle>
          <a:p>
            <a:pPr lvl="0" latinLnBrk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JB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및 노사협의회 모두 법적요건 미충족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현장노조와의 노사협의회만 실시됨에 따라 </a:t>
            </a:r>
            <a:b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r>
              <a:rPr lang="ko-KR" altLang="en-US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법위반</a:t>
            </a:r>
            <a: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노사협의회 미설치</a:t>
            </a:r>
            <a: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이슈 존재 </a:t>
            </a:r>
            <a:b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 *</a:t>
            </a:r>
            <a:r>
              <a:rPr lang="ko-KR" altLang="en-US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현장노조가 과반수노조가 아님에도 불구하고 전사 </a:t>
            </a:r>
            <a:b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</a:t>
            </a:r>
            <a:r>
              <a:rPr lang="ko-KR" altLang="en-US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를 대표하는 노사협의회가 존재하지 않음</a:t>
            </a:r>
            <a:b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JB</a:t>
            </a:r>
            <a:r>
              <a:rPr lang="ko-KR" altLang="en-US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는 사무직이 선출하나 법상 근로자위원 요건은 미충족</a:t>
            </a:r>
            <a:b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 b="0">
                <a:latin typeface="Arial Narrow" panose="020B0606020202030204" pitchFamily="34" charset="0"/>
                <a:ea typeface="LG스마트체 Regular" panose="020B0600000101010101" pitchFamily="50" charset="-127"/>
                <a:sym typeface="Wingdings 3" panose="05040102010807070707" pitchFamily="18" charset="2"/>
              </a:rPr>
              <a:t> </a:t>
            </a:r>
            <a:r>
              <a:rPr lang="ko-KR" altLang="en-US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사무노조 또는 제</a:t>
            </a:r>
            <a: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lang="ko-KR" altLang="en-US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세력의 이슈제기 시 대응논리 미약</a:t>
            </a:r>
            <a:endParaRPr lang="en-US" altLang="ko-KR" sz="1200" b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7C1224-DCAD-B66A-4860-D5F3FAA5ACB9}"/>
              </a:ext>
            </a:extLst>
          </p:cNvPr>
          <p:cNvSpPr txBox="1"/>
          <p:nvPr/>
        </p:nvSpPr>
        <p:spPr>
          <a:xfrm>
            <a:off x="5420701" y="1606279"/>
            <a:ext cx="4854171" cy="162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lnSpc>
                <a:spcPct val="120000"/>
              </a:lnSpc>
              <a:spcBef>
                <a:spcPts val="600"/>
              </a:spcBef>
              <a:buFont typeface="Wingdings 2" panose="05020102010507070707" pitchFamily="18" charset="2"/>
              <a:buChar char="R"/>
              <a:tabLst>
                <a:tab pos="87313" algn="l"/>
              </a:tabLst>
            </a:pPr>
            <a:r>
              <a:rPr lang="ko-KR" altLang="en-US" sz="12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사무노조 이슈제기 전</a:t>
            </a:r>
            <a:r>
              <a:rPr lang="en-US" altLang="ko-KR" sz="12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선제적으로 전사 노사협의회 설치검토</a:t>
            </a:r>
            <a:br>
              <a:rPr lang="en-US" altLang="ko-KR" sz="12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※ </a:t>
            </a:r>
            <a:r>
              <a:rPr lang="ko-KR" altLang="en-US" sz="12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전사 노사협의 설치 </a:t>
            </a:r>
            <a:r>
              <a:rPr lang="en-US" altLang="ko-KR" sz="12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안</a:t>
            </a:r>
            <a:r>
              <a:rPr lang="en-US" altLang="ko-KR" sz="12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br>
              <a:rPr lang="en-US" altLang="ko-KR" sz="12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설치단위 </a:t>
            </a:r>
            <a: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전사  </a:t>
            </a:r>
            <a:b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- </a:t>
            </a:r>
            <a:r>
              <a:rPr lang="ko-KR" altLang="en-US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근로자위원 </a:t>
            </a:r>
            <a: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사무직</a:t>
            </a:r>
            <a: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현장직 모두를 포함하여 선출 절차 진행</a:t>
            </a:r>
            <a:b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                 (</a:t>
            </a:r>
            <a:r>
              <a:rPr lang="ko-KR" altLang="en-US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사업부별 근로자위원 </a:t>
            </a:r>
            <a: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TO </a:t>
            </a:r>
            <a:r>
              <a:rPr lang="ko-KR" altLang="en-US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및 직접</a:t>
            </a:r>
            <a: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·</a:t>
            </a:r>
            <a:r>
              <a:rPr lang="ko-KR" altLang="en-US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비밀</a:t>
            </a:r>
            <a: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·</a:t>
            </a:r>
            <a:r>
              <a:rPr lang="ko-KR" altLang="en-US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무기명 투표</a:t>
            </a:r>
            <a: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b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- </a:t>
            </a:r>
            <a:r>
              <a:rPr lang="ko-KR" altLang="en-US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사용자위원 </a:t>
            </a:r>
            <a: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CHO/</a:t>
            </a:r>
            <a:r>
              <a:rPr lang="ko-KR" altLang="en-US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주재임원</a:t>
            </a:r>
            <a: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인사담당</a:t>
            </a:r>
            <a: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인재육성담당 등 노사동수 추진</a:t>
            </a:r>
            <a:b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                 (</a:t>
            </a:r>
            <a:r>
              <a:rPr lang="ko-KR" altLang="en-US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대표이사가 당연 의장직이나 </a:t>
            </a:r>
            <a: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CHO</a:t>
            </a:r>
            <a:r>
              <a:rPr lang="ko-KR" altLang="en-US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 위임하여 운영</a:t>
            </a:r>
            <a: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EB0326-5E43-AFAD-0CF0-E377F9AD7322}"/>
              </a:ext>
            </a:extLst>
          </p:cNvPr>
          <p:cNvSpPr txBox="1"/>
          <p:nvPr/>
        </p:nvSpPr>
        <p:spPr>
          <a:xfrm>
            <a:off x="5420701" y="3841774"/>
            <a:ext cx="5096434" cy="518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>
              <a:lnSpc>
                <a:spcPct val="120000"/>
              </a:lnSpc>
              <a:buFont typeface="Wingdings 2" panose="05020102010507070707" pitchFamily="18" charset="2"/>
              <a:buChar char="R"/>
            </a:pPr>
            <a:r>
              <a:rPr kumimoji="0" lang="ko-KR" altLang="en-US" sz="12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노사협의회 설치 후 근로자대표 권한 부여 </a:t>
            </a:r>
            <a:r>
              <a:rPr kumimoji="0" lang="en-US" altLang="ko-KR" sz="12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2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법위반  </a:t>
            </a:r>
            <a:r>
              <a:rPr kumimoji="0" lang="en-US" altLang="ko-KR" sz="12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Risk </a:t>
            </a:r>
            <a:r>
              <a:rPr kumimoji="0" lang="ko-KR" altLang="en-US" sz="12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해소</a:t>
            </a:r>
            <a:r>
              <a:rPr kumimoji="0" lang="en-US" altLang="ko-KR" sz="12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br>
              <a:rPr kumimoji="0" lang="en-US" altLang="ko-KR" sz="12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유연근로제 서면합의 절차 변경</a:t>
            </a:r>
            <a:r>
              <a:rPr kumimoji="0" lang="en-US" altLang="ko-KR" sz="1200" b="0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탄력적 근로시간제</a:t>
            </a:r>
            <a:r>
              <a:rPr lang="ko-KR" altLang="en-US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등</a:t>
            </a:r>
            <a:r>
              <a:rPr kumimoji="0" lang="en-US" altLang="ko-KR" sz="1200" b="0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lang="ko-KR" altLang="en-US" sz="1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01CC09-A5E0-E52B-2487-34A97B35E218}"/>
              </a:ext>
            </a:extLst>
          </p:cNvPr>
          <p:cNvSpPr txBox="1"/>
          <p:nvPr/>
        </p:nvSpPr>
        <p:spPr>
          <a:xfrm>
            <a:off x="5420701" y="4775044"/>
            <a:ext cx="4516295" cy="1621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>
              <a:lnSpc>
                <a:spcPct val="120000"/>
              </a:lnSpc>
              <a:spcBef>
                <a:spcPts val="300"/>
              </a:spcBef>
              <a:buFont typeface="Wingdings 2" panose="05020102010507070707" pitchFamily="18" charset="2"/>
              <a:buChar char="R"/>
            </a:pPr>
            <a:r>
              <a:rPr kumimoji="0" lang="ko-KR" altLang="en-US" sz="12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노사협의회의 역할에 맞는 </a:t>
            </a:r>
            <a:r>
              <a:rPr lang="en-US" altLang="ko-KR" sz="12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Contents </a:t>
            </a:r>
            <a:r>
              <a:rPr lang="ko-KR" altLang="en-US" sz="12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논의</a:t>
            </a:r>
            <a:br>
              <a:rPr lang="en-US" altLang="ko-KR" sz="12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2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노사협의회 </a:t>
            </a:r>
            <a:r>
              <a:rPr lang="en-US" altLang="ko-KR" sz="12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Contents </a:t>
            </a:r>
            <a:r>
              <a:rPr lang="ko-KR" altLang="en-US" sz="12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예시</a:t>
            </a:r>
            <a:r>
              <a:rPr kumimoji="0" lang="ko-KR" altLang="en-US" sz="12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br>
              <a:rPr kumimoji="0" lang="en-US" altLang="ko-KR" sz="12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lang="ko-KR" altLang="en-US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구성원 </a:t>
            </a:r>
            <a: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VoE </a:t>
            </a:r>
            <a:r>
              <a:rPr lang="ko-KR" altLang="en-US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수렴에 따른 </a:t>
            </a:r>
            <a: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Pain point </a:t>
            </a:r>
            <a:r>
              <a:rPr lang="ko-KR" altLang="en-US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 </a:t>
            </a:r>
            <a:b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- </a:t>
            </a:r>
            <a:r>
              <a:rPr lang="ko-KR" altLang="en-US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사업장 근무환경 개선 필요사항 논의 </a:t>
            </a:r>
            <a:b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- </a:t>
            </a:r>
            <a:r>
              <a:rPr lang="ko-KR" altLang="en-US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업무효율성 저해요인 개선 논의 </a:t>
            </a:r>
            <a:b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 3" panose="05040102010807070707" pitchFamily="18" charset="2"/>
              </a:rPr>
              <a:t> 임금인상률</a:t>
            </a:r>
            <a: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 3" panose="05040102010807070707" pitchFamily="18" charset="2"/>
              </a:rPr>
              <a:t>, </a:t>
            </a:r>
            <a:r>
              <a:rPr lang="ko-KR" altLang="en-US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 3" panose="05040102010807070707" pitchFamily="18" charset="2"/>
              </a:rPr>
              <a:t>성과급 등이 </a:t>
            </a:r>
            <a: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 3" panose="05040102010807070707" pitchFamily="18" charset="2"/>
              </a:rPr>
              <a:t>Main Agenda</a:t>
            </a:r>
            <a:r>
              <a:rPr lang="ko-KR" altLang="en-US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 3" panose="05040102010807070707" pitchFamily="18" charset="2"/>
              </a:rPr>
              <a:t>가 되지 않도록 선제적 포지셔닝</a:t>
            </a:r>
            <a:b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 3" panose="05040102010807070707" pitchFamily="18" charset="2"/>
              </a:rPr>
            </a:br>
            <a:r>
              <a:rPr lang="en-US" altLang="ko-KR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 3" panose="05040102010807070707" pitchFamily="18" charset="2"/>
              </a:rPr>
              <a:t>      </a:t>
            </a:r>
            <a:r>
              <a:rPr lang="ko-KR" altLang="en-US" sz="120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 3" panose="05040102010807070707" pitchFamily="18" charset="2"/>
              </a:rPr>
              <a:t>필요</a:t>
            </a:r>
            <a:endParaRPr lang="ko-KR" altLang="en-US" sz="1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331570-5D33-A584-A0ED-D041D56A2610}"/>
              </a:ext>
            </a:extLst>
          </p:cNvPr>
          <p:cNvSpPr txBox="1"/>
          <p:nvPr/>
        </p:nvSpPr>
        <p:spPr>
          <a:xfrm>
            <a:off x="5634536" y="3208138"/>
            <a:ext cx="5257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spc="-5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</a:t>
            </a:r>
            <a:r>
              <a:rPr kumimoji="0" lang="ko-KR" altLang="en-US" sz="1100" b="1" i="0" u="none" strike="noStrike" kern="1200" cap="none" spc="-5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오창 노경협의회는</a:t>
            </a:r>
            <a:r>
              <a:rPr kumimoji="0" lang="en-US" altLang="ko-KR" sz="1100" b="1" i="0" u="none" strike="noStrike" kern="1200" cap="none" spc="-5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1" i="0" u="none" strike="noStrike" kern="1200" cap="none" spc="-5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노동조합</a:t>
            </a:r>
            <a:r>
              <a:rPr kumimoji="0" lang="en-US" altLang="ko-KR" sz="1100" b="1" i="0" u="none" strike="noStrike" kern="1200" cap="none" spc="-5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1" i="0" u="none" strike="noStrike" kern="1200" cap="none" spc="-5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및 현장직 정서 고려 현행유지</a:t>
            </a:r>
            <a:endParaRPr lang="ko-KR" altLang="en-US" sz="1600" b="1">
              <a:solidFill>
                <a:srgbClr val="0066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BC2F05-9C7D-4477-8B12-8DA8B83F3867}"/>
              </a:ext>
            </a:extLst>
          </p:cNvPr>
          <p:cNvSpPr txBox="1"/>
          <p:nvPr/>
        </p:nvSpPr>
        <p:spPr>
          <a:xfrm>
            <a:off x="1116023" y="1290439"/>
            <a:ext cx="3561050" cy="961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14300" lvl="0" indent="-114300" latinLnBrk="0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 b="1" kern="0" spc="-50">
                <a:solidFill>
                  <a:srgbClr val="000000"/>
                </a:solidFill>
              </a:defRPr>
            </a:lvl1pPr>
          </a:lstStyle>
          <a:p>
            <a:pPr lvl="0" latinLnBrk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사무노조 조합원 확대 시 노사협의회 이슈제기 및 근로자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위원 출범 가능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LG</a:t>
            </a:r>
            <a:r>
              <a:rPr lang="ko-KR" altLang="en-US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전자 </a:t>
            </a:r>
            <a: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근로자위원 </a:t>
            </a:r>
            <a: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7</a:t>
            </a:r>
            <a:r>
              <a:rPr lang="ko-KR" altLang="en-US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명 中 </a:t>
            </a:r>
            <a: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5</a:t>
            </a:r>
            <a:r>
              <a:rPr lang="ko-KR" altLang="en-US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명 사무노조</a:t>
            </a:r>
            <a: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b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LG</a:t>
            </a:r>
            <a:r>
              <a:rPr lang="ko-KR" altLang="en-US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생건 </a:t>
            </a:r>
            <a: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근로자위원 </a:t>
            </a:r>
            <a: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8</a:t>
            </a:r>
            <a:r>
              <a:rPr lang="ko-KR" altLang="en-US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명 中 </a:t>
            </a:r>
            <a: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7</a:t>
            </a:r>
            <a:r>
              <a:rPr lang="ko-KR" altLang="en-US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명 사무노조</a:t>
            </a:r>
            <a:r>
              <a:rPr lang="en-US" altLang="ko-KR" sz="1200" b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975EAC-33C3-5BA9-C613-E4423BD65CFC}"/>
              </a:ext>
            </a:extLst>
          </p:cNvPr>
          <p:cNvSpPr txBox="1"/>
          <p:nvPr/>
        </p:nvSpPr>
        <p:spPr>
          <a:xfrm>
            <a:off x="1116023" y="5455857"/>
            <a:ext cx="5417820" cy="961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현재 사무노조는 소수노조로서 회사와의 교섭권 확보는 </a:t>
            </a:r>
            <a:b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불가한 상황이나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공식적인 소통 채널 확보를 통해 이슈</a:t>
            </a:r>
            <a:b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제기 및 세 확산을 위한 여론 형성을 주도할 </a:t>
            </a:r>
            <a:r>
              <a:rPr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유인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 존재함</a:t>
            </a:r>
            <a:b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 3" panose="05040102010807070707" pitchFamily="18" charset="2"/>
              </a:rPr>
              <a:t> 사무노조 견제 가능여부 검토 필요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217BE4-9579-1F09-CCB3-DEDCA71CCDF2}"/>
              </a:ext>
            </a:extLst>
          </p:cNvPr>
          <p:cNvSpPr txBox="1"/>
          <p:nvPr/>
        </p:nvSpPr>
        <p:spPr>
          <a:xfrm>
            <a:off x="202841" y="150290"/>
            <a:ext cx="296656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7800" indent="-177800">
              <a:buFont typeface="+mj-lt"/>
              <a:buAutoNum type="romanUcPeriod" startAt="3"/>
            </a:pP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추진과제 및 대응방향  </a:t>
            </a:r>
            <a:endParaRPr lang="en-US" altLang="ko-KR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EBC874-A344-ADF6-12FE-AF82DEEBB920}"/>
              </a:ext>
            </a:extLst>
          </p:cNvPr>
          <p:cNvSpPr txBox="1"/>
          <p:nvPr/>
        </p:nvSpPr>
        <p:spPr>
          <a:xfrm>
            <a:off x="5634536" y="1168913"/>
            <a:ext cx="4026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u="sng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“</a:t>
            </a:r>
            <a:r>
              <a:rPr lang="ko-KR" altLang="en-US" sz="1200" b="1" u="sng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사무노조 조합원이 </a:t>
            </a:r>
            <a:r>
              <a:rPr lang="en-US" altLang="ko-KR" sz="1200" b="1" u="sng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1,000</a:t>
            </a:r>
            <a:r>
              <a:rPr lang="ko-KR" altLang="en-US" sz="1200" b="1" u="sng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명 이상으로 증가할 경우 검토</a:t>
            </a:r>
            <a:r>
              <a:rPr lang="en-US" altLang="ko-KR" sz="1200" b="1" u="sng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”</a:t>
            </a:r>
            <a:r>
              <a:rPr lang="ko-KR" altLang="en-US" sz="1200" b="1" u="sng"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  </a:t>
            </a:r>
            <a:endParaRPr lang="en-US" altLang="ko-KR" sz="1200" b="1" u="sng" dirty="0"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095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4880180" y="181068"/>
            <a:ext cx="4738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⑤ 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과제 개요</a:t>
            </a: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9" name="오각형 54">
            <a:extLst>
              <a:ext uri="{FF2B5EF4-FFF2-40B4-BE49-F238E27FC236}">
                <a16:creationId xmlns:a16="http://schemas.microsoft.com/office/drawing/2014/main" id="{50DA4466-5567-A519-88C0-5D955386828B}"/>
              </a:ext>
            </a:extLst>
          </p:cNvPr>
          <p:cNvSpPr/>
          <p:nvPr/>
        </p:nvSpPr>
        <p:spPr bwMode="auto">
          <a:xfrm>
            <a:off x="631825" y="1052512"/>
            <a:ext cx="2700000" cy="576263"/>
          </a:xfrm>
          <a:prstGeom prst="homePlate">
            <a:avLst>
              <a:gd name="adj" fmla="val 33867"/>
            </a:avLst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29" tIns="45715" rIns="91429" bIns="45715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96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377" algn="l"/>
              </a:tabLst>
              <a:defRPr/>
            </a:pPr>
            <a:r>
              <a:rPr kumimoji="0" lang="en-US" altLang="ko-KR" sz="13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Phase Ⅰ. </a:t>
            </a:r>
            <a:r>
              <a:rPr kumimoji="0" lang="ko-KR" altLang="en-US" sz="13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기반 구축</a:t>
            </a:r>
            <a:br>
              <a:rPr kumimoji="0" lang="en-US" altLang="ko-KR" sz="13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300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ko-KR" altLang="en-US" sz="130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년 내 기초 체력 확보</a:t>
            </a:r>
          </a:p>
        </p:txBody>
      </p:sp>
      <p:sp>
        <p:nvSpPr>
          <p:cNvPr id="80" name="오각형 54">
            <a:extLst>
              <a:ext uri="{FF2B5EF4-FFF2-40B4-BE49-F238E27FC236}">
                <a16:creationId xmlns:a16="http://schemas.microsoft.com/office/drawing/2014/main" id="{4D02BBF9-ACD5-97AF-71FE-DF33EF951E2B}"/>
              </a:ext>
            </a:extLst>
          </p:cNvPr>
          <p:cNvSpPr/>
          <p:nvPr/>
        </p:nvSpPr>
        <p:spPr bwMode="auto">
          <a:xfrm>
            <a:off x="3456010" y="1052512"/>
            <a:ext cx="2700000" cy="576263"/>
          </a:xfrm>
          <a:prstGeom prst="homePlate">
            <a:avLst>
              <a:gd name="adj" fmla="val 33867"/>
            </a:avLst>
          </a:prstGeom>
          <a:solidFill>
            <a:schemeClr val="bg1">
              <a:lumMod val="50000"/>
            </a:schemeClr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29" tIns="45715" rIns="91429" bIns="45715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96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377" algn="l"/>
              </a:tabLst>
              <a:defRPr/>
            </a:pPr>
            <a:r>
              <a:rPr kumimoji="0" lang="en-US" altLang="ko-KR" sz="1300" b="1" i="0" u="none" strike="noStrike" kern="120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Phase</a:t>
            </a:r>
            <a:r>
              <a:rPr kumimoji="0" lang="ko-KR" altLang="en-US" sz="1300" b="1" i="0" u="none" strike="noStrike" kern="120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300" b="1" i="0" u="none" strike="noStrike" kern="120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Ⅱ </a:t>
            </a:r>
            <a:r>
              <a:rPr lang="en-US" altLang="ko-KR" sz="1300" b="1" spc="-5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sz="1300" b="1" spc="-50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역량 강화</a:t>
            </a:r>
            <a:endParaRPr lang="en-US" altLang="ko-KR" sz="1300" b="1" spc="-50" dirty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914296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377" algn="l"/>
              </a:tabLst>
              <a:defRPr/>
            </a:pPr>
            <a:r>
              <a:rPr kumimoji="0" lang="en-US" altLang="ko-KR" sz="1300" i="0" u="none" strike="noStrike" kern="1200" cap="none" spc="-5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0" lang="ko-KR" altLang="en-US" sz="1300" i="0" u="none" strike="noStrike" kern="1200" cap="none" spc="-5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년 </a:t>
            </a:r>
            <a:r>
              <a:rPr kumimoji="0" lang="ko-KR" altLang="en-US" sz="1300" i="0" u="none" strike="noStrike" kern="1200" cap="none" spc="-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내 </a:t>
            </a:r>
            <a:r>
              <a:rPr kumimoji="0" lang="en-US" altLang="ko-KR" sz="1300" i="0" u="none" strike="noStrike" kern="1200" cap="none" spc="-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HQ-</a:t>
            </a:r>
            <a:r>
              <a:rPr kumimoji="0" lang="ko-KR" altLang="en-US" sz="1300" i="0" u="none" strike="noStrike" kern="1200" cap="none" spc="-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현지 역량 강화</a:t>
            </a:r>
            <a:endParaRPr kumimoji="0" lang="en-US" altLang="ko-KR" sz="1300" b="1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1" name="오각형 54">
            <a:extLst>
              <a:ext uri="{FF2B5EF4-FFF2-40B4-BE49-F238E27FC236}">
                <a16:creationId xmlns:a16="http://schemas.microsoft.com/office/drawing/2014/main" id="{161D6703-3398-543D-A04C-E64449FFBFC9}"/>
              </a:ext>
            </a:extLst>
          </p:cNvPr>
          <p:cNvSpPr/>
          <p:nvPr/>
        </p:nvSpPr>
        <p:spPr bwMode="auto">
          <a:xfrm>
            <a:off x="6212884" y="1052512"/>
            <a:ext cx="2700000" cy="576263"/>
          </a:xfrm>
          <a:prstGeom prst="homePlate">
            <a:avLst>
              <a:gd name="adj" fmla="val 33867"/>
            </a:avLst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29" tIns="45715" rIns="91429" bIns="45715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96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377" algn="l"/>
              </a:tabLst>
              <a:defRPr/>
            </a:pPr>
            <a:r>
              <a:rPr kumimoji="0" lang="en-US" altLang="ko-KR" sz="1300" b="1" i="0" u="none" strike="noStrike" kern="120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Phase Ⅲ. </a:t>
            </a:r>
            <a:r>
              <a:rPr kumimoji="0" lang="ko-KR" altLang="en-US" sz="1300" b="1" i="0" u="none" strike="noStrike" kern="120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운영 고도화</a:t>
            </a:r>
            <a:endParaRPr kumimoji="0" lang="en-US" altLang="ko-KR" sz="1300" b="1" i="0" u="none" strike="noStrike" kern="1200" cap="none" spc="-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algn="ctr" defTabSz="914296" latinLnBrk="0">
              <a:spcBef>
                <a:spcPct val="20000"/>
              </a:spcBef>
              <a:tabLst>
                <a:tab pos="979377" algn="l"/>
              </a:tabLst>
              <a:defRPr/>
            </a:pPr>
            <a:r>
              <a:rPr lang="en-US" altLang="ko-KR" sz="1300" spc="-5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kumimoji="0" lang="ko-KR" altLang="en-US" sz="1300" i="0" u="none" strike="noStrike" kern="1200" cap="none" spc="-5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년 내 </a:t>
            </a:r>
            <a:r>
              <a:rPr kumimoji="0" lang="ko-KR" altLang="en-US" sz="1300" i="0" u="none" strike="noStrike" kern="1200" cap="none" spc="-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완결형 노경관리</a:t>
            </a:r>
            <a:endParaRPr kumimoji="0" lang="en-US" altLang="ko-KR" sz="1300" b="1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E60D6AE-44B7-59CB-EE68-F1E48007495B}"/>
              </a:ext>
            </a:extLst>
          </p:cNvPr>
          <p:cNvSpPr txBox="1"/>
          <p:nvPr/>
        </p:nvSpPr>
        <p:spPr>
          <a:xfrm>
            <a:off x="632914" y="1866902"/>
            <a:ext cx="3060203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marR="0" lvl="0" indent="-85725" algn="l" defTabSz="914400" rtl="0" eaLnBrk="1" fontAlgn="base" latinLnBrk="0" hangingPunct="1"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Global </a:t>
            </a:r>
            <a:r>
              <a:rPr kumimoji="0" lang="ko-KR" altLang="en-US" sz="12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 </a:t>
            </a:r>
            <a:r>
              <a:rPr kumimoji="0" lang="en-US" altLang="ko-KR" sz="12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Fundamental </a:t>
            </a:r>
            <a:r>
              <a:rPr kumimoji="0" lang="ko-KR" altLang="en-US" sz="12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완성</a:t>
            </a:r>
            <a:b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 조직</a:t>
            </a: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담당자 </a:t>
            </a: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Set-up, HQ-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</a:t>
            </a: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R&amp;R</a:t>
            </a:r>
          </a:p>
          <a:p>
            <a:pPr marR="0" lvl="0" algn="l" defTabSz="914400" rtl="0" eaLnBrk="1" fontAlgn="base" latinLnBrk="0" hangingPunct="1">
              <a:spcBef>
                <a:spcPts val="3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→ </a:t>
            </a: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’25.4 </a:t>
            </a: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글로벌 노경관리 체계 구축 </a:t>
            </a:r>
            <a:r>
              <a:rPr lang="en-US" altLang="ko-KR" sz="900" b="1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Task</a:t>
            </a:r>
            <a:r>
              <a:rPr lang="ko-KR" altLang="en-US" sz="900" b="1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를 통해</a:t>
            </a:r>
            <a:br>
              <a:rPr lang="en-US" altLang="ko-KR" sz="900" b="1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b="1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</a:t>
            </a:r>
            <a:r>
              <a:rPr lang="ko-KR" altLang="en-US" sz="900" b="1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글로벌 노경 </a:t>
            </a:r>
            <a:r>
              <a:rPr lang="en-US" altLang="ko-KR" sz="900" b="1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Framework</a:t>
            </a:r>
            <a:r>
              <a:rPr lang="ko-KR" altLang="en-US" sz="900" b="1" kern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를 정의하고 해외법인 전파</a:t>
            </a:r>
            <a:endParaRPr kumimoji="0" lang="en-US" altLang="ko-KR" sz="900" b="1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85725" marR="0" lvl="0" indent="-85725" algn="l" defTabSz="914400" rtl="0" eaLnBrk="1" fontAlgn="base" latinLnBrk="0" hangingPunct="1"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법인별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노경 안정화 과제 이행</a:t>
            </a:r>
            <a:b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MI 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노조화 이슈</a:t>
            </a: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WA 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소수노조 유지</a:t>
            </a: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HM 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집단화 </a:t>
            </a: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Risk </a:t>
            </a:r>
            <a:endParaRPr kumimoji="0" lang="en-US" altLang="ko-KR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85725" marR="0" lvl="0" indent="-85725" defTabSz="914400" eaLnBrk="1" fontAlgn="base" latinLnBrk="0" hangingPunct="1"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2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 </a:t>
            </a:r>
            <a:r>
              <a:rPr lang="ko-KR" altLang="en-US" sz="12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 담당자 </a:t>
            </a:r>
            <a:r>
              <a:rPr lang="en-US" altLang="ko-KR" sz="12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Pool </a:t>
            </a:r>
            <a:r>
              <a:rPr lang="ko-KR" altLang="en-US" sz="12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확보 </a:t>
            </a:r>
            <a:br>
              <a:rPr lang="en-US" altLang="ko-KR" sz="1200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노경부문 내</a:t>
            </a:r>
            <a:r>
              <a:rPr lang="en-US" altLang="ko-KR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외 </a:t>
            </a:r>
            <a:r>
              <a:rPr lang="en-US" altLang="ko-KR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 </a:t>
            </a:r>
            <a:r>
              <a:rPr lang="ko-KR" altLang="en-US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 수행 인력 </a:t>
            </a:r>
            <a:r>
              <a:rPr lang="en-US" altLang="ko-KR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Pool </a:t>
            </a:r>
            <a:r>
              <a:rPr lang="ko-KR" altLang="en-US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확보</a:t>
            </a:r>
            <a:endParaRPr lang="en-US" altLang="ko-KR" sz="1100" kern="0" spc="-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85725" marR="0" lvl="0" indent="-85725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Global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 역량 점검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Tool</a:t>
            </a:r>
            <a:b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ko-KR" altLang="en-US" sz="1100" b="0" i="0" u="none" strike="noStrike" kern="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법인별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노경관리 역량 점검 </a:t>
            </a: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Tool 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개발 및 점검</a:t>
            </a:r>
            <a:endParaRPr kumimoji="0" lang="en-US" altLang="ko-KR" sz="11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E6985D7-D1BC-2DFE-AA44-DDFB29B6FAB3}"/>
              </a:ext>
            </a:extLst>
          </p:cNvPr>
          <p:cNvSpPr txBox="1"/>
          <p:nvPr/>
        </p:nvSpPr>
        <p:spPr>
          <a:xfrm>
            <a:off x="3392301" y="1866902"/>
            <a:ext cx="3121399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marR="0" lvl="0" indent="-85725" algn="l" defTabSz="914400" rtl="0" eaLnBrk="1" fontAlgn="base" latinLnBrk="0" hangingPunct="1"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상시 노경관리 체계 정착</a:t>
            </a:r>
            <a:br>
              <a:rPr kumimoji="0" lang="en-US" altLang="ko-KR" sz="12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자체 상시 노경 이슈 발굴 및 </a:t>
            </a: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HQ 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소통 </a:t>
            </a: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지원</a:t>
            </a:r>
            <a:br>
              <a:rPr lang="en-US" altLang="ko-KR" sz="11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→ 법인</a:t>
            </a: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-HQ</a:t>
            </a: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간 정기 회의체 운영을 통해 상시 소통 중이나</a:t>
            </a: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</a:t>
            </a:r>
            <a:b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 </a:t>
            </a: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정보 공유체계를 넘어 법인 주도적 노경관리 역할 실행</a:t>
            </a:r>
            <a:endParaRPr kumimoji="0" lang="en-US" altLang="ko-KR" sz="900" b="1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85725" marR="0" lvl="0" indent="-85725" algn="l" defTabSz="914400" rtl="0" eaLnBrk="1" fontAlgn="base" latinLnBrk="0" hangingPunct="1"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2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 ER Control</a:t>
            </a:r>
            <a:r>
              <a:rPr lang="ko-KR" altLang="en-US" sz="12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2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Tower</a:t>
            </a:r>
            <a:br>
              <a:rPr lang="en-US" altLang="ko-KR" sz="12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Global </a:t>
            </a:r>
            <a:r>
              <a:rPr lang="ko-KR" altLang="en-US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 </a:t>
            </a:r>
            <a:r>
              <a:rPr lang="en-US" altLang="ko-KR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Council, BP portal, Data platform </a:t>
            </a:r>
            <a:r>
              <a:rPr lang="ko-KR" altLang="en-US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역할 수행</a:t>
            </a:r>
            <a:endParaRPr lang="en-US" altLang="ko-KR" sz="1100" kern="0" spc="-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85725" indent="-85725" fontAlgn="base" latinLnBrk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altLang="ko-KR" sz="1200" b="1" i="0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 </a:t>
            </a:r>
            <a:r>
              <a:rPr kumimoji="0" lang="ko-KR" altLang="en-US" sz="1200" b="1" i="0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노경관리 주체별 역량 </a:t>
            </a:r>
            <a:r>
              <a:rPr kumimoji="0" lang="ko-KR" altLang="en-US" sz="12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강화</a:t>
            </a:r>
            <a:br>
              <a:rPr kumimoji="0" lang="en-US" altLang="ko-KR" sz="12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en-US" altLang="ko-KR" sz="1100" b="0" i="0" strike="noStrike" kern="0" cap="none" spc="-5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kumimoji="0" lang="ko-KR" altLang="en-US" sz="1100" b="0" i="0" strike="noStrike" kern="0" cap="none" spc="-5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법인장</a:t>
            </a:r>
            <a:r>
              <a:rPr kumimoji="0" lang="en-US" altLang="ko-KR" sz="1100" b="0" i="0" strike="noStrike" kern="0" cap="none" spc="-5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100" b="0" i="0" strike="noStrike" kern="0" cap="none" spc="-5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주재원</a:t>
            </a:r>
            <a:r>
              <a:rPr lang="en-US" altLang="ko-KR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등 </a:t>
            </a:r>
            <a:r>
              <a:rPr kumimoji="0" lang="ko-KR" altLang="en-US" sz="1100" b="0" i="0" strike="noStrike" kern="0" cap="none" spc="-5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주체별 역량 강화</a:t>
            </a:r>
            <a:endParaRPr lang="en-US" altLang="ko-KR" sz="1100" kern="0" spc="-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85725" marR="0" lvl="0" indent="-85725" algn="l" defTabSz="914400" rtl="0" eaLnBrk="1" fontAlgn="base" latinLnBrk="0" hangingPunct="1"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2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</a:t>
            </a:r>
            <a:r>
              <a:rPr lang="ko-KR" altLang="en-US" sz="12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표준 노사관리 모델 구축</a:t>
            </a:r>
            <a:br>
              <a:rPr lang="en-US" altLang="ko-KR" sz="12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공통</a:t>
            </a:r>
            <a:r>
              <a:rPr lang="en-US" altLang="ko-KR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가이드라인 </a:t>
            </a:r>
            <a:r>
              <a:rPr lang="en-US" altLang="ko-KR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+ </a:t>
            </a:r>
            <a:r>
              <a:rPr lang="ko-KR" altLang="en-US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국가별 </a:t>
            </a:r>
            <a:r>
              <a:rPr lang="en-US" altLang="ko-KR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Local Rule </a:t>
            </a:r>
            <a:r>
              <a:rPr lang="ko-KR" altLang="en-US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체계화</a:t>
            </a:r>
            <a:endParaRPr lang="en-US" altLang="ko-KR" sz="1200" kern="0" spc="-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29B2BD0-8281-FCA9-AE66-780D2E20840D}"/>
              </a:ext>
            </a:extLst>
          </p:cNvPr>
          <p:cNvSpPr txBox="1"/>
          <p:nvPr/>
        </p:nvSpPr>
        <p:spPr>
          <a:xfrm>
            <a:off x="6212883" y="1866902"/>
            <a:ext cx="3531751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marR="0" lvl="0" indent="-85725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b="1" u="sng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 완결형 노경관리 체계 </a:t>
            </a:r>
            <a:br>
              <a:rPr lang="en-US" altLang="ko-KR" sz="1200" b="1" u="sng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① 노경 </a:t>
            </a:r>
            <a:r>
              <a:rPr lang="en-US" altLang="ko-KR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Fundamental</a:t>
            </a:r>
            <a:r>
              <a:rPr lang="ko-KR" altLang="en-US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을 구축해 ② 상시 노경관리를 실행하고</a:t>
            </a:r>
            <a:r>
              <a:rPr lang="en-US" altLang="ko-KR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br>
              <a:rPr lang="en-US" altLang="ko-KR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③ Risk </a:t>
            </a:r>
            <a:r>
              <a:rPr lang="ko-KR" altLang="en-US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선행관리와 ④ </a:t>
            </a:r>
            <a:r>
              <a:rPr lang="en-US" altLang="ko-KR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Issue </a:t>
            </a:r>
            <a:r>
              <a:rPr lang="ko-KR" altLang="en-US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대응 결과가 다시 </a:t>
            </a:r>
            <a:r>
              <a:rPr lang="en-US" altLang="ko-KR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Feedback </a:t>
            </a:r>
            <a:r>
              <a:rPr lang="ko-KR" altLang="en-US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되는</a:t>
            </a:r>
            <a:br>
              <a:rPr lang="ko-KR" altLang="en-US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선순환 구조를 통해 ‘법인 완결형 </a:t>
            </a:r>
            <a:r>
              <a:rPr lang="ko-KR" altLang="en-US" sz="1100" kern="0" spc="-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노경관리’를</a:t>
            </a:r>
            <a:r>
              <a:rPr lang="ko-KR" altLang="en-US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지향</a:t>
            </a:r>
          </a:p>
          <a:p>
            <a:pPr marL="85725" marR="0" lvl="0" indent="-85725" defTabSz="914400" eaLnBrk="1" fontAlgn="base" latinLnBrk="0" hangingPunct="1"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2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 </a:t>
            </a:r>
            <a:r>
              <a:rPr lang="ko-KR" altLang="en-US" sz="12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</a:t>
            </a:r>
            <a:r>
              <a:rPr lang="en-US" altLang="ko-KR" sz="12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단체교섭 컨설팅</a:t>
            </a:r>
            <a:br>
              <a:rPr lang="en-US" altLang="ko-KR" sz="1200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각 해외법인 교섭 노하우 및 국내</a:t>
            </a:r>
            <a:r>
              <a:rPr lang="en-US" altLang="ko-KR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100" kern="0" spc="-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임단협</a:t>
            </a:r>
            <a:r>
              <a:rPr lang="ko-KR" altLang="en-US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교섭 경험  </a:t>
            </a:r>
            <a:br>
              <a:rPr lang="en-US" altLang="ko-KR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r>
              <a:rPr lang="ko-KR" altLang="en-US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기반 단체교섭 전략 컨설팅  </a:t>
            </a:r>
            <a:endParaRPr lang="en-US" altLang="ko-KR" sz="1100" kern="0" spc="-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85725" marR="0" lvl="0" indent="-85725" defTabSz="914400" eaLnBrk="1" fontAlgn="base" latinLnBrk="0" hangingPunct="1"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 </a:t>
            </a:r>
            <a:r>
              <a:rPr kumimoji="0" lang="ko-KR" altLang="en-US" sz="12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생산법인 사업 전략 대응 시나리오</a:t>
            </a:r>
            <a:br>
              <a:rPr kumimoji="0" lang="en-US" altLang="ko-KR" sz="12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en-US" altLang="ko-KR" sz="1100" b="0" i="0" strike="noStrike" kern="0" cap="none" spc="-5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kumimoji="0" lang="ko-KR" altLang="en-US" sz="1100" b="0" i="0" strike="noStrike" kern="0" cap="none" spc="-5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 </a:t>
            </a:r>
            <a:r>
              <a:rPr lang="en-US" altLang="ko-KR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set-up, </a:t>
            </a:r>
            <a:r>
              <a:rPr lang="ko-KR" altLang="en-US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매각</a:t>
            </a:r>
            <a:r>
              <a:rPr lang="en-US" altLang="ko-KR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청산 등 사업 전략 대응 단계별 </a:t>
            </a:r>
            <a:br>
              <a:rPr lang="en-US" altLang="ko-KR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r>
              <a:rPr lang="ko-KR" altLang="en-US" sz="11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시나리오 완성</a:t>
            </a:r>
            <a:endParaRPr lang="en-US" altLang="ko-KR" sz="1200" kern="0" spc="-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C3133C7B-EAF4-1F34-E143-91E5BD3654E5}"/>
              </a:ext>
            </a:extLst>
          </p:cNvPr>
          <p:cNvGrpSpPr/>
          <p:nvPr/>
        </p:nvGrpSpPr>
        <p:grpSpPr>
          <a:xfrm>
            <a:off x="1543902" y="4045026"/>
            <a:ext cx="3229711" cy="2126780"/>
            <a:chOff x="913608" y="4484447"/>
            <a:chExt cx="3229711" cy="2126780"/>
          </a:xfrm>
        </p:grpSpPr>
        <p:sp>
          <p:nvSpPr>
            <p:cNvPr id="86" name="화살표: 오른쪽 85">
              <a:extLst>
                <a:ext uri="{FF2B5EF4-FFF2-40B4-BE49-F238E27FC236}">
                  <a16:creationId xmlns:a16="http://schemas.microsoft.com/office/drawing/2014/main" id="{0D77BED6-6559-DC66-77DC-9C9E0FE621FA}"/>
                </a:ext>
              </a:extLst>
            </p:cNvPr>
            <p:cNvSpPr/>
            <p:nvPr/>
          </p:nvSpPr>
          <p:spPr bwMode="auto">
            <a:xfrm rot="16200000">
              <a:off x="880113" y="5470597"/>
              <a:ext cx="489333" cy="422343"/>
            </a:xfrm>
            <a:prstGeom prst="rightArrow">
              <a:avLst>
                <a:gd name="adj1" fmla="val 59240"/>
                <a:gd name="adj2" fmla="val 47333"/>
              </a:avLst>
            </a:prstGeom>
            <a:solidFill>
              <a:srgbClr val="6B6B6B">
                <a:alpha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돋움체" pitchFamily="49" charset="-127"/>
              </a:endParaRPr>
            </a:p>
          </p:txBody>
        </p:sp>
        <p:sp>
          <p:nvSpPr>
            <p:cNvPr id="87" name="화살표: 오른쪽 86">
              <a:extLst>
                <a:ext uri="{FF2B5EF4-FFF2-40B4-BE49-F238E27FC236}">
                  <a16:creationId xmlns:a16="http://schemas.microsoft.com/office/drawing/2014/main" id="{42348909-47A5-25AA-1E61-45E07648574E}"/>
                </a:ext>
              </a:extLst>
            </p:cNvPr>
            <p:cNvSpPr/>
            <p:nvPr/>
          </p:nvSpPr>
          <p:spPr bwMode="auto">
            <a:xfrm rot="5400000">
              <a:off x="3687481" y="5219390"/>
              <a:ext cx="489333" cy="422343"/>
            </a:xfrm>
            <a:prstGeom prst="rightArrow">
              <a:avLst>
                <a:gd name="adj1" fmla="val 59240"/>
                <a:gd name="adj2" fmla="val 47333"/>
              </a:avLst>
            </a:prstGeom>
            <a:solidFill>
              <a:srgbClr val="6B6B6B">
                <a:alpha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돋움체" pitchFamily="49" charset="-127"/>
              </a:endParaRPr>
            </a:p>
          </p:txBody>
        </p:sp>
        <p:sp>
          <p:nvSpPr>
            <p:cNvPr id="88" name="화살표: 오른쪽 87">
              <a:extLst>
                <a:ext uri="{FF2B5EF4-FFF2-40B4-BE49-F238E27FC236}">
                  <a16:creationId xmlns:a16="http://schemas.microsoft.com/office/drawing/2014/main" id="{43FA03AD-1804-D39B-8408-A3BD5121B1A8}"/>
                </a:ext>
              </a:extLst>
            </p:cNvPr>
            <p:cNvSpPr/>
            <p:nvPr/>
          </p:nvSpPr>
          <p:spPr bwMode="auto">
            <a:xfrm rot="10800000">
              <a:off x="2399984" y="6188883"/>
              <a:ext cx="489333" cy="422343"/>
            </a:xfrm>
            <a:prstGeom prst="rightArrow">
              <a:avLst>
                <a:gd name="adj1" fmla="val 59240"/>
                <a:gd name="adj2" fmla="val 47333"/>
              </a:avLst>
            </a:prstGeom>
            <a:solidFill>
              <a:srgbClr val="6B6B6B">
                <a:alpha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돋움체" pitchFamily="49" charset="-127"/>
              </a:endParaRPr>
            </a:p>
          </p:txBody>
        </p:sp>
        <p:sp>
          <p:nvSpPr>
            <p:cNvPr id="89" name="화살표: 오른쪽 88">
              <a:extLst>
                <a:ext uri="{FF2B5EF4-FFF2-40B4-BE49-F238E27FC236}">
                  <a16:creationId xmlns:a16="http://schemas.microsoft.com/office/drawing/2014/main" id="{7730C8AF-E877-19A8-967E-BD7F99937B82}"/>
                </a:ext>
              </a:extLst>
            </p:cNvPr>
            <p:cNvSpPr/>
            <p:nvPr/>
          </p:nvSpPr>
          <p:spPr bwMode="auto">
            <a:xfrm>
              <a:off x="2178923" y="4484447"/>
              <a:ext cx="489333" cy="422343"/>
            </a:xfrm>
            <a:prstGeom prst="rightArrow">
              <a:avLst>
                <a:gd name="adj1" fmla="val 59240"/>
                <a:gd name="adj2" fmla="val 47333"/>
              </a:avLst>
            </a:prstGeom>
            <a:solidFill>
              <a:srgbClr val="6B6B6B">
                <a:alpha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돋움체" pitchFamily="49" charset="-127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6BAEEB78-F6E4-0F2E-0B93-E62C322B8D1B}"/>
                </a:ext>
              </a:extLst>
            </p:cNvPr>
            <p:cNvSpPr txBox="1"/>
            <p:nvPr/>
          </p:nvSpPr>
          <p:spPr>
            <a:xfrm>
              <a:off x="913608" y="4484447"/>
              <a:ext cx="1475836" cy="935999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12700">
              <a:solidFill>
                <a:sysClr val="windowText" lastClr="000000"/>
              </a:solidFill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노경 </a:t>
              </a:r>
              <a:r>
                <a:rPr kumimoji="0" lang="en-US" altLang="ko-KR" sz="1200" b="1" i="0" u="none" strike="noStrike" kern="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Fundamental</a:t>
              </a:r>
              <a:br>
                <a:rPr kumimoji="0" lang="en-US" altLang="ko-KR" sz="1200" b="1" i="0" u="none" strike="noStrike" kern="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</a:br>
              <a:r>
                <a:rPr kumimoji="0" lang="ko-KR" altLang="en-US" sz="1200" b="1" i="0" u="none" strike="noStrike" kern="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구축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84B53B1-0C79-9B85-AE2A-84E51E6B2842}"/>
                </a:ext>
              </a:extLst>
            </p:cNvPr>
            <p:cNvSpPr txBox="1"/>
            <p:nvPr/>
          </p:nvSpPr>
          <p:spPr>
            <a:xfrm>
              <a:off x="2667483" y="4484447"/>
              <a:ext cx="1475836" cy="935999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12700">
              <a:solidFill>
                <a:sysClr val="windowText" lastClr="000000"/>
              </a:solidFill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상시</a:t>
              </a:r>
              <a:br>
                <a:rPr kumimoji="0" lang="en-US" altLang="ko-KR" sz="1200" b="1" i="0" u="none" strike="noStrike" kern="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</a:br>
              <a:r>
                <a:rPr kumimoji="0" lang="ko-KR" altLang="en-US" sz="1200" b="1" i="0" u="none" strike="noStrike" kern="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노경관리</a:t>
              </a:r>
              <a:endParaRPr kumimoji="0" lang="en-US" altLang="ko-KR" sz="1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E245D1D-60A7-15CB-5C30-672147065847}"/>
                </a:ext>
              </a:extLst>
            </p:cNvPr>
            <p:cNvSpPr txBox="1"/>
            <p:nvPr/>
          </p:nvSpPr>
          <p:spPr>
            <a:xfrm>
              <a:off x="913608" y="5675228"/>
              <a:ext cx="1475836" cy="935999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12700">
              <a:solidFill>
                <a:sysClr val="windowText" lastClr="000000"/>
              </a:solidFill>
            </a:ln>
          </p:spPr>
          <p:txBody>
            <a:bodyPr wrap="square" rtlCol="0" anchor="ctr">
              <a:noAutofit/>
            </a:bodyPr>
            <a:lstStyle>
              <a:defPPr>
                <a:defRPr lang="ko-KR"/>
              </a:defPPr>
              <a:lvl1pPr algn="ctr">
                <a:spcBef>
                  <a:spcPts val="600"/>
                </a:spcBef>
                <a:defRPr sz="1200" b="1" spc="-50"/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Issue </a:t>
              </a:r>
              <a:r>
                <a:rPr kumimoji="0" lang="ko-KR" altLang="en-US" sz="1200" b="1" i="0" u="none" strike="noStrike" kern="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대응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4F9DB0F2-D1FE-3E14-A1B7-7174DF72E5AF}"/>
                </a:ext>
              </a:extLst>
            </p:cNvPr>
            <p:cNvSpPr txBox="1"/>
            <p:nvPr/>
          </p:nvSpPr>
          <p:spPr>
            <a:xfrm>
              <a:off x="2667483" y="5675228"/>
              <a:ext cx="1475836" cy="935999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12700">
              <a:solidFill>
                <a:sysClr val="windowText" lastClr="000000"/>
              </a:solidFill>
            </a:ln>
          </p:spPr>
          <p:txBody>
            <a:bodyPr wrap="square" rtlCol="0" anchor="ctr">
              <a:noAutofit/>
            </a:bodyPr>
            <a:lstStyle>
              <a:defPPr>
                <a:defRPr lang="ko-KR"/>
              </a:defPPr>
              <a:lvl1pPr algn="ctr">
                <a:spcBef>
                  <a:spcPts val="600"/>
                </a:spcBef>
                <a:defRPr sz="1200" b="1" spc="-50"/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Risk </a:t>
              </a:r>
              <a:r>
                <a:rPr kumimoji="0" lang="ko-KR" altLang="en-US" sz="1200" b="1" i="0" u="none" strike="noStrike" kern="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선행관리</a:t>
              </a:r>
              <a:endParaRPr kumimoji="0" lang="en-US" altLang="ko-KR" sz="1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E09D97F4-B801-04E6-3E6F-E0E55A2C974C}"/>
                </a:ext>
              </a:extLst>
            </p:cNvPr>
            <p:cNvSpPr/>
            <p:nvPr/>
          </p:nvSpPr>
          <p:spPr bwMode="auto">
            <a:xfrm>
              <a:off x="1988463" y="5007837"/>
              <a:ext cx="1080000" cy="1080000"/>
            </a:xfrm>
            <a:prstGeom prst="ellipse">
              <a:avLst/>
            </a:prstGeom>
            <a:solidFill>
              <a:srgbClr val="6B6B6B"/>
            </a:solidFill>
            <a:ln w="12700">
              <a:solidFill>
                <a:sysClr val="windowText" lastClr="000000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-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법인 완결형</a:t>
              </a:r>
              <a:br>
                <a:rPr kumimoji="0" lang="en-US" altLang="ko-KR" sz="1200" b="1" i="0" u="none" strike="noStrike" kern="0" cap="none" spc="-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</a:br>
              <a:r>
                <a:rPr kumimoji="0" lang="ko-KR" altLang="en-US" sz="1200" b="1" i="0" u="none" strike="noStrike" kern="0" cap="none" spc="-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노경관리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9A900A1-11D6-3CA7-4619-592923F0DBE4}"/>
              </a:ext>
            </a:extLst>
          </p:cNvPr>
          <p:cNvSpPr txBox="1"/>
          <p:nvPr/>
        </p:nvSpPr>
        <p:spPr>
          <a:xfrm>
            <a:off x="1950670" y="6211364"/>
            <a:ext cx="2416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Arial Narrow"/>
                <a:ea typeface="LG스마트체 Regular"/>
              </a:rPr>
              <a:t>[ </a:t>
            </a:r>
            <a:r>
              <a:rPr lang="ko-KR" altLang="en-US" sz="1200" b="1" kern="1200" spc="-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글로벌 노경 </a:t>
            </a:r>
            <a:r>
              <a:rPr lang="en-US" altLang="ko-KR" sz="1200" b="1" kern="1200" spc="-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Framework </a:t>
            </a:r>
            <a:r>
              <a:rPr lang="en-US" altLang="ko-KR" sz="1200" b="1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2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AutoShape 1603">
            <a:extLst>
              <a:ext uri="{FF2B5EF4-FFF2-40B4-BE49-F238E27FC236}">
                <a16:creationId xmlns:a16="http://schemas.microsoft.com/office/drawing/2014/main" id="{59B8BD45-99AB-6A15-D152-029D089F0CF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740480" y="4978180"/>
            <a:ext cx="1965450" cy="260472"/>
          </a:xfrm>
          <a:prstGeom prst="triangle">
            <a:avLst>
              <a:gd name="adj" fmla="val 50780"/>
            </a:avLst>
          </a:prstGeom>
          <a:gradFill rotWithShape="1">
            <a:gsLst>
              <a:gs pos="0">
                <a:srgbClr val="777777"/>
              </a:gs>
              <a:gs pos="100000">
                <a:schemeClr val="bg1"/>
              </a:gs>
            </a:gsLst>
            <a:lin ang="5400000" scaled="1"/>
          </a:gradFill>
          <a:ln w="19050" algn="ctr">
            <a:noFill/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Light" panose="020B0600000101010101" pitchFamily="50" charset="-127"/>
              <a:ea typeface="LG스마트체 Light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AAE63B-5BCA-0161-A95C-92052F68C48A}"/>
              </a:ext>
            </a:extLst>
          </p:cNvPr>
          <p:cNvSpPr txBox="1"/>
          <p:nvPr/>
        </p:nvSpPr>
        <p:spPr>
          <a:xfrm>
            <a:off x="6062122" y="4746474"/>
            <a:ext cx="26075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“ Glocalization ”</a:t>
            </a:r>
          </a:p>
          <a:p>
            <a:pPr algn="ctr"/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Globalization + Localization</a:t>
            </a:r>
            <a:b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글로벌 표준과 현지 적합성 균형</a:t>
            </a:r>
            <a:endParaRPr lang="en-US" altLang="ko-KR" sz="1400" spc="-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DE506C-C107-3C61-1358-B515DE098027}"/>
              </a:ext>
            </a:extLst>
          </p:cNvPr>
          <p:cNvSpPr txBox="1"/>
          <p:nvPr/>
        </p:nvSpPr>
        <p:spPr>
          <a:xfrm>
            <a:off x="202841" y="150290"/>
            <a:ext cx="296656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7800" indent="-177800">
              <a:buFont typeface="+mj-lt"/>
              <a:buAutoNum type="romanUcPeriod" startAt="3"/>
            </a:pP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추진과제 및 대응방향  </a:t>
            </a:r>
            <a:endParaRPr lang="en-US" altLang="ko-KR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3019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DBF4328-297A-E18C-97C2-B4755F0327B5}"/>
              </a:ext>
            </a:extLst>
          </p:cNvPr>
          <p:cNvSpPr/>
          <p:nvPr/>
        </p:nvSpPr>
        <p:spPr>
          <a:xfrm>
            <a:off x="5605517" y="1640429"/>
            <a:ext cx="3671887" cy="4560345"/>
          </a:xfrm>
          <a:prstGeom prst="roundRect">
            <a:avLst>
              <a:gd name="adj" fmla="val 2048"/>
            </a:avLst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wrap="square" lIns="18000" tIns="18000" rIns="18000" bIns="18000" rtlCol="0" anchor="t" anchorCtr="0">
            <a:noAutofit/>
          </a:bodyPr>
          <a:lstStyle/>
          <a:p>
            <a:pPr marL="0" marR="0" lvl="0" indent="0" defTabSz="939800" rtl="0" eaLnBrk="0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1" lang="ko-KR" altLang="en-US" sz="800" i="0" u="none" strike="noStrike" kern="0" cap="none" spc="-4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880180" y="181068"/>
            <a:ext cx="4738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⑤ 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 Fundamental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및 안정화 과제 이행</a:t>
            </a: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C65F95-C345-75E7-35DD-354BC80C354C}"/>
              </a:ext>
            </a:extLst>
          </p:cNvPr>
          <p:cNvSpPr txBox="1"/>
          <p:nvPr/>
        </p:nvSpPr>
        <p:spPr>
          <a:xfrm>
            <a:off x="203762" y="4572805"/>
            <a:ext cx="1042331" cy="535238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ESO</a:t>
            </a:r>
            <a:r>
              <a:rPr lang="en-US" altLang="ko-KR" sz="1200" b="1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</a:t>
            </a:r>
            <a:endParaRPr kumimoji="0" lang="en-US" altLang="ko-KR" sz="1200" b="1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1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019A06-3EA4-604D-23AD-7A56E46FBFC0}"/>
              </a:ext>
            </a:extLst>
          </p:cNvPr>
          <p:cNvSpPr txBox="1"/>
          <p:nvPr/>
        </p:nvSpPr>
        <p:spPr>
          <a:xfrm>
            <a:off x="203762" y="1644470"/>
            <a:ext cx="1042331" cy="535238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ESMI</a:t>
            </a:r>
            <a:br>
              <a:rPr kumimoji="0" lang="en-US" altLang="ko-KR" sz="1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endParaRPr kumimoji="0" lang="en-US" altLang="ko-KR" sz="1200" b="1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57D28B0-8F25-0F4F-50E5-E6D3B3751B25}"/>
              </a:ext>
            </a:extLst>
          </p:cNvPr>
          <p:cNvSpPr/>
          <p:nvPr/>
        </p:nvSpPr>
        <p:spPr>
          <a:xfrm>
            <a:off x="2559301" y="1000122"/>
            <a:ext cx="1629668" cy="30888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안정화 과제 및 대응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B03E045-BB3B-46C4-A337-A00CA60C7B56}"/>
              </a:ext>
            </a:extLst>
          </p:cNvPr>
          <p:cNvCxnSpPr>
            <a:cxnSpLocks/>
          </p:cNvCxnSpPr>
          <p:nvPr/>
        </p:nvCxnSpPr>
        <p:spPr>
          <a:xfrm>
            <a:off x="1615883" y="1289224"/>
            <a:ext cx="3516505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F3DE8C58-08FA-F2F7-CCC9-DA9B6FF888B8}"/>
              </a:ext>
            </a:extLst>
          </p:cNvPr>
          <p:cNvSpPr/>
          <p:nvPr/>
        </p:nvSpPr>
        <p:spPr>
          <a:xfrm>
            <a:off x="6218894" y="1000122"/>
            <a:ext cx="2433815" cy="30888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Fundamental*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E916107A-4845-3DD2-CCB0-2EDA546D0177}"/>
              </a:ext>
            </a:extLst>
          </p:cNvPr>
          <p:cNvCxnSpPr>
            <a:cxnSpLocks/>
          </p:cNvCxnSpPr>
          <p:nvPr/>
        </p:nvCxnSpPr>
        <p:spPr>
          <a:xfrm>
            <a:off x="5599857" y="1289224"/>
            <a:ext cx="3671888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6F9F3F5-3E51-BCFB-6A74-AEF692B25D83}"/>
              </a:ext>
            </a:extLst>
          </p:cNvPr>
          <p:cNvSpPr txBox="1"/>
          <p:nvPr/>
        </p:nvSpPr>
        <p:spPr>
          <a:xfrm>
            <a:off x="1615883" y="1640430"/>
            <a:ext cx="3461521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base" latinLnBrk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UAW</a:t>
            </a:r>
            <a:r>
              <a:rPr lang="ko-KR" altLang="en-US" sz="1200" b="1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가 조직화를 위해 접촉하였고</a:t>
            </a:r>
            <a:r>
              <a:rPr lang="en-US" altLang="ko-KR" sz="1200" b="1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200" b="1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중립협약 체결 요청</a:t>
            </a:r>
            <a:b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’25.07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최초 요청 받았으며</a:t>
            </a: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’26.03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검토 상황 문의</a:t>
            </a:r>
            <a:b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r>
              <a:rPr lang="ko-KR" altLang="en-US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우회적 입장 회신 후 </a:t>
            </a:r>
            <a:r>
              <a:rPr lang="en-US" altLang="ko-KR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UAW </a:t>
            </a:r>
            <a:r>
              <a:rPr lang="ko-KR" altLang="en-US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반응에 따른 지연 시나리오 수립</a:t>
            </a:r>
            <a:endParaRPr lang="en-US" altLang="ko-KR" sz="900" kern="0" spc="-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171450" indent="-171450" fontAlgn="base" latinLnBrk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미시간주 지역 노경 환경상 조직화 리스크 높음 </a:t>
            </a:r>
            <a:b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특히</a:t>
            </a: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200" b="0" i="0" u="none" strike="noStrike" kern="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랜싱은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UAW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의 본고장이며 </a:t>
            </a: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GM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공장 인접</a:t>
            </a:r>
            <a:endParaRPr kumimoji="0" lang="en-US" altLang="ko-KR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2F5254A-95C9-93B1-33A8-8538C058EC03}"/>
              </a:ext>
            </a:extLst>
          </p:cNvPr>
          <p:cNvSpPr txBox="1"/>
          <p:nvPr/>
        </p:nvSpPr>
        <p:spPr>
          <a:xfrm>
            <a:off x="1615883" y="4572805"/>
            <a:ext cx="3461521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base" latinLnBrk="0" hangingPunct="1">
              <a:spcBef>
                <a:spcPts val="1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200" b="1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STLA</a:t>
            </a:r>
            <a:r>
              <a:rPr lang="ko-KR" altLang="en-US" sz="1200" b="1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과 </a:t>
            </a:r>
            <a:r>
              <a:rPr kumimoji="0" lang="en-US" altLang="ko-KR" sz="1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Unifor </a:t>
            </a:r>
            <a:r>
              <a:rPr lang="ko-KR" altLang="en-US" sz="1200" b="1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관계 고려 </a:t>
            </a:r>
            <a:r>
              <a:rPr lang="en-US" altLang="ko-KR" sz="1200" b="1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VR</a:t>
            </a:r>
            <a:r>
              <a:rPr lang="ko-KR" altLang="en-US" sz="1200" b="1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을 통한 노동조합 설립</a:t>
            </a:r>
            <a:b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- ’25.07 </a:t>
            </a:r>
            <a:r>
              <a:rPr lang="en-US" altLang="ko-KR" sz="12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OLRB</a:t>
            </a:r>
            <a:r>
              <a:rPr lang="ko-KR" altLang="en-US" sz="12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 </a:t>
            </a:r>
            <a:r>
              <a:rPr lang="en-US" altLang="ko-KR" sz="12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Unifor</a:t>
            </a:r>
            <a:r>
              <a:rPr lang="ko-KR" altLang="en-US" sz="12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를 대표 교섭노조로 공식 인정</a:t>
            </a:r>
            <a:endParaRPr kumimoji="0" lang="en-US" altLang="ko-KR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171450" marR="0" lvl="0" indent="-171450" algn="l" defTabSz="914400" rtl="0" eaLnBrk="1" fontAlgn="base" latinLnBrk="0" hangingPunct="1">
              <a:spcBef>
                <a:spcPts val="1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b="1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단독 법인 전환에 따른 단체교섭 진행 필요</a:t>
            </a:r>
            <a:b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’26.07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기존 단체협약 유효기간 만료</a:t>
            </a:r>
            <a:endParaRPr lang="en-US" altLang="ko-KR" sz="1200" kern="0" spc="-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156C09A6-532A-DA93-CD08-2DE92F2ED1C6}"/>
              </a:ext>
            </a:extLst>
          </p:cNvPr>
          <p:cNvSpPr/>
          <p:nvPr/>
        </p:nvSpPr>
        <p:spPr>
          <a:xfrm>
            <a:off x="3132645" y="4428713"/>
            <a:ext cx="1677525" cy="235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*Voluntary Recognition</a:t>
            </a:r>
            <a:endParaRPr lang="ko-KR" altLang="en-US" sz="900" spc="-2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8480765-D206-A060-BB61-163572ABA8A3}"/>
              </a:ext>
            </a:extLst>
          </p:cNvPr>
          <p:cNvSpPr/>
          <p:nvPr/>
        </p:nvSpPr>
        <p:spPr>
          <a:xfrm>
            <a:off x="254280" y="1921967"/>
            <a:ext cx="950258" cy="183219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spc="-5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조직화 대응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C6554BE-CA3A-6D08-B4A1-CBBB614A8DA5}"/>
              </a:ext>
            </a:extLst>
          </p:cNvPr>
          <p:cNvSpPr/>
          <p:nvPr/>
        </p:nvSpPr>
        <p:spPr>
          <a:xfrm>
            <a:off x="254280" y="4847125"/>
            <a:ext cx="950258" cy="183219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spc="-5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단체교섭 진행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A662B2A4-3912-4FC1-7689-698B2FD7E0B1}"/>
              </a:ext>
            </a:extLst>
          </p:cNvPr>
          <p:cNvSpPr/>
          <p:nvPr/>
        </p:nvSpPr>
        <p:spPr>
          <a:xfrm>
            <a:off x="7169579" y="1305740"/>
            <a:ext cx="2348405" cy="235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</a:t>
            </a:r>
            <a:r>
              <a:rPr lang="ko-KR" altLang="en-US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 조직</a:t>
            </a:r>
            <a:r>
              <a:rPr lang="en-US" altLang="ko-KR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담당자 </a:t>
            </a:r>
            <a:r>
              <a:rPr lang="en-US" altLang="ko-KR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Set-up, HQ-</a:t>
            </a:r>
            <a:r>
              <a:rPr lang="ko-KR" altLang="en-US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 </a:t>
            </a:r>
            <a:r>
              <a:rPr lang="en-US" altLang="ko-KR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R&amp;R </a:t>
            </a:r>
            <a:r>
              <a:rPr lang="ko-KR" altLang="en-US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정립 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729CA31B-819B-CD67-6C13-0897D74C4DEC}"/>
              </a:ext>
            </a:extLst>
          </p:cNvPr>
          <p:cNvSpPr txBox="1"/>
          <p:nvPr/>
        </p:nvSpPr>
        <p:spPr>
          <a:xfrm>
            <a:off x="1615883" y="2814776"/>
            <a:ext cx="3852630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base" latinLnBrk="0"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/>
            </a:pPr>
            <a:r>
              <a:rPr lang="ko-KR" altLang="en-US" sz="1200" b="1" u="sng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중립협약은 지연 전략을 유지하며 시간을</a:t>
            </a:r>
            <a:r>
              <a:rPr lang="en-US" altLang="ko-KR" sz="1200" b="1" u="sng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b="1" u="sng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확보</a:t>
            </a:r>
            <a:endParaRPr lang="en-US" altLang="ko-KR" sz="1200" b="1" u="sng" kern="0" spc="-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171450" lvl="0" indent="-171450" fontAlgn="base" latinLnBrk="0"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/>
            </a:pPr>
            <a:r>
              <a:rPr lang="ko-KR" altLang="en-US" sz="1200" b="1" u="sng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우호적 현장환경 조성을 통해 조직화 요인 발굴 및 제거</a:t>
            </a:r>
            <a:br>
              <a:rPr lang="en-US" altLang="ko-KR" sz="1200" b="1" u="sng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- 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 </a:t>
            </a: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Supervisor 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중심 노경관리 체계 구축</a:t>
            </a:r>
            <a:br>
              <a:rPr lang="en-US" altLang="ko-KR" sz="1200" b="1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1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 소통 활성화 활동 실행  </a:t>
            </a:r>
            <a:r>
              <a:rPr lang="ko-KR" altLang="en-US" sz="900" kern="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법인장</a:t>
            </a:r>
            <a:r>
              <a:rPr lang="en-US" altLang="ko-KR" sz="900" kern="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900" kern="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운영담당 </a:t>
            </a:r>
            <a:r>
              <a:rPr lang="en-US" altLang="ko-KR" sz="900" kern="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S/V </a:t>
            </a:r>
            <a:r>
              <a:rPr lang="ko-KR" altLang="en-US" sz="900" kern="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간담회 진행 중</a:t>
            </a:r>
            <a:endParaRPr lang="en-US" altLang="ko-KR" sz="900" kern="0" spc="-5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171450" lvl="0" indent="-171450" fontAlgn="base" latinLnBrk="0"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/>
            </a:pPr>
            <a:r>
              <a:rPr lang="ko-KR" altLang="en-US" sz="1200" b="1" u="sng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조직화 대응 시나리오 </a:t>
            </a:r>
            <a:r>
              <a:rPr lang="en-US" altLang="ko-KR" sz="1200" b="1" u="sng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Plan </a:t>
            </a:r>
            <a:r>
              <a:rPr lang="ko-KR" altLang="en-US" sz="1200" b="1" u="sng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수립 및 실행력 확보</a:t>
            </a:r>
            <a:br>
              <a:rPr lang="en-US" altLang="ko-KR" sz="1200" b="1" u="sng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 b="1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 </a:t>
            </a: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Supervisor 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인터뷰 기반 조직화 취약성 진단</a:t>
            </a:r>
            <a:br>
              <a:rPr lang="en-US" altLang="ko-KR" sz="1200" b="1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1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조직화 단계별 시나리오 </a:t>
            </a: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Plan 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사전 수립</a:t>
            </a:r>
            <a:endParaRPr kumimoji="0" lang="en-US" altLang="ko-KR" sz="900" i="0" strike="noStrike" kern="0" cap="none" spc="-5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64DD1BE-2176-01F0-8955-0553C8C6CC98}"/>
              </a:ext>
            </a:extLst>
          </p:cNvPr>
          <p:cNvSpPr txBox="1"/>
          <p:nvPr/>
        </p:nvSpPr>
        <p:spPr>
          <a:xfrm>
            <a:off x="1615883" y="5548340"/>
            <a:ext cx="3852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base" latinLnBrk="0"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ko-KR" sz="1200" b="1" u="sng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Unifor</a:t>
            </a:r>
            <a:r>
              <a:rPr lang="ko-KR" altLang="en-US" sz="1200" b="1" u="sng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와</a:t>
            </a:r>
            <a:r>
              <a:rPr lang="en-US" altLang="ko-KR" sz="1200" b="1" u="sng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b="1" u="sng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단독 교섭 진행을 사전 준비 및 전략 수립</a:t>
            </a:r>
            <a:br>
              <a:rPr lang="en-US" altLang="ko-KR" sz="1200" b="1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- ESOT ER P 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중심</a:t>
            </a: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교섭 운영하되</a:t>
            </a: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NA ER P–HQ 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지원</a:t>
            </a:r>
            <a:b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 STLA 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교섭 </a:t>
            </a: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History 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및 북미 </a:t>
            </a: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JV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사 </a:t>
            </a:r>
            <a:r>
              <a:rPr lang="ko-KR" altLang="en-US" sz="1200" kern="0" spc="-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단협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참조 교섭 전략 수립</a:t>
            </a:r>
            <a:endParaRPr kumimoji="0" lang="en-US" altLang="ko-KR" sz="900" i="0" u="none" strike="noStrike" kern="0" cap="none" spc="-5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2" name="오른쪽 중괄호 201">
            <a:extLst>
              <a:ext uri="{FF2B5EF4-FFF2-40B4-BE49-F238E27FC236}">
                <a16:creationId xmlns:a16="http://schemas.microsoft.com/office/drawing/2014/main" id="{5D332FE2-3CB2-C39B-FCD3-7B1AD191165B}"/>
              </a:ext>
            </a:extLst>
          </p:cNvPr>
          <p:cNvSpPr/>
          <p:nvPr/>
        </p:nvSpPr>
        <p:spPr>
          <a:xfrm rot="5400000">
            <a:off x="6765268" y="4207580"/>
            <a:ext cx="108000" cy="1764000"/>
          </a:xfrm>
          <a:prstGeom prst="rightBrace">
            <a:avLst/>
          </a:prstGeom>
          <a:noFill/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9AD90AB8-63B3-38B1-03F3-A46EC7F35811}"/>
              </a:ext>
            </a:extLst>
          </p:cNvPr>
          <p:cNvSpPr txBox="1"/>
          <p:nvPr/>
        </p:nvSpPr>
        <p:spPr>
          <a:xfrm>
            <a:off x="5924515" y="5321161"/>
            <a:ext cx="2210901" cy="468935"/>
          </a:xfrm>
          <a:prstGeom prst="rect">
            <a:avLst/>
          </a:prstGeom>
        </p:spPr>
        <p:txBody>
          <a:bodyPr wrap="square" lIns="3600" tIns="3600" rIns="3600" bIns="3600" rtlCol="0">
            <a:spAutoFit/>
          </a:bodyPr>
          <a:lstStyle>
            <a:defPPr>
              <a:defRPr lang="ko-KR"/>
            </a:defPPr>
            <a:lvl1pPr marL="182563" indent="-182563" fontAlgn="base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kumimoji="1" sz="1100" b="0">
                <a:solidFill>
                  <a:srgbClr val="000000"/>
                </a:solidFill>
                <a:latin typeface="+mn-ea"/>
              </a:defRPr>
            </a:lvl1pPr>
            <a:lvl2pPr marL="419100" lvl="1" indent="-136525" fontAlgn="base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itchFamily="34" charset="0"/>
              <a:buChar char="•"/>
              <a:defRPr sz="120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2pPr>
            <a:lvl3pPr marL="541338" indent="-136525">
              <a:spcBef>
                <a:spcPct val="20000"/>
              </a:spcBef>
              <a:buFont typeface="Arial" pitchFamily="34" charset="0"/>
              <a:buChar char="•"/>
              <a:defRPr sz="12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  <a:tabLst>
                <a:tab pos="177800" algn="l"/>
              </a:tabLst>
            </a:pPr>
            <a:r>
              <a:rPr lang="en-US" altLang="ko-KR" sz="10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[</a:t>
            </a:r>
            <a:r>
              <a:rPr lang="ko-KR" altLang="en-US" sz="10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운영 업무 중심</a:t>
            </a:r>
            <a:r>
              <a:rPr lang="en-US" altLang="ko-KR" sz="10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]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  <a:tabLst>
                <a:tab pos="177800" algn="l"/>
              </a:tabLst>
            </a:pPr>
            <a:r>
              <a:rPr lang="ko-KR" altLang="en-US" sz="10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법인 </a:t>
            </a:r>
            <a:r>
              <a:rPr lang="en-US" altLang="ko-KR" sz="10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HRBP</a:t>
            </a:r>
            <a:r>
              <a:rPr lang="ko-KR" altLang="en-US" sz="10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는 상시 노경관리 수행</a:t>
            </a:r>
            <a:r>
              <a:rPr lang="en-US" altLang="ko-KR" sz="10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, </a:t>
            </a:r>
            <a:br>
              <a:rPr lang="en-US" altLang="ko-KR" sz="1000" spc="-50" dirty="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ko-KR" altLang="en-US" sz="10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북미</a:t>
            </a:r>
            <a:r>
              <a:rPr lang="en-US" altLang="ko-KR" sz="10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ER Part</a:t>
            </a:r>
            <a:r>
              <a:rPr lang="ko-KR" altLang="en-US" sz="10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는 각 법인 특성 </a:t>
            </a:r>
            <a:r>
              <a:rPr lang="en-US" altLang="ko-KR" sz="10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/ </a:t>
            </a:r>
            <a:r>
              <a:rPr lang="ko-KR" altLang="en-US" sz="10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현황 고려 지원</a:t>
            </a:r>
          </a:p>
        </p:txBody>
      </p:sp>
      <p:sp>
        <p:nvSpPr>
          <p:cNvPr id="206" name="오른쪽 중괄호 205">
            <a:extLst>
              <a:ext uri="{FF2B5EF4-FFF2-40B4-BE49-F238E27FC236}">
                <a16:creationId xmlns:a16="http://schemas.microsoft.com/office/drawing/2014/main" id="{22ABF475-2FC2-112D-FB98-CC3EBBBF3AFA}"/>
              </a:ext>
            </a:extLst>
          </p:cNvPr>
          <p:cNvSpPr/>
          <p:nvPr/>
        </p:nvSpPr>
        <p:spPr>
          <a:xfrm rot="5400000">
            <a:off x="8027028" y="3602972"/>
            <a:ext cx="108000" cy="1224000"/>
          </a:xfrm>
          <a:prstGeom prst="rightBrace">
            <a:avLst/>
          </a:prstGeom>
          <a:noFill/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47E82830-3508-AB4B-B2AF-9A62A5C7AED6}"/>
              </a:ext>
            </a:extLst>
          </p:cNvPr>
          <p:cNvSpPr txBox="1"/>
          <p:nvPr/>
        </p:nvSpPr>
        <p:spPr>
          <a:xfrm>
            <a:off x="7861694" y="4387331"/>
            <a:ext cx="1224000" cy="622823"/>
          </a:xfrm>
          <a:prstGeom prst="rect">
            <a:avLst/>
          </a:prstGeom>
        </p:spPr>
        <p:txBody>
          <a:bodyPr wrap="square" lIns="3600" tIns="3600" rIns="3600" bIns="3600" rtlCol="0">
            <a:spAutoFit/>
          </a:bodyPr>
          <a:lstStyle>
            <a:defPPr>
              <a:defRPr lang="ko-KR"/>
            </a:defPPr>
            <a:lvl1pPr marL="182563" indent="-182563" fontAlgn="base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kumimoji="1" sz="1100" b="0">
                <a:solidFill>
                  <a:srgbClr val="000000"/>
                </a:solidFill>
                <a:latin typeface="+mn-ea"/>
              </a:defRPr>
            </a:lvl1pPr>
            <a:lvl2pPr marL="419100" lvl="1" indent="-136525" fontAlgn="base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itchFamily="34" charset="0"/>
              <a:buChar char="•"/>
              <a:defRPr sz="120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2pPr>
            <a:lvl3pPr marL="541338" indent="-136525">
              <a:spcBef>
                <a:spcPct val="20000"/>
              </a:spcBef>
              <a:buFont typeface="Arial" pitchFamily="34" charset="0"/>
              <a:buChar char="•"/>
              <a:defRPr sz="12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  <a:tabLst>
                <a:tab pos="177800" algn="l"/>
              </a:tabLst>
            </a:pPr>
            <a:r>
              <a:rPr lang="en-US" altLang="ko-KR" sz="10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[</a:t>
            </a:r>
            <a:r>
              <a:rPr lang="ko-KR" altLang="en-US" sz="10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기획</a:t>
            </a:r>
            <a:r>
              <a:rPr lang="en-US" altLang="ko-KR" sz="10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10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업무 중심</a:t>
            </a:r>
            <a:r>
              <a:rPr lang="en-US" altLang="ko-KR" sz="10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]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  <a:tabLst>
                <a:tab pos="177800" algn="l"/>
              </a:tabLst>
            </a:pPr>
            <a:r>
              <a:rPr lang="ko-KR" altLang="en-US" sz="10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북미</a:t>
            </a:r>
            <a:r>
              <a:rPr lang="en-US" altLang="ko-KR" sz="10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ER Part</a:t>
            </a:r>
            <a:r>
              <a:rPr lang="ko-KR" altLang="en-US" sz="10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에서 </a:t>
            </a:r>
            <a:br>
              <a:rPr lang="en-US" altLang="ko-KR" sz="1000" spc="-50" dirty="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ko-KR" altLang="en-US" sz="10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북미 노경 전략 수립 및 </a:t>
            </a:r>
            <a:r>
              <a:rPr lang="en-US" altLang="ko-KR" sz="10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HQ</a:t>
            </a:r>
            <a:r>
              <a:rPr lang="ko-KR" altLang="en-US" sz="10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노경기획팀과 조율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3B3BFBF-76D0-FF11-D2A7-6665A4932F12}"/>
              </a:ext>
            </a:extLst>
          </p:cNvPr>
          <p:cNvSpPr txBox="1"/>
          <p:nvPr/>
        </p:nvSpPr>
        <p:spPr>
          <a:xfrm>
            <a:off x="5902019" y="2078605"/>
            <a:ext cx="6246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[ </a:t>
            </a:r>
            <a:r>
              <a:rPr lang="ko-KR" altLang="en-US" sz="1100" b="1" kern="1200" spc="-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 </a:t>
            </a:r>
            <a:r>
              <a:rPr lang="en-US" altLang="ko-KR" sz="1100" b="1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F1C935D-A9DC-8BA8-7ABC-94E7F5A81072}"/>
              </a:ext>
            </a:extLst>
          </p:cNvPr>
          <p:cNvSpPr txBox="1"/>
          <p:nvPr/>
        </p:nvSpPr>
        <p:spPr>
          <a:xfrm>
            <a:off x="7071374" y="2086299"/>
            <a:ext cx="8097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[ </a:t>
            </a:r>
            <a:r>
              <a:rPr lang="ko-KR" altLang="en-US" sz="1100" b="1" kern="1200" spc="-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북미거점 </a:t>
            </a:r>
            <a:r>
              <a:rPr lang="en-US" altLang="ko-KR" sz="1100" b="1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15A6D71-7510-957E-8272-AA2B2A1AAB6B}"/>
              </a:ext>
            </a:extLst>
          </p:cNvPr>
          <p:cNvSpPr txBox="1"/>
          <p:nvPr/>
        </p:nvSpPr>
        <p:spPr>
          <a:xfrm>
            <a:off x="8135416" y="2086299"/>
            <a:ext cx="8097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[ </a:t>
            </a:r>
            <a:r>
              <a:rPr lang="en-US" altLang="ko-KR" sz="1100" b="1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H Q</a:t>
            </a:r>
            <a:r>
              <a:rPr lang="ko-KR" altLang="en-US" sz="1100" b="1" kern="1200" spc="-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100" b="1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917BD09C-166F-5343-45E1-A2142D60CCAA}"/>
              </a:ext>
            </a:extLst>
          </p:cNvPr>
          <p:cNvGrpSpPr/>
          <p:nvPr/>
        </p:nvGrpSpPr>
        <p:grpSpPr>
          <a:xfrm>
            <a:off x="5890327" y="3290695"/>
            <a:ext cx="670704" cy="334081"/>
            <a:chOff x="5578496" y="2778158"/>
            <a:chExt cx="670704" cy="334081"/>
          </a:xfrm>
        </p:grpSpPr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29CDFD74-C97F-10F8-36F5-33E80B8CA2EE}"/>
                </a:ext>
              </a:extLst>
            </p:cNvPr>
            <p:cNvSpPr/>
            <p:nvPr/>
          </p:nvSpPr>
          <p:spPr>
            <a:xfrm>
              <a:off x="5662334" y="2958669"/>
              <a:ext cx="586866" cy="15357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none" lIns="18000" tIns="18000" rIns="18000" bIns="18000" rtlCol="0" anchor="ctr" anchorCtr="0">
              <a:noAutofit/>
            </a:bodyPr>
            <a:lstStyle/>
            <a:p>
              <a:pPr algn="ctr" defTabSz="939800" eaLnBrk="0" latinLnBrk="0" hangingPunct="0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</a:pPr>
              <a:r>
                <a:rPr kumimoji="1" lang="en-US" altLang="ko-KR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HR T</a:t>
              </a:r>
              <a:endParaRPr kumimoji="1" lang="ko-KR" altLang="en-US" sz="1000" kern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66" name="꺾인 연결선 66">
              <a:extLst>
                <a:ext uri="{FF2B5EF4-FFF2-40B4-BE49-F238E27FC236}">
                  <a16:creationId xmlns:a16="http://schemas.microsoft.com/office/drawing/2014/main" id="{91D42AF5-3FF5-A9FF-C662-6EE2886D5BC2}"/>
                </a:ext>
              </a:extLst>
            </p:cNvPr>
            <p:cNvCxnSpPr>
              <a:cxnSpLocks/>
              <a:endCxn id="163" idx="1"/>
            </p:cNvCxnSpPr>
            <p:nvPr/>
          </p:nvCxnSpPr>
          <p:spPr>
            <a:xfrm rot="16200000" flipH="1">
              <a:off x="5550342" y="2923462"/>
              <a:ext cx="174335" cy="49649"/>
            </a:xfrm>
            <a:prstGeom prst="bentConnector2">
              <a:avLst/>
            </a:prstGeom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D312B1B8-50EC-D2AE-2CC6-89D81BC834DF}"/>
                </a:ext>
              </a:extLst>
            </p:cNvPr>
            <p:cNvSpPr/>
            <p:nvPr/>
          </p:nvSpPr>
          <p:spPr>
            <a:xfrm>
              <a:off x="5578496" y="2778158"/>
              <a:ext cx="670704" cy="1535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none" lIns="18000" tIns="18000" rIns="18000" bIns="18000" rtlCol="0" anchor="ctr" anchorCtr="0">
              <a:noAutofit/>
            </a:bodyPr>
            <a:lstStyle/>
            <a:p>
              <a:pPr algn="ctr" defTabSz="939800" eaLnBrk="0" latinLnBrk="0" hangingPunct="0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</a:pPr>
              <a:r>
                <a:rPr kumimoji="1" lang="en-US" altLang="ko-KR" sz="900" b="1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ESMI (Lansing)</a:t>
              </a:r>
              <a:endParaRPr kumimoji="1" lang="ko-KR" altLang="en-US" sz="900" b="1" kern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cxnSp>
        <p:nvCxnSpPr>
          <p:cNvPr id="173" name="꺾인 연결선 66">
            <a:extLst>
              <a:ext uri="{FF2B5EF4-FFF2-40B4-BE49-F238E27FC236}">
                <a16:creationId xmlns:a16="http://schemas.microsoft.com/office/drawing/2014/main" id="{034763F9-90C0-C13A-5F99-105C07C49C4F}"/>
              </a:ext>
            </a:extLst>
          </p:cNvPr>
          <p:cNvCxnSpPr>
            <a:cxnSpLocks/>
          </p:cNvCxnSpPr>
          <p:nvPr/>
        </p:nvCxnSpPr>
        <p:spPr>
          <a:xfrm>
            <a:off x="6561031" y="3537113"/>
            <a:ext cx="58255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3C7C7683-402E-E806-A3DA-B1E962EC7864}"/>
              </a:ext>
            </a:extLst>
          </p:cNvPr>
          <p:cNvGrpSpPr/>
          <p:nvPr/>
        </p:nvGrpSpPr>
        <p:grpSpPr>
          <a:xfrm>
            <a:off x="7147395" y="2944070"/>
            <a:ext cx="648000" cy="665692"/>
            <a:chOff x="6707155" y="2645740"/>
            <a:chExt cx="648000" cy="665692"/>
          </a:xfrm>
        </p:grpSpPr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DE158F6B-8C8E-6EDB-AC94-8E099F0D4868}"/>
                </a:ext>
              </a:extLst>
            </p:cNvPr>
            <p:cNvSpPr/>
            <p:nvPr/>
          </p:nvSpPr>
          <p:spPr>
            <a:xfrm>
              <a:off x="6729339" y="3157862"/>
              <a:ext cx="603633" cy="15357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none" lIns="18000" tIns="18000" rIns="18000" bIns="18000" rtlCol="0" anchor="ctr" anchorCtr="0">
              <a:noAutofit/>
            </a:bodyPr>
            <a:lstStyle/>
            <a:p>
              <a:pPr algn="ctr" defTabSz="939800" eaLnBrk="0" latinLnBrk="0" hangingPunct="0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</a:pPr>
              <a:r>
                <a:rPr kumimoji="1" lang="ko-KR" altLang="en-US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북미</a:t>
              </a:r>
              <a:r>
                <a:rPr kumimoji="1" lang="en-US" altLang="ko-KR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ER P</a:t>
              </a:r>
              <a:endParaRPr kumimoji="1" lang="ko-KR" altLang="en-US" sz="1000" kern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C85A0510-C28E-D9B9-4181-C2E53A388314}"/>
                </a:ext>
              </a:extLst>
            </p:cNvPr>
            <p:cNvSpPr/>
            <p:nvPr/>
          </p:nvSpPr>
          <p:spPr>
            <a:xfrm>
              <a:off x="6707155" y="2645740"/>
              <a:ext cx="648000" cy="15357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none" lIns="18000" tIns="18000" rIns="18000" bIns="18000" rtlCol="0" anchor="ctr" anchorCtr="0">
              <a:noAutofit/>
            </a:bodyPr>
            <a:lstStyle/>
            <a:p>
              <a:pPr algn="ctr" defTabSz="939800" eaLnBrk="0" latinLnBrk="0" hangingPunct="0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</a:pPr>
              <a:r>
                <a:rPr kumimoji="1" lang="ko-KR" altLang="en-US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북미</a:t>
              </a:r>
              <a:r>
                <a:rPr kumimoji="1" lang="en-US" altLang="ko-KR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HR</a:t>
              </a:r>
              <a:r>
                <a:rPr kumimoji="1" lang="ko-KR" altLang="en-US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담당</a:t>
              </a:r>
            </a:p>
          </p:txBody>
        </p: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AE94CBFA-0F83-A211-1377-28A23B0D7917}"/>
                </a:ext>
              </a:extLst>
            </p:cNvPr>
            <p:cNvCxnSpPr>
              <a:cxnSpLocks/>
            </p:cNvCxnSpPr>
            <p:nvPr/>
          </p:nvCxnSpPr>
          <p:spPr>
            <a:xfrm>
              <a:off x="7031155" y="2799310"/>
              <a:ext cx="0" cy="35855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43BFC402-15AA-6415-1722-0D8FAB0DF4CE}"/>
              </a:ext>
            </a:extLst>
          </p:cNvPr>
          <p:cNvGrpSpPr/>
          <p:nvPr/>
        </p:nvGrpSpPr>
        <p:grpSpPr>
          <a:xfrm>
            <a:off x="8216274" y="2945830"/>
            <a:ext cx="648000" cy="665692"/>
            <a:chOff x="7776034" y="2645740"/>
            <a:chExt cx="648000" cy="665692"/>
          </a:xfrm>
        </p:grpSpPr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24196B84-DC15-4877-B54A-47DD937F2EBE}"/>
                </a:ext>
              </a:extLst>
            </p:cNvPr>
            <p:cNvSpPr/>
            <p:nvPr/>
          </p:nvSpPr>
          <p:spPr>
            <a:xfrm>
              <a:off x="7798218" y="3157862"/>
              <a:ext cx="603633" cy="15357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none" lIns="18000" tIns="18000" rIns="18000" bIns="18000" rtlCol="0" anchor="ctr" anchorCtr="0">
              <a:noAutofit/>
            </a:bodyPr>
            <a:lstStyle/>
            <a:p>
              <a:pPr algn="ctr" defTabSz="939800" eaLnBrk="0" latinLnBrk="0" hangingPunct="0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</a:pPr>
              <a:r>
                <a:rPr kumimoji="1" lang="ko-KR" altLang="en-US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노경기획팀</a:t>
              </a:r>
            </a:p>
          </p:txBody>
        </p:sp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4923F396-3D12-5E38-4BFB-32A911B84512}"/>
                </a:ext>
              </a:extLst>
            </p:cNvPr>
            <p:cNvSpPr/>
            <p:nvPr/>
          </p:nvSpPr>
          <p:spPr>
            <a:xfrm>
              <a:off x="7776034" y="2645740"/>
              <a:ext cx="648000" cy="15357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none" lIns="18000" tIns="18000" rIns="18000" bIns="18000" rtlCol="0" anchor="ctr" anchorCtr="0">
              <a:noAutofit/>
            </a:bodyPr>
            <a:lstStyle/>
            <a:p>
              <a:pPr algn="ctr" defTabSz="939800" eaLnBrk="0" latinLnBrk="0" hangingPunct="0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</a:pPr>
              <a:r>
                <a:rPr kumimoji="1" lang="ko-KR" altLang="en-US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노경담당</a:t>
              </a:r>
            </a:p>
          </p:txBody>
        </p:sp>
        <p:cxnSp>
          <p:nvCxnSpPr>
            <p:cNvPr id="182" name="직선 연결선 181">
              <a:extLst>
                <a:ext uri="{FF2B5EF4-FFF2-40B4-BE49-F238E27FC236}">
                  <a16:creationId xmlns:a16="http://schemas.microsoft.com/office/drawing/2014/main" id="{BD62E733-7F06-E71D-BBAB-9E44EB2D4D4E}"/>
                </a:ext>
              </a:extLst>
            </p:cNvPr>
            <p:cNvCxnSpPr>
              <a:cxnSpLocks/>
            </p:cNvCxnSpPr>
            <p:nvPr/>
          </p:nvCxnSpPr>
          <p:spPr>
            <a:xfrm>
              <a:off x="8100034" y="2799310"/>
              <a:ext cx="0" cy="35855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4" name="꺾인 연결선 66">
            <a:extLst>
              <a:ext uri="{FF2B5EF4-FFF2-40B4-BE49-F238E27FC236}">
                <a16:creationId xmlns:a16="http://schemas.microsoft.com/office/drawing/2014/main" id="{BACB352E-CA13-F86F-E776-D753CB0C10B2}"/>
              </a:ext>
            </a:extLst>
          </p:cNvPr>
          <p:cNvCxnSpPr>
            <a:cxnSpLocks/>
            <a:stCxn id="161" idx="3"/>
            <a:endCxn id="180" idx="1"/>
          </p:cNvCxnSpPr>
          <p:nvPr/>
        </p:nvCxnSpPr>
        <p:spPr>
          <a:xfrm>
            <a:off x="7773212" y="3532977"/>
            <a:ext cx="465246" cy="176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12514414-B0BF-C580-55C0-D484A2F0B04E}"/>
              </a:ext>
            </a:extLst>
          </p:cNvPr>
          <p:cNvSpPr txBox="1"/>
          <p:nvPr/>
        </p:nvSpPr>
        <p:spPr>
          <a:xfrm>
            <a:off x="5995321" y="2945830"/>
            <a:ext cx="72248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인원 </a:t>
            </a:r>
            <a: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4</a:t>
            </a:r>
            <a:r>
              <a:rPr lang="ko-KR" altLang="en-US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endParaRPr lang="en-US" altLang="ko-KR" sz="900" spc="-50" baseline="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5E11D310-91E6-7126-2052-8021E223C154}"/>
              </a:ext>
            </a:extLst>
          </p:cNvPr>
          <p:cNvSpPr txBox="1"/>
          <p:nvPr/>
        </p:nvSpPr>
        <p:spPr>
          <a:xfrm>
            <a:off x="5995321" y="3608430"/>
            <a:ext cx="72248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인원 </a:t>
            </a:r>
            <a: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2</a:t>
            </a:r>
            <a:r>
              <a:rPr lang="ko-KR" altLang="en-US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endParaRPr lang="en-US" altLang="ko-KR" sz="900" spc="-50" baseline="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5D825481-0CF8-3F70-E04E-1E5C5C420371}"/>
              </a:ext>
            </a:extLst>
          </p:cNvPr>
          <p:cNvGrpSpPr/>
          <p:nvPr/>
        </p:nvGrpSpPr>
        <p:grpSpPr>
          <a:xfrm>
            <a:off x="5890327" y="2451355"/>
            <a:ext cx="764789" cy="506484"/>
            <a:chOff x="5336888" y="3624688"/>
            <a:chExt cx="764789" cy="506484"/>
          </a:xfrm>
        </p:grpSpPr>
        <p:cxnSp>
          <p:nvCxnSpPr>
            <p:cNvPr id="213" name="꺾인 연결선 66">
              <a:extLst>
                <a:ext uri="{FF2B5EF4-FFF2-40B4-BE49-F238E27FC236}">
                  <a16:creationId xmlns:a16="http://schemas.microsoft.com/office/drawing/2014/main" id="{47E7ECF8-7CA8-F742-6805-E9128C78C1E0}"/>
                </a:ext>
              </a:extLst>
            </p:cNvPr>
            <p:cNvCxnSpPr>
              <a:cxnSpLocks/>
              <a:endCxn id="217" idx="1"/>
            </p:cNvCxnSpPr>
            <p:nvPr/>
          </p:nvCxnSpPr>
          <p:spPr>
            <a:xfrm rot="16200000" flipH="1">
              <a:off x="5331124" y="3788328"/>
              <a:ext cx="129554" cy="49649"/>
            </a:xfrm>
            <a:prstGeom prst="bentConnector2">
              <a:avLst/>
            </a:prstGeom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DD389EBD-2B88-5196-52DE-235B0DFC2C8B}"/>
                </a:ext>
              </a:extLst>
            </p:cNvPr>
            <p:cNvSpPr/>
            <p:nvPr/>
          </p:nvSpPr>
          <p:spPr>
            <a:xfrm>
              <a:off x="5336888" y="3624688"/>
              <a:ext cx="670704" cy="1535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none" lIns="18000" tIns="18000" rIns="18000" bIns="18000" rtlCol="0" anchor="ctr" anchorCtr="0">
              <a:noAutofit/>
            </a:bodyPr>
            <a:lstStyle/>
            <a:p>
              <a:pPr algn="ctr" defTabSz="939800" eaLnBrk="0" latinLnBrk="0" hangingPunct="0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</a:pPr>
              <a:r>
                <a:rPr kumimoji="1" lang="en-US" altLang="ko-KR" sz="900" b="1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ESMI (Holland)</a:t>
              </a:r>
              <a:endParaRPr kumimoji="1" lang="ko-KR" altLang="en-US" sz="900" b="1" kern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99687FEC-4564-FF98-6387-3686BD994805}"/>
                </a:ext>
              </a:extLst>
            </p:cNvPr>
            <p:cNvSpPr/>
            <p:nvPr/>
          </p:nvSpPr>
          <p:spPr>
            <a:xfrm>
              <a:off x="5514811" y="3977602"/>
              <a:ext cx="586866" cy="15357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none" lIns="18000" tIns="18000" rIns="18000" bIns="18000" rtlCol="0" anchor="ctr" anchorCtr="0">
              <a:noAutofit/>
            </a:bodyPr>
            <a:lstStyle/>
            <a:p>
              <a:pPr algn="ctr" defTabSz="939800" eaLnBrk="0" latinLnBrk="0" hangingPunct="0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</a:pPr>
              <a:r>
                <a:rPr kumimoji="1" lang="en-US" altLang="ko-KR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HRBP P</a:t>
              </a:r>
              <a:endParaRPr kumimoji="1" lang="ko-KR" altLang="en-US" sz="1000" kern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16" name="꺾인 연결선 66">
              <a:extLst>
                <a:ext uri="{FF2B5EF4-FFF2-40B4-BE49-F238E27FC236}">
                  <a16:creationId xmlns:a16="http://schemas.microsoft.com/office/drawing/2014/main" id="{D3425349-F090-91FD-4E32-9A77FD783848}"/>
                </a:ext>
              </a:extLst>
            </p:cNvPr>
            <p:cNvCxnSpPr>
              <a:cxnSpLocks/>
              <a:endCxn id="215" idx="1"/>
            </p:cNvCxnSpPr>
            <p:nvPr/>
          </p:nvCxnSpPr>
          <p:spPr>
            <a:xfrm rot="16200000" flipH="1">
              <a:off x="5400477" y="3940054"/>
              <a:ext cx="179019" cy="49649"/>
            </a:xfrm>
            <a:prstGeom prst="bentConnector2">
              <a:avLst/>
            </a:prstGeom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BFCDA32B-2797-7465-3589-5686905D36A8}"/>
                </a:ext>
              </a:extLst>
            </p:cNvPr>
            <p:cNvSpPr/>
            <p:nvPr/>
          </p:nvSpPr>
          <p:spPr>
            <a:xfrm>
              <a:off x="5420726" y="3801145"/>
              <a:ext cx="586866" cy="15357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none" lIns="18000" tIns="18000" rIns="18000" bIns="18000" rtlCol="0" anchor="ctr" anchorCtr="0">
              <a:noAutofit/>
            </a:bodyPr>
            <a:lstStyle/>
            <a:p>
              <a:pPr algn="ctr" defTabSz="939800" eaLnBrk="0" latinLnBrk="0" hangingPunct="0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</a:pPr>
              <a:r>
                <a:rPr kumimoji="1" lang="en-US" altLang="ko-KR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HR</a:t>
              </a:r>
              <a:r>
                <a:rPr kumimoji="1" lang="ko-KR" altLang="en-US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kumimoji="1" lang="en-US" altLang="ko-KR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T</a:t>
              </a:r>
              <a:endParaRPr kumimoji="1" lang="ko-KR" altLang="en-US" sz="1000" kern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244" name="TextBox 243">
            <a:extLst>
              <a:ext uri="{FF2B5EF4-FFF2-40B4-BE49-F238E27FC236}">
                <a16:creationId xmlns:a16="http://schemas.microsoft.com/office/drawing/2014/main" id="{F6F35F49-C7AF-8A5E-858E-22B987C31E97}"/>
              </a:ext>
            </a:extLst>
          </p:cNvPr>
          <p:cNvSpPr txBox="1"/>
          <p:nvPr/>
        </p:nvSpPr>
        <p:spPr>
          <a:xfrm>
            <a:off x="5978687" y="4262042"/>
            <a:ext cx="72248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인원 </a:t>
            </a:r>
            <a: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3</a:t>
            </a:r>
            <a:r>
              <a:rPr lang="ko-KR" altLang="en-US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endParaRPr lang="en-US" altLang="ko-KR" sz="900" spc="-50" baseline="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245" name="그룹 244">
            <a:extLst>
              <a:ext uri="{FF2B5EF4-FFF2-40B4-BE49-F238E27FC236}">
                <a16:creationId xmlns:a16="http://schemas.microsoft.com/office/drawing/2014/main" id="{22024AFD-60B9-3C4A-A0B8-6334917BFEFD}"/>
              </a:ext>
            </a:extLst>
          </p:cNvPr>
          <p:cNvGrpSpPr/>
          <p:nvPr/>
        </p:nvGrpSpPr>
        <p:grpSpPr>
          <a:xfrm>
            <a:off x="5890327" y="3957632"/>
            <a:ext cx="764789" cy="506484"/>
            <a:chOff x="5336888" y="3624688"/>
            <a:chExt cx="764789" cy="506484"/>
          </a:xfrm>
        </p:grpSpPr>
        <p:cxnSp>
          <p:nvCxnSpPr>
            <p:cNvPr id="246" name="꺾인 연결선 66">
              <a:extLst>
                <a:ext uri="{FF2B5EF4-FFF2-40B4-BE49-F238E27FC236}">
                  <a16:creationId xmlns:a16="http://schemas.microsoft.com/office/drawing/2014/main" id="{1B5822D0-5DD9-DFC5-899D-519706CBA070}"/>
                </a:ext>
              </a:extLst>
            </p:cNvPr>
            <p:cNvCxnSpPr>
              <a:cxnSpLocks/>
              <a:endCxn id="250" idx="1"/>
            </p:cNvCxnSpPr>
            <p:nvPr/>
          </p:nvCxnSpPr>
          <p:spPr>
            <a:xfrm rot="16200000" flipH="1">
              <a:off x="5331124" y="3788328"/>
              <a:ext cx="129554" cy="49649"/>
            </a:xfrm>
            <a:prstGeom prst="bentConnector2">
              <a:avLst/>
            </a:prstGeom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직사각형 246">
              <a:extLst>
                <a:ext uri="{FF2B5EF4-FFF2-40B4-BE49-F238E27FC236}">
                  <a16:creationId xmlns:a16="http://schemas.microsoft.com/office/drawing/2014/main" id="{7E879494-CDC7-795D-6F87-A2E7B1C1623D}"/>
                </a:ext>
              </a:extLst>
            </p:cNvPr>
            <p:cNvSpPr/>
            <p:nvPr/>
          </p:nvSpPr>
          <p:spPr>
            <a:xfrm>
              <a:off x="5336888" y="3624688"/>
              <a:ext cx="670704" cy="1535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none" lIns="18000" tIns="18000" rIns="18000" bIns="18000" rtlCol="0" anchor="ctr" anchorCtr="0">
              <a:noAutofit/>
            </a:bodyPr>
            <a:lstStyle/>
            <a:p>
              <a:pPr algn="ctr" defTabSz="939800" eaLnBrk="0" latinLnBrk="0" hangingPunct="0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</a:pPr>
              <a:r>
                <a:rPr kumimoji="1" lang="en-US" altLang="ko-KR" sz="900" b="1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ESOT</a:t>
              </a:r>
              <a:endParaRPr kumimoji="1" lang="ko-KR" altLang="en-US" sz="900" b="1" kern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48" name="직사각형 247">
              <a:extLst>
                <a:ext uri="{FF2B5EF4-FFF2-40B4-BE49-F238E27FC236}">
                  <a16:creationId xmlns:a16="http://schemas.microsoft.com/office/drawing/2014/main" id="{2FBBA686-2F4D-7FA6-DD96-231C0E313900}"/>
                </a:ext>
              </a:extLst>
            </p:cNvPr>
            <p:cNvSpPr/>
            <p:nvPr/>
          </p:nvSpPr>
          <p:spPr>
            <a:xfrm>
              <a:off x="5514811" y="3977602"/>
              <a:ext cx="586866" cy="15357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none" lIns="18000" tIns="18000" rIns="18000" bIns="18000" rtlCol="0" anchor="ctr" anchorCtr="0">
              <a:noAutofit/>
            </a:bodyPr>
            <a:lstStyle/>
            <a:p>
              <a:pPr algn="ctr" defTabSz="939800" eaLnBrk="0" latinLnBrk="0" hangingPunct="0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</a:pPr>
              <a:r>
                <a:rPr kumimoji="1" lang="en-US" altLang="ko-KR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ER P</a:t>
              </a:r>
              <a:endParaRPr kumimoji="1" lang="ko-KR" altLang="en-US" sz="1000" kern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49" name="꺾인 연결선 66">
              <a:extLst>
                <a:ext uri="{FF2B5EF4-FFF2-40B4-BE49-F238E27FC236}">
                  <a16:creationId xmlns:a16="http://schemas.microsoft.com/office/drawing/2014/main" id="{C29D19B2-657C-7550-4824-2E2527D16573}"/>
                </a:ext>
              </a:extLst>
            </p:cNvPr>
            <p:cNvCxnSpPr>
              <a:cxnSpLocks/>
              <a:endCxn id="248" idx="1"/>
            </p:cNvCxnSpPr>
            <p:nvPr/>
          </p:nvCxnSpPr>
          <p:spPr>
            <a:xfrm rot="16200000" flipH="1">
              <a:off x="5400477" y="3940054"/>
              <a:ext cx="179019" cy="49649"/>
            </a:xfrm>
            <a:prstGeom prst="bentConnector2">
              <a:avLst/>
            </a:prstGeom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0" name="직사각형 249">
              <a:extLst>
                <a:ext uri="{FF2B5EF4-FFF2-40B4-BE49-F238E27FC236}">
                  <a16:creationId xmlns:a16="http://schemas.microsoft.com/office/drawing/2014/main" id="{68B0B095-545B-6E8F-F6CA-E51DD52EE346}"/>
                </a:ext>
              </a:extLst>
            </p:cNvPr>
            <p:cNvSpPr/>
            <p:nvPr/>
          </p:nvSpPr>
          <p:spPr>
            <a:xfrm>
              <a:off x="5420726" y="3801145"/>
              <a:ext cx="586866" cy="15357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none" lIns="18000" tIns="18000" rIns="18000" bIns="18000" rtlCol="0" anchor="ctr" anchorCtr="0">
              <a:noAutofit/>
            </a:bodyPr>
            <a:lstStyle/>
            <a:p>
              <a:pPr algn="ctr" defTabSz="939800" eaLnBrk="0" latinLnBrk="0" hangingPunct="0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</a:pPr>
              <a:r>
                <a:rPr kumimoji="1" lang="en-US" altLang="ko-KR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HR</a:t>
              </a:r>
              <a:r>
                <a:rPr kumimoji="1" lang="ko-KR" altLang="en-US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kumimoji="1" lang="en-US" altLang="ko-KR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T</a:t>
              </a:r>
              <a:endParaRPr kumimoji="1" lang="ko-KR" altLang="en-US" sz="1000" kern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251" name="TextBox 250">
            <a:extLst>
              <a:ext uri="{FF2B5EF4-FFF2-40B4-BE49-F238E27FC236}">
                <a16:creationId xmlns:a16="http://schemas.microsoft.com/office/drawing/2014/main" id="{5922D6A6-A220-F11B-3E6D-30BCCF39247E}"/>
              </a:ext>
            </a:extLst>
          </p:cNvPr>
          <p:cNvSpPr txBox="1"/>
          <p:nvPr/>
        </p:nvSpPr>
        <p:spPr>
          <a:xfrm>
            <a:off x="5995321" y="4487003"/>
            <a:ext cx="72248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인원 </a:t>
            </a:r>
            <a: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3</a:t>
            </a:r>
            <a:r>
              <a:rPr lang="ko-KR" altLang="en-US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endParaRPr lang="en-US" altLang="ko-KR" sz="900" spc="-50" baseline="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52" name="꺾인 연결선 66">
            <a:extLst>
              <a:ext uri="{FF2B5EF4-FFF2-40B4-BE49-F238E27FC236}">
                <a16:creationId xmlns:a16="http://schemas.microsoft.com/office/drawing/2014/main" id="{A47F5748-1673-FF1F-BA90-B33F33ACBB8F}"/>
              </a:ext>
            </a:extLst>
          </p:cNvPr>
          <p:cNvCxnSpPr>
            <a:cxnSpLocks/>
            <a:stCxn id="215" idx="3"/>
            <a:endCxn id="161" idx="1"/>
          </p:cNvCxnSpPr>
          <p:nvPr/>
        </p:nvCxnSpPr>
        <p:spPr>
          <a:xfrm>
            <a:off x="6655116" y="2881054"/>
            <a:ext cx="514463" cy="65192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head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꺾인 연결선 66">
            <a:extLst>
              <a:ext uri="{FF2B5EF4-FFF2-40B4-BE49-F238E27FC236}">
                <a16:creationId xmlns:a16="http://schemas.microsoft.com/office/drawing/2014/main" id="{EF41F74A-5632-F53F-EC79-4E3376D33100}"/>
              </a:ext>
            </a:extLst>
          </p:cNvPr>
          <p:cNvCxnSpPr>
            <a:cxnSpLocks/>
            <a:stCxn id="248" idx="3"/>
          </p:cNvCxnSpPr>
          <p:nvPr/>
        </p:nvCxnSpPr>
        <p:spPr>
          <a:xfrm flipV="1">
            <a:off x="6655116" y="3559634"/>
            <a:ext cx="257231" cy="827697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ACF08C98-330D-3FCC-F614-19C2260813E3}"/>
              </a:ext>
            </a:extLst>
          </p:cNvPr>
          <p:cNvSpPr txBox="1"/>
          <p:nvPr/>
        </p:nvSpPr>
        <p:spPr>
          <a:xfrm>
            <a:off x="6595219" y="2445717"/>
            <a:ext cx="2017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atinLnBrk="1">
              <a:spcAft>
                <a:spcPts val="400"/>
              </a:spcAft>
              <a:buFont typeface="Arial" panose="020B0604020202020204" pitchFamily="34" charset="0"/>
              <a:buNone/>
            </a:pPr>
            <a:r>
              <a:rPr lang="ko-KR" altLang="en-US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운영담당 신규 채용</a:t>
            </a:r>
            <a:b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Anthony (’26.02)</a:t>
            </a:r>
            <a:endParaRPr lang="en-US" altLang="ko-KR" sz="900" spc="-50" baseline="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8A272FB-F7C6-1F10-99BC-B363A48CE583}"/>
              </a:ext>
            </a:extLst>
          </p:cNvPr>
          <p:cNvSpPr txBox="1"/>
          <p:nvPr/>
        </p:nvSpPr>
        <p:spPr>
          <a:xfrm>
            <a:off x="6595219" y="4455391"/>
            <a:ext cx="1071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atinLnBrk="1">
              <a:spcAft>
                <a:spcPts val="400"/>
              </a:spcAft>
              <a:buFont typeface="Arial" panose="020B0604020202020204" pitchFamily="34" charset="0"/>
              <a:buNone/>
            </a:pPr>
            <a: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ER </a:t>
            </a:r>
            <a:r>
              <a:rPr lang="ko-KR" altLang="en-US" sz="900" spc="-5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파트장신규</a:t>
            </a:r>
            <a:r>
              <a:rPr lang="ko-KR" altLang="en-US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채용</a:t>
            </a:r>
            <a:b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Kevin (’26.02)</a:t>
            </a:r>
            <a:endParaRPr lang="en-US" altLang="ko-KR" sz="900" spc="-50" baseline="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96" name="꺾인 연결선 66">
            <a:extLst>
              <a:ext uri="{FF2B5EF4-FFF2-40B4-BE49-F238E27FC236}">
                <a16:creationId xmlns:a16="http://schemas.microsoft.com/office/drawing/2014/main" id="{077E8B59-1F2E-4769-2C99-A727BAE1BFFA}"/>
              </a:ext>
            </a:extLst>
          </p:cNvPr>
          <p:cNvCxnSpPr>
            <a:cxnSpLocks/>
            <a:endCxn id="180" idx="2"/>
          </p:cNvCxnSpPr>
          <p:nvPr/>
        </p:nvCxnSpPr>
        <p:spPr>
          <a:xfrm flipV="1">
            <a:off x="6890618" y="3611522"/>
            <a:ext cx="1649657" cy="11488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58CC2F9-C91B-FD5A-CA9C-85C4194E7A56}"/>
              </a:ext>
            </a:extLst>
          </p:cNvPr>
          <p:cNvSpPr txBox="1"/>
          <p:nvPr/>
        </p:nvSpPr>
        <p:spPr>
          <a:xfrm>
            <a:off x="7051538" y="3757316"/>
            <a:ext cx="1186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atinLnBrk="1">
              <a:spcAft>
                <a:spcPts val="400"/>
              </a:spcAft>
              <a:buFont typeface="Arial" panose="020B0604020202020204" pitchFamily="34" charset="0"/>
              <a:buNone/>
            </a:pPr>
            <a:r>
              <a:rPr lang="ko-KR" altLang="en-US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북미 노경주재원 파견 </a:t>
            </a:r>
            <a:b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송우진</a:t>
            </a:r>
            <a: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(’26.01)</a:t>
            </a:r>
            <a:endParaRPr lang="en-US" altLang="ko-KR" sz="900" spc="-50" baseline="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실행 단추: 앞으로 또는 다음 84">
            <a:hlinkClick r:id="rId3" action="ppaction://hlinksldjump"/>
            <a:extLst>
              <a:ext uri="{FF2B5EF4-FFF2-40B4-BE49-F238E27FC236}">
                <a16:creationId xmlns:a16="http://schemas.microsoft.com/office/drawing/2014/main" id="{4A2751E5-CFAE-C280-B56D-438FF462B8E3}"/>
              </a:ext>
            </a:extLst>
          </p:cNvPr>
          <p:cNvSpPr/>
          <p:nvPr/>
        </p:nvSpPr>
        <p:spPr>
          <a:xfrm>
            <a:off x="8378366" y="955249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C35488-DAF5-E902-CD81-4AF8371DA2CF}"/>
              </a:ext>
            </a:extLst>
          </p:cNvPr>
          <p:cNvSpPr txBox="1"/>
          <p:nvPr/>
        </p:nvSpPr>
        <p:spPr>
          <a:xfrm>
            <a:off x="8571095" y="947415"/>
            <a:ext cx="70532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0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HQ—</a:t>
            </a:r>
            <a:r>
              <a:rPr lang="ko-KR" altLang="en-US" sz="10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법인</a:t>
            </a:r>
            <a:br>
              <a:rPr lang="en-US" altLang="ko-KR" sz="10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ko-KR" altLang="en-US" sz="10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노경관리</a:t>
            </a:r>
            <a:r>
              <a:rPr lang="en-US" altLang="ko-KR" sz="10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R&amp;R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5BBB9B-2392-FFCA-6EF6-5298426FE346}"/>
              </a:ext>
            </a:extLst>
          </p:cNvPr>
          <p:cNvSpPr txBox="1"/>
          <p:nvPr/>
        </p:nvSpPr>
        <p:spPr>
          <a:xfrm>
            <a:off x="202841" y="150290"/>
            <a:ext cx="296656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7800" indent="-177800">
              <a:buFont typeface="+mj-lt"/>
              <a:buAutoNum type="romanUcPeriod" startAt="3"/>
            </a:pP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추진과제 및 대응방향  </a:t>
            </a:r>
            <a:endParaRPr lang="en-US" altLang="ko-KR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실행 단추: 앞으로 또는 다음 84">
            <a:hlinkClick r:id="rId4" action="ppaction://hlinksldjump"/>
            <a:extLst>
              <a:ext uri="{FF2B5EF4-FFF2-40B4-BE49-F238E27FC236}">
                <a16:creationId xmlns:a16="http://schemas.microsoft.com/office/drawing/2014/main" id="{0AFFCC3E-4896-47FB-BD23-DF86673F5F4C}"/>
              </a:ext>
            </a:extLst>
          </p:cNvPr>
          <p:cNvSpPr/>
          <p:nvPr/>
        </p:nvSpPr>
        <p:spPr>
          <a:xfrm>
            <a:off x="257608" y="3653644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D69D42-1CE0-18E5-368E-8303C5C79A92}"/>
              </a:ext>
            </a:extLst>
          </p:cNvPr>
          <p:cNvSpPr txBox="1"/>
          <p:nvPr/>
        </p:nvSpPr>
        <p:spPr>
          <a:xfrm>
            <a:off x="450337" y="3620871"/>
            <a:ext cx="1165546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ESMI </a:t>
            </a:r>
            <a:r>
              <a:rPr lang="ko-KR" altLang="en-US" sz="1000" u="sng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랜싱</a:t>
            </a:r>
            <a:r>
              <a:rPr lang="ko-KR" altLang="en-US" sz="10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조직화</a:t>
            </a:r>
            <a:br>
              <a:rPr lang="en-US" altLang="ko-KR" sz="10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ko-KR" altLang="en-US" sz="10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취약성 진단 및</a:t>
            </a:r>
            <a:br>
              <a:rPr lang="en-US" altLang="ko-KR" sz="10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ko-KR" altLang="en-US" sz="10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조직화 선행 대응 </a:t>
            </a:r>
            <a:r>
              <a:rPr lang="en-US" altLang="ko-KR" sz="10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Plan</a:t>
            </a:r>
          </a:p>
        </p:txBody>
      </p:sp>
    </p:spTree>
    <p:extLst>
      <p:ext uri="{BB962C8B-B14F-4D97-AF65-F5344CB8AC3E}">
        <p14:creationId xmlns:p14="http://schemas.microsoft.com/office/powerpoint/2010/main" val="2092472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4880180" y="181068"/>
            <a:ext cx="4738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⑤ 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 Fundamental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및 안정화 과제 이행</a:t>
            </a: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C41A82-86E3-2340-CDD9-BEF41B745B6D}"/>
              </a:ext>
            </a:extLst>
          </p:cNvPr>
          <p:cNvSpPr txBox="1"/>
          <p:nvPr/>
        </p:nvSpPr>
        <p:spPr>
          <a:xfrm>
            <a:off x="203762" y="3513092"/>
            <a:ext cx="1042331" cy="535238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ESNJ,</a:t>
            </a:r>
            <a:r>
              <a:rPr kumimoji="0" lang="ko-KR" altLang="en-US" sz="1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1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NA, NB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F6B713-A48D-1092-85E9-6913EF2791B6}"/>
              </a:ext>
            </a:extLst>
          </p:cNvPr>
          <p:cNvSpPr txBox="1"/>
          <p:nvPr/>
        </p:nvSpPr>
        <p:spPr>
          <a:xfrm>
            <a:off x="203762" y="1642022"/>
            <a:ext cx="1042331" cy="535238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ESWA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500AFE-5916-E6A3-13A9-60443AFED88D}"/>
              </a:ext>
            </a:extLst>
          </p:cNvPr>
          <p:cNvSpPr txBox="1"/>
          <p:nvPr/>
        </p:nvSpPr>
        <p:spPr>
          <a:xfrm>
            <a:off x="203762" y="5084826"/>
            <a:ext cx="1042331" cy="535238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ESHM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78628AC-D27F-B352-0F9B-1B060E18B6C1}"/>
              </a:ext>
            </a:extLst>
          </p:cNvPr>
          <p:cNvSpPr txBox="1"/>
          <p:nvPr/>
        </p:nvSpPr>
        <p:spPr>
          <a:xfrm>
            <a:off x="1597953" y="1624092"/>
            <a:ext cx="3461521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base" latinLnBrk="0" hangingPunct="1"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b="1" kern="0" spc="-5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저성과자</a:t>
            </a:r>
            <a:r>
              <a:rPr lang="ko-KR" altLang="en-US" sz="1200" b="1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중심 설립된 노동조합의 소수 노조 전략 유지</a:t>
            </a:r>
            <a:b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- ’25.06 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설립 후 최초 인원 통보</a:t>
            </a: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54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명 → </a:t>
            </a: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’26</a:t>
            </a:r>
            <a:r>
              <a:rPr lang="en-US" altLang="ko-KR" sz="12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.3 </a:t>
            </a:r>
            <a:r>
              <a:rPr lang="ko-KR" altLang="en-US" sz="1200" kern="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기준 </a:t>
            </a:r>
            <a:r>
              <a:rPr lang="en-US" altLang="ko-KR" sz="1200" kern="0" spc="-50">
                <a:latin typeface="Arial Narrow" panose="020B0606020202030204" pitchFamily="34" charset="0"/>
                <a:ea typeface="LG스마트체 Regular" panose="020B0600000101010101" pitchFamily="50" charset="-127"/>
              </a:rPr>
              <a:t>106</a:t>
            </a:r>
            <a:r>
              <a:rPr lang="ko-KR" altLang="en-US" sz="1200" kern="0" spc="-50"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endParaRPr kumimoji="0" lang="en-US" altLang="ko-KR" sz="1200" b="0" i="0" u="none" strike="noStrike" kern="0" cap="none" spc="-5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171450" marR="0" lvl="0" indent="-171450" algn="l" defTabSz="914400" rtl="0" eaLnBrk="1" fontAlgn="base" latinLnBrk="0" hangingPunct="1"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b="1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 </a:t>
            </a:r>
            <a:r>
              <a:rPr lang="ko-KR" altLang="en-US" sz="1200" b="1" kern="0" spc="-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저성과자</a:t>
            </a:r>
            <a:r>
              <a:rPr lang="ko-KR" altLang="en-US" sz="1200" b="1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관리 프로세스 정규 도입</a:t>
            </a:r>
            <a:b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인력효율화 일환으로 </a:t>
            </a:r>
            <a:r>
              <a:rPr lang="ko-KR" altLang="en-US" sz="1200" kern="0" spc="-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저성과자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PIP 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시행</a:t>
            </a:r>
            <a:endParaRPr lang="en-US" altLang="ko-KR" sz="1200" kern="0" spc="-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4D6B93-023D-C15F-6A7C-171FE3B7F988}"/>
              </a:ext>
            </a:extLst>
          </p:cNvPr>
          <p:cNvSpPr txBox="1"/>
          <p:nvPr/>
        </p:nvSpPr>
        <p:spPr>
          <a:xfrm>
            <a:off x="1597953" y="3513092"/>
            <a:ext cx="34615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base" latinLnBrk="0" hangingPunct="1">
              <a:spcBef>
                <a:spcPts val="1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b="1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남경 </a:t>
            </a:r>
            <a:r>
              <a:rPr lang="en-US" altLang="ko-KR" sz="1200" b="1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lang="ko-KR" altLang="en-US" sz="1200" b="1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 법인 전체 대규모 인력효율화 진행</a:t>
            </a:r>
            <a:br>
              <a:rPr lang="ko-KR" altLang="en-US" sz="1200" b="1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’24</a:t>
            </a:r>
            <a:r>
              <a:rPr lang="ko-KR" altLang="en-US" sz="12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 </a:t>
            </a:r>
            <a:r>
              <a:rPr lang="en-US" altLang="ko-KR" sz="12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ESNJ/NA/NB </a:t>
            </a:r>
            <a:r>
              <a:rPr lang="ko-KR" altLang="en-US" sz="12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약 </a:t>
            </a:r>
            <a:r>
              <a:rPr lang="en-US" altLang="ko-KR" sz="12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lang="ko-KR" altLang="en-US" sz="12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천여명 수준 인원 감축</a:t>
            </a:r>
            <a:br>
              <a:rPr lang="ko-KR" altLang="en-US" sz="12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’25</a:t>
            </a:r>
            <a:r>
              <a:rPr lang="ko-KR" altLang="en-US" sz="12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 </a:t>
            </a:r>
            <a:r>
              <a:rPr lang="en-US" altLang="ko-KR" sz="12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ESNJ/NA/NB </a:t>
            </a:r>
            <a:r>
              <a:rPr lang="ko-KR" altLang="en-US" sz="12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약 </a:t>
            </a:r>
            <a:r>
              <a:rPr lang="en-US" altLang="ko-KR" sz="12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2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천여명 수준 인원 감축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3E77D5-D404-E15B-CFEA-ED0B5084D76C}"/>
              </a:ext>
            </a:extLst>
          </p:cNvPr>
          <p:cNvSpPr txBox="1"/>
          <p:nvPr/>
        </p:nvSpPr>
        <p:spPr>
          <a:xfrm>
            <a:off x="1597953" y="5084826"/>
            <a:ext cx="3687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8113" marR="0" lvl="0" indent="-138113" algn="l" defTabSz="457200" rtl="0" eaLnBrk="1" fontAlgn="auto" latinLnBrk="0" hangingPunct="1">
              <a:spcBef>
                <a:spcPts val="1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ESHM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계약직 법정 계약기간 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5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년 도래 시점 정규직 전환</a:t>
            </a:r>
            <a:b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관련</a:t>
            </a:r>
            <a:r>
              <a:rPr lang="en-US" altLang="ko-KR" sz="12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집단 요구 발생 예상  </a:t>
            </a:r>
            <a:r>
              <a:rPr kumimoji="0" lang="ko-KR" altLang="en-US" sz="90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계약직 </a:t>
            </a:r>
            <a:r>
              <a:rPr kumimoji="0" lang="en-US" altLang="ko-KR" sz="90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633</a:t>
            </a:r>
            <a:r>
              <a:rPr kumimoji="0" lang="ko-KR" altLang="en-US" sz="90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명 중 </a:t>
            </a:r>
            <a:r>
              <a:rPr kumimoji="0" lang="en-US" altLang="ko-KR" sz="90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’28</a:t>
            </a:r>
            <a:r>
              <a:rPr kumimoji="0" lang="ko-KR" altLang="en-US" sz="90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년 도래 예정 인원 </a:t>
            </a:r>
            <a:r>
              <a:rPr kumimoji="0" lang="en-US" altLang="ko-KR" sz="90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205</a:t>
            </a:r>
            <a:r>
              <a:rPr kumimoji="0" lang="ko-KR" altLang="en-US" sz="90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명</a:t>
            </a:r>
            <a:br>
              <a:rPr lang="en-US" altLang="ko-KR" sz="1200" spc="-50" dirty="0">
                <a:solidFill>
                  <a:srgbClr val="006600"/>
                </a:solidFill>
                <a:latin typeface="Arial Narrow"/>
                <a:ea typeface="LG스마트체 Regular"/>
              </a:rPr>
            </a:br>
            <a:r>
              <a:rPr lang="en-US" altLang="ko-KR" sz="1200" spc="-50" dirty="0">
                <a:solidFill>
                  <a:srgbClr val="006600"/>
                </a:solidFill>
                <a:latin typeface="Arial Narrow"/>
                <a:ea typeface="LG스마트체 Regular"/>
              </a:rPr>
              <a:t>- </a:t>
            </a:r>
            <a:r>
              <a:rPr lang="ko-KR" altLang="en-US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산업단지 내 위치하고 있어 인근 기업 노조화 영향 상존</a:t>
            </a:r>
            <a:endParaRPr kumimoji="0" lang="en-US" altLang="ko-KR" sz="1200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312245F-1084-CE20-6AB3-C6B310E3D36F}"/>
              </a:ext>
            </a:extLst>
          </p:cNvPr>
          <p:cNvSpPr/>
          <p:nvPr/>
        </p:nvSpPr>
        <p:spPr>
          <a:xfrm>
            <a:off x="254280" y="1924863"/>
            <a:ext cx="950258" cy="183219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spc="-5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소수노조 유지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803D1EB-28BC-A4CA-3439-E08A36B60930}"/>
              </a:ext>
            </a:extLst>
          </p:cNvPr>
          <p:cNvSpPr/>
          <p:nvPr/>
        </p:nvSpPr>
        <p:spPr>
          <a:xfrm>
            <a:off x="254280" y="3818327"/>
            <a:ext cx="950258" cy="183219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spc="-5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인력효율화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79D0CBA-A860-5A25-F4C7-DBE32A221520}"/>
              </a:ext>
            </a:extLst>
          </p:cNvPr>
          <p:cNvSpPr/>
          <p:nvPr/>
        </p:nvSpPr>
        <p:spPr>
          <a:xfrm>
            <a:off x="254280" y="5362163"/>
            <a:ext cx="950258" cy="183219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spc="-5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집단화 예방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57DD67A8-8129-4838-B114-15C05A30222E}"/>
              </a:ext>
            </a:extLst>
          </p:cNvPr>
          <p:cNvSpPr/>
          <p:nvPr/>
        </p:nvSpPr>
        <p:spPr>
          <a:xfrm>
            <a:off x="5608828" y="1636361"/>
            <a:ext cx="3671887" cy="1586730"/>
          </a:xfrm>
          <a:prstGeom prst="roundRect">
            <a:avLst>
              <a:gd name="adj" fmla="val 2048"/>
            </a:avLst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wrap="square" lIns="18000" tIns="18000" rIns="18000" bIns="18000" rtlCol="0" anchor="t" anchorCtr="0">
            <a:noAutofit/>
          </a:bodyPr>
          <a:lstStyle/>
          <a:p>
            <a:pPr marL="0" marR="0" lvl="0" indent="0" defTabSz="939800" rtl="0" eaLnBrk="0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1" lang="ko-KR" altLang="en-US" sz="800" i="0" u="none" strike="noStrike" kern="0" cap="none" spc="-4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475CCA45-FD50-8389-CD4B-20264468F376}"/>
              </a:ext>
            </a:extLst>
          </p:cNvPr>
          <p:cNvSpPr/>
          <p:nvPr/>
        </p:nvSpPr>
        <p:spPr>
          <a:xfrm>
            <a:off x="5608828" y="3374441"/>
            <a:ext cx="3671887" cy="1674132"/>
          </a:xfrm>
          <a:prstGeom prst="roundRect">
            <a:avLst>
              <a:gd name="adj" fmla="val 2048"/>
            </a:avLst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wrap="square" lIns="18000" tIns="18000" rIns="18000" bIns="18000" rtlCol="0" anchor="t" anchorCtr="0">
            <a:noAutofit/>
          </a:bodyPr>
          <a:lstStyle/>
          <a:p>
            <a:pPr marL="0" marR="0" lvl="0" indent="0" defTabSz="939800" rtl="0" eaLnBrk="0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1" lang="ko-KR" altLang="en-US" sz="800" i="0" u="none" strike="noStrike" kern="0" cap="none" spc="-4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E706AB02-47A3-E9D3-09D4-54F1DDBA4295}"/>
              </a:ext>
            </a:extLst>
          </p:cNvPr>
          <p:cNvSpPr/>
          <p:nvPr/>
        </p:nvSpPr>
        <p:spPr>
          <a:xfrm>
            <a:off x="7377593" y="4330430"/>
            <a:ext cx="603633" cy="1535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wrap="none" lIns="18000" tIns="18000" rIns="18000" bIns="18000" rtlCol="0" anchor="ctr" anchorCtr="0">
            <a:noAutofit/>
          </a:bodyPr>
          <a:lstStyle/>
          <a:p>
            <a:pPr algn="ctr" defTabSz="939800" eaLnBrk="0" latinLnBrk="0" hangingPunct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ct val="100000"/>
            </a:pPr>
            <a:r>
              <a:rPr kumimoji="1" lang="ko-KR" altLang="en-US" sz="1000" kern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인사기획팀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5C9BEFFF-C65D-DBB0-C1F6-DECFDEEC0603}"/>
              </a:ext>
            </a:extLst>
          </p:cNvPr>
          <p:cNvSpPr/>
          <p:nvPr/>
        </p:nvSpPr>
        <p:spPr>
          <a:xfrm>
            <a:off x="6133674" y="3895997"/>
            <a:ext cx="586866" cy="1535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wrap="none" lIns="18000" tIns="18000" rIns="18000" bIns="18000" rtlCol="0" anchor="ctr" anchorCtr="0">
            <a:noAutofit/>
          </a:bodyPr>
          <a:lstStyle/>
          <a:p>
            <a:pPr algn="ctr" defTabSz="939800" eaLnBrk="0" latinLnBrk="0" hangingPunct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ct val="100000"/>
            </a:pPr>
            <a:r>
              <a:rPr kumimoji="1" lang="ko-KR" altLang="en-US" sz="1000" kern="0" spc="-5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노경팀</a:t>
            </a:r>
            <a:endParaRPr kumimoji="1" lang="ko-KR" altLang="en-US" sz="1000" kern="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1544464F-421C-74B5-7B67-A40B7B2B9078}"/>
              </a:ext>
            </a:extLst>
          </p:cNvPr>
          <p:cNvSpPr/>
          <p:nvPr/>
        </p:nvSpPr>
        <p:spPr>
          <a:xfrm>
            <a:off x="6133674" y="4328467"/>
            <a:ext cx="586866" cy="1535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wrap="none" lIns="18000" tIns="18000" rIns="18000" bIns="18000" rtlCol="0" anchor="ctr" anchorCtr="0">
            <a:noAutofit/>
          </a:bodyPr>
          <a:lstStyle/>
          <a:p>
            <a:pPr algn="ctr" defTabSz="939800" eaLnBrk="0" latinLnBrk="0" hangingPunct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ct val="100000"/>
            </a:pPr>
            <a:r>
              <a:rPr kumimoji="1" lang="ko-KR" altLang="en-US" sz="1000" kern="0" spc="-5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노경팀</a:t>
            </a:r>
            <a:endParaRPr kumimoji="1" lang="ko-KR" altLang="en-US" sz="1000" kern="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C15F6D40-DF28-30D1-E8B2-F72ECEEA4968}"/>
              </a:ext>
            </a:extLst>
          </p:cNvPr>
          <p:cNvSpPr/>
          <p:nvPr/>
        </p:nvSpPr>
        <p:spPr>
          <a:xfrm>
            <a:off x="6133674" y="4757197"/>
            <a:ext cx="586866" cy="1535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wrap="none" lIns="18000" tIns="18000" rIns="18000" bIns="18000" rtlCol="0" anchor="ctr" anchorCtr="0">
            <a:noAutofit/>
          </a:bodyPr>
          <a:lstStyle/>
          <a:p>
            <a:pPr algn="ctr" defTabSz="939800" eaLnBrk="0" latinLnBrk="0" hangingPunct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ct val="100000"/>
            </a:pPr>
            <a:r>
              <a:rPr kumimoji="1" lang="ko-KR" altLang="en-US" sz="1000" kern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인사지원팀</a:t>
            </a:r>
          </a:p>
        </p:txBody>
      </p:sp>
      <p:cxnSp>
        <p:nvCxnSpPr>
          <p:cNvPr id="91" name="꺾인 연결선 66">
            <a:extLst>
              <a:ext uri="{FF2B5EF4-FFF2-40B4-BE49-F238E27FC236}">
                <a16:creationId xmlns:a16="http://schemas.microsoft.com/office/drawing/2014/main" id="{959EC333-E727-8C71-7CBA-FD5799439BEC}"/>
              </a:ext>
            </a:extLst>
          </p:cNvPr>
          <p:cNvCxnSpPr>
            <a:cxnSpLocks/>
            <a:endCxn id="88" idx="1"/>
          </p:cNvCxnSpPr>
          <p:nvPr/>
        </p:nvCxnSpPr>
        <p:spPr>
          <a:xfrm rot="16200000" flipH="1">
            <a:off x="6044072" y="3883180"/>
            <a:ext cx="129554" cy="4964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꺾인 연결선 66">
            <a:extLst>
              <a:ext uri="{FF2B5EF4-FFF2-40B4-BE49-F238E27FC236}">
                <a16:creationId xmlns:a16="http://schemas.microsoft.com/office/drawing/2014/main" id="{A5DBD3EE-8C7C-A009-2BE8-01749BF95183}"/>
              </a:ext>
            </a:extLst>
          </p:cNvPr>
          <p:cNvCxnSpPr>
            <a:cxnSpLocks/>
            <a:endCxn id="89" idx="1"/>
          </p:cNvCxnSpPr>
          <p:nvPr/>
        </p:nvCxnSpPr>
        <p:spPr>
          <a:xfrm rot="16200000" flipH="1">
            <a:off x="6021682" y="4293260"/>
            <a:ext cx="174335" cy="4964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꺾인 연결선 66">
            <a:extLst>
              <a:ext uri="{FF2B5EF4-FFF2-40B4-BE49-F238E27FC236}">
                <a16:creationId xmlns:a16="http://schemas.microsoft.com/office/drawing/2014/main" id="{6E079662-0742-ED77-445E-007DC5F256AB}"/>
              </a:ext>
            </a:extLst>
          </p:cNvPr>
          <p:cNvCxnSpPr>
            <a:cxnSpLocks/>
            <a:endCxn id="90" idx="1"/>
          </p:cNvCxnSpPr>
          <p:nvPr/>
        </p:nvCxnSpPr>
        <p:spPr>
          <a:xfrm rot="16200000" flipH="1">
            <a:off x="6019340" y="4719649"/>
            <a:ext cx="179019" cy="49649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064D1858-088E-1522-9586-58E8920E3561}"/>
              </a:ext>
            </a:extLst>
          </p:cNvPr>
          <p:cNvSpPr/>
          <p:nvPr/>
        </p:nvSpPr>
        <p:spPr>
          <a:xfrm>
            <a:off x="6049836" y="3719540"/>
            <a:ext cx="670704" cy="1535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wrap="none" lIns="18000" tIns="18000" rIns="18000" bIns="18000" rtlCol="0" anchor="ctr" anchorCtr="0">
            <a:noAutofit/>
          </a:bodyPr>
          <a:lstStyle/>
          <a:p>
            <a:pPr algn="ctr" defTabSz="939800" eaLnBrk="0" latinLnBrk="0" hangingPunct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ct val="100000"/>
            </a:pPr>
            <a:r>
              <a:rPr kumimoji="1" lang="en-US" altLang="ko-KR" sz="1000" b="1" kern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ESNJ</a:t>
            </a:r>
            <a:endParaRPr kumimoji="1" lang="ko-KR" altLang="en-US" sz="900" b="1" kern="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B0A0126D-150D-0193-4161-26D17F992C04}"/>
              </a:ext>
            </a:extLst>
          </p:cNvPr>
          <p:cNvSpPr/>
          <p:nvPr/>
        </p:nvSpPr>
        <p:spPr>
          <a:xfrm>
            <a:off x="6049836" y="4147956"/>
            <a:ext cx="670704" cy="1535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wrap="none" lIns="18000" tIns="18000" rIns="18000" bIns="18000" rtlCol="0" anchor="ctr" anchorCtr="0">
            <a:noAutofit/>
          </a:bodyPr>
          <a:lstStyle/>
          <a:p>
            <a:pPr algn="ctr" defTabSz="939800" eaLnBrk="0" latinLnBrk="0" hangingPunct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ct val="100000"/>
            </a:pPr>
            <a:r>
              <a:rPr kumimoji="1" lang="en-US" altLang="ko-KR" sz="1000" b="1" kern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ESNA</a:t>
            </a:r>
            <a:endParaRPr kumimoji="1" lang="ko-KR" altLang="en-US" sz="800" b="1" kern="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1A5B82C7-3CE0-2877-F595-4F25B85D9F8B}"/>
              </a:ext>
            </a:extLst>
          </p:cNvPr>
          <p:cNvSpPr/>
          <p:nvPr/>
        </p:nvSpPr>
        <p:spPr>
          <a:xfrm>
            <a:off x="6049836" y="4576687"/>
            <a:ext cx="670704" cy="1535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wrap="none" lIns="18000" tIns="18000" rIns="18000" bIns="18000" rtlCol="0" anchor="ctr" anchorCtr="0">
            <a:noAutofit/>
          </a:bodyPr>
          <a:lstStyle/>
          <a:p>
            <a:pPr algn="ctr" defTabSz="939800" eaLnBrk="0" latinLnBrk="0" hangingPunct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ct val="100000"/>
            </a:pPr>
            <a:r>
              <a:rPr kumimoji="1" lang="en-US" altLang="ko-KR" sz="1000" b="1" kern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ESNB</a:t>
            </a:r>
            <a:endParaRPr kumimoji="1" lang="ko-KR" altLang="en-US" sz="1000" b="1" kern="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4F0032AB-A2FB-9671-5C58-55CA17C62DF2}"/>
              </a:ext>
            </a:extLst>
          </p:cNvPr>
          <p:cNvSpPr/>
          <p:nvPr/>
        </p:nvSpPr>
        <p:spPr>
          <a:xfrm>
            <a:off x="7355409" y="3818308"/>
            <a:ext cx="648000" cy="15357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wrap="none" lIns="18000" tIns="18000" rIns="18000" bIns="18000" rtlCol="0" anchor="ctr" anchorCtr="0">
            <a:noAutofit/>
          </a:bodyPr>
          <a:lstStyle/>
          <a:p>
            <a:pPr algn="ctr" defTabSz="939800" eaLnBrk="0" latinLnBrk="0" hangingPunct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ct val="100000"/>
            </a:pPr>
            <a:r>
              <a:rPr kumimoji="1" lang="ko-KR" altLang="en-US" sz="1000" kern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중국</a:t>
            </a:r>
            <a:r>
              <a:rPr kumimoji="1" lang="en-US" altLang="ko-KR" sz="1000" kern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HR</a:t>
            </a:r>
            <a:r>
              <a:rPr kumimoji="1" lang="ko-KR" altLang="en-US" sz="1000" kern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담당</a:t>
            </a:r>
          </a:p>
        </p:txBody>
      </p: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1D5B746D-78F3-7973-802A-1C91D25F267C}"/>
              </a:ext>
            </a:extLst>
          </p:cNvPr>
          <p:cNvCxnSpPr>
            <a:cxnSpLocks/>
            <a:stCxn id="100" idx="2"/>
            <a:endCxn id="87" idx="0"/>
          </p:cNvCxnSpPr>
          <p:nvPr/>
        </p:nvCxnSpPr>
        <p:spPr>
          <a:xfrm>
            <a:off x="7679409" y="3971878"/>
            <a:ext cx="1" cy="3585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8827D265-07E5-B968-94AC-FC8A27C05D90}"/>
              </a:ext>
            </a:extLst>
          </p:cNvPr>
          <p:cNvSpPr/>
          <p:nvPr/>
        </p:nvSpPr>
        <p:spPr>
          <a:xfrm>
            <a:off x="5608828" y="5199924"/>
            <a:ext cx="3687078" cy="1000851"/>
          </a:xfrm>
          <a:prstGeom prst="roundRect">
            <a:avLst>
              <a:gd name="adj" fmla="val 2048"/>
            </a:avLst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wrap="square" lIns="18000" tIns="18000" rIns="18000" bIns="18000" rtlCol="0" anchor="t" anchorCtr="0">
            <a:noAutofit/>
          </a:bodyPr>
          <a:lstStyle/>
          <a:p>
            <a:pPr marL="0" marR="0" lvl="0" indent="0" defTabSz="939800" rtl="0" eaLnBrk="0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1" lang="ko-KR" altLang="en-US" sz="800" i="0" u="none" strike="noStrike" kern="0" cap="none" spc="-4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EBFE13-C56C-B75E-1AAB-A85037BDC2AB}"/>
              </a:ext>
            </a:extLst>
          </p:cNvPr>
          <p:cNvSpPr txBox="1"/>
          <p:nvPr/>
        </p:nvSpPr>
        <p:spPr>
          <a:xfrm>
            <a:off x="1594656" y="2592237"/>
            <a:ext cx="38526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base" latinLnBrk="0"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/>
            </a:pPr>
            <a:r>
              <a:rPr lang="ko-KR" altLang="en-US" sz="1200" b="1" u="sng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조합 </a:t>
            </a:r>
            <a:r>
              <a:rPr lang="ko-KR" altLang="en-US" sz="1200" b="1" u="sng" kern="0" spc="-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확산세</a:t>
            </a:r>
            <a:r>
              <a:rPr lang="ko-KR" altLang="en-US" sz="1200" b="1" u="sng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차단을 위한 현장 소통 활성화 및 역량 강화</a:t>
            </a:r>
            <a:br>
              <a:rPr lang="en-US" altLang="ko-KR" sz="1200" b="1" u="sng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장 대의기구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 VOE 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관리 체계 개선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등 현장 소통 활성화 </a:t>
            </a:r>
            <a:b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현장 감독자 대상 노경 교육 진행 </a:t>
            </a:r>
            <a:r>
              <a:rPr kumimoji="0" lang="en-US" altLang="ko-KR" sz="900" b="0" i="0" u="none" strike="noStrike" kern="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’25.9 Master S/L </a:t>
            </a:r>
            <a:r>
              <a:rPr lang="ko-KR" altLang="en-US" sz="900" kern="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전원 대상 </a:t>
            </a:r>
            <a:r>
              <a:rPr lang="en-US" altLang="ko-KR" sz="900" kern="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</a:t>
            </a:r>
            <a:r>
              <a:rPr lang="ko-KR" altLang="en-US" sz="900" kern="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차수</a:t>
            </a:r>
            <a:b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ko-KR" altLang="en-US" sz="1200" b="0" i="0" u="none" strike="noStrike" kern="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저성과자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lang="en-US" altLang="ko-KR" sz="12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Outplacement</a:t>
            </a:r>
            <a:r>
              <a:rPr lang="ko-KR" altLang="en-US" sz="12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프로세스 수립 </a:t>
            </a:r>
            <a:r>
              <a:rPr kumimoji="0" lang="en-US" altLang="ko-KR" sz="900" b="0" i="0" u="none" strike="noStrike" kern="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’25.12 PIP </a:t>
            </a:r>
            <a:r>
              <a:rPr kumimoji="0" lang="ko-KR" altLang="en-US" sz="900" b="0" i="0" u="none" strike="noStrike" kern="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출장 지원</a:t>
            </a:r>
            <a:endParaRPr kumimoji="0" lang="en-US" altLang="ko-KR" sz="900" i="0" u="none" strike="noStrike" kern="0" cap="none" spc="-5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AE0BF2-A3E2-4A58-36B0-C3F73D7384C4}"/>
              </a:ext>
            </a:extLst>
          </p:cNvPr>
          <p:cNvSpPr txBox="1"/>
          <p:nvPr/>
        </p:nvSpPr>
        <p:spPr>
          <a:xfrm>
            <a:off x="6302995" y="1710418"/>
            <a:ext cx="624635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[ </a:t>
            </a:r>
            <a:r>
              <a:rPr lang="ko-KR" altLang="en-US" sz="1100" b="1" kern="1200" spc="-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 </a:t>
            </a:r>
            <a:r>
              <a:rPr lang="en-US" altLang="ko-KR" sz="1100" b="1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9CA1F1-D0BE-E9E9-7C1C-537ED6D53EE4}"/>
              </a:ext>
            </a:extLst>
          </p:cNvPr>
          <p:cNvSpPr txBox="1"/>
          <p:nvPr/>
        </p:nvSpPr>
        <p:spPr>
          <a:xfrm>
            <a:off x="7898380" y="1710418"/>
            <a:ext cx="809715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[ </a:t>
            </a:r>
            <a:r>
              <a:rPr lang="en-US" altLang="ko-KR" sz="1100" b="1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H Q</a:t>
            </a:r>
            <a:r>
              <a:rPr lang="ko-KR" altLang="en-US" sz="1100" b="1" kern="1200" spc="-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100" b="1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842D7241-D592-CF53-5341-617677D6A9AF}"/>
              </a:ext>
            </a:extLst>
          </p:cNvPr>
          <p:cNvGrpSpPr/>
          <p:nvPr/>
        </p:nvGrpSpPr>
        <p:grpSpPr>
          <a:xfrm>
            <a:off x="7984047" y="2128065"/>
            <a:ext cx="648000" cy="665692"/>
            <a:chOff x="7331051" y="2104717"/>
            <a:chExt cx="648000" cy="665692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6CED306-453A-2969-58F1-98A40DDF7990}"/>
                </a:ext>
              </a:extLst>
            </p:cNvPr>
            <p:cNvSpPr/>
            <p:nvPr/>
          </p:nvSpPr>
          <p:spPr>
            <a:xfrm>
              <a:off x="7353235" y="2616839"/>
              <a:ext cx="603633" cy="15357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none" lIns="18000" tIns="18000" rIns="18000" bIns="18000" rtlCol="0" anchor="ctr" anchorCtr="0">
              <a:noAutofit/>
            </a:bodyPr>
            <a:lstStyle/>
            <a:p>
              <a:pPr algn="ctr" defTabSz="939800" eaLnBrk="0" latinLnBrk="0" hangingPunct="0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</a:pPr>
              <a:r>
                <a:rPr kumimoji="1" lang="ko-KR" altLang="en-US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노경기획팀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D491244-C231-E65D-FD84-727D9DFB2D67}"/>
                </a:ext>
              </a:extLst>
            </p:cNvPr>
            <p:cNvSpPr/>
            <p:nvPr/>
          </p:nvSpPr>
          <p:spPr>
            <a:xfrm>
              <a:off x="7331051" y="2104717"/>
              <a:ext cx="648000" cy="15357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none" lIns="18000" tIns="18000" rIns="18000" bIns="18000" rtlCol="0" anchor="ctr" anchorCtr="0">
              <a:noAutofit/>
            </a:bodyPr>
            <a:lstStyle/>
            <a:p>
              <a:pPr algn="ctr" defTabSz="939800" eaLnBrk="0" latinLnBrk="0" hangingPunct="0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</a:pPr>
              <a:r>
                <a:rPr kumimoji="1" lang="ko-KR" altLang="en-US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노경담당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6E477455-9033-6D20-F243-8003D98A1CB3}"/>
                </a:ext>
              </a:extLst>
            </p:cNvPr>
            <p:cNvCxnSpPr>
              <a:cxnSpLocks/>
            </p:cNvCxnSpPr>
            <p:nvPr/>
          </p:nvCxnSpPr>
          <p:spPr>
            <a:xfrm>
              <a:off x="7655051" y="2258287"/>
              <a:ext cx="0" cy="35855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꺾인 연결선 66">
            <a:extLst>
              <a:ext uri="{FF2B5EF4-FFF2-40B4-BE49-F238E27FC236}">
                <a16:creationId xmlns:a16="http://schemas.microsoft.com/office/drawing/2014/main" id="{7FA90774-2CAC-15D2-4B9D-1A1C3F061F66}"/>
              </a:ext>
            </a:extLst>
          </p:cNvPr>
          <p:cNvCxnSpPr>
            <a:cxnSpLocks/>
            <a:stCxn id="7" idx="3"/>
            <a:endCxn id="19" idx="1"/>
          </p:cNvCxnSpPr>
          <p:nvPr/>
        </p:nvCxnSpPr>
        <p:spPr>
          <a:xfrm flipV="1">
            <a:off x="7072288" y="2716972"/>
            <a:ext cx="933943" cy="443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9B67D7B-B04E-C4FD-16DC-DFA7920094AB}"/>
              </a:ext>
            </a:extLst>
          </p:cNvPr>
          <p:cNvSpPr txBox="1"/>
          <p:nvPr/>
        </p:nvSpPr>
        <p:spPr>
          <a:xfrm>
            <a:off x="6358995" y="2793757"/>
            <a:ext cx="2017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ER Part </a:t>
            </a:r>
            <a:r>
              <a:rPr lang="ko-KR" altLang="en-US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신설 </a:t>
            </a:r>
            <a: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; </a:t>
            </a:r>
            <a:r>
              <a:rPr lang="ko-KR" altLang="en-US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인원  </a:t>
            </a:r>
            <a: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b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ER </a:t>
            </a:r>
            <a:r>
              <a:rPr lang="ko-KR" altLang="en-US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파트장 신규 채용</a:t>
            </a:r>
            <a: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b="0" spc="-50" baseline="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Grzegorz</a:t>
            </a:r>
            <a: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(’26.01)</a:t>
            </a:r>
            <a:endParaRPr lang="en-US" altLang="ko-KR" sz="900" spc="-50" baseline="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E9D702-DEA9-F97D-BE77-3B6319B58870}"/>
              </a:ext>
            </a:extLst>
          </p:cNvPr>
          <p:cNvSpPr txBox="1"/>
          <p:nvPr/>
        </p:nvSpPr>
        <p:spPr>
          <a:xfrm>
            <a:off x="6069840" y="3420752"/>
            <a:ext cx="6246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[ </a:t>
            </a:r>
            <a:r>
              <a:rPr lang="ko-KR" altLang="en-US" sz="1100" b="1" kern="1200" spc="-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 </a:t>
            </a:r>
            <a:r>
              <a:rPr lang="en-US" altLang="ko-KR" sz="1100" b="1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717C2A-326D-19DB-A16B-C00662F6A575}"/>
              </a:ext>
            </a:extLst>
          </p:cNvPr>
          <p:cNvSpPr txBox="1"/>
          <p:nvPr/>
        </p:nvSpPr>
        <p:spPr>
          <a:xfrm>
            <a:off x="7239195" y="3420752"/>
            <a:ext cx="8097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[ </a:t>
            </a:r>
            <a:r>
              <a:rPr lang="ko-KR" altLang="en-US" sz="1100" b="1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중국</a:t>
            </a:r>
            <a:r>
              <a:rPr lang="ko-KR" altLang="en-US" sz="1100" b="1" kern="1200" spc="-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거점 </a:t>
            </a:r>
            <a:r>
              <a:rPr lang="en-US" altLang="ko-KR" sz="1100" b="1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7CB82E-4E55-F805-48DC-42FAC63118AD}"/>
              </a:ext>
            </a:extLst>
          </p:cNvPr>
          <p:cNvSpPr txBox="1"/>
          <p:nvPr/>
        </p:nvSpPr>
        <p:spPr>
          <a:xfrm>
            <a:off x="8303237" y="3420752"/>
            <a:ext cx="8097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[ </a:t>
            </a:r>
            <a:r>
              <a:rPr lang="en-US" altLang="ko-KR" sz="1100" b="1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H Q</a:t>
            </a:r>
            <a:r>
              <a:rPr lang="ko-KR" altLang="en-US" sz="1100" b="1" kern="1200" spc="-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100" b="1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751D8DC-A08E-79E6-F61E-CD3A7129335A}"/>
              </a:ext>
            </a:extLst>
          </p:cNvPr>
          <p:cNvGrpSpPr/>
          <p:nvPr/>
        </p:nvGrpSpPr>
        <p:grpSpPr>
          <a:xfrm>
            <a:off x="8376105" y="3811658"/>
            <a:ext cx="648000" cy="665692"/>
            <a:chOff x="7331051" y="2104717"/>
            <a:chExt cx="648000" cy="665692"/>
          </a:xfrm>
        </p:grpSpPr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94F2CB18-CD3C-E158-F008-7214A5A82E30}"/>
                </a:ext>
              </a:extLst>
            </p:cNvPr>
            <p:cNvSpPr/>
            <p:nvPr/>
          </p:nvSpPr>
          <p:spPr>
            <a:xfrm>
              <a:off x="7353235" y="2616839"/>
              <a:ext cx="603633" cy="15357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none" lIns="18000" tIns="18000" rIns="18000" bIns="18000" rtlCol="0" anchor="ctr" anchorCtr="0">
              <a:noAutofit/>
            </a:bodyPr>
            <a:lstStyle/>
            <a:p>
              <a:pPr algn="ctr" defTabSz="939800" eaLnBrk="0" latinLnBrk="0" hangingPunct="0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</a:pPr>
              <a:r>
                <a:rPr kumimoji="1" lang="ko-KR" altLang="en-US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노경기획팀</a:t>
              </a: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F15BA231-A744-363A-D7BC-FCA7DB938D75}"/>
                </a:ext>
              </a:extLst>
            </p:cNvPr>
            <p:cNvSpPr/>
            <p:nvPr/>
          </p:nvSpPr>
          <p:spPr>
            <a:xfrm>
              <a:off x="7331051" y="2104717"/>
              <a:ext cx="648000" cy="15357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none" lIns="18000" tIns="18000" rIns="18000" bIns="18000" rtlCol="0" anchor="ctr" anchorCtr="0">
              <a:noAutofit/>
            </a:bodyPr>
            <a:lstStyle/>
            <a:p>
              <a:pPr algn="ctr" defTabSz="939800" eaLnBrk="0" latinLnBrk="0" hangingPunct="0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</a:pPr>
              <a:r>
                <a:rPr kumimoji="1" lang="ko-KR" altLang="en-US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노경담당</a:t>
              </a:r>
            </a:p>
          </p:txBody>
        </p: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828EB56C-7299-4013-62E9-3CDFB0C61AC2}"/>
                </a:ext>
              </a:extLst>
            </p:cNvPr>
            <p:cNvCxnSpPr>
              <a:cxnSpLocks/>
            </p:cNvCxnSpPr>
            <p:nvPr/>
          </p:nvCxnSpPr>
          <p:spPr>
            <a:xfrm>
              <a:off x="7655051" y="2258287"/>
              <a:ext cx="0" cy="35855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4" name="꺾인 연결선 66">
            <a:extLst>
              <a:ext uri="{FF2B5EF4-FFF2-40B4-BE49-F238E27FC236}">
                <a16:creationId xmlns:a16="http://schemas.microsoft.com/office/drawing/2014/main" id="{30371ADE-7611-31FF-9018-A106B2BD2488}"/>
              </a:ext>
            </a:extLst>
          </p:cNvPr>
          <p:cNvCxnSpPr>
            <a:cxnSpLocks/>
            <a:endCxn id="101" idx="2"/>
          </p:cNvCxnSpPr>
          <p:nvPr/>
        </p:nvCxnSpPr>
        <p:spPr>
          <a:xfrm flipV="1">
            <a:off x="7050448" y="4477350"/>
            <a:ext cx="1649658" cy="18164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66">
            <a:extLst>
              <a:ext uri="{FF2B5EF4-FFF2-40B4-BE49-F238E27FC236}">
                <a16:creationId xmlns:a16="http://schemas.microsoft.com/office/drawing/2014/main" id="{EC1C7C6F-DF20-EB49-CEBC-22984A79A99D}"/>
              </a:ext>
            </a:extLst>
          </p:cNvPr>
          <p:cNvCxnSpPr>
            <a:cxnSpLocks/>
            <a:stCxn id="89" idx="3"/>
            <a:endCxn id="87" idx="1"/>
          </p:cNvCxnSpPr>
          <p:nvPr/>
        </p:nvCxnSpPr>
        <p:spPr>
          <a:xfrm>
            <a:off x="6720540" y="4405252"/>
            <a:ext cx="657053" cy="196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66">
            <a:extLst>
              <a:ext uri="{FF2B5EF4-FFF2-40B4-BE49-F238E27FC236}">
                <a16:creationId xmlns:a16="http://schemas.microsoft.com/office/drawing/2014/main" id="{AA606960-C60C-3C18-9AAF-DA429E402ED5}"/>
              </a:ext>
            </a:extLst>
          </p:cNvPr>
          <p:cNvCxnSpPr>
            <a:cxnSpLocks/>
            <a:endCxn id="87" idx="1"/>
          </p:cNvCxnSpPr>
          <p:nvPr/>
        </p:nvCxnSpPr>
        <p:spPr>
          <a:xfrm>
            <a:off x="6719211" y="3997818"/>
            <a:ext cx="658382" cy="40939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head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꺾인 연결선 66">
            <a:extLst>
              <a:ext uri="{FF2B5EF4-FFF2-40B4-BE49-F238E27FC236}">
                <a16:creationId xmlns:a16="http://schemas.microsoft.com/office/drawing/2014/main" id="{530EBD83-19A5-466F-1C94-6D324C431160}"/>
              </a:ext>
            </a:extLst>
          </p:cNvPr>
          <p:cNvCxnSpPr>
            <a:cxnSpLocks/>
            <a:stCxn id="90" idx="3"/>
          </p:cNvCxnSpPr>
          <p:nvPr/>
        </p:nvCxnSpPr>
        <p:spPr>
          <a:xfrm flipV="1">
            <a:off x="6720540" y="4127187"/>
            <a:ext cx="333053" cy="706795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꺾인 연결선 66">
            <a:extLst>
              <a:ext uri="{FF2B5EF4-FFF2-40B4-BE49-F238E27FC236}">
                <a16:creationId xmlns:a16="http://schemas.microsoft.com/office/drawing/2014/main" id="{8A206A6E-37F7-02E8-6925-1FC54DB106D1}"/>
              </a:ext>
            </a:extLst>
          </p:cNvPr>
          <p:cNvCxnSpPr>
            <a:cxnSpLocks/>
            <a:stCxn id="87" idx="3"/>
            <a:endCxn id="101" idx="1"/>
          </p:cNvCxnSpPr>
          <p:nvPr/>
        </p:nvCxnSpPr>
        <p:spPr>
          <a:xfrm flipV="1">
            <a:off x="7981226" y="4400565"/>
            <a:ext cx="417063" cy="66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720F7D78-441B-5982-3D99-D34F0A66F84B}"/>
              </a:ext>
            </a:extLst>
          </p:cNvPr>
          <p:cNvSpPr txBox="1"/>
          <p:nvPr/>
        </p:nvSpPr>
        <p:spPr>
          <a:xfrm>
            <a:off x="5825705" y="3896355"/>
            <a:ext cx="4045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6</a:t>
            </a:r>
            <a:r>
              <a:rPr lang="ko-KR" altLang="en-US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endParaRPr lang="en-US" altLang="ko-KR" sz="900" spc="-50" baseline="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F1994F9-1727-A6A3-083F-DF81480E1B20}"/>
              </a:ext>
            </a:extLst>
          </p:cNvPr>
          <p:cNvSpPr txBox="1"/>
          <p:nvPr/>
        </p:nvSpPr>
        <p:spPr>
          <a:xfrm>
            <a:off x="5825705" y="4279126"/>
            <a:ext cx="72248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r>
              <a:rPr lang="ko-KR" altLang="en-US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endParaRPr lang="en-US" altLang="ko-KR" sz="900" spc="-50" baseline="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9628C5A-7B0A-39E2-571B-702AC5A4F24F}"/>
              </a:ext>
            </a:extLst>
          </p:cNvPr>
          <p:cNvSpPr txBox="1"/>
          <p:nvPr/>
        </p:nvSpPr>
        <p:spPr>
          <a:xfrm>
            <a:off x="5825705" y="4727132"/>
            <a:ext cx="72248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endParaRPr lang="en-US" altLang="ko-KR" sz="900" spc="-50" baseline="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29" name="꺾인 연결선 66">
            <a:extLst>
              <a:ext uri="{FF2B5EF4-FFF2-40B4-BE49-F238E27FC236}">
                <a16:creationId xmlns:a16="http://schemas.microsoft.com/office/drawing/2014/main" id="{1CE10391-9659-88E1-C072-60B678BFA544}"/>
              </a:ext>
            </a:extLst>
          </p:cNvPr>
          <p:cNvCxnSpPr>
            <a:cxnSpLocks/>
            <a:endCxn id="131" idx="1"/>
          </p:cNvCxnSpPr>
          <p:nvPr/>
        </p:nvCxnSpPr>
        <p:spPr>
          <a:xfrm rot="16200000" flipH="1">
            <a:off x="6244314" y="5771765"/>
            <a:ext cx="179713" cy="49650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606A4F4D-2684-5FC0-C945-D420217CCD93}"/>
              </a:ext>
            </a:extLst>
          </p:cNvPr>
          <p:cNvSpPr/>
          <p:nvPr/>
        </p:nvSpPr>
        <p:spPr>
          <a:xfrm>
            <a:off x="6275157" y="5583046"/>
            <a:ext cx="670704" cy="1535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wrap="none" lIns="18000" tIns="18000" rIns="18000" bIns="18000" rtlCol="0" anchor="ctr" anchorCtr="0">
            <a:noAutofit/>
          </a:bodyPr>
          <a:lstStyle/>
          <a:p>
            <a:pPr algn="ctr" defTabSz="939800" eaLnBrk="0" latinLnBrk="0" hangingPunct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ct val="100000"/>
            </a:pPr>
            <a:r>
              <a:rPr kumimoji="1" lang="en-US" altLang="ko-KR" sz="1000" b="1" kern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ESHM</a:t>
            </a:r>
            <a:endParaRPr kumimoji="1" lang="ko-KR" altLang="en-US" sz="900" b="1" kern="0" spc="-5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1F32DCCE-7151-F5F0-737B-853E6273B43D}"/>
              </a:ext>
            </a:extLst>
          </p:cNvPr>
          <p:cNvSpPr/>
          <p:nvPr/>
        </p:nvSpPr>
        <p:spPr>
          <a:xfrm>
            <a:off x="6358995" y="5809662"/>
            <a:ext cx="586866" cy="1535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wrap="none" lIns="18000" tIns="18000" rIns="18000" bIns="18000" rtlCol="0" anchor="ctr" anchorCtr="0">
            <a:noAutofit/>
          </a:bodyPr>
          <a:lstStyle/>
          <a:p>
            <a:pPr algn="ctr" defTabSz="939800" eaLnBrk="0" latinLnBrk="0" hangingPunct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ct val="100000"/>
            </a:pPr>
            <a:r>
              <a:rPr kumimoji="1" lang="ko-KR" altLang="en-US" sz="1000" kern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인사지원팀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A322B4E-2E53-1644-2887-94AB9B08A158}"/>
              </a:ext>
            </a:extLst>
          </p:cNvPr>
          <p:cNvSpPr txBox="1"/>
          <p:nvPr/>
        </p:nvSpPr>
        <p:spPr>
          <a:xfrm>
            <a:off x="6302995" y="5229887"/>
            <a:ext cx="624635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[ </a:t>
            </a:r>
            <a:r>
              <a:rPr lang="ko-KR" altLang="en-US" sz="1100" b="1" kern="1200" spc="-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 </a:t>
            </a:r>
            <a:r>
              <a:rPr lang="en-US" altLang="ko-KR" sz="1100" b="1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A810EEC-C4D7-EB20-4882-74A43F3EB27C}"/>
              </a:ext>
            </a:extLst>
          </p:cNvPr>
          <p:cNvSpPr txBox="1"/>
          <p:nvPr/>
        </p:nvSpPr>
        <p:spPr>
          <a:xfrm>
            <a:off x="7898380" y="5229887"/>
            <a:ext cx="809715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100" b="1" dirty="0">
                <a:solidFill>
                  <a:prstClr val="black"/>
                </a:solidFill>
                <a:latin typeface="Arial Narrow"/>
                <a:ea typeface="LG스마트체 Regular"/>
              </a:rPr>
              <a:t>[ </a:t>
            </a:r>
            <a:r>
              <a:rPr lang="en-US" altLang="ko-KR" sz="1100" b="1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H Q</a:t>
            </a:r>
            <a:r>
              <a:rPr lang="ko-KR" altLang="en-US" sz="1100" b="1" kern="1200" spc="-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100" b="1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8929F05C-1C4C-3513-69E6-5BD3CB9865FD}"/>
              </a:ext>
            </a:extLst>
          </p:cNvPr>
          <p:cNvSpPr/>
          <p:nvPr/>
        </p:nvSpPr>
        <p:spPr>
          <a:xfrm>
            <a:off x="8025593" y="5809662"/>
            <a:ext cx="603633" cy="1535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wrap="none" lIns="18000" tIns="18000" rIns="18000" bIns="18000" rtlCol="0" anchor="ctr" anchorCtr="0">
            <a:noAutofit/>
          </a:bodyPr>
          <a:lstStyle/>
          <a:p>
            <a:pPr algn="ctr" defTabSz="939800" eaLnBrk="0" latinLnBrk="0" hangingPunct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ct val="100000"/>
            </a:pPr>
            <a:r>
              <a:rPr kumimoji="1" lang="ko-KR" altLang="en-US" sz="1000" kern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노경기획팀</a:t>
            </a: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0C041E47-AD4E-3DE3-0A2B-4110832DE9BE}"/>
              </a:ext>
            </a:extLst>
          </p:cNvPr>
          <p:cNvSpPr/>
          <p:nvPr/>
        </p:nvSpPr>
        <p:spPr>
          <a:xfrm>
            <a:off x="8003409" y="5580227"/>
            <a:ext cx="648000" cy="15357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 wrap="none" lIns="18000" tIns="18000" rIns="18000" bIns="18000" rtlCol="0" anchor="ctr" anchorCtr="0">
            <a:noAutofit/>
          </a:bodyPr>
          <a:lstStyle/>
          <a:p>
            <a:pPr algn="ctr" defTabSz="939800" eaLnBrk="0" latinLnBrk="0" hangingPunct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SzPct val="100000"/>
            </a:pPr>
            <a:r>
              <a:rPr kumimoji="1" lang="ko-KR" altLang="en-US" sz="1000" kern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노경담당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E14C2B0F-B2CF-D50B-1893-BB49EE04A065}"/>
              </a:ext>
            </a:extLst>
          </p:cNvPr>
          <p:cNvCxnSpPr>
            <a:cxnSpLocks/>
            <a:endCxn id="137" idx="0"/>
          </p:cNvCxnSpPr>
          <p:nvPr/>
        </p:nvCxnSpPr>
        <p:spPr>
          <a:xfrm>
            <a:off x="8327409" y="5733797"/>
            <a:ext cx="1" cy="7586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EF4C940E-FD6E-3531-D20F-BC7617ADF2BB}"/>
              </a:ext>
            </a:extLst>
          </p:cNvPr>
          <p:cNvSpPr txBox="1"/>
          <p:nvPr/>
        </p:nvSpPr>
        <p:spPr>
          <a:xfrm>
            <a:off x="6364351" y="5958047"/>
            <a:ext cx="11145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 업무 </a:t>
            </a:r>
            <a: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en-US" altLang="ko-KR" sz="900" spc="-5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900" spc="-5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br>
              <a:rPr lang="en-US" altLang="ko-KR" sz="900" spc="-5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spc="-5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+ 1</a:t>
            </a:r>
            <a:r>
              <a:rPr lang="ko-KR" altLang="en-US" sz="900" spc="-5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명 신규충원 예정</a:t>
            </a:r>
            <a:endParaRPr lang="en-US" altLang="ko-KR" sz="900" spc="-50" baseline="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45" name="꺾인 연결선 66">
            <a:extLst>
              <a:ext uri="{FF2B5EF4-FFF2-40B4-BE49-F238E27FC236}">
                <a16:creationId xmlns:a16="http://schemas.microsoft.com/office/drawing/2014/main" id="{3112AE2B-7AA1-11CF-5BA4-F9492B596643}"/>
              </a:ext>
            </a:extLst>
          </p:cNvPr>
          <p:cNvCxnSpPr>
            <a:cxnSpLocks/>
            <a:stCxn id="131" idx="3"/>
            <a:endCxn id="137" idx="1"/>
          </p:cNvCxnSpPr>
          <p:nvPr/>
        </p:nvCxnSpPr>
        <p:spPr>
          <a:xfrm>
            <a:off x="6945861" y="5886447"/>
            <a:ext cx="107973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4A32C8CE-7045-74EA-BAD6-675F991E4A14}"/>
              </a:ext>
            </a:extLst>
          </p:cNvPr>
          <p:cNvSpPr txBox="1"/>
          <p:nvPr/>
        </p:nvSpPr>
        <p:spPr>
          <a:xfrm>
            <a:off x="1594656" y="4226211"/>
            <a:ext cx="3852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base" latinLnBrk="0"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/>
            </a:pPr>
            <a:r>
              <a:rPr lang="ko-KR" altLang="en-US" sz="1200" b="1" u="sng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노경이슈 상황 감지 및 </a:t>
            </a:r>
            <a:r>
              <a:rPr lang="ko-KR" altLang="en-US" sz="1200" b="1" u="sng" kern="0" spc="-50">
                <a:latin typeface="Arial Narrow" panose="020B0606020202030204" pitchFamily="34" charset="0"/>
                <a:ea typeface="LG스마트체 Regular" panose="020B0600000101010101" pitchFamily="50" charset="-127"/>
              </a:rPr>
              <a:t>단체행동 </a:t>
            </a:r>
            <a:r>
              <a:rPr lang="en-US" altLang="ko-KR" sz="1200" b="1" u="sng" kern="0" spc="-50">
                <a:latin typeface="Arial Narrow" panose="020B0606020202030204" pitchFamily="34" charset="0"/>
                <a:ea typeface="LG스마트체 Regular" panose="020B0600000101010101" pitchFamily="50" charset="-127"/>
              </a:rPr>
              <a:t>Risk </a:t>
            </a:r>
            <a:r>
              <a:rPr lang="ko-KR" altLang="en-US" sz="1200" b="1" u="sng" kern="0" spc="-50">
                <a:latin typeface="Arial Narrow" panose="020B0606020202030204" pitchFamily="34" charset="0"/>
                <a:ea typeface="LG스마트체 Regular" panose="020B0600000101010101" pitchFamily="50" charset="-127"/>
              </a:rPr>
              <a:t>관리 </a:t>
            </a:r>
            <a:r>
              <a:rPr lang="ko-KR" altLang="en-US" sz="1200" b="1" u="sng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방안 수립</a:t>
            </a:r>
            <a:br>
              <a:rPr lang="en-US" altLang="ko-KR" sz="1200" b="1" u="sng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남경법인 노경조직 자체 역량 대응 방향 유지 및</a:t>
            </a:r>
            <a:b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필요 시 </a:t>
            </a: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HQ 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지원</a:t>
            </a:r>
            <a:endParaRPr kumimoji="0" lang="en-US" altLang="ko-KR" sz="900" i="0" u="none" strike="noStrike" kern="0" cap="none" spc="-5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342C5BC-770B-BDC5-B4DB-FD77B97BD032}"/>
              </a:ext>
            </a:extLst>
          </p:cNvPr>
          <p:cNvSpPr txBox="1"/>
          <p:nvPr/>
        </p:nvSpPr>
        <p:spPr>
          <a:xfrm>
            <a:off x="1594656" y="5809590"/>
            <a:ext cx="385263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fontAlgn="base" latinLnBrk="0"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/>
            </a:pPr>
            <a:r>
              <a:rPr kumimoji="0" lang="ko-KR" altLang="en-US" sz="1200" b="1" i="0" u="sng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집단화 </a:t>
            </a:r>
            <a:r>
              <a:rPr lang="en-US" altLang="ko-KR" sz="1200" b="1" u="sng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Risk </a:t>
            </a:r>
            <a:r>
              <a:rPr lang="ko-KR" altLang="en-US" sz="1200" b="1" u="sng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사전 예방 전략 수립</a:t>
            </a:r>
            <a:br>
              <a:rPr lang="en-US" altLang="ko-KR" sz="1200" b="1" u="sng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인사노무관리 </a:t>
            </a:r>
            <a:r>
              <a:rPr lang="en-US" altLang="ko-KR" sz="12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Compliance </a:t>
            </a:r>
            <a:r>
              <a:rPr lang="ko-KR" altLang="en-US" sz="12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점검</a:t>
            </a:r>
            <a:r>
              <a:rPr lang="en-US" altLang="ko-KR" sz="12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900" kern="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’25.11 </a:t>
            </a:r>
            <a:r>
              <a:rPr lang="ko-KR" altLang="en-US" sz="900" kern="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출장 진행 완료</a:t>
            </a:r>
            <a:br>
              <a:rPr lang="en-US" altLang="ko-KR" sz="12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kumimoji="0" lang="ko-KR" altLang="en-US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인근 지역 내 그룹사 집단적 노경관계 현황 </a:t>
            </a:r>
            <a: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BM ’</a:t>
            </a:r>
            <a:r>
              <a:rPr kumimoji="0" lang="en-US" altLang="ko-KR" sz="900" b="0" i="0" u="none" strike="noStrike" kern="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26.4 </a:t>
            </a:r>
            <a:r>
              <a:rPr kumimoji="0" lang="ko-KR" altLang="en-US" sz="900" b="0" i="0" u="none" strike="noStrike" kern="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출장 예정</a:t>
            </a:r>
            <a:br>
              <a:rPr kumimoji="0" lang="en-US" altLang="ko-KR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endParaRPr kumimoji="0" lang="en-US" altLang="ko-KR" sz="900" i="0" u="none" strike="noStrike" kern="0" cap="none" spc="-5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59C0BC06-91CF-B5C6-131C-8291834A36B4}"/>
              </a:ext>
            </a:extLst>
          </p:cNvPr>
          <p:cNvSpPr/>
          <p:nvPr/>
        </p:nvSpPr>
        <p:spPr>
          <a:xfrm>
            <a:off x="6227864" y="1000122"/>
            <a:ext cx="2433815" cy="30888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Fundamental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6398E5D4-F880-F19D-567E-F98871E96B92}"/>
              </a:ext>
            </a:extLst>
          </p:cNvPr>
          <p:cNvCxnSpPr>
            <a:cxnSpLocks/>
          </p:cNvCxnSpPr>
          <p:nvPr/>
        </p:nvCxnSpPr>
        <p:spPr>
          <a:xfrm>
            <a:off x="5608827" y="1289224"/>
            <a:ext cx="3671888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E257EBAE-7BFA-907A-38C2-6E93B2BCF8BA}"/>
              </a:ext>
            </a:extLst>
          </p:cNvPr>
          <p:cNvSpPr/>
          <p:nvPr/>
        </p:nvSpPr>
        <p:spPr>
          <a:xfrm>
            <a:off x="2559301" y="1000122"/>
            <a:ext cx="1629668" cy="30888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안정화 과제 및 대응</a:t>
            </a: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ECE769F5-E710-80E4-D7C2-C8E8DA651C30}"/>
              </a:ext>
            </a:extLst>
          </p:cNvPr>
          <p:cNvCxnSpPr>
            <a:cxnSpLocks/>
          </p:cNvCxnSpPr>
          <p:nvPr/>
        </p:nvCxnSpPr>
        <p:spPr>
          <a:xfrm>
            <a:off x="1615883" y="1289224"/>
            <a:ext cx="3516505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9AB3F98-F2AD-A290-0E2E-09D82BD90DD6}"/>
              </a:ext>
            </a:extLst>
          </p:cNvPr>
          <p:cNvGrpSpPr/>
          <p:nvPr/>
        </p:nvGrpSpPr>
        <p:grpSpPr>
          <a:xfrm>
            <a:off x="6244112" y="2070417"/>
            <a:ext cx="828176" cy="727776"/>
            <a:chOff x="10201112" y="982642"/>
            <a:chExt cx="828176" cy="727776"/>
          </a:xfrm>
        </p:grpSpPr>
        <p:cxnSp>
          <p:nvCxnSpPr>
            <p:cNvPr id="77" name="꺾인 연결선 66">
              <a:extLst>
                <a:ext uri="{FF2B5EF4-FFF2-40B4-BE49-F238E27FC236}">
                  <a16:creationId xmlns:a16="http://schemas.microsoft.com/office/drawing/2014/main" id="{96C88D10-5389-B08B-45FA-4D04509DA4E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0185842" y="1317872"/>
              <a:ext cx="266948" cy="49650"/>
            </a:xfrm>
            <a:prstGeom prst="bentConnector2">
              <a:avLst/>
            </a:prstGeom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989B2174-B746-7BB3-0DFE-EB170732C0AB}"/>
                </a:ext>
              </a:extLst>
            </p:cNvPr>
            <p:cNvSpPr/>
            <p:nvPr/>
          </p:nvSpPr>
          <p:spPr>
            <a:xfrm>
              <a:off x="10201112" y="982642"/>
              <a:ext cx="670704" cy="1535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none" lIns="18000" tIns="18000" rIns="18000" bIns="18000" rtlCol="0" anchor="ctr" anchorCtr="0">
              <a:noAutofit/>
            </a:bodyPr>
            <a:lstStyle/>
            <a:p>
              <a:pPr algn="ctr" defTabSz="939800" eaLnBrk="0" latinLnBrk="0" hangingPunct="0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</a:pPr>
              <a:r>
                <a:rPr kumimoji="1" lang="en-US" altLang="ko-KR" sz="1000" b="1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ESWA</a:t>
              </a:r>
              <a:endParaRPr kumimoji="1" lang="ko-KR" altLang="en-US" sz="900" b="1" kern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500B2EB-AECF-B70E-07BA-2EA9C208BEC6}"/>
                </a:ext>
              </a:extLst>
            </p:cNvPr>
            <p:cNvSpPr/>
            <p:nvPr/>
          </p:nvSpPr>
          <p:spPr>
            <a:xfrm>
              <a:off x="10212464" y="1188529"/>
              <a:ext cx="648000" cy="15357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none" lIns="18000" tIns="18000" rIns="18000" bIns="18000" rtlCol="0" anchor="ctr" anchorCtr="0">
              <a:noAutofit/>
            </a:bodyPr>
            <a:lstStyle/>
            <a:p>
              <a:pPr algn="ctr" defTabSz="939800" eaLnBrk="0" latinLnBrk="0" hangingPunct="0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</a:pPr>
              <a:r>
                <a:rPr kumimoji="1" lang="en-US" altLang="ko-KR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HR</a:t>
              </a:r>
              <a:r>
                <a:rPr kumimoji="1" lang="ko-KR" altLang="en-US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담당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06E2620-100F-17EB-9E90-DBEEA50E5152}"/>
                </a:ext>
              </a:extLst>
            </p:cNvPr>
            <p:cNvSpPr/>
            <p:nvPr/>
          </p:nvSpPr>
          <p:spPr>
            <a:xfrm>
              <a:off x="10442422" y="1556848"/>
              <a:ext cx="586866" cy="15357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none" lIns="18000" tIns="18000" rIns="18000" bIns="18000" rtlCol="0" anchor="ctr" anchorCtr="0">
              <a:noAutofit/>
            </a:bodyPr>
            <a:lstStyle/>
            <a:p>
              <a:pPr algn="ctr" defTabSz="939800" eaLnBrk="0" latinLnBrk="0" hangingPunct="0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</a:pPr>
              <a:r>
                <a:rPr kumimoji="1" lang="en-US" altLang="ko-KR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ER P</a:t>
              </a:r>
              <a:endParaRPr kumimoji="1" lang="ko-KR" altLang="en-US" sz="1000" kern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9" name="꺾인 연결선 66">
              <a:extLst>
                <a:ext uri="{FF2B5EF4-FFF2-40B4-BE49-F238E27FC236}">
                  <a16:creationId xmlns:a16="http://schemas.microsoft.com/office/drawing/2014/main" id="{472F5123-1B9E-30BF-12AF-8B06995C2EF8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 rot="16200000" flipH="1">
              <a:off x="10328088" y="1519300"/>
              <a:ext cx="179019" cy="49649"/>
            </a:xfrm>
            <a:prstGeom prst="bentConnector2">
              <a:avLst/>
            </a:prstGeom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FEAC74F-CD61-6A4B-F610-BA6E6F1D5ECB}"/>
                </a:ext>
              </a:extLst>
            </p:cNvPr>
            <p:cNvSpPr/>
            <p:nvPr/>
          </p:nvSpPr>
          <p:spPr>
            <a:xfrm>
              <a:off x="10348337" y="1372689"/>
              <a:ext cx="586866" cy="15357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none" lIns="18000" tIns="18000" rIns="18000" bIns="18000" rtlCol="0" anchor="ctr" anchorCtr="0">
              <a:noAutofit/>
            </a:bodyPr>
            <a:lstStyle/>
            <a:p>
              <a:pPr algn="ctr" defTabSz="939800" eaLnBrk="0" latinLnBrk="0" hangingPunct="0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</a:pPr>
              <a:r>
                <a:rPr kumimoji="1" lang="en-US" altLang="ko-KR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HRM</a:t>
              </a:r>
              <a:r>
                <a:rPr kumimoji="1" lang="ko-KR" altLang="en-US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kumimoji="1" lang="en-US" altLang="ko-KR" sz="1000" kern="0" spc="-5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T</a:t>
              </a:r>
              <a:endParaRPr kumimoji="1" lang="ko-KR" altLang="en-US" sz="1000" kern="0" spc="-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91FA720-CC96-8FAA-DB72-E1479658B618}"/>
                </a:ext>
              </a:extLst>
            </p:cNvPr>
            <p:cNvCxnSpPr>
              <a:cxnSpLocks/>
              <a:stCxn id="79" idx="2"/>
              <a:endCxn id="6" idx="0"/>
            </p:cNvCxnSpPr>
            <p:nvPr/>
          </p:nvCxnSpPr>
          <p:spPr>
            <a:xfrm>
              <a:off x="10536464" y="1136212"/>
              <a:ext cx="0" cy="5231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실행 단추: 앞으로 또는 다음 84">
            <a:hlinkClick r:id="rId3" action="ppaction://hlinksldjump"/>
            <a:extLst>
              <a:ext uri="{FF2B5EF4-FFF2-40B4-BE49-F238E27FC236}">
                <a16:creationId xmlns:a16="http://schemas.microsoft.com/office/drawing/2014/main" id="{71D10724-D71B-0BD3-ABD6-4E36C18E2902}"/>
              </a:ext>
            </a:extLst>
          </p:cNvPr>
          <p:cNvSpPr/>
          <p:nvPr/>
        </p:nvSpPr>
        <p:spPr>
          <a:xfrm>
            <a:off x="486687" y="2694901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4003A-E1FF-2109-BFA9-CB0C4E0F1E4C}"/>
              </a:ext>
            </a:extLst>
          </p:cNvPr>
          <p:cNvSpPr txBox="1"/>
          <p:nvPr/>
        </p:nvSpPr>
        <p:spPr>
          <a:xfrm>
            <a:off x="679416" y="2687067"/>
            <a:ext cx="79508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0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ESWA </a:t>
            </a:r>
            <a:r>
              <a:rPr lang="ko-KR" altLang="en-US" sz="10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노동조합</a:t>
            </a:r>
            <a:br>
              <a:rPr lang="en-US" altLang="ko-KR" sz="10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ko-KR" altLang="en-US" sz="10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설립 대응 전략</a:t>
            </a:r>
            <a:endParaRPr lang="en-US" altLang="ko-KR" sz="1000" u="sng" dirty="0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D41F88-5C63-DE22-60A2-CD24A62EFD2F}"/>
              </a:ext>
            </a:extLst>
          </p:cNvPr>
          <p:cNvSpPr txBox="1"/>
          <p:nvPr/>
        </p:nvSpPr>
        <p:spPr>
          <a:xfrm>
            <a:off x="202841" y="150290"/>
            <a:ext cx="296656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7800" indent="-177800">
              <a:buFont typeface="+mj-lt"/>
              <a:buAutoNum type="romanUcPeriod" startAt="3"/>
            </a:pP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추진과제 및 대응방향  </a:t>
            </a:r>
            <a:endParaRPr lang="en-US" altLang="ko-KR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6500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6327EF01-1BA7-C707-CDD5-A37BAE2513D4}"/>
              </a:ext>
            </a:extLst>
          </p:cNvPr>
          <p:cNvSpPr/>
          <p:nvPr/>
        </p:nvSpPr>
        <p:spPr>
          <a:xfrm>
            <a:off x="5600670" y="3121363"/>
            <a:ext cx="3039738" cy="2290264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443D45C9-FFE0-8177-26A2-BF532B129B09}"/>
              </a:ext>
            </a:extLst>
          </p:cNvPr>
          <p:cNvSpPr/>
          <p:nvPr/>
        </p:nvSpPr>
        <p:spPr>
          <a:xfrm>
            <a:off x="1720150" y="3121363"/>
            <a:ext cx="3039738" cy="2290264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4880180" y="181068"/>
            <a:ext cx="4738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⑤ 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_ </a:t>
            </a:r>
            <a:r>
              <a:rPr lang="ko-KR" altLang="en-US" sz="16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역량점검 </a:t>
            </a:r>
            <a:r>
              <a:rPr lang="en-US" altLang="ko-KR" sz="1600" b="1" kern="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Tool</a:t>
            </a: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1B571E-0B11-F9B1-5158-60A4F794CC6E}"/>
              </a:ext>
            </a:extLst>
          </p:cNvPr>
          <p:cNvSpPr txBox="1"/>
          <p:nvPr/>
        </p:nvSpPr>
        <p:spPr>
          <a:xfrm>
            <a:off x="119348" y="1035834"/>
            <a:ext cx="720000" cy="446275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개요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E7A66EF-4C06-D7F9-1725-09E0AE84DF2B}"/>
              </a:ext>
            </a:extLst>
          </p:cNvPr>
          <p:cNvCxnSpPr>
            <a:cxnSpLocks/>
          </p:cNvCxnSpPr>
          <p:nvPr/>
        </p:nvCxnSpPr>
        <p:spPr>
          <a:xfrm>
            <a:off x="755029" y="1076797"/>
            <a:ext cx="0" cy="722153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379C753-C404-439F-81B9-D0684CFC93AA}"/>
              </a:ext>
            </a:extLst>
          </p:cNvPr>
          <p:cNvSpPr txBox="1"/>
          <p:nvPr/>
        </p:nvSpPr>
        <p:spPr>
          <a:xfrm>
            <a:off x="1604963" y="1052513"/>
            <a:ext cx="8018162" cy="53952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rtlCol="0" anchor="ctr">
            <a:noAutofit/>
          </a:bodyPr>
          <a:lstStyle>
            <a:defPPr>
              <a:defRPr lang="ko-KR"/>
            </a:defPPr>
            <a:lvl1pPr marL="87313" indent="-87313">
              <a:buFont typeface="Wingdings" panose="05000000000000000000" pitchFamily="2" charset="2"/>
              <a:buChar char="§"/>
              <a:defRPr sz="1200" spc="-50"/>
            </a:lvl1pPr>
          </a:lstStyle>
          <a:p>
            <a:pPr defTabSz="914400" latinLnBrk="1">
              <a:spcBef>
                <a:spcPts val="300"/>
              </a:spcBef>
            </a:pP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Global </a:t>
            </a:r>
            <a:r>
              <a:rPr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생산 법인의 노경 주체별 노경 역량 강화를 목적으로</a:t>
            </a: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현재 역량 수준을 확인하고 부족한 점을 강화할 수 있도록 지원하고자 함  </a:t>
            </a: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</a:p>
          <a:p>
            <a:pPr defTabSz="914400" latinLnBrk="1">
              <a:spcBef>
                <a:spcPts val="300"/>
              </a:spcBef>
            </a:pP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</a:t>
            </a: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생산 법인의 </a:t>
            </a: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ER </a:t>
            </a:r>
            <a:r>
              <a:rPr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역량을 객관적으로 파악하여 맞춤형 솔루션을 제공하고</a:t>
            </a: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Best Practice</a:t>
            </a:r>
            <a:r>
              <a:rPr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는 공유하여 </a:t>
            </a: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ER </a:t>
            </a:r>
            <a:r>
              <a:rPr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역량 상향 평준화를 목표로 함</a:t>
            </a:r>
            <a:r>
              <a:rPr lang="ko-KR" altLang="en-US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lang="en-US" altLang="ko-KR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모서리가 둥근 직사각형 76">
            <a:extLst>
              <a:ext uri="{FF2B5EF4-FFF2-40B4-BE49-F238E27FC236}">
                <a16:creationId xmlns:a16="http://schemas.microsoft.com/office/drawing/2014/main" id="{23182CFE-FAC0-DCF6-2B72-4178790C2940}"/>
              </a:ext>
            </a:extLst>
          </p:cNvPr>
          <p:cNvSpPr/>
          <p:nvPr/>
        </p:nvSpPr>
        <p:spPr>
          <a:xfrm>
            <a:off x="1000788" y="1085169"/>
            <a:ext cx="464639" cy="539526"/>
          </a:xfrm>
          <a:prstGeom prst="roundRect">
            <a:avLst>
              <a:gd name="adj" fmla="val 9814"/>
            </a:avLst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목적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모서리가 둥근 직사각형 76">
            <a:extLst>
              <a:ext uri="{FF2B5EF4-FFF2-40B4-BE49-F238E27FC236}">
                <a16:creationId xmlns:a16="http://schemas.microsoft.com/office/drawing/2014/main" id="{2FBE2078-D1BF-E1EC-1BE0-2EB5C8EE638F}"/>
              </a:ext>
            </a:extLst>
          </p:cNvPr>
          <p:cNvSpPr/>
          <p:nvPr/>
        </p:nvSpPr>
        <p:spPr>
          <a:xfrm>
            <a:off x="1000788" y="1686163"/>
            <a:ext cx="464639" cy="833323"/>
          </a:xfrm>
          <a:prstGeom prst="roundRect">
            <a:avLst>
              <a:gd name="adj" fmla="val 9814"/>
            </a:avLst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프로</a:t>
            </a:r>
            <a:b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세스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BB1911-56DF-4C9E-0BFF-9D66E0E92F41}"/>
              </a:ext>
            </a:extLst>
          </p:cNvPr>
          <p:cNvSpPr txBox="1"/>
          <p:nvPr/>
        </p:nvSpPr>
        <p:spPr>
          <a:xfrm>
            <a:off x="1604963" y="1667364"/>
            <a:ext cx="8018162" cy="21093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rtlCol="0" anchor="ctr">
            <a:noAutofit/>
          </a:bodyPr>
          <a:lstStyle>
            <a:defPPr>
              <a:defRPr lang="ko-KR"/>
            </a:defPPr>
            <a:lvl1pPr marL="87313" indent="-87313">
              <a:buFont typeface="Wingdings" panose="05000000000000000000" pitchFamily="2" charset="2"/>
              <a:buChar char="§"/>
              <a:defRPr sz="1200" spc="-50"/>
            </a:lvl1pPr>
          </a:lstStyle>
          <a:p>
            <a:pPr defTabSz="914400" latinLnBrk="1"/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Global</a:t>
            </a:r>
            <a:r>
              <a:rPr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생산 법인</a:t>
            </a:r>
            <a:r>
              <a:rPr lang="ko-KR" altLang="en-US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을 대상으로 진행하며</a:t>
            </a:r>
            <a:r>
              <a:rPr lang="en-US" altLang="ko-KR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주체별 역량 수준을 점검하고 강</a:t>
            </a:r>
            <a:r>
              <a:rPr lang="en-US" altLang="ko-KR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약점을 분석하여 개선 솔루션을 도출</a:t>
            </a:r>
            <a:endParaRPr lang="en-US" altLang="ko-KR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직사각형 41">
            <a:extLst>
              <a:ext uri="{FF2B5EF4-FFF2-40B4-BE49-F238E27FC236}">
                <a16:creationId xmlns:a16="http://schemas.microsoft.com/office/drawing/2014/main" id="{B3A2B198-6F96-0AFC-1DF6-3C10549F5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963" y="1921279"/>
            <a:ext cx="7465291" cy="558209"/>
          </a:xfrm>
          <a:prstGeom prst="roundRect">
            <a:avLst>
              <a:gd name="adj" fmla="val 4093"/>
            </a:avLst>
          </a:prstGeom>
          <a:solidFill>
            <a:schemeClr val="bg1">
              <a:lumMod val="95000"/>
            </a:schemeClr>
          </a:solidFill>
          <a:ln w="19050" algn="ctr">
            <a:noFill/>
            <a:prstDash val="sysDash"/>
            <a:miter lim="800000"/>
            <a:headEnd/>
            <a:tailEnd/>
          </a:ln>
        </p:spPr>
        <p:txBody>
          <a:bodyPr lIns="0" rIns="0" anchor="ctr"/>
          <a:lstStyle/>
          <a:p>
            <a:pPr algn="ctr"/>
            <a:endParaRPr lang="ko-KR" altLang="en-US" sz="1100" b="1" dirty="0">
              <a:solidFill>
                <a:schemeClr val="bg1"/>
              </a:solidFill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9" name="화살표: 오각형 8">
            <a:extLst>
              <a:ext uri="{FF2B5EF4-FFF2-40B4-BE49-F238E27FC236}">
                <a16:creationId xmlns:a16="http://schemas.microsoft.com/office/drawing/2014/main" id="{900B1CB7-5A41-0A6A-B7C4-2FD2687DF8BA}"/>
              </a:ext>
            </a:extLst>
          </p:cNvPr>
          <p:cNvSpPr/>
          <p:nvPr/>
        </p:nvSpPr>
        <p:spPr bwMode="auto">
          <a:xfrm>
            <a:off x="1645088" y="1998593"/>
            <a:ext cx="1353372" cy="397149"/>
          </a:xfrm>
          <a:prstGeom prst="homePlate">
            <a:avLst>
              <a:gd name="adj" fmla="val 36416"/>
            </a:avLst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" tIns="3600" rIns="3600" bIns="36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57263" fontAlgn="base" latinLnBrk="0">
              <a:spcBef>
                <a:spcPts val="100"/>
              </a:spcBef>
              <a:spcAft>
                <a:spcPct val="0"/>
              </a:spcAft>
              <a:buSzPct val="120000"/>
            </a:pPr>
            <a:r>
              <a:rPr kumimoji="1" lang="ko-KR" altLang="en-US" sz="1100" b="1" kern="0" spc="-50" dirty="0">
                <a:solidFill>
                  <a:prstClr val="black"/>
                </a:solidFill>
                <a:latin typeface="Arial Narrow"/>
                <a:ea typeface="LG스마트체 Regular"/>
                <a:cs typeface="Arial" panose="020B0604020202020204" pitchFamily="34" charset="0"/>
              </a:rPr>
              <a:t>자가 점검 </a:t>
            </a:r>
            <a:endParaRPr kumimoji="1" lang="en-US" altLang="ko-KR" sz="1100" b="1" kern="0" spc="-50" dirty="0">
              <a:solidFill>
                <a:prstClr val="black"/>
              </a:solidFill>
              <a:latin typeface="Arial Narrow"/>
              <a:ea typeface="LG스마트체 Regular"/>
              <a:cs typeface="Arial" panose="020B0604020202020204" pitchFamily="34" charset="0"/>
            </a:endParaRPr>
          </a:p>
        </p:txBody>
      </p:sp>
      <p:sp>
        <p:nvSpPr>
          <p:cNvPr id="10" name="화살표: 오각형 9">
            <a:extLst>
              <a:ext uri="{FF2B5EF4-FFF2-40B4-BE49-F238E27FC236}">
                <a16:creationId xmlns:a16="http://schemas.microsoft.com/office/drawing/2014/main" id="{2F9BC9EE-8414-D388-A7B2-121A5C67C8C1}"/>
              </a:ext>
            </a:extLst>
          </p:cNvPr>
          <p:cNvSpPr/>
          <p:nvPr/>
        </p:nvSpPr>
        <p:spPr bwMode="auto">
          <a:xfrm>
            <a:off x="3123270" y="1998593"/>
            <a:ext cx="1353372" cy="397149"/>
          </a:xfrm>
          <a:prstGeom prst="homePlate">
            <a:avLst>
              <a:gd name="adj" fmla="val 36416"/>
            </a:avLst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" tIns="3600" rIns="3600" bIns="36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57263" fontAlgn="base" latinLnBrk="0">
              <a:spcBef>
                <a:spcPts val="100"/>
              </a:spcBef>
              <a:spcAft>
                <a:spcPct val="0"/>
              </a:spcAft>
              <a:buSzPct val="120000"/>
            </a:pPr>
            <a:r>
              <a:rPr kumimoji="1" lang="ko-KR" altLang="en-US" sz="1100" b="1" kern="0" spc="-50">
                <a:solidFill>
                  <a:prstClr val="black"/>
                </a:solidFill>
                <a:latin typeface="Arial Narrow"/>
                <a:ea typeface="LG스마트체 Regular"/>
                <a:cs typeface="Arial" panose="020B0604020202020204" pitchFamily="34" charset="0"/>
              </a:rPr>
              <a:t>점검 </a:t>
            </a:r>
            <a:r>
              <a:rPr kumimoji="1" lang="ko-KR" altLang="en-US" sz="1100" b="1" kern="0" spc="-50" dirty="0">
                <a:solidFill>
                  <a:prstClr val="black"/>
                </a:solidFill>
                <a:latin typeface="Arial Narrow"/>
                <a:ea typeface="LG스마트체 Regular"/>
                <a:cs typeface="Arial" panose="020B0604020202020204" pitchFamily="34" charset="0"/>
              </a:rPr>
              <a:t>진행</a:t>
            </a:r>
            <a:endParaRPr kumimoji="1" lang="en-US" altLang="ko-KR" sz="1000" kern="0" spc="-50" dirty="0">
              <a:solidFill>
                <a:prstClr val="black"/>
              </a:solidFill>
              <a:latin typeface="Arial Narrow"/>
              <a:ea typeface="LG스마트체 Regular"/>
              <a:cs typeface="Arial" panose="020B0604020202020204" pitchFamily="34" charset="0"/>
            </a:endParaRPr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B972A174-CAA5-FDBD-FC8A-49ACA813FCB9}"/>
              </a:ext>
            </a:extLst>
          </p:cNvPr>
          <p:cNvSpPr/>
          <p:nvPr/>
        </p:nvSpPr>
        <p:spPr bwMode="auto">
          <a:xfrm>
            <a:off x="4601452" y="1998593"/>
            <a:ext cx="1440438" cy="397149"/>
          </a:xfrm>
          <a:prstGeom prst="homePlate">
            <a:avLst>
              <a:gd name="adj" fmla="val 36416"/>
            </a:avLst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" tIns="3600" rIns="3600" bIns="36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57263" fontAlgn="base" latinLnBrk="0">
              <a:spcBef>
                <a:spcPts val="100"/>
              </a:spcBef>
              <a:spcAft>
                <a:spcPct val="0"/>
              </a:spcAft>
              <a:buSzPct val="120000"/>
            </a:pPr>
            <a:r>
              <a:rPr kumimoji="1" lang="ko-KR" altLang="en-US" sz="1100" b="1" kern="0" spc="-50" dirty="0">
                <a:solidFill>
                  <a:prstClr val="black"/>
                </a:solidFill>
                <a:latin typeface="Arial Narrow"/>
                <a:ea typeface="LG스마트체 Regular"/>
                <a:cs typeface="Arial" panose="020B0604020202020204" pitchFamily="34" charset="0"/>
              </a:rPr>
              <a:t>개선 과제 도출</a:t>
            </a:r>
            <a:endParaRPr kumimoji="1" lang="en-US" altLang="ko-KR" sz="1000" kern="0" spc="-50" dirty="0">
              <a:solidFill>
                <a:prstClr val="black"/>
              </a:solidFill>
              <a:latin typeface="Arial Narrow"/>
              <a:ea typeface="LG스마트체 Regular"/>
              <a:cs typeface="Arial" panose="020B0604020202020204" pitchFamily="34" charset="0"/>
            </a:endParaRPr>
          </a:p>
        </p:txBody>
      </p:sp>
      <p:sp>
        <p:nvSpPr>
          <p:cNvPr id="12" name="화살표: 오각형 11">
            <a:extLst>
              <a:ext uri="{FF2B5EF4-FFF2-40B4-BE49-F238E27FC236}">
                <a16:creationId xmlns:a16="http://schemas.microsoft.com/office/drawing/2014/main" id="{638F2A2C-B8AA-F08E-0ADC-F31C9FBF5E06}"/>
              </a:ext>
            </a:extLst>
          </p:cNvPr>
          <p:cNvSpPr/>
          <p:nvPr/>
        </p:nvSpPr>
        <p:spPr bwMode="auto">
          <a:xfrm>
            <a:off x="6166700" y="1998593"/>
            <a:ext cx="1440438" cy="397149"/>
          </a:xfrm>
          <a:prstGeom prst="homePlate">
            <a:avLst>
              <a:gd name="adj" fmla="val 36416"/>
            </a:avLst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" tIns="3600" rIns="3600" bIns="36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57263" fontAlgn="base" latinLnBrk="0">
              <a:spcBef>
                <a:spcPts val="100"/>
              </a:spcBef>
              <a:spcAft>
                <a:spcPct val="0"/>
              </a:spcAft>
              <a:buSzPct val="120000"/>
            </a:pPr>
            <a:r>
              <a:rPr kumimoji="1" lang="ko-KR" altLang="en-US" sz="1100" b="1" kern="0" spc="-50" dirty="0">
                <a:solidFill>
                  <a:prstClr val="black"/>
                </a:solidFill>
                <a:latin typeface="Arial Narrow"/>
                <a:ea typeface="LG스마트체 Regular"/>
                <a:cs typeface="Arial" panose="020B0604020202020204" pitchFamily="34" charset="0"/>
              </a:rPr>
              <a:t>솔루션 제공</a:t>
            </a:r>
            <a:endParaRPr kumimoji="1" lang="en-US" altLang="ko-KR" sz="1100" b="1" kern="0" spc="-50" dirty="0">
              <a:solidFill>
                <a:prstClr val="black"/>
              </a:solidFill>
              <a:latin typeface="Arial Narrow"/>
              <a:ea typeface="LG스마트체 Regular"/>
              <a:cs typeface="Arial" panose="020B0604020202020204" pitchFamily="34" charset="0"/>
            </a:endParaRPr>
          </a:p>
        </p:txBody>
      </p:sp>
      <p:sp>
        <p:nvSpPr>
          <p:cNvPr id="13" name="화살표: 오각형 12">
            <a:extLst>
              <a:ext uri="{FF2B5EF4-FFF2-40B4-BE49-F238E27FC236}">
                <a16:creationId xmlns:a16="http://schemas.microsoft.com/office/drawing/2014/main" id="{4178F94A-6E83-2B4F-14CD-29DAAAE473F3}"/>
              </a:ext>
            </a:extLst>
          </p:cNvPr>
          <p:cNvSpPr/>
          <p:nvPr/>
        </p:nvSpPr>
        <p:spPr bwMode="auto">
          <a:xfrm>
            <a:off x="7731947" y="1998593"/>
            <a:ext cx="1260673" cy="397149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" tIns="3600" rIns="3600" bIns="36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57263" fontAlgn="base" latinLnBrk="0">
              <a:spcBef>
                <a:spcPts val="100"/>
              </a:spcBef>
              <a:spcAft>
                <a:spcPct val="0"/>
              </a:spcAft>
              <a:buSzPct val="120000"/>
            </a:pPr>
            <a:r>
              <a:rPr kumimoji="1" lang="en-US" altLang="ko-KR" sz="1100" b="1" kern="0" spc="-50" dirty="0">
                <a:solidFill>
                  <a:prstClr val="black"/>
                </a:solidFill>
                <a:latin typeface="Arial Narrow"/>
                <a:ea typeface="LG스마트체 Regular"/>
                <a:cs typeface="Arial" panose="020B0604020202020204" pitchFamily="34" charset="0"/>
              </a:rPr>
              <a:t>Best Practice</a:t>
            </a:r>
            <a:r>
              <a:rPr kumimoji="1" lang="ko-KR" altLang="en-US" sz="1100" b="1" kern="0" spc="-50" dirty="0">
                <a:solidFill>
                  <a:prstClr val="black"/>
                </a:solidFill>
                <a:latin typeface="Arial Narrow"/>
                <a:ea typeface="LG스마트체 Regular"/>
                <a:cs typeface="Arial" panose="020B0604020202020204" pitchFamily="34" charset="0"/>
              </a:rPr>
              <a:t> 공유</a:t>
            </a:r>
            <a:endParaRPr kumimoji="1" lang="en-US" altLang="ko-KR" sz="1100" b="1" kern="0" spc="-50" dirty="0">
              <a:solidFill>
                <a:prstClr val="black"/>
              </a:solidFill>
              <a:latin typeface="Arial Narrow"/>
              <a:ea typeface="LG스마트체 Regular"/>
              <a:cs typeface="Arial" panose="020B0604020202020204" pitchFamily="34" charset="0"/>
            </a:endParaRPr>
          </a:p>
        </p:txBody>
      </p:sp>
      <p:sp>
        <p:nvSpPr>
          <p:cNvPr id="14" name="직사각형 41">
            <a:extLst>
              <a:ext uri="{FF2B5EF4-FFF2-40B4-BE49-F238E27FC236}">
                <a16:creationId xmlns:a16="http://schemas.microsoft.com/office/drawing/2014/main" id="{A5197FB5-69B7-8338-163B-EE129E66D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658" y="2005563"/>
            <a:ext cx="255903" cy="17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법인</a:t>
            </a:r>
          </a:p>
        </p:txBody>
      </p:sp>
      <p:sp>
        <p:nvSpPr>
          <p:cNvPr id="15" name="직사각형 41">
            <a:extLst>
              <a:ext uri="{FF2B5EF4-FFF2-40B4-BE49-F238E27FC236}">
                <a16:creationId xmlns:a16="http://schemas.microsoft.com/office/drawing/2014/main" id="{D05D7891-591A-25D2-A89B-F555180CE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673" y="2005563"/>
            <a:ext cx="255903" cy="17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HQ</a:t>
            </a:r>
            <a:endParaRPr lang="ko-KR" altLang="en-US" sz="8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17" name="직사각형 41">
            <a:extLst>
              <a:ext uri="{FF2B5EF4-FFF2-40B4-BE49-F238E27FC236}">
                <a16:creationId xmlns:a16="http://schemas.microsoft.com/office/drawing/2014/main" id="{71DB7DEC-88C0-9B94-0648-12414593F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0480" y="2005563"/>
            <a:ext cx="376198" cy="17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법인</a:t>
            </a:r>
            <a:r>
              <a:rPr lang="en-US" altLang="ko-KR" sz="8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-HQ</a:t>
            </a:r>
            <a:endParaRPr lang="ko-KR" altLang="en-US" sz="8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18" name="직사각형 41">
            <a:extLst>
              <a:ext uri="{FF2B5EF4-FFF2-40B4-BE49-F238E27FC236}">
                <a16:creationId xmlns:a16="http://schemas.microsoft.com/office/drawing/2014/main" id="{7A57982F-365C-66A7-8A31-029F052D0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213" y="2005563"/>
            <a:ext cx="255903" cy="17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itchFamily="50" charset="-127"/>
                <a:cs typeface="Arial" pitchFamily="34" charset="0"/>
              </a:rPr>
              <a:t>HQ</a:t>
            </a:r>
            <a:endParaRPr lang="ko-KR" altLang="en-US" sz="800" b="1" dirty="0">
              <a:solidFill>
                <a:schemeClr val="bg1"/>
              </a:solidFill>
              <a:latin typeface="Arial Narrow" panose="020B0606020202030204" pitchFamily="34" charset="0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3E8427-80E5-B826-9C86-F97232825835}"/>
              </a:ext>
            </a:extLst>
          </p:cNvPr>
          <p:cNvSpPr txBox="1"/>
          <p:nvPr/>
        </p:nvSpPr>
        <p:spPr>
          <a:xfrm>
            <a:off x="119348" y="3053303"/>
            <a:ext cx="720000" cy="446275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운영</a:t>
            </a:r>
            <a:endParaRPr kumimoji="0" lang="ko-KR" altLang="en-US" sz="1200" b="1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50D6445-A2EA-D5DC-8C8B-1891443D02CC}"/>
              </a:ext>
            </a:extLst>
          </p:cNvPr>
          <p:cNvCxnSpPr>
            <a:cxnSpLocks/>
          </p:cNvCxnSpPr>
          <p:nvPr/>
        </p:nvCxnSpPr>
        <p:spPr>
          <a:xfrm>
            <a:off x="747280" y="3075639"/>
            <a:ext cx="0" cy="762557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BCDA2AC-AE12-33EB-DB59-E50D4A11DA35}"/>
              </a:ext>
            </a:extLst>
          </p:cNvPr>
          <p:cNvGrpSpPr/>
          <p:nvPr/>
        </p:nvGrpSpPr>
        <p:grpSpPr>
          <a:xfrm>
            <a:off x="2116190" y="3346640"/>
            <a:ext cx="2146420" cy="1920345"/>
            <a:chOff x="6215275" y="2190945"/>
            <a:chExt cx="2424990" cy="2251960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47A2CC67-72C2-370D-988E-5FBDD32B7DAA}"/>
                </a:ext>
              </a:extLst>
            </p:cNvPr>
            <p:cNvSpPr/>
            <p:nvPr/>
          </p:nvSpPr>
          <p:spPr bwMode="auto">
            <a:xfrm>
              <a:off x="6331467" y="2190945"/>
              <a:ext cx="2210580" cy="2251960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돋움체" pitchFamily="49" charset="-127"/>
              </a:endParaRP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07F38C13-F2BB-DC1C-5C6B-319E240E8546}"/>
                </a:ext>
              </a:extLst>
            </p:cNvPr>
            <p:cNvGrpSpPr/>
            <p:nvPr/>
          </p:nvGrpSpPr>
          <p:grpSpPr>
            <a:xfrm>
              <a:off x="6215275" y="2309258"/>
              <a:ext cx="2424990" cy="2034883"/>
              <a:chOff x="6053882" y="2618357"/>
              <a:chExt cx="2825733" cy="2371159"/>
            </a:xfrm>
          </p:grpSpPr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DF245E9B-F178-2FBA-AED7-47B59D2DF282}"/>
                  </a:ext>
                </a:extLst>
              </p:cNvPr>
              <p:cNvGrpSpPr/>
              <p:nvPr/>
            </p:nvGrpSpPr>
            <p:grpSpPr>
              <a:xfrm>
                <a:off x="6053882" y="2625427"/>
                <a:ext cx="2825733" cy="2364089"/>
                <a:chOff x="5737995" y="2435309"/>
                <a:chExt cx="2825733" cy="2364089"/>
              </a:xfrm>
            </p:grpSpPr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4A2AA6C9-B694-6A00-ABDC-6D7796CDFFB8}"/>
                    </a:ext>
                  </a:extLst>
                </p:cNvPr>
                <p:cNvSpPr/>
                <p:nvPr/>
              </p:nvSpPr>
              <p:spPr bwMode="auto">
                <a:xfrm>
                  <a:off x="6521144" y="2939867"/>
                  <a:ext cx="1277852" cy="1301772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19050" cap="flat" cmpd="sng" algn="ctr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돋움체" pitchFamily="49" charset="-127"/>
                  </a:endParaRPr>
                </a:p>
              </p:txBody>
            </p:sp>
            <p:sp>
              <p:nvSpPr>
                <p:cNvPr id="33" name="직사각형 32">
                  <a:extLst>
                    <a:ext uri="{FF2B5EF4-FFF2-40B4-BE49-F238E27FC236}">
                      <a16:creationId xmlns:a16="http://schemas.microsoft.com/office/drawing/2014/main" id="{8010CE98-25C6-4E75-A5CB-F5BBA8096FC6}"/>
                    </a:ext>
                  </a:extLst>
                </p:cNvPr>
                <p:cNvSpPr/>
                <p:nvPr/>
              </p:nvSpPr>
              <p:spPr>
                <a:xfrm>
                  <a:off x="6481486" y="3068296"/>
                  <a:ext cx="846189" cy="261805"/>
                </a:xfrm>
                <a:prstGeom prst="rect">
                  <a:avLst/>
                </a:prstGeom>
              </p:spPr>
              <p:txBody>
                <a:bodyPr wrap="square" anchor="ctr">
                  <a:spAutoFit/>
                </a:bodyPr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1" i="0" u="none" strike="noStrike" kern="1200" cap="none" spc="-5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법인장</a:t>
                  </a:r>
                  <a:endParaRPr kumimoji="0" lang="en-US" altLang="ko-KR" sz="800" b="1" i="0" u="none" strike="noStrike" kern="1200" cap="none" spc="-5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/>
                  </a:endParaRPr>
                </a:p>
              </p:txBody>
            </p:sp>
            <p:sp>
              <p:nvSpPr>
                <p:cNvPr id="34" name="직사각형 33">
                  <a:extLst>
                    <a:ext uri="{FF2B5EF4-FFF2-40B4-BE49-F238E27FC236}">
                      <a16:creationId xmlns:a16="http://schemas.microsoft.com/office/drawing/2014/main" id="{12B5CA9E-3C59-48F3-2CE0-E209706CE71E}"/>
                    </a:ext>
                  </a:extLst>
                </p:cNvPr>
                <p:cNvSpPr/>
                <p:nvPr/>
              </p:nvSpPr>
              <p:spPr>
                <a:xfrm>
                  <a:off x="7357252" y="3377940"/>
                  <a:ext cx="539065" cy="338016"/>
                </a:xfrm>
                <a:prstGeom prst="rect">
                  <a:avLst/>
                </a:prstGeom>
              </p:spPr>
              <p:txBody>
                <a:bodyPr wrap="square" anchor="ctr">
                  <a:spAutoFit/>
                </a:bodyPr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80000"/>
                    </a:lnSpc>
                    <a:spcBef>
                      <a:spcPts val="3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현장</a:t>
                  </a:r>
                  <a:br>
                    <a:rPr kumimoji="0" lang="en-US" altLang="ko-KR" sz="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</a:br>
                  <a:r>
                    <a:rPr kumimoji="0" lang="ko-KR" altLang="en-US" sz="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리더</a:t>
                  </a:r>
                  <a:endParaRPr kumimoji="0" lang="en-US" altLang="ko-KR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/>
                  </a:endParaRPr>
                </a:p>
              </p:txBody>
            </p:sp>
            <p:sp>
              <p:nvSpPr>
                <p:cNvPr id="35" name="직사각형 34">
                  <a:extLst>
                    <a:ext uri="{FF2B5EF4-FFF2-40B4-BE49-F238E27FC236}">
                      <a16:creationId xmlns:a16="http://schemas.microsoft.com/office/drawing/2014/main" id="{D0F163DC-FF0D-1E90-EBD2-FC5DBFEF6F90}"/>
                    </a:ext>
                  </a:extLst>
                </p:cNvPr>
                <p:cNvSpPr/>
                <p:nvPr/>
              </p:nvSpPr>
              <p:spPr>
                <a:xfrm>
                  <a:off x="6637985" y="3918011"/>
                  <a:ext cx="787129" cy="260753"/>
                </a:xfrm>
                <a:prstGeom prst="rect">
                  <a:avLst/>
                </a:prstGeom>
              </p:spPr>
              <p:txBody>
                <a:bodyPr wrap="square" anchor="ctr">
                  <a:spAutoFit/>
                </a:bodyPr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80000"/>
                    </a:lnSpc>
                    <a:spcBef>
                      <a:spcPts val="3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HRBP/ER</a:t>
                  </a:r>
                </a:p>
              </p:txBody>
            </p:sp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BDA274DA-6D04-7846-59E6-058492BAD731}"/>
                    </a:ext>
                  </a:extLst>
                </p:cNvPr>
                <p:cNvSpPr/>
                <p:nvPr/>
              </p:nvSpPr>
              <p:spPr>
                <a:xfrm>
                  <a:off x="5862082" y="2982885"/>
                  <a:ext cx="855378" cy="530970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비전</a:t>
                  </a:r>
                  <a:r>
                    <a:rPr kumimoji="0" lang="en-US" altLang="ko-KR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/</a:t>
                  </a:r>
                  <a:r>
                    <a:rPr kumimoji="0" lang="ko-KR" altLang="en-US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철학</a:t>
                  </a:r>
                  <a:br>
                    <a:rPr kumimoji="0" lang="en-US" altLang="ko-KR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</a:br>
                  <a:r>
                    <a:rPr kumimoji="0" lang="ko-KR" altLang="en-US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경영상황</a:t>
                  </a:r>
                  <a:br>
                    <a:rPr kumimoji="0" lang="en-US" altLang="ko-KR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</a:br>
                  <a:r>
                    <a:rPr kumimoji="0" lang="ko-KR" altLang="en-US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공유</a:t>
                  </a:r>
                  <a:endParaRPr kumimoji="0" lang="en-US" altLang="ko-KR" sz="800" b="1" i="0" u="none" strike="noStrike" kern="1200" cap="none" spc="-5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/>
                  </a:endParaRPr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EE6BEDBD-953E-8E35-4E40-6E609C12EF85}"/>
                    </a:ext>
                  </a:extLst>
                </p:cNvPr>
                <p:cNvSpPr/>
                <p:nvPr/>
              </p:nvSpPr>
              <p:spPr>
                <a:xfrm>
                  <a:off x="6203735" y="2677566"/>
                  <a:ext cx="881968" cy="223252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현장경영</a:t>
                  </a:r>
                  <a:endParaRPr kumimoji="0" lang="en-US" altLang="ko-KR" sz="800" b="1" i="0" u="none" strike="noStrike" kern="1200" cap="none" spc="-5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/>
                  </a:endParaRPr>
                </a:p>
              </p:txBody>
            </p:sp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A0180D2C-2799-78BD-4228-C33457DC7EF9}"/>
                    </a:ext>
                  </a:extLst>
                </p:cNvPr>
                <p:cNvSpPr/>
                <p:nvPr/>
              </p:nvSpPr>
              <p:spPr>
                <a:xfrm>
                  <a:off x="7757460" y="3323580"/>
                  <a:ext cx="806268" cy="261805"/>
                </a:xfrm>
                <a:prstGeom prst="rect">
                  <a:avLst/>
                </a:prstGeom>
              </p:spPr>
              <p:txBody>
                <a:bodyPr wrap="square" anchor="ctr">
                  <a:spAutoFit/>
                </a:bodyPr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소통 주기</a:t>
                  </a:r>
                  <a:endParaRPr kumimoji="0" lang="en-US" altLang="ko-KR" sz="800" b="1" i="0" u="none" strike="noStrike" kern="1200" cap="none" spc="-5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/>
                  </a:endParaRPr>
                </a:p>
              </p:txBody>
            </p:sp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93805288-4215-3378-7C2B-853937B507C2}"/>
                    </a:ext>
                  </a:extLst>
                </p:cNvPr>
                <p:cNvSpPr/>
                <p:nvPr/>
              </p:nvSpPr>
              <p:spPr>
                <a:xfrm>
                  <a:off x="6569356" y="4403011"/>
                  <a:ext cx="877274" cy="396387"/>
                </a:xfrm>
                <a:prstGeom prst="rect">
                  <a:avLst/>
                </a:prstGeom>
              </p:spPr>
              <p:txBody>
                <a:bodyPr wrap="square" anchor="ctr">
                  <a:spAutoFit/>
                </a:bodyPr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현장감독자</a:t>
                  </a:r>
                  <a:endParaRPr kumimoji="0" lang="en-US" altLang="ko-KR" sz="800" b="1" i="0" u="none" strike="noStrike" kern="1200" cap="none" spc="-5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/>
                  </a:endParaRPr>
                </a:p>
                <a:p>
                  <a:pPr marL="0" marR="0" lvl="0" indent="0" algn="ctr" defTabSz="914400" rtl="0" eaLnBrk="1" fontAlgn="auto" latinLnBrk="1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훈련</a:t>
                  </a:r>
                  <a:r>
                    <a:rPr lang="en-US" altLang="ko-KR" sz="800" b="1" spc="-50" dirty="0">
                      <a:solidFill>
                        <a:prstClr val="black"/>
                      </a:solidFill>
                      <a:latin typeface="Arial Narrow" panose="020B0606020202030204" pitchFamily="34" charset="0"/>
                      <a:ea typeface="LG스마트체 Regular"/>
                    </a:rPr>
                    <a:t> / Care</a:t>
                  </a:r>
                  <a:endParaRPr kumimoji="0" lang="en-US" altLang="ko-KR" sz="800" b="1" i="0" u="none" strike="noStrike" kern="1200" cap="none" spc="-5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/>
                  </a:endParaRPr>
                </a:p>
              </p:txBody>
            </p:sp>
            <p:sp>
              <p:nvSpPr>
                <p:cNvPr id="44" name="직사각형 43">
                  <a:extLst>
                    <a:ext uri="{FF2B5EF4-FFF2-40B4-BE49-F238E27FC236}">
                      <a16:creationId xmlns:a16="http://schemas.microsoft.com/office/drawing/2014/main" id="{B279F85C-A21C-F551-6298-FFF1C2641502}"/>
                    </a:ext>
                  </a:extLst>
                </p:cNvPr>
                <p:cNvSpPr/>
                <p:nvPr/>
              </p:nvSpPr>
              <p:spPr>
                <a:xfrm>
                  <a:off x="7212687" y="4473093"/>
                  <a:ext cx="714418" cy="236702"/>
                </a:xfrm>
                <a:prstGeom prst="rect">
                  <a:avLst/>
                </a:prstGeom>
              </p:spPr>
              <p:txBody>
                <a:bodyPr wrap="square" anchor="ctr">
                  <a:spAutoFit/>
                </a:bodyPr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900" b="0" i="0" u="none" strike="noStrike" kern="1200" cap="none" spc="-5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/>
                  </a:endParaRPr>
                </a:p>
              </p:txBody>
            </p:sp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218CA5A8-C564-976B-590E-7052827292BB}"/>
                    </a:ext>
                  </a:extLst>
                </p:cNvPr>
                <p:cNvSpPr/>
                <p:nvPr/>
              </p:nvSpPr>
              <p:spPr>
                <a:xfrm>
                  <a:off x="6045734" y="4109646"/>
                  <a:ext cx="840294" cy="396387"/>
                </a:xfrm>
                <a:prstGeom prst="rect">
                  <a:avLst/>
                </a:prstGeom>
              </p:spPr>
              <p:txBody>
                <a:bodyPr wrap="square" anchor="ctr">
                  <a:spAutoFit/>
                </a:bodyPr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노동조합 </a:t>
                  </a:r>
                  <a:r>
                    <a:rPr kumimoji="0" lang="en-US" altLang="ko-KR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/</a:t>
                  </a:r>
                </a:p>
                <a:p>
                  <a:pPr marL="0" marR="0" lvl="0" indent="0" algn="ctr" defTabSz="914400" rtl="0" eaLnBrk="1" fontAlgn="auto" latinLnBrk="1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사원협의체</a:t>
                  </a:r>
                  <a:r>
                    <a:rPr lang="en-US" altLang="ko-KR" sz="800" b="1" spc="-50" dirty="0">
                      <a:solidFill>
                        <a:prstClr val="black"/>
                      </a:solidFill>
                      <a:latin typeface="Arial Narrow" panose="020B0606020202030204" pitchFamily="34" charset="0"/>
                      <a:ea typeface="LG스마트체 Regular"/>
                    </a:rPr>
                    <a:t> </a:t>
                  </a:r>
                  <a:endParaRPr kumimoji="0" lang="en-US" altLang="ko-KR" sz="800" b="1" i="0" u="none" strike="noStrike" kern="1200" cap="none" spc="-5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/>
                  </a:endParaRPr>
                </a:p>
              </p:txBody>
            </p:sp>
            <p:sp>
              <p:nvSpPr>
                <p:cNvPr id="46" name="직사각형 45">
                  <a:extLst>
                    <a:ext uri="{FF2B5EF4-FFF2-40B4-BE49-F238E27FC236}">
                      <a16:creationId xmlns:a16="http://schemas.microsoft.com/office/drawing/2014/main" id="{F393906D-9267-0E8D-01CA-13DDADB6219E}"/>
                    </a:ext>
                  </a:extLst>
                </p:cNvPr>
                <p:cNvSpPr/>
                <p:nvPr/>
              </p:nvSpPr>
              <p:spPr>
                <a:xfrm>
                  <a:off x="7211010" y="4323940"/>
                  <a:ext cx="838470" cy="337120"/>
                </a:xfrm>
                <a:prstGeom prst="rect">
                  <a:avLst/>
                </a:prstGeom>
              </p:spPr>
              <p:txBody>
                <a:bodyPr wrap="square" anchor="ctr">
                  <a:spAutoFit/>
                </a:bodyPr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Compliance </a:t>
                  </a:r>
                  <a:br>
                    <a:rPr kumimoji="0" lang="en-US" altLang="ko-KR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</a:br>
                  <a:r>
                    <a:rPr kumimoji="0" lang="en-US" altLang="ko-KR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Risk</a:t>
                  </a:r>
                  <a:r>
                    <a:rPr kumimoji="0" lang="ko-KR" altLang="en-US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관리</a:t>
                  </a:r>
                  <a:endParaRPr kumimoji="0" lang="en-US" altLang="ko-KR" sz="800" b="1" i="0" u="none" strike="noStrike" kern="1200" cap="none" spc="-5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/>
                  </a:endParaRPr>
                </a:p>
              </p:txBody>
            </p:sp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CC84890B-1859-213B-4ED4-545CBCD09594}"/>
                    </a:ext>
                  </a:extLst>
                </p:cNvPr>
                <p:cNvSpPr/>
                <p:nvPr/>
              </p:nvSpPr>
              <p:spPr>
                <a:xfrm>
                  <a:off x="5737995" y="3596520"/>
                  <a:ext cx="1022790" cy="530970"/>
                </a:xfrm>
                <a:prstGeom prst="rect">
                  <a:avLst/>
                </a:prstGeom>
              </p:spPr>
              <p:txBody>
                <a:bodyPr wrap="square" anchor="ctr">
                  <a:spAutoFit/>
                </a:bodyPr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VOE /</a:t>
                  </a:r>
                </a:p>
                <a:p>
                  <a:pPr marL="0" marR="0" lvl="0" indent="0" algn="ctr" defTabSz="914400" rtl="0" eaLnBrk="1" fontAlgn="auto" latinLnBrk="1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우호정서 </a:t>
                  </a:r>
                  <a:br>
                    <a:rPr kumimoji="0" lang="en-US" altLang="ko-KR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</a:br>
                  <a:r>
                    <a:rPr kumimoji="0" lang="ko-KR" altLang="en-US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관리</a:t>
                  </a:r>
                  <a:endParaRPr kumimoji="0" lang="en-US" altLang="ko-KR" sz="800" b="1" i="0" u="none" strike="noStrike" kern="1200" cap="none" spc="-5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/>
                  </a:endParaRPr>
                </a:p>
              </p:txBody>
            </p:sp>
            <p:sp>
              <p:nvSpPr>
                <p:cNvPr id="64" name="직사각형 63">
                  <a:extLst>
                    <a:ext uri="{FF2B5EF4-FFF2-40B4-BE49-F238E27FC236}">
                      <a16:creationId xmlns:a16="http://schemas.microsoft.com/office/drawing/2014/main" id="{B8A3FDF0-B70D-762F-0717-094586CF0A68}"/>
                    </a:ext>
                  </a:extLst>
                </p:cNvPr>
                <p:cNvSpPr/>
                <p:nvPr/>
              </p:nvSpPr>
              <p:spPr>
                <a:xfrm>
                  <a:off x="6931111" y="2435309"/>
                  <a:ext cx="719697" cy="337120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조직관리</a:t>
                  </a:r>
                  <a:br>
                    <a:rPr kumimoji="0" lang="en-US" altLang="ko-KR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</a:br>
                  <a:r>
                    <a:rPr kumimoji="0" lang="ko-KR" altLang="en-US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지원</a:t>
                  </a:r>
                  <a:endParaRPr kumimoji="0" lang="en-US" altLang="ko-KR" sz="800" b="1" i="0" u="none" strike="noStrike" kern="1200" cap="none" spc="-5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/>
                  </a:endParaRPr>
                </a:p>
              </p:txBody>
            </p:sp>
            <p:sp>
              <p:nvSpPr>
                <p:cNvPr id="65" name="직사각형 64">
                  <a:extLst>
                    <a:ext uri="{FF2B5EF4-FFF2-40B4-BE49-F238E27FC236}">
                      <a16:creationId xmlns:a16="http://schemas.microsoft.com/office/drawing/2014/main" id="{CE934F12-0C81-68BF-4867-D00FDA2882E4}"/>
                    </a:ext>
                  </a:extLst>
                </p:cNvPr>
                <p:cNvSpPr/>
                <p:nvPr/>
              </p:nvSpPr>
              <p:spPr>
                <a:xfrm>
                  <a:off x="7541574" y="2901264"/>
                  <a:ext cx="833189" cy="223252"/>
                </a:xfrm>
                <a:prstGeom prst="rect">
                  <a:avLst/>
                </a:prstGeom>
              </p:spPr>
              <p:txBody>
                <a:bodyPr wrap="square" anchor="ctr">
                  <a:spAutoFit/>
                </a:bodyPr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현장 리더십</a:t>
                  </a:r>
                </a:p>
              </p:txBody>
            </p:sp>
            <p:sp>
              <p:nvSpPr>
                <p:cNvPr id="66" name="직사각형 65">
                  <a:extLst>
                    <a:ext uri="{FF2B5EF4-FFF2-40B4-BE49-F238E27FC236}">
                      <a16:creationId xmlns:a16="http://schemas.microsoft.com/office/drawing/2014/main" id="{DEE3B27C-6EAC-4308-FD20-14A980F47483}"/>
                    </a:ext>
                  </a:extLst>
                </p:cNvPr>
                <p:cNvSpPr/>
                <p:nvPr/>
              </p:nvSpPr>
              <p:spPr>
                <a:xfrm>
                  <a:off x="7677053" y="3818528"/>
                  <a:ext cx="852000" cy="338016"/>
                </a:xfrm>
                <a:prstGeom prst="rect">
                  <a:avLst/>
                </a:prstGeom>
              </p:spPr>
              <p:txBody>
                <a:bodyPr wrap="square" anchor="ctr">
                  <a:spAutoFit/>
                </a:bodyPr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정보</a:t>
                  </a:r>
                  <a:r>
                    <a:rPr kumimoji="0" lang="en-US" altLang="ko-KR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/VOE </a:t>
                  </a:r>
                  <a:br>
                    <a:rPr kumimoji="0" lang="en-US" altLang="ko-KR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</a:br>
                  <a:r>
                    <a:rPr kumimoji="0" lang="ko-KR" altLang="en-US" sz="8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/>
                    </a:rPr>
                    <a:t>관리</a:t>
                  </a:r>
                  <a:endParaRPr kumimoji="0" lang="en-US" altLang="ko-KR" sz="800" b="1" i="0" u="none" strike="noStrike" kern="1200" cap="none" spc="-5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/>
                  </a:endParaRPr>
                </a:p>
              </p:txBody>
            </p:sp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AC47E528-EDED-DBD7-AC5C-457266B9501D}"/>
                    </a:ext>
                  </a:extLst>
                </p:cNvPr>
                <p:cNvSpPr/>
                <p:nvPr/>
              </p:nvSpPr>
              <p:spPr bwMode="auto">
                <a:xfrm>
                  <a:off x="6840560" y="3267782"/>
                  <a:ext cx="656994" cy="669292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1905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45720" rIns="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ko-KR" sz="9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 panose="020B0600000101010101" pitchFamily="50" charset="-127"/>
                    </a:rPr>
                    <a:t>ER</a:t>
                  </a:r>
                  <a:br>
                    <a:rPr kumimoji="1" lang="en-US" altLang="ko-KR" sz="9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 panose="020B0600000101010101" pitchFamily="50" charset="-127"/>
                    </a:rPr>
                  </a:br>
                  <a:r>
                    <a:rPr kumimoji="1" lang="ko-KR" altLang="en-US" sz="900" b="1" i="0" u="none" strike="noStrike" kern="1200" cap="none" spc="-5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Narrow" panose="020B0606020202030204" pitchFamily="34" charset="0"/>
                      <a:ea typeface="LG스마트체 Regular" panose="020B0600000101010101" pitchFamily="50" charset="-127"/>
                    </a:rPr>
                    <a:t>안정화</a:t>
                  </a:r>
                  <a:endParaRPr kumimoji="1" lang="en-US" altLang="ko-KR" sz="900" b="1" i="0" u="none" strike="noStrike" kern="1200" cap="none" spc="-5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LG스마트체 Regular" panose="020B0600000101010101" pitchFamily="50" charset="-127"/>
                  </a:endParaRPr>
                </a:p>
              </p:txBody>
            </p:sp>
          </p:grp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AE5B0080-6839-08EC-2440-D5A673812559}"/>
                  </a:ext>
                </a:extLst>
              </p:cNvPr>
              <p:cNvCxnSpPr>
                <a:cxnSpLocks/>
                <a:stCxn id="26" idx="5"/>
                <a:endCxn id="67" idx="5"/>
              </p:cNvCxnSpPr>
              <p:nvPr/>
            </p:nvCxnSpPr>
            <p:spPr bwMode="auto">
              <a:xfrm flipH="1" flipV="1">
                <a:off x="7717226" y="4029176"/>
                <a:ext cx="670708" cy="691134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731F3169-2DA1-230C-6C7F-7CB85FBE15A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7646734" y="2618357"/>
                <a:ext cx="434275" cy="877091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CD48ED9B-23EE-7D82-6904-9FF3B6EACDDC}"/>
                  </a:ext>
                </a:extLst>
              </p:cNvPr>
              <p:cNvCxnSpPr>
                <a:cxnSpLocks/>
                <a:stCxn id="26" idx="2"/>
                <a:endCxn id="67" idx="2"/>
              </p:cNvCxnSpPr>
              <p:nvPr/>
            </p:nvCxnSpPr>
            <p:spPr bwMode="auto">
              <a:xfrm flipV="1">
                <a:off x="6189274" y="3792546"/>
                <a:ext cx="967173" cy="1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75" name="모서리가 둥근 직사각형 76">
            <a:extLst>
              <a:ext uri="{FF2B5EF4-FFF2-40B4-BE49-F238E27FC236}">
                <a16:creationId xmlns:a16="http://schemas.microsoft.com/office/drawing/2014/main" id="{C02652BA-BEFE-B688-56DD-3515239EDB22}"/>
              </a:ext>
            </a:extLst>
          </p:cNvPr>
          <p:cNvSpPr/>
          <p:nvPr/>
        </p:nvSpPr>
        <p:spPr>
          <a:xfrm>
            <a:off x="1000788" y="2955454"/>
            <a:ext cx="464639" cy="2691365"/>
          </a:xfrm>
          <a:prstGeom prst="roundRect">
            <a:avLst>
              <a:gd name="adj" fmla="val 9814"/>
            </a:avLst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지표</a:t>
            </a:r>
            <a:endParaRPr lang="en-US" altLang="ko-KR" sz="12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구성</a:t>
            </a:r>
            <a:endParaRPr lang="en-US" altLang="ko-KR" sz="12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6" name="모서리가 둥근 직사각형 76">
            <a:extLst>
              <a:ext uri="{FF2B5EF4-FFF2-40B4-BE49-F238E27FC236}">
                <a16:creationId xmlns:a16="http://schemas.microsoft.com/office/drawing/2014/main" id="{686536EF-F7A5-2C98-2DE9-E3C942521388}"/>
              </a:ext>
            </a:extLst>
          </p:cNvPr>
          <p:cNvSpPr/>
          <p:nvPr/>
        </p:nvSpPr>
        <p:spPr>
          <a:xfrm>
            <a:off x="1000788" y="5698227"/>
            <a:ext cx="464639" cy="723340"/>
          </a:xfrm>
          <a:prstGeom prst="roundRect">
            <a:avLst>
              <a:gd name="adj" fmla="val 9814"/>
            </a:avLst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결과</a:t>
            </a:r>
            <a:br>
              <a:rPr lang="en-US" altLang="ko-KR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활용</a:t>
            </a:r>
            <a:endParaRPr lang="en-US" altLang="ko-KR" sz="12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2804186C-2A26-91FA-3F6F-5FF87E3CED15}"/>
              </a:ext>
            </a:extLst>
          </p:cNvPr>
          <p:cNvSpPr/>
          <p:nvPr/>
        </p:nvSpPr>
        <p:spPr>
          <a:xfrm>
            <a:off x="1659552" y="3016615"/>
            <a:ext cx="2309023" cy="215258"/>
          </a:xfrm>
          <a:prstGeom prst="roundRect">
            <a:avLst>
              <a:gd name="adj" fmla="val 4324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7C5EB703-4C42-C4D1-F33C-625AA6DF5C60}"/>
              </a:ext>
            </a:extLst>
          </p:cNvPr>
          <p:cNvSpPr/>
          <p:nvPr/>
        </p:nvSpPr>
        <p:spPr>
          <a:xfrm>
            <a:off x="1711185" y="3053303"/>
            <a:ext cx="141042" cy="1410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b="1" kern="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2D7777F-033C-9393-33C3-61255AF38690}"/>
              </a:ext>
            </a:extLst>
          </p:cNvPr>
          <p:cNvSpPr txBox="1"/>
          <p:nvPr/>
        </p:nvSpPr>
        <p:spPr>
          <a:xfrm>
            <a:off x="1892587" y="2937471"/>
            <a:ext cx="2075988" cy="332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00"/>
              </a:lnSpc>
              <a:spcBef>
                <a:spcPts val="1500"/>
              </a:spcBef>
            </a:pPr>
            <a:r>
              <a:rPr kumimoji="1" lang="ko-KR" altLang="en-US" sz="1200" b="1" kern="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주체별 행동 역량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kumimoji="1" lang="ko-KR" altLang="en-US" sz="1200" b="1" kern="0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2E96BFE1-F8C3-9C7C-AB7E-A2EDDE6351F5}"/>
              </a:ext>
            </a:extLst>
          </p:cNvPr>
          <p:cNvSpPr/>
          <p:nvPr/>
        </p:nvSpPr>
        <p:spPr>
          <a:xfrm>
            <a:off x="5514376" y="3015353"/>
            <a:ext cx="2309023" cy="215258"/>
          </a:xfrm>
          <a:prstGeom prst="roundRect">
            <a:avLst>
              <a:gd name="adj" fmla="val 4324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79BAA8B3-7D85-BFBA-081D-606EC276B966}"/>
              </a:ext>
            </a:extLst>
          </p:cNvPr>
          <p:cNvSpPr/>
          <p:nvPr/>
        </p:nvSpPr>
        <p:spPr>
          <a:xfrm>
            <a:off x="5566009" y="3052041"/>
            <a:ext cx="141042" cy="1410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b="1" kern="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3EBEE4A-A86D-B334-C559-03A52D170B5B}"/>
              </a:ext>
            </a:extLst>
          </p:cNvPr>
          <p:cNvSpPr txBox="1"/>
          <p:nvPr/>
        </p:nvSpPr>
        <p:spPr>
          <a:xfrm>
            <a:off x="5747410" y="2936209"/>
            <a:ext cx="2127621" cy="332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00"/>
              </a:lnSpc>
              <a:spcBef>
                <a:spcPts val="1500"/>
              </a:spcBef>
            </a:pPr>
            <a:r>
              <a:rPr kumimoji="1" lang="ko-KR" altLang="en-US" sz="1200" b="1" kern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해외법인 노경담당자 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전문 역량</a:t>
            </a:r>
            <a:endParaRPr kumimoji="1" lang="ko-KR" altLang="en-US" sz="1200" kern="0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91" name="차트 90">
            <a:extLst>
              <a:ext uri="{FF2B5EF4-FFF2-40B4-BE49-F238E27FC236}">
                <a16:creationId xmlns:a16="http://schemas.microsoft.com/office/drawing/2014/main" id="{8AAB9CF2-02F7-7F13-B356-094BAC04D2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808572"/>
              </p:ext>
            </p:extLst>
          </p:nvPr>
        </p:nvGraphicFramePr>
        <p:xfrm>
          <a:off x="5321671" y="3120338"/>
          <a:ext cx="3695738" cy="2321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7" name="직사각형 96">
            <a:extLst>
              <a:ext uri="{FF2B5EF4-FFF2-40B4-BE49-F238E27FC236}">
                <a16:creationId xmlns:a16="http://schemas.microsoft.com/office/drawing/2014/main" id="{5E5A9747-EEFA-1E9F-6663-1BFC1CA686E9}"/>
              </a:ext>
            </a:extLst>
          </p:cNvPr>
          <p:cNvSpPr/>
          <p:nvPr/>
        </p:nvSpPr>
        <p:spPr>
          <a:xfrm>
            <a:off x="5591663" y="5411627"/>
            <a:ext cx="3167602" cy="235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*ERCC 8</a:t>
            </a:r>
            <a:r>
              <a:rPr lang="ko-KR" altLang="en-US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역량 중 글로벌 </a:t>
            </a:r>
            <a:r>
              <a:rPr lang="ko-KR" altLang="en-US" sz="900" spc="-2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소통력</a:t>
            </a:r>
            <a:r>
              <a:rPr lang="en-US" altLang="ko-KR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개별적 노사관계 제외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770ED0-1A84-F74E-88BE-8FFBC8CCE821}"/>
              </a:ext>
            </a:extLst>
          </p:cNvPr>
          <p:cNvSpPr txBox="1"/>
          <p:nvPr/>
        </p:nvSpPr>
        <p:spPr>
          <a:xfrm>
            <a:off x="1604963" y="5788722"/>
            <a:ext cx="8018162" cy="53952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rtlCol="0" anchor="ctr">
            <a:noAutofit/>
          </a:bodyPr>
          <a:lstStyle>
            <a:defPPr>
              <a:defRPr lang="ko-KR"/>
            </a:defPPr>
            <a:lvl1pPr marL="87313" indent="-87313">
              <a:buFont typeface="Wingdings" panose="05000000000000000000" pitchFamily="2" charset="2"/>
              <a:buChar char="§"/>
              <a:defRPr sz="1200" spc="-50"/>
            </a:lvl1pPr>
          </a:lstStyle>
          <a:p>
            <a:pPr defTabSz="914400" latinLnBrk="1">
              <a:spcBef>
                <a:spcPts val="300"/>
              </a:spcBef>
            </a:pP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행동 역량 </a:t>
            </a: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 주체별</a:t>
            </a:r>
            <a:r>
              <a:rPr lang="en-US" altLang="ko-KR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법인장</a:t>
            </a:r>
            <a:r>
              <a:rPr lang="en-US" altLang="ko-KR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HRBP/ER, </a:t>
            </a:r>
            <a:r>
              <a:rPr lang="ko-KR" altLang="en-US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현장감독자</a:t>
            </a:r>
            <a:r>
              <a:rPr lang="en-US" altLang="ko-KR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맞춤 노경관리 활동 강화 모듈 설계 및 </a:t>
            </a: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Best Practice </a:t>
            </a:r>
            <a:r>
              <a:rPr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전파</a:t>
            </a:r>
            <a:endParaRPr lang="en-US" altLang="ko-KR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914400" latinLnBrk="1">
              <a:spcBef>
                <a:spcPts val="300"/>
              </a:spcBef>
            </a:pP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전문 역량 </a:t>
            </a: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노경담당자의 전문 역량 강</a:t>
            </a: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약점을 분석하여 역량 향상을 위한 솔루션 제공</a:t>
            </a:r>
            <a:endParaRPr lang="en-US" altLang="ko-KR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07CECB-F219-247B-FF76-088C53AFC496}"/>
              </a:ext>
            </a:extLst>
          </p:cNvPr>
          <p:cNvSpPr txBox="1"/>
          <p:nvPr/>
        </p:nvSpPr>
        <p:spPr>
          <a:xfrm>
            <a:off x="202841" y="150290"/>
            <a:ext cx="296656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7800" indent="-177800">
              <a:buFont typeface="+mj-lt"/>
              <a:buAutoNum type="romanUcPeriod" startAt="3"/>
            </a:pP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추진과제 및 대응방향  </a:t>
            </a:r>
            <a:endParaRPr lang="en-US" altLang="ko-KR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3103A2-1A74-24FB-9104-CEFEF128BD99}"/>
              </a:ext>
            </a:extLst>
          </p:cNvPr>
          <p:cNvSpPr txBox="1"/>
          <p:nvPr/>
        </p:nvSpPr>
        <p:spPr>
          <a:xfrm>
            <a:off x="1672703" y="2489706"/>
            <a:ext cx="8018162" cy="21093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rtlCol="0" anchor="ctr">
            <a:noAutofit/>
          </a:bodyPr>
          <a:lstStyle>
            <a:defPPr>
              <a:defRPr lang="ko-KR"/>
            </a:defPPr>
            <a:lvl1pPr marL="87313" indent="-87313">
              <a:buFont typeface="Wingdings" panose="05000000000000000000" pitchFamily="2" charset="2"/>
              <a:buChar char="§"/>
              <a:defRPr sz="1200" spc="-50"/>
            </a:lvl1pPr>
          </a:lstStyle>
          <a:p>
            <a:pPr marL="0" indent="0" defTabSz="914400" latinLnBrk="1">
              <a:buNone/>
            </a:pP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’26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 상반기 역량점검 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Tool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구축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하반기 전 생산법인 대상 점검실시</a:t>
            </a:r>
            <a:endParaRPr lang="en-US" altLang="ko-KR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6799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6333940" y="181068"/>
            <a:ext cx="3284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⑥ 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현장직 인력운영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0" name="TextBox 5">
            <a:extLst>
              <a:ext uri="{FF2B5EF4-FFF2-40B4-BE49-F238E27FC236}">
                <a16:creationId xmlns:a16="http://schemas.microsoft.com/office/drawing/2014/main" id="{EACF5AB4-246E-598D-D9C7-3C36CBBFF9CB}"/>
              </a:ext>
            </a:extLst>
          </p:cNvPr>
          <p:cNvSpPr txBox="1"/>
          <p:nvPr/>
        </p:nvSpPr>
        <p:spPr>
          <a:xfrm>
            <a:off x="1308884" y="3252450"/>
            <a:ext cx="3564000" cy="1781193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marR="0" lvl="0" indent="-92075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국내 양산라인 현장개선활동 수행자</a:t>
            </a:r>
            <a:r>
              <a:rPr kumimoji="0" lang="en-US" altLang="ko-KR" sz="12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0" lang="ko-KR" altLang="en-US" sz="12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기술전문가</a:t>
            </a:r>
            <a:r>
              <a:rPr kumimoji="0" lang="en-US" altLang="ko-KR" sz="12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br>
              <a:rPr kumimoji="0" lang="en-US" altLang="ko-KR" sz="12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제도 설립</a:t>
            </a: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92075" marR="0" lvl="0" indent="-92075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파일럿 이후 신규라인 안정화 및 트러블 슈팅 대응</a:t>
            </a:r>
            <a:b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국내 파일럿 라인 선제적 개선활동</a:t>
            </a:r>
            <a:r>
              <a:rPr kumimoji="0" lang="en-US" altLang="ko-KR" sz="12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0" lang="ko-KR" altLang="en-US" sz="12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명장</a:t>
            </a:r>
            <a:r>
              <a:rPr kumimoji="0" lang="en-US" altLang="ko-KR" sz="12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제도 설립</a:t>
            </a: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92075" marR="0" lvl="0" indent="-92075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1200" b="1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‘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Winning-Tech’/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포트폴리오 </a:t>
            </a:r>
            <a:r>
              <a:rPr kumimoji="0" lang="ko-KR" alt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리밸런싱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등</a:t>
            </a:r>
            <a:r>
              <a:rPr lang="en-US" altLang="ko-KR" sz="12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제품 경쟁력과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원가 구조 혁신 필요에 따른</a:t>
            </a:r>
            <a:r>
              <a:rPr lang="en-US" altLang="ko-KR" sz="1200" b="1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수준 높은 생산기술직 인력 필요</a:t>
            </a: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6C219A0-4941-66DF-1331-958078434DBC}"/>
              </a:ext>
            </a:extLst>
          </p:cNvPr>
          <p:cNvGrpSpPr/>
          <p:nvPr/>
        </p:nvGrpSpPr>
        <p:grpSpPr>
          <a:xfrm>
            <a:off x="1445302" y="845943"/>
            <a:ext cx="2952000" cy="308881"/>
            <a:chOff x="1445302" y="906903"/>
            <a:chExt cx="2952000" cy="308881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4F78F2A-9BA9-FE2D-E3D1-6CF5CDA1973C}"/>
                </a:ext>
              </a:extLst>
            </p:cNvPr>
            <p:cNvSpPr/>
            <p:nvPr/>
          </p:nvSpPr>
          <p:spPr>
            <a:xfrm>
              <a:off x="2236822" y="906903"/>
              <a:ext cx="1368960" cy="30888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이슈 및 현황 </a:t>
              </a:r>
              <a:endPara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80F18525-CA01-ADAD-062F-BFD5AC5C5634}"/>
                </a:ext>
              </a:extLst>
            </p:cNvPr>
            <p:cNvCxnSpPr>
              <a:cxnSpLocks/>
            </p:cNvCxnSpPr>
            <p:nvPr/>
          </p:nvCxnSpPr>
          <p:spPr>
            <a:xfrm>
              <a:off x="1445302" y="1196005"/>
              <a:ext cx="2952000" cy="0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231EDA5-1E37-A7CB-C521-40100DDA0A0D}"/>
              </a:ext>
            </a:extLst>
          </p:cNvPr>
          <p:cNvGrpSpPr/>
          <p:nvPr/>
        </p:nvGrpSpPr>
        <p:grpSpPr>
          <a:xfrm>
            <a:off x="5333423" y="845943"/>
            <a:ext cx="3800502" cy="308881"/>
            <a:chOff x="5134271" y="906903"/>
            <a:chExt cx="2808000" cy="308881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2F05A638-CD01-F7FD-E4D4-D476B2E5CD1B}"/>
                </a:ext>
              </a:extLst>
            </p:cNvPr>
            <p:cNvSpPr/>
            <p:nvPr/>
          </p:nvSpPr>
          <p:spPr>
            <a:xfrm>
              <a:off x="5865242" y="906903"/>
              <a:ext cx="1368960" cy="30888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대응안</a:t>
              </a:r>
              <a:endPara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57F9A532-F392-E081-5EC5-991F4274DE5A}"/>
                </a:ext>
              </a:extLst>
            </p:cNvPr>
            <p:cNvCxnSpPr>
              <a:cxnSpLocks/>
            </p:cNvCxnSpPr>
            <p:nvPr/>
          </p:nvCxnSpPr>
          <p:spPr>
            <a:xfrm>
              <a:off x="5134271" y="1196005"/>
              <a:ext cx="2808000" cy="0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AutoShape 1603">
            <a:extLst>
              <a:ext uri="{FF2B5EF4-FFF2-40B4-BE49-F238E27FC236}">
                <a16:creationId xmlns:a16="http://schemas.microsoft.com/office/drawing/2014/main" id="{98A8DED4-F0E3-8AA1-967A-B211D712241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016536" y="2062473"/>
            <a:ext cx="1916640" cy="260472"/>
          </a:xfrm>
          <a:prstGeom prst="triangle">
            <a:avLst>
              <a:gd name="adj" fmla="val 50780"/>
            </a:avLst>
          </a:prstGeom>
          <a:gradFill rotWithShape="1">
            <a:gsLst>
              <a:gs pos="0">
                <a:srgbClr val="777777"/>
              </a:gs>
              <a:gs pos="100000">
                <a:schemeClr val="bg1"/>
              </a:gs>
            </a:gsLst>
            <a:lin ang="5400000" scaled="1"/>
          </a:gradFill>
          <a:ln w="19050" algn="ctr">
            <a:noFill/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BCA533F-BAED-7887-B665-DA5C408CB623}"/>
              </a:ext>
            </a:extLst>
          </p:cNvPr>
          <p:cNvGrpSpPr/>
          <p:nvPr/>
        </p:nvGrpSpPr>
        <p:grpSpPr>
          <a:xfrm>
            <a:off x="338346" y="1438612"/>
            <a:ext cx="804980" cy="812843"/>
            <a:chOff x="338346" y="1477357"/>
            <a:chExt cx="804980" cy="812843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3597DFD-E0C7-0FBD-36B4-EEC079CD4436}"/>
                </a:ext>
              </a:extLst>
            </p:cNvPr>
            <p:cNvSpPr txBox="1"/>
            <p:nvPr/>
          </p:nvSpPr>
          <p:spPr>
            <a:xfrm>
              <a:off x="338346" y="1522454"/>
              <a:ext cx="720000" cy="622088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생산기술직</a:t>
              </a:r>
              <a:endPara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효율적</a:t>
              </a:r>
              <a:endPara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인력 재배치</a:t>
              </a:r>
              <a:endPara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184FDFFF-8643-1C4C-E3EE-493FB8A817AC}"/>
                </a:ext>
              </a:extLst>
            </p:cNvPr>
            <p:cNvCxnSpPr>
              <a:cxnSpLocks/>
            </p:cNvCxnSpPr>
            <p:nvPr/>
          </p:nvCxnSpPr>
          <p:spPr>
            <a:xfrm>
              <a:off x="1143326" y="1477357"/>
              <a:ext cx="0" cy="812843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A43961D-AAB4-ED91-5A45-15F8B0C78DCC}"/>
              </a:ext>
            </a:extLst>
          </p:cNvPr>
          <p:cNvGrpSpPr/>
          <p:nvPr/>
        </p:nvGrpSpPr>
        <p:grpSpPr>
          <a:xfrm>
            <a:off x="338346" y="3301458"/>
            <a:ext cx="804980" cy="891088"/>
            <a:chOff x="338346" y="3377327"/>
            <a:chExt cx="804980" cy="76291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D6CF133-C6F9-CD2A-B1B8-6F1BBE7814C8}"/>
                </a:ext>
              </a:extLst>
            </p:cNvPr>
            <p:cNvSpPr txBox="1"/>
            <p:nvPr/>
          </p:nvSpPr>
          <p:spPr>
            <a:xfrm>
              <a:off x="338346" y="3377327"/>
              <a:ext cx="720000" cy="684297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명장 </a:t>
              </a:r>
              <a:r>
                <a:rPr kumimoji="0" lang="en-US" altLang="ko-KR" sz="120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/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기술전문가</a:t>
              </a:r>
              <a:endPara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Pool </a:t>
              </a:r>
              <a:r>
                <a:rPr kumimoji="0" lang="ko-KR" altLang="en-US" sz="1200" b="1" i="0" u="none" strike="noStrike" kern="120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구축</a:t>
              </a:r>
              <a:endPara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D9115852-2757-C226-DD97-EDD22390DFCE}"/>
                </a:ext>
              </a:extLst>
            </p:cNvPr>
            <p:cNvCxnSpPr>
              <a:cxnSpLocks/>
            </p:cNvCxnSpPr>
            <p:nvPr/>
          </p:nvCxnSpPr>
          <p:spPr>
            <a:xfrm>
              <a:off x="1143326" y="3382821"/>
              <a:ext cx="0" cy="757423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574DD53-B7F6-EF34-EF90-08E4B578E494}"/>
              </a:ext>
            </a:extLst>
          </p:cNvPr>
          <p:cNvGrpSpPr/>
          <p:nvPr/>
        </p:nvGrpSpPr>
        <p:grpSpPr>
          <a:xfrm>
            <a:off x="338346" y="5357667"/>
            <a:ext cx="804980" cy="916797"/>
            <a:chOff x="338346" y="5184778"/>
            <a:chExt cx="804980" cy="730278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7148938-ED7C-BE74-1322-2DBC00F1EF00}"/>
                </a:ext>
              </a:extLst>
            </p:cNvPr>
            <p:cNvSpPr txBox="1"/>
            <p:nvPr/>
          </p:nvSpPr>
          <p:spPr>
            <a:xfrm>
              <a:off x="338346" y="5184778"/>
              <a:ext cx="720000" cy="730278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생산기술직</a:t>
              </a:r>
              <a:endPara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인력구조</a:t>
              </a:r>
              <a:endPara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변화 대응</a:t>
              </a:r>
              <a:endPara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-5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시나리오</a:t>
              </a:r>
              <a:endPara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49763E0E-0FC8-5F7E-6547-ACAAD8A45285}"/>
                </a:ext>
              </a:extLst>
            </p:cNvPr>
            <p:cNvCxnSpPr>
              <a:cxnSpLocks/>
            </p:cNvCxnSpPr>
            <p:nvPr/>
          </p:nvCxnSpPr>
          <p:spPr>
            <a:xfrm>
              <a:off x="1143326" y="5195200"/>
              <a:ext cx="0" cy="692948"/>
            </a:xfrm>
            <a:prstGeom prst="line">
              <a:avLst/>
            </a:prstGeom>
            <a:ln w="571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TextBox 5">
            <a:extLst>
              <a:ext uri="{FF2B5EF4-FFF2-40B4-BE49-F238E27FC236}">
                <a16:creationId xmlns:a16="http://schemas.microsoft.com/office/drawing/2014/main" id="{7FFF3BF6-7667-51AC-734C-D4DDB427FEA3}"/>
              </a:ext>
            </a:extLst>
          </p:cNvPr>
          <p:cNvSpPr txBox="1"/>
          <p:nvPr/>
        </p:nvSpPr>
        <p:spPr>
          <a:xfrm>
            <a:off x="1337444" y="1295514"/>
            <a:ext cx="3438338" cy="1781193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marR="0" lvl="0" indent="-92075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’26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年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신사업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마더라인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전고체 등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추진 및</a:t>
            </a:r>
            <a:b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기존라인 인력수요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확대로 생산기술직</a:t>
            </a:r>
            <a:r>
              <a:rPr lang="en-US" altLang="ko-KR" sz="1200" b="1" kern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필요인력이 </a:t>
            </a:r>
            <a:b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100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여명 정도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되는 상황</a:t>
            </a: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92075" marR="0" lvl="0" indent="-92075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신규 충원 없이 적기에 필요인력을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확보하기 위해</a:t>
            </a:r>
            <a:b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조직별 적정인력 재산정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운영이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필요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92075" marR="0" lvl="0" indent="-92075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사업별 인력 필요 시점 및 우선순위가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상이하여 효과적인 조율 필요</a:t>
            </a: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0" name="TextBox 5">
            <a:extLst>
              <a:ext uri="{FF2B5EF4-FFF2-40B4-BE49-F238E27FC236}">
                <a16:creationId xmlns:a16="http://schemas.microsoft.com/office/drawing/2014/main" id="{2052D6F4-0722-90F1-AF0A-2EF555BB3484}"/>
              </a:ext>
            </a:extLst>
          </p:cNvPr>
          <p:cNvSpPr txBox="1"/>
          <p:nvPr/>
        </p:nvSpPr>
        <p:spPr>
          <a:xfrm>
            <a:off x="1291006" y="5301756"/>
            <a:ext cx="3564000" cy="10394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marR="0" lvl="0" indent="-92075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향후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5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년 內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생산기술직 사원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직급 </a:t>
            </a:r>
            <a:r>
              <a:rPr lang="en-US" altLang="ko-KR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0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명</a:t>
            </a: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92075" marR="0" lvl="0" indent="-92075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파일럿 라인 필요 인력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증가 및</a:t>
            </a:r>
            <a:r>
              <a:rPr lang="en-US" altLang="ko-KR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제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파일럿 라인 배치 인력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증가로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인한</a:t>
            </a:r>
            <a:r>
              <a:rPr lang="en-US" altLang="ko-KR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재배치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時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양산라인과의 업무 형평성 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Issue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발생</a:t>
            </a: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1" name="AutoShape 1603">
            <a:extLst>
              <a:ext uri="{FF2B5EF4-FFF2-40B4-BE49-F238E27FC236}">
                <a16:creationId xmlns:a16="http://schemas.microsoft.com/office/drawing/2014/main" id="{49EC2136-EA1D-5C25-F1B1-588FB353192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016536" y="3926616"/>
            <a:ext cx="1916640" cy="260472"/>
          </a:xfrm>
          <a:prstGeom prst="triangle">
            <a:avLst>
              <a:gd name="adj" fmla="val 50780"/>
            </a:avLst>
          </a:prstGeom>
          <a:gradFill rotWithShape="1">
            <a:gsLst>
              <a:gs pos="0">
                <a:srgbClr val="777777"/>
              </a:gs>
              <a:gs pos="100000">
                <a:schemeClr val="bg1"/>
              </a:gs>
            </a:gsLst>
            <a:lin ang="5400000" scaled="1"/>
          </a:gradFill>
          <a:ln w="19050" algn="ctr">
            <a:noFill/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538763E-2B33-AE84-E961-7A383348CD11}"/>
              </a:ext>
            </a:extLst>
          </p:cNvPr>
          <p:cNvSpPr txBox="1"/>
          <p:nvPr/>
        </p:nvSpPr>
        <p:spPr>
          <a:xfrm>
            <a:off x="5210471" y="3205120"/>
            <a:ext cx="4537963" cy="1781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R"/>
              <a:tabLst/>
              <a:defRPr/>
            </a:pPr>
            <a:r>
              <a:rPr lang="ko-KR" altLang="en-US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위 제도들을 활용해 생산기술직 인력</a:t>
            </a:r>
            <a:r>
              <a:rPr lang="en-US" altLang="ko-KR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Pool</a:t>
            </a:r>
            <a:r>
              <a:rPr lang="ko-KR" altLang="en-US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구성 후</a:t>
            </a:r>
            <a:r>
              <a:rPr lang="en-US" altLang="ko-KR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br>
              <a:rPr lang="en-US" altLang="ko-KR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Business partner</a:t>
            </a:r>
            <a:r>
              <a:rPr lang="ko-KR" altLang="en-US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로써 효과적인 인력육성</a:t>
            </a:r>
            <a:r>
              <a:rPr lang="en-US" altLang="ko-KR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활용을</a:t>
            </a:r>
            <a:r>
              <a:rPr lang="en-US" altLang="ko-KR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위한 현업 직제 상시 인터뷰 프로세스 구축 </a:t>
            </a:r>
            <a:endParaRPr lang="en-US" altLang="ko-KR" sz="1200" b="1" kern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R"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우수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현장개선과제와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Align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및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직제와 소통을</a:t>
            </a:r>
            <a:r>
              <a:rPr lang="en-US" altLang="ko-KR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통해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인력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Pool </a:t>
            </a:r>
            <a:b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적극적 발굴</a:t>
            </a:r>
            <a:endParaRPr kumimoji="0" lang="en-US" altLang="ko-KR" sz="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171450" indent="-171450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 2" panose="05020102010507070707" pitchFamily="18" charset="2"/>
              <a:buChar char="R"/>
              <a:defRPr/>
            </a:pPr>
            <a:r>
              <a:rPr lang="ko-KR" altLang="en-US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인력</a:t>
            </a:r>
            <a:r>
              <a:rPr lang="en-US" altLang="ko-KR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Pool </a:t>
            </a:r>
            <a:r>
              <a:rPr lang="ko-KR" altLang="en-US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內 미충족 자격요건 선행적 확보를</a:t>
            </a:r>
            <a:r>
              <a:rPr lang="en-US" altLang="ko-KR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위한 자격증 교육 및 혁신교육 지원</a:t>
            </a:r>
            <a:endParaRPr lang="en-US" altLang="ko-KR" sz="1200" b="1" kern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DAEB1C6-8D16-092C-2871-CD3314A10C2B}"/>
              </a:ext>
            </a:extLst>
          </p:cNvPr>
          <p:cNvSpPr txBox="1"/>
          <p:nvPr/>
        </p:nvSpPr>
        <p:spPr>
          <a:xfrm>
            <a:off x="5210471" y="5239764"/>
            <a:ext cx="4116409" cy="1482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R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생산기술직 직무 체계 구축 및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정교화를 통한 라인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기능별 인사제도 보완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근태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직무수당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등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en-US" altLang="ko-KR" sz="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R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계열사 직급체계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B/M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및 현업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Needs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를 반영한</a:t>
            </a:r>
            <a:r>
              <a:rPr lang="en-US" altLang="ko-KR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진급제도 개선</a:t>
            </a:r>
            <a:b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(eg.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진급률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조정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직급 신설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등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</a:t>
            </a:r>
            <a:b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lang="en-US" altLang="ko-KR" sz="12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kumimoji="0" lang="ko-KR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노경공동</a:t>
            </a:r>
            <a:r>
              <a:rPr lang="en-US" altLang="ko-KR" sz="12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Task </a:t>
            </a:r>
            <a:r>
              <a:rPr lang="ko-KR" altLang="en-US" sz="12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실시 제안 </a:t>
            </a:r>
            <a:br>
              <a:rPr lang="en-US" altLang="ko-KR" sz="12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2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노</a:t>
            </a:r>
            <a:r>
              <a:rPr lang="en-US" altLang="ko-KR" sz="12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2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정책기획국장</a:t>
            </a:r>
            <a:r>
              <a:rPr lang="en-US" altLang="ko-KR" sz="12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外 </a:t>
            </a:r>
            <a:r>
              <a:rPr lang="en-US" altLang="ko-KR" sz="12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ko-KR" altLang="en-US" sz="12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명 </a:t>
            </a:r>
            <a:r>
              <a:rPr lang="en-US" altLang="ko-KR" sz="12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lang="ko-KR" altLang="en-US" sz="12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</a:t>
            </a:r>
            <a:r>
              <a:rPr lang="en-US" altLang="ko-KR" sz="12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2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노경부문 실무자 </a:t>
            </a:r>
            <a:r>
              <a:rPr lang="en-US" altLang="ko-KR" sz="12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lang="ko-KR" altLang="en-US" sz="1200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명</a:t>
            </a:r>
            <a:endParaRPr kumimoji="0" lang="en-US" altLang="ko-KR" sz="12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" name="AutoShape 1603">
            <a:extLst>
              <a:ext uri="{FF2B5EF4-FFF2-40B4-BE49-F238E27FC236}">
                <a16:creationId xmlns:a16="http://schemas.microsoft.com/office/drawing/2014/main" id="{6B522979-BB23-F68A-B7F7-121C0F85D72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182856" y="5812944"/>
            <a:ext cx="1584000" cy="260472"/>
          </a:xfrm>
          <a:prstGeom prst="triangle">
            <a:avLst>
              <a:gd name="adj" fmla="val 50780"/>
            </a:avLst>
          </a:prstGeom>
          <a:gradFill rotWithShape="1">
            <a:gsLst>
              <a:gs pos="0">
                <a:srgbClr val="777777"/>
              </a:gs>
              <a:gs pos="100000">
                <a:schemeClr val="bg1"/>
              </a:gs>
            </a:gsLst>
            <a:lin ang="5400000" scaled="1"/>
          </a:gradFill>
          <a:ln w="19050" algn="ctr">
            <a:noFill/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DCF9BF-ADDC-89C6-70B2-C9A4D004FEAF}"/>
              </a:ext>
            </a:extLst>
          </p:cNvPr>
          <p:cNvSpPr txBox="1"/>
          <p:nvPr/>
        </p:nvSpPr>
        <p:spPr>
          <a:xfrm>
            <a:off x="5210471" y="1343421"/>
            <a:ext cx="4828262" cy="1636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 2" panose="05020102010507070707" pitchFamily="18" charset="2"/>
              <a:buChar char="R"/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사업별 필요인력 상시 모니터링</a:t>
            </a:r>
            <a:r>
              <a:rPr lang="en-US" altLang="ko-KR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기획</a:t>
            </a:r>
            <a:r>
              <a:rPr lang="en-US" altLang="ko-KR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인사지원 </a:t>
            </a:r>
            <a:r>
              <a:rPr lang="ko-KR" altLang="en-US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</a:t>
            </a:r>
            <a:r>
              <a:rPr lang="en-US" altLang="ko-KR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1200" b="1" kern="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171450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 2" panose="05020102010507070707" pitchFamily="18" charset="2"/>
              <a:buChar char="R"/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직제 회의를 통한 선제적인 인력운영 이슈 </a:t>
            </a:r>
            <a:r>
              <a:rPr lang="ko-KR" altLang="en-US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파악 및</a:t>
            </a:r>
            <a:r>
              <a:rPr lang="en-US" altLang="ko-KR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사업별 </a:t>
            </a:r>
            <a:r>
              <a:rPr lang="ko-KR" altLang="en-US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우선순위 조율</a:t>
            </a:r>
            <a:r>
              <a:rPr lang="en-US" altLang="ko-KR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신사업별 중요도 </a:t>
            </a:r>
            <a:r>
              <a:rPr lang="en-US" altLang="ko-KR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Align) </a:t>
            </a:r>
            <a:r>
              <a:rPr lang="ko-KR" altLang="en-US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프로세스 구축</a:t>
            </a:r>
            <a:endParaRPr lang="en-US" altLang="ko-KR" sz="1200" b="1" kern="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171450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 2" panose="05020102010507070707" pitchFamily="18" charset="2"/>
              <a:buChar char="R"/>
              <a:defRPr/>
            </a:pPr>
            <a:r>
              <a:rPr lang="en-US" altLang="ko-KR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M/M</a:t>
            </a:r>
            <a:r>
              <a:rPr lang="ko-KR" altLang="en-US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재분석</a:t>
            </a:r>
            <a:r>
              <a:rPr lang="en-US" altLang="ko-KR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양산</a:t>
            </a:r>
            <a:r>
              <a:rPr lang="en-US" altLang="ko-KR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파일럿</a:t>
            </a:r>
            <a:r>
              <a:rPr lang="en-US" altLang="ko-KR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구분</a:t>
            </a:r>
            <a:r>
              <a:rPr lang="en-US" altLang="ko-KR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통한</a:t>
            </a:r>
            <a:r>
              <a:rPr lang="en-US" altLang="ko-KR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여유인원 발굴</a:t>
            </a:r>
            <a:endParaRPr lang="en-US" altLang="ko-KR" sz="1200" b="1" kern="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71450" indent="-171450" fontAlgn="base" latinLnBrk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 2" panose="05020102010507070707" pitchFamily="18" charset="2"/>
              <a:buChar char="R"/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품질</a:t>
            </a:r>
            <a:r>
              <a:rPr lang="en-US" altLang="ko-KR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 부서의 경우 탄력적인 </a:t>
            </a:r>
            <a:r>
              <a:rPr lang="ko-KR" altLang="en-US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계약직 운영을</a:t>
            </a:r>
            <a:r>
              <a:rPr lang="en-US" altLang="ko-KR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위한 직무정의 </a:t>
            </a:r>
            <a:br>
              <a:rPr lang="en-US" altLang="ko-KR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200" b="1" kern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및 </a:t>
            </a:r>
            <a:r>
              <a:rPr lang="ko-KR" altLang="en-US" sz="1200" b="1" kern="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처우기준 등 정립 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AA5F20E5-0316-2339-BE33-902140F46C22}"/>
              </a:ext>
            </a:extLst>
          </p:cNvPr>
          <p:cNvCxnSpPr>
            <a:cxnSpLocks/>
          </p:cNvCxnSpPr>
          <p:nvPr/>
        </p:nvCxnSpPr>
        <p:spPr>
          <a:xfrm>
            <a:off x="1302301" y="3154197"/>
            <a:ext cx="820280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2D64367-A7C7-F1CC-F2D2-650BDC26677D}"/>
              </a:ext>
            </a:extLst>
          </p:cNvPr>
          <p:cNvCxnSpPr>
            <a:cxnSpLocks/>
          </p:cNvCxnSpPr>
          <p:nvPr/>
        </p:nvCxnSpPr>
        <p:spPr>
          <a:xfrm>
            <a:off x="1302301" y="5111133"/>
            <a:ext cx="820280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E1E44C-1D8A-93B9-43B8-447FAB61BCAD}"/>
              </a:ext>
            </a:extLst>
          </p:cNvPr>
          <p:cNvSpPr txBox="1"/>
          <p:nvPr/>
        </p:nvSpPr>
        <p:spPr>
          <a:xfrm>
            <a:off x="202841" y="150290"/>
            <a:ext cx="296656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7800" indent="-177800">
              <a:buFont typeface="+mj-lt"/>
              <a:buAutoNum type="romanUcPeriod" startAt="3"/>
            </a:pP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추진과제 및 대응방향  </a:t>
            </a:r>
            <a:endParaRPr lang="en-US" altLang="ko-KR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0629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40E2B5-05B7-EC1F-17EF-573A1E720A90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ER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담당자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현황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EF27C56-7BAE-44DB-3371-6715DC86C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322897"/>
              </p:ext>
            </p:extLst>
          </p:nvPr>
        </p:nvGraphicFramePr>
        <p:xfrm>
          <a:off x="3228314" y="1133311"/>
          <a:ext cx="4315486" cy="2731680"/>
        </p:xfrm>
        <a:graphic>
          <a:graphicData uri="http://schemas.openxmlformats.org/drawingml/2006/table">
            <a:tbl>
              <a:tblPr/>
              <a:tblGrid>
                <a:gridCol w="1232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365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5040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1200" b="1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인원</a:t>
                      </a:r>
                      <a:endParaRPr lang="ko-KR" altLang="en-US" sz="1200" b="1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1100" b="1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조직책임자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ER </a:t>
                      </a:r>
                      <a:r>
                        <a:rPr lang="ko-KR" altLang="en-US" sz="12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담당자</a:t>
                      </a:r>
                      <a:endParaRPr lang="en-US" altLang="ko-KR" sz="1200" b="1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0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자동차전지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장해영 팀장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김기운 책임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0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소형전지</a:t>
                      </a:r>
                      <a:endParaRPr lang="en-US" altLang="ko-KR" sz="12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박주영 팀장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남수경 책임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5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ESS</a:t>
                      </a:r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전지</a:t>
                      </a:r>
                      <a:endParaRPr lang="en-US" altLang="ko-KR" sz="12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염보라 팀장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조영직 책임</a:t>
                      </a:r>
                      <a:endParaRPr lang="en-US" altLang="ko-KR" sz="1200" b="0" u="non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5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CPO/ </a:t>
                      </a:r>
                      <a:r>
                        <a:rPr lang="ko-KR" altLang="en-US" sz="11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생산기술혁신</a:t>
                      </a:r>
                      <a:endParaRPr lang="ko-KR" altLang="en-US" sz="11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김세훈 팀장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임현수 책임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5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CQO</a:t>
                      </a:r>
                      <a:endParaRPr lang="en-US" altLang="ko-KR" sz="12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백태성 팀장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정동우 책임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5040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CTO</a:t>
                      </a:r>
                      <a:endParaRPr lang="en-US" sz="12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민병규 팀장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최민주 책임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34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Staff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김지수 팀장</a:t>
                      </a:r>
                      <a:endParaRPr lang="ko-KR" altLang="en-US" sz="12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한수진 책임</a:t>
                      </a:r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200" b="0" u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박성우 책임</a:t>
                      </a:r>
                      <a:br>
                        <a:rPr lang="en-US" altLang="ko-KR" sz="1200" b="0" u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lang="ko-KR" altLang="en-US" sz="1200" b="0" u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백승열 책임</a:t>
                      </a:r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200" b="0" u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전진배 책임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50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계</a:t>
                      </a:r>
                      <a:endParaRPr lang="ko-KR" altLang="en-US" sz="1100" b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2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u="sng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10</a:t>
                      </a:r>
                      <a:r>
                        <a:rPr lang="ko-KR" altLang="en-US" sz="1200" b="1" u="sng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028821F-E494-5B04-C8CB-ABAF7047B3B2}"/>
              </a:ext>
            </a:extLst>
          </p:cNvPr>
          <p:cNvSpPr txBox="1"/>
          <p:nvPr/>
        </p:nvSpPr>
        <p:spPr>
          <a:xfrm>
            <a:off x="1963398" y="1114261"/>
            <a:ext cx="947574" cy="535238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’26</a:t>
            </a:r>
            <a:r>
              <a:rPr lang="ko-KR" altLang="en-US" sz="1200" b="1" kern="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 </a:t>
            </a:r>
            <a:br>
              <a:rPr lang="en-US" altLang="ko-KR" sz="1200" b="1" kern="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b="1" kern="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ER</a:t>
            </a:r>
            <a:r>
              <a:rPr lang="ko-KR" altLang="en-US" sz="1200" b="1" kern="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담당자</a:t>
            </a:r>
            <a:endParaRPr kumimoji="0" lang="en-US" altLang="ko-KR" sz="1200" b="1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F18A11-A5CF-0406-2B4F-DCF834A5FCCA}"/>
              </a:ext>
            </a:extLst>
          </p:cNvPr>
          <p:cNvSpPr txBox="1"/>
          <p:nvPr/>
        </p:nvSpPr>
        <p:spPr>
          <a:xfrm>
            <a:off x="1963398" y="4637391"/>
            <a:ext cx="947574" cy="535238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주요업무</a:t>
            </a:r>
            <a:r>
              <a:rPr kumimoji="0" lang="en-US" altLang="ko-KR" sz="1200" b="1" i="0" u="none" strike="noStrike" kern="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0" lang="ko-KR" altLang="en-US" sz="1200" b="1" i="0" u="none" strike="noStrike" kern="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br>
              <a:rPr kumimoji="0" lang="en-US" altLang="ko-KR" sz="1200" b="1" i="0" u="none" strike="noStrike" kern="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ko-KR" altLang="en-US" sz="1200" b="1" i="0" u="none" strike="noStrike" kern="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활동</a:t>
            </a:r>
            <a:endParaRPr kumimoji="0" lang="en-US" altLang="ko-KR" sz="1200" b="1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96B5F6-4B5F-3568-C65E-031FB2A2F2CA}"/>
              </a:ext>
            </a:extLst>
          </p:cNvPr>
          <p:cNvSpPr/>
          <p:nvPr/>
        </p:nvSpPr>
        <p:spPr>
          <a:xfrm>
            <a:off x="3154432" y="4558366"/>
            <a:ext cx="4061036" cy="12095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indent="-85725" fontAlgn="ctr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ko-KR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lang="ko-KR" altLang="en-US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사업부 내 </a:t>
            </a:r>
            <a:r>
              <a:rPr lang="en-US" altLang="ko-KR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VoE </a:t>
            </a:r>
            <a:r>
              <a:rPr lang="ko-KR" altLang="en-US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청취 및 상시 정보공유</a:t>
            </a:r>
            <a:r>
              <a:rPr lang="en-US" altLang="ko-KR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lang="ko-KR" altLang="en-US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노경↔</a:t>
            </a:r>
            <a:r>
              <a:rPr lang="en-US" altLang="ko-KR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HR)</a:t>
            </a:r>
          </a:p>
          <a:p>
            <a:pPr marL="85725" indent="-85725" fontAlgn="ctr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ko-KR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lang="ko-KR" altLang="en-US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인력효율화 추진</a:t>
            </a:r>
            <a:r>
              <a:rPr lang="en-US" altLang="ko-KR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lang="ko-KR" altLang="en-US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역량향상과정</a:t>
            </a:r>
            <a:r>
              <a:rPr lang="en-US" altLang="ko-KR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</a:t>
            </a:r>
            <a:r>
              <a:rPr lang="ko-KR" altLang="en-US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희망퇴직</a:t>
            </a:r>
            <a:r>
              <a:rPr lang="en-US" altLang="ko-KR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/RMB)</a:t>
            </a:r>
          </a:p>
          <a:p>
            <a:pPr marL="85725" indent="-85725" fontAlgn="ctr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ko-KR" altLang="en-US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분기 </a:t>
            </a:r>
            <a:r>
              <a:rPr lang="en-US" altLang="ko-KR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</a:t>
            </a:r>
            <a:r>
              <a:rPr lang="ko-KR" altLang="en-US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회 노경 </a:t>
            </a:r>
            <a:r>
              <a:rPr lang="en-US" altLang="ko-KR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Seminar </a:t>
            </a:r>
            <a:r>
              <a:rPr lang="ko-KR" altLang="en-US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참석</a:t>
            </a:r>
            <a:endParaRPr lang="en-US" altLang="ko-KR" sz="1200" b="1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85725" indent="-85725" fontAlgn="ctr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ko-KR" altLang="en-US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사무직  </a:t>
            </a:r>
            <a:r>
              <a:rPr lang="en-US" altLang="ko-KR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HR</a:t>
            </a:r>
            <a:r>
              <a:rPr lang="ko-KR" altLang="en-US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이슈 발생 시</a:t>
            </a:r>
            <a:r>
              <a:rPr lang="en-US" altLang="ko-KR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lang="ko-KR" altLang="en-US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비상 시</a:t>
            </a:r>
            <a:r>
              <a:rPr lang="en-US" altLang="ko-KR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 </a:t>
            </a:r>
            <a:r>
              <a:rPr lang="ko-KR" altLang="en-US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대응안 수립 및 해결지원 등</a:t>
            </a:r>
            <a:endParaRPr lang="en-US" altLang="ko-KR" sz="1200" b="1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474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실행 단추: 홈 45">
            <a:hlinkClick r:id="rId2" action="ppaction://hlinksldjump"/>
            <a:extLst>
              <a:ext uri="{FF2B5EF4-FFF2-40B4-BE49-F238E27FC236}">
                <a16:creationId xmlns:a16="http://schemas.microsoft.com/office/drawing/2014/main" id="{A4870B19-F402-F54E-2BBB-F6472FEF6E4D}"/>
              </a:ext>
            </a:extLst>
          </p:cNvPr>
          <p:cNvSpPr/>
          <p:nvPr/>
        </p:nvSpPr>
        <p:spPr>
          <a:xfrm>
            <a:off x="9237062" y="107566"/>
            <a:ext cx="360000" cy="360000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40E2B5-05B7-EC1F-17EF-573A1E720A90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Seminar Agenda(’25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년 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분기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2" name="Group 96">
            <a:extLst>
              <a:ext uri="{FF2B5EF4-FFF2-40B4-BE49-F238E27FC236}">
                <a16:creationId xmlns:a16="http://schemas.microsoft.com/office/drawing/2014/main" id="{8B4A8334-D867-D570-9F2D-32A3939559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872692"/>
              </p:ext>
            </p:extLst>
          </p:nvPr>
        </p:nvGraphicFramePr>
        <p:xfrm>
          <a:off x="1169287" y="2018783"/>
          <a:ext cx="7668643" cy="3825688"/>
        </p:xfrm>
        <a:graphic>
          <a:graphicData uri="http://schemas.openxmlformats.org/drawingml/2006/table">
            <a:tbl>
              <a:tblPr/>
              <a:tblGrid>
                <a:gridCol w="1481099">
                  <a:extLst>
                    <a:ext uri="{9D8B030D-6E8A-4147-A177-3AD203B41FA5}">
                      <a16:colId xmlns:a16="http://schemas.microsoft.com/office/drawing/2014/main" val="216935157"/>
                    </a:ext>
                  </a:extLst>
                </a:gridCol>
                <a:gridCol w="1481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885">
                  <a:extLst>
                    <a:ext uri="{9D8B030D-6E8A-4147-A177-3AD203B41FA5}">
                      <a16:colId xmlns:a16="http://schemas.microsoft.com/office/drawing/2014/main" val="1031112703"/>
                    </a:ext>
                  </a:extLst>
                </a:gridCol>
              </a:tblGrid>
              <a:tr h="3296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  <a:endParaRPr kumimoji="0" lang="en-US" altLang="ko-KR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1436" marR="91436" marT="45726" marB="45726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Time</a:t>
                      </a:r>
                    </a:p>
                  </a:txBody>
                  <a:tcPr marL="91436" marR="91436" marT="45726" marB="45726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내용</a:t>
                      </a: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1436" marR="91436" marT="45726" marB="45726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1436" marR="91436" marT="45726" marB="45726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524">
                <a:tc rowSpan="8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Session Ⅰ</a:t>
                      </a:r>
                    </a:p>
                  </a:txBody>
                  <a:tcPr marL="91436" marR="91436" marT="45726" marB="45726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13:30 ~ 13:40 (10</a:t>
                      </a: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1436" marR="91436" marT="45726" marB="45726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일정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안내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0" marB="0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1436" marR="91436" marT="0" marB="0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5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13:40 ~ 14:10 (30</a:t>
                      </a: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1436" marR="91436" marT="45726" marB="45726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’26</a:t>
                      </a: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노경관리 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Index </a:t>
                      </a: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추진 계획안 공유</a:t>
                      </a:r>
                      <a:endParaRPr kumimoji="0" lang="en-US" altLang="ko-K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1436" marR="91436" marT="45726" marB="45726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5725" marR="0" lvl="0" indent="-857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인사지원팀장</a:t>
                      </a:r>
                      <a:br>
                        <a:rPr kumimoji="0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참석 </a:t>
                      </a:r>
                      <a:br>
                        <a:rPr kumimoji="0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화상회의</a:t>
                      </a:r>
                      <a:r>
                        <a:rPr kumimoji="0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0" lang="en-US" altLang="ko-K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1436" marR="91436" marT="0" marB="0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420472"/>
                  </a:ext>
                </a:extLst>
              </a:tr>
              <a:tr h="363524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1436" marR="91436" marT="45726" marB="45726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14:20 ~ 15:20 (60</a:t>
                      </a: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1436" marR="91436" marT="45726" marB="45726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’26</a:t>
                      </a: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역량향상과정 추진 계획안 공유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1436" marR="91436" marT="45726" marB="45726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1436" marR="91436" marT="45726" marB="45726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5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15:30 ~ 15:50 (20</a:t>
                      </a: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1436" marR="91436" marT="45726" marB="45726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’25</a:t>
                      </a: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사무직 노동조합 동향 공유</a:t>
                      </a:r>
                      <a:endParaRPr kumimoji="0" lang="en-US" altLang="ko-K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1436" marR="91436" marT="45726" marB="45726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1436" marR="91436" marT="0" marB="0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368296"/>
                  </a:ext>
                </a:extLst>
              </a:tr>
              <a:tr h="52041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1436" marR="91436" marT="45726" marB="45726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15:50 ~ 16:20 (30</a:t>
                      </a: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1436" marR="91436" marT="45726" marB="45726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’25</a:t>
                      </a: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임단협 결과 리뷰</a:t>
                      </a:r>
                      <a:br>
                        <a:rPr kumimoji="0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 경영성과급 </a:t>
                      </a:r>
                      <a:r>
                        <a:rPr kumimoji="0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Formula </a:t>
                      </a: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기준 설명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1436" marR="91436" marT="45726" marB="45726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5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16:30 ~ 16:45 (15</a:t>
                      </a: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1436" marR="91436" marT="45726" marB="45726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’25</a:t>
                      </a: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징계 </a:t>
                      </a:r>
                      <a:r>
                        <a:rPr kumimoji="0" lang="en-US" altLang="ko-KR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Case </a:t>
                      </a: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리뷰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1436" marR="91436" marT="45726" marB="45726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595913"/>
                  </a:ext>
                </a:extLst>
              </a:tr>
              <a:tr h="3635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16:45 ~ 17:00 (15</a:t>
                      </a: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1436" marR="91436" marT="45726" marB="45726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동일노동 동일임금 법제화 공유</a:t>
                      </a: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1436" marR="91436" marT="45726" marB="45726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328108"/>
                  </a:ext>
                </a:extLst>
              </a:tr>
              <a:tr h="3921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17:00 ~ 17:30 (30</a:t>
                      </a: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kumimoji="0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1436" marR="91436" marT="45726" marB="457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Global </a:t>
                      </a: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노경 사례 공유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폴란드 노조 조직화 대응</a:t>
                      </a: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1436" marR="91436" marT="45726" marB="45726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1436" marR="91436" marT="0" marB="0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517014"/>
                  </a:ext>
                </a:extLst>
              </a:tr>
              <a:tr h="28911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1436" marR="91436" marT="45726" marB="45726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1436" marR="91436" marT="45726" marB="45726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262272"/>
                  </a:ext>
                </a:extLst>
              </a:tr>
              <a:tr h="373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Session Ⅱ</a:t>
                      </a:r>
                    </a:p>
                  </a:txBody>
                  <a:tcPr marL="91436" marR="91436" marT="45726" marB="45726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18:00 ~</a:t>
                      </a:r>
                      <a:endParaRPr kumimoji="0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1436" marR="91436" marT="45726" marB="45726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만찬</a:t>
                      </a:r>
                      <a:endParaRPr kumimoji="0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1436" marR="91436" marT="45726" marB="45726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1436" marR="91436" marT="45726" marB="45726" anchor="ctr" horzOverflow="overflow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3696AB2-F5FD-9A79-448F-7A3C7520389F}"/>
              </a:ext>
            </a:extLst>
          </p:cNvPr>
          <p:cNvSpPr txBox="1"/>
          <p:nvPr/>
        </p:nvSpPr>
        <p:spPr>
          <a:xfrm>
            <a:off x="1118679" y="880275"/>
            <a:ext cx="7846060" cy="1028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lang="en-US" altLang="ko-KR" sz="15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1. </a:t>
            </a:r>
            <a:r>
              <a:rPr lang="ko-KR" altLang="en-US" sz="15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일시 및 장소 </a:t>
            </a:r>
            <a:r>
              <a:rPr lang="en-US" altLang="ko-KR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: ’25. 12. 4(</a:t>
            </a:r>
            <a:r>
              <a:rPr lang="ko-KR" altLang="en-US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목</a:t>
            </a:r>
            <a:r>
              <a:rPr lang="en-US" altLang="ko-KR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) 13:30 ~ 17:30, </a:t>
            </a:r>
            <a:r>
              <a:rPr lang="ko-KR" altLang="en-US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파크원 </a:t>
            </a:r>
            <a:r>
              <a:rPr lang="en-US" altLang="ko-KR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58</a:t>
            </a:r>
            <a:r>
              <a:rPr lang="ko-KR" altLang="en-US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층 </a:t>
            </a:r>
            <a:r>
              <a:rPr lang="en-US" altLang="ko-KR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5801 </a:t>
            </a:r>
            <a:r>
              <a:rPr lang="ko-KR" altLang="en-US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회의실</a:t>
            </a:r>
            <a:endParaRPr lang="en-US" altLang="ko-KR" sz="15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lang="en-US" altLang="ko-KR" sz="15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2. </a:t>
            </a:r>
            <a:r>
              <a:rPr lang="ko-KR" altLang="en-US" sz="15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참석대상 </a:t>
            </a:r>
            <a:r>
              <a:rPr lang="en-US" altLang="ko-KR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노경기획팀</a:t>
            </a:r>
            <a:r>
              <a:rPr lang="en-US" altLang="ko-KR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노경협력팀</a:t>
            </a:r>
            <a:r>
              <a:rPr lang="en-US" altLang="ko-KR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사업부 </a:t>
            </a:r>
            <a:r>
              <a:rPr lang="en-US" altLang="ko-KR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ER</a:t>
            </a:r>
            <a:r>
              <a:rPr lang="ko-KR" altLang="en-US" sz="15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담당자</a:t>
            </a:r>
            <a:endParaRPr lang="en-US" altLang="ko-KR" sz="15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lang="en-US" altLang="ko-KR" sz="15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3. </a:t>
            </a:r>
            <a:r>
              <a:rPr lang="ko-KR" altLang="en-US" sz="15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시간계획</a:t>
            </a:r>
            <a:endParaRPr lang="en-US" altLang="ko-KR" sz="15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6251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5EE0736-F779-065A-3B75-9F5B686CA9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743992"/>
              </p:ext>
            </p:extLst>
          </p:nvPr>
        </p:nvGraphicFramePr>
        <p:xfrm>
          <a:off x="1247807" y="1212930"/>
          <a:ext cx="7410387" cy="3805691"/>
        </p:xfrm>
        <a:graphic>
          <a:graphicData uri="http://schemas.openxmlformats.org/drawingml/2006/table">
            <a:tbl>
              <a:tblPr/>
              <a:tblGrid>
                <a:gridCol w="935135">
                  <a:extLst>
                    <a:ext uri="{9D8B030D-6E8A-4147-A177-3AD203B41FA5}">
                      <a16:colId xmlns:a16="http://schemas.microsoft.com/office/drawing/2014/main" val="906005941"/>
                    </a:ext>
                  </a:extLst>
                </a:gridCol>
                <a:gridCol w="1039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9503">
                  <a:extLst>
                    <a:ext uri="{9D8B030D-6E8A-4147-A177-3AD203B41FA5}">
                      <a16:colId xmlns:a16="http://schemas.microsoft.com/office/drawing/2014/main" val="1373502288"/>
                    </a:ext>
                  </a:extLst>
                </a:gridCol>
                <a:gridCol w="1039503">
                  <a:extLst>
                    <a:ext uri="{9D8B030D-6E8A-4147-A177-3AD203B41FA5}">
                      <a16:colId xmlns:a16="http://schemas.microsoft.com/office/drawing/2014/main" val="3699121063"/>
                    </a:ext>
                  </a:extLst>
                </a:gridCol>
                <a:gridCol w="1039503">
                  <a:extLst>
                    <a:ext uri="{9D8B030D-6E8A-4147-A177-3AD203B41FA5}">
                      <a16:colId xmlns:a16="http://schemas.microsoft.com/office/drawing/2014/main" val="1385764624"/>
                    </a:ext>
                  </a:extLst>
                </a:gridCol>
                <a:gridCol w="1039503">
                  <a:extLst>
                    <a:ext uri="{9D8B030D-6E8A-4147-A177-3AD203B41FA5}">
                      <a16:colId xmlns:a16="http://schemas.microsoft.com/office/drawing/2014/main" val="995049354"/>
                    </a:ext>
                  </a:extLst>
                </a:gridCol>
                <a:gridCol w="1277737">
                  <a:extLst>
                    <a:ext uri="{9D8B030D-6E8A-4147-A177-3AD203B41FA5}">
                      <a16:colId xmlns:a16="http://schemas.microsoft.com/office/drawing/2014/main" val="738834824"/>
                    </a:ext>
                  </a:extLst>
                </a:gridCol>
              </a:tblGrid>
              <a:tr h="37529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2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이름</a:t>
                      </a:r>
                      <a:endParaRPr lang="en-US" altLang="ko-KR" sz="1200" b="1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직위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2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직책</a:t>
                      </a:r>
                      <a:endParaRPr lang="en-US" altLang="ko-KR" sz="1200" b="1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근속</a:t>
                      </a:r>
                      <a:r>
                        <a:rPr lang="en-US" altLang="ko-KR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200" b="1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어학</a:t>
                      </a:r>
                      <a:r>
                        <a:rPr lang="en-US" altLang="ko-KR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영어</a:t>
                      </a:r>
                      <a:r>
                        <a:rPr lang="en-US" altLang="ko-KR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200" b="1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Global </a:t>
                      </a:r>
                      <a:r>
                        <a:rPr lang="ko-KR" altLang="en-US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노경 </a:t>
                      </a:r>
                      <a:br>
                        <a:rPr lang="en-US" altLang="ko-KR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Pool</a:t>
                      </a:r>
                      <a:endParaRPr lang="ko-KR" altLang="en-US" sz="1200" b="1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877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노경기획</a:t>
                      </a:r>
                      <a:endParaRPr kumimoji="0" lang="en-US" altLang="ko-K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김성현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책임</a:t>
                      </a:r>
                      <a:endParaRPr kumimoji="0" lang="en-US" altLang="ko-K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3.7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877">
                <a:tc vMerge="1"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ko-KR" altLang="en-US" sz="1200" b="1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이영준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책임</a:t>
                      </a:r>
                      <a:endParaRPr kumimoji="0" lang="en-US" altLang="ko-K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9.2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IH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(OPIc)</a:t>
                      </a: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Y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877">
                <a:tc vMerge="1"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ko-KR" altLang="en-US" sz="1200" b="1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김지양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책임</a:t>
                      </a:r>
                      <a:endParaRPr kumimoji="0" lang="en-US" altLang="ko-K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3.7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IH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(OPIc)</a:t>
                      </a: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Y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877">
                <a:tc vMerge="1"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ko-KR" altLang="en-US" sz="1200" b="1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이시형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선임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3.8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IM2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TOS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877">
                <a:tc vMerge="1"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ko-KR" altLang="en-US" sz="1200" b="1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곽지호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사원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1.6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Fluent</a:t>
                      </a: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Y</a:t>
                      </a: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877">
                <a:tc rowSpan="5"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200" b="1" i="0" u="none" strike="noStrike" kern="1200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노경협력</a:t>
                      </a:r>
                      <a:endParaRPr lang="ko-KR" altLang="en-US" sz="1200" b="1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우선근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책임</a:t>
                      </a:r>
                      <a:endParaRPr kumimoji="0" lang="en-US" altLang="ko-K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13.7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IH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(OPIc)</a:t>
                      </a: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174234"/>
                  </a:ext>
                </a:extLst>
              </a:tr>
              <a:tr h="263877">
                <a:tc vMerge="1"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ko-KR" altLang="en-US" sz="1200" b="1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최윤희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책임</a:t>
                      </a:r>
                      <a:endParaRPr kumimoji="0" lang="en-US" altLang="ko-K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3.7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IH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(OPIc)</a:t>
                      </a: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223399"/>
                  </a:ext>
                </a:extLst>
              </a:tr>
              <a:tr h="263877">
                <a:tc vMerge="1"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ko-KR" altLang="en-US" sz="1200" b="1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채수길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책임</a:t>
                      </a:r>
                      <a:endParaRPr kumimoji="0" lang="en-US" altLang="ko-K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12.0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IH</a:t>
                      </a: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(OPIc)</a:t>
                      </a: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Y</a:t>
                      </a: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5399421"/>
                  </a:ext>
                </a:extLst>
              </a:tr>
              <a:tr h="2638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우성민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책임</a:t>
                      </a:r>
                      <a:endParaRPr kumimoji="0" lang="en-US" altLang="ko-K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9.1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Lv6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(TOS)</a:t>
                      </a: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642698"/>
                  </a:ext>
                </a:extLst>
              </a:tr>
              <a:tr h="263877">
                <a:tc vMerge="1"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ko-KR" altLang="en-US" sz="1200" b="1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김민호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사원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3.3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AL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(TOS)</a:t>
                      </a: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385400"/>
                  </a:ext>
                </a:extLst>
              </a:tr>
              <a:tr h="263877">
                <a:tc rowSpan="3"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200" b="1" i="0" u="none" strike="noStrike" kern="1200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노경운영</a:t>
                      </a:r>
                      <a:endParaRPr lang="ko-KR" altLang="en-US" sz="1200" b="1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임효빈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책임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19.9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AL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(TOS)</a:t>
                      </a: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3588979"/>
                  </a:ext>
                </a:extLst>
              </a:tr>
              <a:tr h="263877">
                <a:tc vMerge="1"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ko-KR" altLang="en-US" sz="1200" b="1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윤재승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책임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7.0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TOEIC 860</a:t>
                      </a: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9234859"/>
                  </a:ext>
                </a:extLst>
              </a:tr>
              <a:tr h="263877">
                <a:tc vMerge="1"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ko-KR" altLang="en-US" sz="1200" b="1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김한결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사원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3.3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57142"/>
                  </a:ext>
                </a:extLst>
              </a:tr>
            </a:tbl>
          </a:graphicData>
        </a:graphic>
      </p:graphicFrame>
      <p:sp>
        <p:nvSpPr>
          <p:cNvPr id="3" name="실행 단추: 홈 45">
            <a:hlinkClick r:id="rId2" action="ppaction://hlinksldjump"/>
            <a:extLst>
              <a:ext uri="{FF2B5EF4-FFF2-40B4-BE49-F238E27FC236}">
                <a16:creationId xmlns:a16="http://schemas.microsoft.com/office/drawing/2014/main" id="{A4870B19-F402-F54E-2BBB-F6472FEF6E4D}"/>
              </a:ext>
            </a:extLst>
          </p:cNvPr>
          <p:cNvSpPr/>
          <p:nvPr/>
        </p:nvSpPr>
        <p:spPr>
          <a:xfrm>
            <a:off x="9237062" y="107566"/>
            <a:ext cx="360000" cy="360000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40E2B5-05B7-EC1F-17EF-573A1E720A90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노경부문 내 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 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Pool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8115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4B11A36-0F9C-62E7-E2E3-2A06F2471DEB}"/>
              </a:ext>
            </a:extLst>
          </p:cNvPr>
          <p:cNvCxnSpPr>
            <a:cxnSpLocks/>
          </p:cNvCxnSpPr>
          <p:nvPr/>
        </p:nvCxnSpPr>
        <p:spPr>
          <a:xfrm>
            <a:off x="202841" y="1109331"/>
            <a:ext cx="2307277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Box 3">
            <a:extLst>
              <a:ext uri="{FF2B5EF4-FFF2-40B4-BE49-F238E27FC236}">
                <a16:creationId xmlns:a16="http://schemas.microsoft.com/office/drawing/2014/main" id="{F178431F-D167-34E2-19B7-90F9FD937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235" y="877846"/>
            <a:ext cx="2312362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 핵심역량</a:t>
            </a: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(ERCC)</a:t>
            </a: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정의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A204F84-10C9-49BC-1AA3-07AE83FF0D8E}"/>
              </a:ext>
            </a:extLst>
          </p:cNvPr>
          <p:cNvCxnSpPr>
            <a:cxnSpLocks/>
          </p:cNvCxnSpPr>
          <p:nvPr/>
        </p:nvCxnSpPr>
        <p:spPr>
          <a:xfrm>
            <a:off x="2963006" y="1100727"/>
            <a:ext cx="3198373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Box 3">
            <a:extLst>
              <a:ext uri="{FF2B5EF4-FFF2-40B4-BE49-F238E27FC236}">
                <a16:creationId xmlns:a16="http://schemas.microsoft.com/office/drawing/2014/main" id="{02E4C27D-DB00-7CA9-6635-619EFD1A7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0854" y="877846"/>
            <a:ext cx="2692826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</a:t>
            </a: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 팀 종합 비교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A0E247-7DBB-F0A3-2580-8BA269006AB9}"/>
              </a:ext>
            </a:extLst>
          </p:cNvPr>
          <p:cNvSpPr txBox="1"/>
          <p:nvPr/>
        </p:nvSpPr>
        <p:spPr>
          <a:xfrm>
            <a:off x="141001" y="544111"/>
            <a:ext cx="27248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*ERCC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mployee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elations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ore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ompetency)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C61C281C-9185-5252-EFBB-F9B70E667C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0608507"/>
              </p:ext>
            </p:extLst>
          </p:nvPr>
        </p:nvGraphicFramePr>
        <p:xfrm>
          <a:off x="2963006" y="1265538"/>
          <a:ext cx="3198373" cy="3202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E5DAED5E-CCBF-26CA-A022-87633C03AB6E}"/>
              </a:ext>
            </a:extLst>
          </p:cNvPr>
          <p:cNvSpPr txBox="1"/>
          <p:nvPr/>
        </p:nvSpPr>
        <p:spPr>
          <a:xfrm>
            <a:off x="204306" y="1421377"/>
            <a:ext cx="2305811" cy="1884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① 집단적 노사관계</a:t>
            </a:r>
            <a:b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노조 집행부와의 단체교섭 및 </a:t>
            </a:r>
            <a:b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스킨십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O/L 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소통활동</a:t>
            </a:r>
            <a:endParaRPr kumimoji="1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② 노사분쟁 대응력</a:t>
            </a:r>
            <a:b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파업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·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태업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·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노동위원회 등 노사갈등 </a:t>
            </a:r>
            <a:b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대응 경험 및 위기관리 능력</a:t>
            </a:r>
            <a:endParaRPr kumimoji="1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③ 이해관계자 </a:t>
            </a:r>
            <a:r>
              <a:rPr kumimoji="1" lang="ko-KR" altLang="en-US" sz="12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소통력</a:t>
            </a:r>
            <a:b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경영진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노조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구성원 간 이해관계 조율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b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설득 및 의견 관철 능력</a:t>
            </a:r>
            <a:endParaRPr kumimoji="1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67F16C-A5B7-2D0D-1C54-C3BACEA38B67}"/>
              </a:ext>
            </a:extLst>
          </p:cNvPr>
          <p:cNvSpPr txBox="1"/>
          <p:nvPr/>
        </p:nvSpPr>
        <p:spPr>
          <a:xfrm>
            <a:off x="204307" y="3526427"/>
            <a:ext cx="3773378" cy="1084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④ 개별적 노사관계</a:t>
            </a:r>
            <a:b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근로자 개인과의 고충처리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징계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면담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정책</a:t>
            </a:r>
            <a:b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설명 등 개별 근로관계 관리</a:t>
            </a:r>
            <a:endParaRPr kumimoji="1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⑤ 인사제도 기획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운영</a:t>
            </a:r>
            <a:b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인사제도 설계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·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운영 실무 경험</a:t>
            </a:r>
            <a:endParaRPr kumimoji="1" lang="en-US" altLang="ko-KR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B17FF59-D8CD-1E33-028B-44C91FADB2FE}"/>
              </a:ext>
            </a:extLst>
          </p:cNvPr>
          <p:cNvSpPr/>
          <p:nvPr/>
        </p:nvSpPr>
        <p:spPr>
          <a:xfrm>
            <a:off x="201095" y="1211445"/>
            <a:ext cx="2309023" cy="215258"/>
          </a:xfrm>
          <a:prstGeom prst="roundRect">
            <a:avLst>
              <a:gd name="adj" fmla="val 4324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9F2CA7C-6841-3827-762A-9D6C3F48455C}"/>
              </a:ext>
            </a:extLst>
          </p:cNvPr>
          <p:cNvSpPr/>
          <p:nvPr/>
        </p:nvSpPr>
        <p:spPr>
          <a:xfrm>
            <a:off x="211940" y="1229254"/>
            <a:ext cx="179641" cy="17964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4DAFE6-DC37-8A81-DE25-7C967778F3AE}"/>
              </a:ext>
            </a:extLst>
          </p:cNvPr>
          <p:cNvSpPr txBox="1"/>
          <p:nvPr/>
        </p:nvSpPr>
        <p:spPr>
          <a:xfrm>
            <a:off x="423904" y="1150728"/>
            <a:ext cx="1079500" cy="335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1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노사관계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9B3C71A-B02B-C060-7776-8A2958DACB8F}"/>
              </a:ext>
            </a:extLst>
          </p:cNvPr>
          <p:cNvSpPr/>
          <p:nvPr/>
        </p:nvSpPr>
        <p:spPr>
          <a:xfrm>
            <a:off x="201095" y="3299673"/>
            <a:ext cx="2309023" cy="215258"/>
          </a:xfrm>
          <a:prstGeom prst="roundRect">
            <a:avLst>
              <a:gd name="adj" fmla="val 4324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48E43463-135A-D08B-3932-287930DCFFE0}"/>
              </a:ext>
            </a:extLst>
          </p:cNvPr>
          <p:cNvSpPr/>
          <p:nvPr/>
        </p:nvSpPr>
        <p:spPr>
          <a:xfrm>
            <a:off x="211940" y="3317482"/>
            <a:ext cx="179641" cy="17964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302D6D-0A94-1C1E-04BD-C7E0E6D545FB}"/>
              </a:ext>
            </a:extLst>
          </p:cNvPr>
          <p:cNvSpPr txBox="1"/>
          <p:nvPr/>
        </p:nvSpPr>
        <p:spPr>
          <a:xfrm>
            <a:off x="423904" y="3231430"/>
            <a:ext cx="1079500" cy="335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1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제도 운영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E63DB03-7755-A0D3-85A8-17F968BA63A8}"/>
              </a:ext>
            </a:extLst>
          </p:cNvPr>
          <p:cNvSpPr/>
          <p:nvPr/>
        </p:nvSpPr>
        <p:spPr>
          <a:xfrm>
            <a:off x="201095" y="4679493"/>
            <a:ext cx="2309023" cy="215258"/>
          </a:xfrm>
          <a:prstGeom prst="roundRect">
            <a:avLst>
              <a:gd name="adj" fmla="val 4324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827C6AD-26BD-7195-45E0-76D6464F7EBA}"/>
              </a:ext>
            </a:extLst>
          </p:cNvPr>
          <p:cNvSpPr/>
          <p:nvPr/>
        </p:nvSpPr>
        <p:spPr>
          <a:xfrm>
            <a:off x="211940" y="4697302"/>
            <a:ext cx="179641" cy="17964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E71D3C-C2BB-B2D2-662D-88907A4C0820}"/>
              </a:ext>
            </a:extLst>
          </p:cNvPr>
          <p:cNvSpPr txBox="1"/>
          <p:nvPr/>
        </p:nvSpPr>
        <p:spPr>
          <a:xfrm>
            <a:off x="423903" y="4611250"/>
            <a:ext cx="1532721" cy="335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1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전문 지식</a:t>
            </a:r>
            <a:r>
              <a:rPr kumimoji="1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·</a:t>
            </a:r>
            <a:r>
              <a:rPr kumimoji="1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분석력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31BF780-6BB0-4A10-3B3E-438309BF71DA}"/>
              </a:ext>
            </a:extLst>
          </p:cNvPr>
          <p:cNvSpPr/>
          <p:nvPr/>
        </p:nvSpPr>
        <p:spPr>
          <a:xfrm>
            <a:off x="3152418" y="4244450"/>
            <a:ext cx="832621" cy="125929"/>
          </a:xfrm>
          <a:prstGeom prst="roundRect">
            <a:avLst>
              <a:gd name="adj" fmla="val 30365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기획팀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4EEF23A-0300-76D6-EF5C-510A7B3E64BD}"/>
              </a:ext>
            </a:extLst>
          </p:cNvPr>
          <p:cNvSpPr/>
          <p:nvPr/>
        </p:nvSpPr>
        <p:spPr>
          <a:xfrm>
            <a:off x="4154858" y="4244449"/>
            <a:ext cx="832621" cy="125929"/>
          </a:xfrm>
          <a:prstGeom prst="roundRect">
            <a:avLst>
              <a:gd name="adj" fmla="val 3036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협력팀</a:t>
            </a:r>
            <a:endParaRPr kumimoji="1" lang="ko-KR" altLang="en-US" sz="105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0A64B31-66EC-CA1A-C720-F65C57101102}"/>
              </a:ext>
            </a:extLst>
          </p:cNvPr>
          <p:cNvSpPr/>
          <p:nvPr/>
        </p:nvSpPr>
        <p:spPr>
          <a:xfrm>
            <a:off x="5157298" y="4244449"/>
            <a:ext cx="832621" cy="125929"/>
          </a:xfrm>
          <a:prstGeom prst="roundRect">
            <a:avLst>
              <a:gd name="adj" fmla="val 30365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운영팀</a:t>
            </a:r>
          </a:p>
        </p:txBody>
      </p:sp>
      <p:graphicFrame>
        <p:nvGraphicFramePr>
          <p:cNvPr id="32" name="차트 31">
            <a:extLst>
              <a:ext uri="{FF2B5EF4-FFF2-40B4-BE49-F238E27FC236}">
                <a16:creationId xmlns:a16="http://schemas.microsoft.com/office/drawing/2014/main" id="{C9DC9297-AAC3-8F91-CB19-813984D65E48}"/>
              </a:ext>
            </a:extLst>
          </p:cNvPr>
          <p:cNvGraphicFramePr/>
          <p:nvPr/>
        </p:nvGraphicFramePr>
        <p:xfrm>
          <a:off x="6601925" y="1533712"/>
          <a:ext cx="1362242" cy="12691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3E8F56E-7ABD-3389-FE35-F8474919C7FE}"/>
              </a:ext>
            </a:extLst>
          </p:cNvPr>
          <p:cNvCxnSpPr>
            <a:cxnSpLocks/>
          </p:cNvCxnSpPr>
          <p:nvPr/>
        </p:nvCxnSpPr>
        <p:spPr>
          <a:xfrm>
            <a:off x="6522754" y="1100727"/>
            <a:ext cx="3095790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 Box 3">
            <a:extLst>
              <a:ext uri="{FF2B5EF4-FFF2-40B4-BE49-F238E27FC236}">
                <a16:creationId xmlns:a16="http://schemas.microsoft.com/office/drawing/2014/main" id="{87F4F868-DDFF-4109-E385-B71B2DDBC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236" y="877846"/>
            <a:ext cx="2692826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팀별 분석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D3F6053-7E03-5374-1495-690525F703CE}"/>
              </a:ext>
            </a:extLst>
          </p:cNvPr>
          <p:cNvGrpSpPr/>
          <p:nvPr/>
        </p:nvGrpSpPr>
        <p:grpSpPr>
          <a:xfrm>
            <a:off x="6519162" y="1265507"/>
            <a:ext cx="3158714" cy="1633462"/>
            <a:chOff x="6519162" y="1265507"/>
            <a:chExt cx="3158714" cy="1633462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E0D4E854-6E42-DF74-30DF-A439633F99D9}"/>
                </a:ext>
              </a:extLst>
            </p:cNvPr>
            <p:cNvSpPr/>
            <p:nvPr/>
          </p:nvSpPr>
          <p:spPr>
            <a:xfrm>
              <a:off x="6601925" y="1265507"/>
              <a:ext cx="3075951" cy="1633462"/>
            </a:xfrm>
            <a:prstGeom prst="rect">
              <a:avLst/>
            </a:prstGeom>
            <a:noFill/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7D7E7BB-322F-F980-2855-D9B86B60E7BF}"/>
                </a:ext>
              </a:extLst>
            </p:cNvPr>
            <p:cNvSpPr/>
            <p:nvPr/>
          </p:nvSpPr>
          <p:spPr>
            <a:xfrm>
              <a:off x="6519162" y="1265507"/>
              <a:ext cx="82763" cy="163346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9EC3F8AB-24A6-FC07-E004-39C5939D48B7}"/>
              </a:ext>
            </a:extLst>
          </p:cNvPr>
          <p:cNvGrpSpPr/>
          <p:nvPr/>
        </p:nvGrpSpPr>
        <p:grpSpPr>
          <a:xfrm>
            <a:off x="6519162" y="3149633"/>
            <a:ext cx="3158714" cy="1633462"/>
            <a:chOff x="6519162" y="3127164"/>
            <a:chExt cx="3158714" cy="1633462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32D9B796-A272-3B41-3BA5-E407D3B33593}"/>
                </a:ext>
              </a:extLst>
            </p:cNvPr>
            <p:cNvSpPr/>
            <p:nvPr/>
          </p:nvSpPr>
          <p:spPr>
            <a:xfrm>
              <a:off x="6601925" y="3127164"/>
              <a:ext cx="3075951" cy="1633462"/>
            </a:xfrm>
            <a:prstGeom prst="rect">
              <a:avLst/>
            </a:prstGeom>
            <a:noFill/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AB4A18F4-28B0-923B-1AFD-9224970F8A60}"/>
                </a:ext>
              </a:extLst>
            </p:cNvPr>
            <p:cNvSpPr/>
            <p:nvPr/>
          </p:nvSpPr>
          <p:spPr>
            <a:xfrm>
              <a:off x="6519162" y="3127164"/>
              <a:ext cx="82763" cy="163346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aphicFrame>
        <p:nvGraphicFramePr>
          <p:cNvPr id="41" name="차트 40">
            <a:extLst>
              <a:ext uri="{FF2B5EF4-FFF2-40B4-BE49-F238E27FC236}">
                <a16:creationId xmlns:a16="http://schemas.microsoft.com/office/drawing/2014/main" id="{5453513D-FBD8-F7B1-3FDE-DD1873702419}"/>
              </a:ext>
            </a:extLst>
          </p:cNvPr>
          <p:cNvGraphicFramePr/>
          <p:nvPr/>
        </p:nvGraphicFramePr>
        <p:xfrm>
          <a:off x="6601925" y="5328859"/>
          <a:ext cx="1362242" cy="12691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42" name="그룹 41">
            <a:extLst>
              <a:ext uri="{FF2B5EF4-FFF2-40B4-BE49-F238E27FC236}">
                <a16:creationId xmlns:a16="http://schemas.microsoft.com/office/drawing/2014/main" id="{2D2D0923-E5D0-64C6-5146-8EE5E2A7BEAA}"/>
              </a:ext>
            </a:extLst>
          </p:cNvPr>
          <p:cNvGrpSpPr/>
          <p:nvPr/>
        </p:nvGrpSpPr>
        <p:grpSpPr>
          <a:xfrm>
            <a:off x="6519162" y="5033759"/>
            <a:ext cx="3158714" cy="1633462"/>
            <a:chOff x="6519162" y="5033759"/>
            <a:chExt cx="3158714" cy="1633462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C95AF528-7563-3D66-0F81-ACA9DF34547F}"/>
                </a:ext>
              </a:extLst>
            </p:cNvPr>
            <p:cNvSpPr/>
            <p:nvPr/>
          </p:nvSpPr>
          <p:spPr>
            <a:xfrm>
              <a:off x="6601925" y="5033759"/>
              <a:ext cx="3075951" cy="1633462"/>
            </a:xfrm>
            <a:prstGeom prst="rect">
              <a:avLst/>
            </a:prstGeom>
            <a:noFill/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43AEBCC3-7963-47EB-94CB-1259D67B6C1B}"/>
                </a:ext>
              </a:extLst>
            </p:cNvPr>
            <p:cNvSpPr/>
            <p:nvPr/>
          </p:nvSpPr>
          <p:spPr>
            <a:xfrm>
              <a:off x="6519162" y="5033759"/>
              <a:ext cx="82763" cy="16334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aphicFrame>
        <p:nvGraphicFramePr>
          <p:cNvPr id="45" name="차트 44">
            <a:extLst>
              <a:ext uri="{FF2B5EF4-FFF2-40B4-BE49-F238E27FC236}">
                <a16:creationId xmlns:a16="http://schemas.microsoft.com/office/drawing/2014/main" id="{6CDB563A-BC92-5AD4-C507-43EB3695BA46}"/>
              </a:ext>
            </a:extLst>
          </p:cNvPr>
          <p:cNvGraphicFramePr/>
          <p:nvPr/>
        </p:nvGraphicFramePr>
        <p:xfrm>
          <a:off x="6601925" y="3443613"/>
          <a:ext cx="1362242" cy="12691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A8FFDCA3-0EBE-F143-A3A3-11FF9D0E6E9D}"/>
              </a:ext>
            </a:extLst>
          </p:cNvPr>
          <p:cNvSpPr txBox="1"/>
          <p:nvPr/>
        </p:nvSpPr>
        <p:spPr>
          <a:xfrm>
            <a:off x="6560543" y="1255751"/>
            <a:ext cx="90545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【</a:t>
            </a:r>
            <a:r>
              <a:rPr kumimoji="1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노경기획팀</a:t>
            </a:r>
            <a:r>
              <a:rPr kumimoji="1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】</a:t>
            </a:r>
            <a:endParaRPr kumimoji="1" lang="ko-KR" altLang="en-US" sz="105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C384B2-D1A8-C27A-CAAF-A8B286542B62}"/>
              </a:ext>
            </a:extLst>
          </p:cNvPr>
          <p:cNvSpPr txBox="1"/>
          <p:nvPr/>
        </p:nvSpPr>
        <p:spPr>
          <a:xfrm>
            <a:off x="6560543" y="3158402"/>
            <a:ext cx="90545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【</a:t>
            </a:r>
            <a:r>
              <a:rPr kumimoji="1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노경협력팀</a:t>
            </a:r>
            <a:r>
              <a:rPr kumimoji="1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】</a:t>
            </a:r>
            <a:endParaRPr kumimoji="1" lang="ko-KR" altLang="en-US" sz="105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158EA78-5888-92F4-366D-3786D6BCA57A}"/>
              </a:ext>
            </a:extLst>
          </p:cNvPr>
          <p:cNvSpPr txBox="1"/>
          <p:nvPr/>
        </p:nvSpPr>
        <p:spPr>
          <a:xfrm>
            <a:off x="6560543" y="5049953"/>
            <a:ext cx="90545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【</a:t>
            </a:r>
            <a:r>
              <a:rPr kumimoji="1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노경운영팀</a:t>
            </a:r>
            <a:r>
              <a:rPr kumimoji="1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】</a:t>
            </a:r>
            <a:endParaRPr kumimoji="1" lang="ko-KR" altLang="en-US" sz="105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837502F-293F-040F-FAB1-EAB90B9B401F}"/>
              </a:ext>
            </a:extLst>
          </p:cNvPr>
          <p:cNvSpPr txBox="1"/>
          <p:nvPr/>
        </p:nvSpPr>
        <p:spPr>
          <a:xfrm>
            <a:off x="7837843" y="1306178"/>
            <a:ext cx="1922795" cy="1315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강점 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Data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기반 리스크 분석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(3.4)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취약 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인사제도 기획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운영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(1.8)</a:t>
            </a:r>
            <a:b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    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집단적 노사관계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(1.6)</a:t>
            </a:r>
            <a:b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endParaRPr kumimoji="1" lang="en-US" altLang="ko-KR" sz="10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지표 기반 진단 및 인사이트 도출 역량은 있으나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집단적 노사관계 및 인사제도 관련 경험이 부족함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CBFC940-740B-395B-C6A6-411F10F40F56}"/>
              </a:ext>
            </a:extLst>
          </p:cNvPr>
          <p:cNvSpPr txBox="1"/>
          <p:nvPr/>
        </p:nvSpPr>
        <p:spPr>
          <a:xfrm>
            <a:off x="7837844" y="3170111"/>
            <a:ext cx="1840032" cy="1638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강점 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집단적 노사관계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(3.6)</a:t>
            </a:r>
            <a:b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    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노사분쟁 대응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(3.0)</a:t>
            </a:r>
            <a:endParaRPr kumimoji="1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취약 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개별적 노사관계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(2.2)</a:t>
            </a:r>
            <a:b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    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인사제도 기획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운영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(2.2)        </a:t>
            </a:r>
            <a:b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endParaRPr kumimoji="1" lang="en-US" altLang="ko-KR" sz="10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팀 중 평균은 가장 높지만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b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편차가 가장 높고</a:t>
            </a: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노사관계 편중</a:t>
            </a: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b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개별적 노사관계 및 인사제도 관련 경험이 부족함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AEEB3FB-FEA5-E3A4-45C6-A99EBCBE0E29}"/>
              </a:ext>
            </a:extLst>
          </p:cNvPr>
          <p:cNvSpPr txBox="1"/>
          <p:nvPr/>
        </p:nvSpPr>
        <p:spPr>
          <a:xfrm>
            <a:off x="7837844" y="5040656"/>
            <a:ext cx="18400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강점 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인사제도 기획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운영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(4.3)</a:t>
            </a:r>
            <a:b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    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개별적 노사관계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(3.7)</a:t>
            </a:r>
            <a:endParaRPr kumimoji="1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취약 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집단적 노사관계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(0.3)</a:t>
            </a:r>
            <a:b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    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노사분쟁 대응력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(0.3)</a:t>
            </a:r>
            <a:b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   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인사제도 기획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운영 역량은</a:t>
            </a:r>
            <a:b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높으나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노사관계 전반 경험이 부족함</a:t>
            </a:r>
          </a:p>
        </p:txBody>
      </p:sp>
      <p:sp>
        <p:nvSpPr>
          <p:cNvPr id="52" name="AutoShape 1603">
            <a:extLst>
              <a:ext uri="{FF2B5EF4-FFF2-40B4-BE49-F238E27FC236}">
                <a16:creationId xmlns:a16="http://schemas.microsoft.com/office/drawing/2014/main" id="{14B5340A-58EF-8D89-EFF8-24C5F9EA3270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972529" y="4639414"/>
            <a:ext cx="3198373" cy="377280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777777"/>
              </a:gs>
              <a:gs pos="100000">
                <a:schemeClr val="bg1"/>
              </a:gs>
            </a:gsLst>
            <a:lin ang="5400000" scaled="1"/>
          </a:gradFill>
          <a:ln w="19050" algn="ctr">
            <a:noFill/>
            <a:miter lim="800000"/>
            <a:headEnd/>
            <a:tailEnd/>
          </a:ln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Light" panose="020B0600000101010101" pitchFamily="50" charset="-127"/>
              <a:ea typeface="LG스마트체 Light" panose="020B0600000101010101" pitchFamily="50" charset="-127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2088A1-83A4-E224-5F27-E96F42A5599B}"/>
              </a:ext>
            </a:extLst>
          </p:cNvPr>
          <p:cNvSpPr txBox="1"/>
          <p:nvPr/>
        </p:nvSpPr>
        <p:spPr>
          <a:xfrm>
            <a:off x="2886287" y="5078998"/>
            <a:ext cx="3378911" cy="16477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탁월한 노경담당자는 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 역량을 고르게 갖춰야 하나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</a:t>
            </a:r>
            <a:b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3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 팀 모두 특정 영역에 편중된 역량 구조를 보임</a:t>
            </a:r>
            <a:b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- 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노경기획팀 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전문 지식 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· 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분석력</a:t>
            </a:r>
            <a:b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- 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노경협력팀 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노사관계</a:t>
            </a:r>
            <a:b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- 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노경운영팀 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제도 운영</a:t>
            </a:r>
            <a:endParaRPr kumimoji="1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팀별 특화가 심해 전반적 노경 경험 및 대응력이 </a:t>
            </a:r>
            <a:b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부족하므로 균형 있는 역량 개발 체계 구축이 필요함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09316A0-E086-E741-C3B1-585A95327ED0}"/>
              </a:ext>
            </a:extLst>
          </p:cNvPr>
          <p:cNvSpPr txBox="1"/>
          <p:nvPr/>
        </p:nvSpPr>
        <p:spPr>
          <a:xfrm>
            <a:off x="204306" y="4925973"/>
            <a:ext cx="2593137" cy="1952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⑥ 글로벌 </a:t>
            </a:r>
            <a:r>
              <a:rPr kumimoji="1" lang="ko-KR" altLang="en-US" sz="12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소통력</a:t>
            </a:r>
            <a:b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해외 사업장 현지 노동법 해석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b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현장 소통 등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외국어 능력</a:t>
            </a:r>
            <a:endParaRPr kumimoji="1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⑦ 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Data 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기반 노무 리스크 분석력</a:t>
            </a:r>
            <a:b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데이터 처리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·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분석을 통한 </a:t>
            </a:r>
            <a:b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노무 리스크 정량 진단 및 대응</a:t>
            </a:r>
            <a:endParaRPr kumimoji="1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⑧ 노동법 지식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동향 센싱</a:t>
            </a:r>
            <a:b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노동법 숙지</a:t>
            </a:r>
            <a: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 트렌드 조기 감지 및 </a:t>
            </a:r>
            <a:br>
              <a:rPr kumimoji="1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내부 적용 설계 역량</a:t>
            </a:r>
            <a:endParaRPr kumimoji="1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2E5D12F-D220-4934-4AAB-2787E9E00C40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85725" algn="l"/>
              </a:tabLst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노경부문 역량분석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실행 단추: 홈 45">
            <a:hlinkClick r:id="rId7" action="ppaction://hlinksldjump"/>
            <a:extLst>
              <a:ext uri="{FF2B5EF4-FFF2-40B4-BE49-F238E27FC236}">
                <a16:creationId xmlns:a16="http://schemas.microsoft.com/office/drawing/2014/main" id="{0E35CACD-7E18-45F1-034C-DBBEB5798603}"/>
              </a:ext>
            </a:extLst>
          </p:cNvPr>
          <p:cNvSpPr/>
          <p:nvPr/>
        </p:nvSpPr>
        <p:spPr>
          <a:xfrm>
            <a:off x="9237062" y="107566"/>
            <a:ext cx="360000" cy="360000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0A014A-7E8D-2BF2-D244-B78BAB9B6289}"/>
              </a:ext>
            </a:extLst>
          </p:cNvPr>
          <p:cNvSpPr txBox="1"/>
          <p:nvPr/>
        </p:nvSpPr>
        <p:spPr>
          <a:xfrm>
            <a:off x="4512421" y="1322035"/>
            <a:ext cx="953442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kumimoji="1" lang="ko-KR" altLang="en-US" sz="9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집단적 노사관계</a:t>
            </a:r>
            <a:endParaRPr lang="ko-KR" altLang="en-US" sz="9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4C9DD-1D23-FEEB-60D5-0FDA33AE6F3D}"/>
              </a:ext>
            </a:extLst>
          </p:cNvPr>
          <p:cNvSpPr txBox="1"/>
          <p:nvPr/>
        </p:nvSpPr>
        <p:spPr>
          <a:xfrm>
            <a:off x="5474720" y="1770764"/>
            <a:ext cx="953442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kumimoji="1" lang="ko-KR" altLang="en-US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노사분쟁 </a:t>
            </a:r>
            <a:br>
              <a:rPr kumimoji="1" lang="en-US" altLang="ko-KR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ko-KR" altLang="en-US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대응력</a:t>
            </a:r>
            <a:endParaRPr lang="ko-KR" altLang="en-US" sz="9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19175A-18F1-300B-3F03-2912511AC16B}"/>
              </a:ext>
            </a:extLst>
          </p:cNvPr>
          <p:cNvSpPr txBox="1"/>
          <p:nvPr/>
        </p:nvSpPr>
        <p:spPr>
          <a:xfrm>
            <a:off x="5586410" y="2804750"/>
            <a:ext cx="953442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kumimoji="1" lang="ko-KR" altLang="en-US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이해관계자 </a:t>
            </a:r>
            <a:br>
              <a:rPr kumimoji="1" lang="en-US" altLang="ko-KR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ko-KR" altLang="en-US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소통력</a:t>
            </a:r>
            <a:endParaRPr lang="ko-KR" altLang="en-US" sz="9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85B7A2-53C9-A698-96CC-962983630DFA}"/>
              </a:ext>
            </a:extLst>
          </p:cNvPr>
          <p:cNvSpPr txBox="1"/>
          <p:nvPr/>
        </p:nvSpPr>
        <p:spPr>
          <a:xfrm>
            <a:off x="5483969" y="3543289"/>
            <a:ext cx="953442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kumimoji="1" lang="ko-KR" altLang="en-US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개별적</a:t>
            </a:r>
            <a:br>
              <a:rPr kumimoji="1" lang="en-US" altLang="ko-KR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ko-KR" altLang="en-US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노사관계</a:t>
            </a:r>
            <a:endParaRPr lang="ko-KR" altLang="en-US"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438C9E-FEE7-0D42-3E66-20912AFD2AD7}"/>
              </a:ext>
            </a:extLst>
          </p:cNvPr>
          <p:cNvSpPr txBox="1"/>
          <p:nvPr/>
        </p:nvSpPr>
        <p:spPr>
          <a:xfrm>
            <a:off x="4526981" y="3957752"/>
            <a:ext cx="1046627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kumimoji="1" lang="ko-KR" altLang="en-US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인사제도 기획</a:t>
            </a:r>
            <a:r>
              <a:rPr kumimoji="1" lang="en-US" altLang="ko-KR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kumimoji="1" lang="ko-KR" altLang="en-US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</a:t>
            </a:r>
            <a:endParaRPr lang="ko-KR" altLang="en-US" sz="9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DAFAF8-B458-7193-A133-304DF6A8013A}"/>
              </a:ext>
            </a:extLst>
          </p:cNvPr>
          <p:cNvSpPr txBox="1"/>
          <p:nvPr/>
        </p:nvSpPr>
        <p:spPr>
          <a:xfrm>
            <a:off x="3363094" y="3696387"/>
            <a:ext cx="104662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kumimoji="1" lang="ko-KR" altLang="en-US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글로벌 </a:t>
            </a:r>
            <a:br>
              <a:rPr kumimoji="1" lang="en-US" altLang="ko-KR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ko-KR" altLang="en-US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소통력</a:t>
            </a:r>
            <a:endParaRPr lang="ko-KR" altLang="en-US" sz="9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A24CE0-2C20-7DD4-5A65-9A814FBF052B}"/>
              </a:ext>
            </a:extLst>
          </p:cNvPr>
          <p:cNvSpPr txBox="1"/>
          <p:nvPr/>
        </p:nvSpPr>
        <p:spPr>
          <a:xfrm>
            <a:off x="2880244" y="2801339"/>
            <a:ext cx="1046627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kumimoji="1" lang="en-US" altLang="ko-KR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Data </a:t>
            </a:r>
            <a:r>
              <a:rPr kumimoji="1" lang="ko-KR" altLang="en-US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기반</a:t>
            </a:r>
            <a:br>
              <a:rPr kumimoji="1" lang="en-US" altLang="ko-KR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ko-KR" altLang="en-US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노무 리스크</a:t>
            </a:r>
            <a:br>
              <a:rPr kumimoji="1" lang="en-US" altLang="ko-KR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ko-KR" altLang="en-US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분석력</a:t>
            </a:r>
            <a:endParaRPr lang="ko-KR" altLang="en-US" sz="9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4E33D6-B364-6DEF-4E39-C70FA56DCC45}"/>
              </a:ext>
            </a:extLst>
          </p:cNvPr>
          <p:cNvSpPr txBox="1"/>
          <p:nvPr/>
        </p:nvSpPr>
        <p:spPr>
          <a:xfrm>
            <a:off x="3045414" y="1538794"/>
            <a:ext cx="104662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kumimoji="1" lang="ko-KR" altLang="en-US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노동법 지식</a:t>
            </a:r>
            <a:br>
              <a:rPr kumimoji="1" lang="en-US" altLang="ko-KR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1" lang="ko-KR" altLang="en-US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동향센싱</a:t>
            </a:r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2736993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12E5D12F-D220-4934-4AAB-2787E9E00C40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85725" algn="l"/>
              </a:tabLst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노경부문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개인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역량분석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실행 단추: 홈 45">
            <a:hlinkClick r:id="rId3" action="ppaction://hlinksldjump"/>
            <a:extLst>
              <a:ext uri="{FF2B5EF4-FFF2-40B4-BE49-F238E27FC236}">
                <a16:creationId xmlns:a16="http://schemas.microsoft.com/office/drawing/2014/main" id="{0E35CACD-7E18-45F1-034C-DBBEB5798603}"/>
              </a:ext>
            </a:extLst>
          </p:cNvPr>
          <p:cNvSpPr/>
          <p:nvPr/>
        </p:nvSpPr>
        <p:spPr>
          <a:xfrm>
            <a:off x="9237062" y="107566"/>
            <a:ext cx="360000" cy="360000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BF567E0-5234-FA11-884E-5B4417771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945843"/>
              </p:ext>
            </p:extLst>
          </p:nvPr>
        </p:nvGraphicFramePr>
        <p:xfrm>
          <a:off x="332442" y="918042"/>
          <a:ext cx="9241116" cy="562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3306">
                  <a:extLst>
                    <a:ext uri="{9D8B030D-6E8A-4147-A177-3AD203B41FA5}">
                      <a16:colId xmlns:a16="http://schemas.microsoft.com/office/drawing/2014/main" val="797323313"/>
                    </a:ext>
                  </a:extLst>
                </a:gridCol>
                <a:gridCol w="1787562">
                  <a:extLst>
                    <a:ext uri="{9D8B030D-6E8A-4147-A177-3AD203B41FA5}">
                      <a16:colId xmlns:a16="http://schemas.microsoft.com/office/drawing/2014/main" val="2494298754"/>
                    </a:ext>
                  </a:extLst>
                </a:gridCol>
                <a:gridCol w="1787562">
                  <a:extLst>
                    <a:ext uri="{9D8B030D-6E8A-4147-A177-3AD203B41FA5}">
                      <a16:colId xmlns:a16="http://schemas.microsoft.com/office/drawing/2014/main" val="2752136355"/>
                    </a:ext>
                  </a:extLst>
                </a:gridCol>
                <a:gridCol w="1787562">
                  <a:extLst>
                    <a:ext uri="{9D8B030D-6E8A-4147-A177-3AD203B41FA5}">
                      <a16:colId xmlns:a16="http://schemas.microsoft.com/office/drawing/2014/main" val="1446812882"/>
                    </a:ext>
                  </a:extLst>
                </a:gridCol>
                <a:gridCol w="1787562">
                  <a:extLst>
                    <a:ext uri="{9D8B030D-6E8A-4147-A177-3AD203B41FA5}">
                      <a16:colId xmlns:a16="http://schemas.microsoft.com/office/drawing/2014/main" val="1047204315"/>
                    </a:ext>
                  </a:extLst>
                </a:gridCol>
                <a:gridCol w="1787562">
                  <a:extLst>
                    <a:ext uri="{9D8B030D-6E8A-4147-A177-3AD203B41FA5}">
                      <a16:colId xmlns:a16="http://schemas.microsoft.com/office/drawing/2014/main" val="2382000849"/>
                    </a:ext>
                  </a:extLst>
                </a:gridCol>
              </a:tblGrid>
              <a:tr h="17565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pc="-5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노경</a:t>
                      </a:r>
                      <a:br>
                        <a:rPr lang="en-US" altLang="ko-KR" sz="1200" b="1" spc="-5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200" b="1" spc="-5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기획</a:t>
                      </a:r>
                    </a:p>
                  </a:txBody>
                  <a:tcPr marL="0" marR="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pc="-5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김성현</a:t>
                      </a: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pc="-5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이영준</a:t>
                      </a:r>
                    </a:p>
                  </a:txBody>
                  <a:tcPr marL="0" marR="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pc="-50" baseline="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김지양</a:t>
                      </a:r>
                      <a:endParaRPr lang="ko-KR" altLang="en-US" sz="1200" b="1" spc="-50" baseline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pc="-5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이시형</a:t>
                      </a:r>
                    </a:p>
                  </a:txBody>
                  <a:tcPr marL="0" marR="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pc="-50" baseline="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곽지호</a:t>
                      </a:r>
                      <a:endParaRPr lang="ko-KR" altLang="en-US" sz="1200" b="1" spc="-50" baseline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945800"/>
                  </a:ext>
                </a:extLst>
              </a:tr>
              <a:tr h="1620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spc="-50" baseline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spc="-50" baseline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spc="-50" baseline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spc="-50" baseline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spc="-50" baseline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616081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pc="-5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노경</a:t>
                      </a:r>
                      <a:br>
                        <a:rPr lang="en-US" altLang="ko-KR" sz="1200" b="1" spc="-5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200" b="1" spc="-5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협력</a:t>
                      </a:r>
                    </a:p>
                  </a:txBody>
                  <a:tcPr marL="0" marR="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pc="-50" baseline="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우선근</a:t>
                      </a:r>
                      <a:endParaRPr lang="ko-KR" altLang="en-US" sz="1200" b="1" spc="-50" baseline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pc="-5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최윤희</a:t>
                      </a:r>
                    </a:p>
                  </a:txBody>
                  <a:tcPr marL="0" marR="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pc="-50" baseline="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채수길</a:t>
                      </a:r>
                      <a:endParaRPr lang="ko-KR" altLang="en-US" sz="1200" b="1" spc="-50" baseline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pc="-5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우성민</a:t>
                      </a:r>
                    </a:p>
                  </a:txBody>
                  <a:tcPr marL="0" marR="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pc="-5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김민호</a:t>
                      </a:r>
                    </a:p>
                  </a:txBody>
                  <a:tcPr marL="0" marR="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066636"/>
                  </a:ext>
                </a:extLst>
              </a:tr>
              <a:tr h="1620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spc="-50" baseline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spc="-50" baseline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spc="-50" baseline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spc="-50" baseline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spc="-50" baseline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777749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pc="-5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노경</a:t>
                      </a:r>
                      <a:br>
                        <a:rPr lang="en-US" altLang="ko-KR" sz="1200" b="1" spc="-5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200" b="1" spc="-5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운영</a:t>
                      </a:r>
                    </a:p>
                  </a:txBody>
                  <a:tcPr marL="0" marR="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pc="-50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임효빈</a:t>
                      </a: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pc="-50" baseline="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윤재승</a:t>
                      </a:r>
                      <a:endParaRPr lang="ko-KR" altLang="en-US" sz="1200" b="1" spc="-50" baseline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pc="-50" baseline="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김한결</a:t>
                      </a:r>
                      <a:endParaRPr lang="ko-KR" altLang="en-US" sz="1200" b="1" spc="-50" baseline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spc="-50" baseline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spc="-50" baseline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9234409"/>
                  </a:ext>
                </a:extLst>
              </a:tr>
              <a:tr h="1620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spc="-50" baseline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spc="-50" baseline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spc="-50" baseline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spc="-50" baseline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spc="-50" baseline="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36000" marB="3600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255286"/>
                  </a:ext>
                </a:extLst>
              </a:tr>
            </a:tbl>
          </a:graphicData>
        </a:graphic>
      </p:graphicFrame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4AAC42B0-C896-5814-8376-F5AE5C1B1D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9153206"/>
              </p:ext>
            </p:extLst>
          </p:nvPr>
        </p:nvGraphicFramePr>
        <p:xfrm>
          <a:off x="287617" y="1133196"/>
          <a:ext cx="2499659" cy="1717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9AF5C804-4EA9-B6C8-4910-9BF386F169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8765355"/>
              </p:ext>
            </p:extLst>
          </p:nvPr>
        </p:nvGraphicFramePr>
        <p:xfrm>
          <a:off x="287617" y="3021106"/>
          <a:ext cx="2499659" cy="1717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26BC9522-C25E-DEA2-359A-59ADCBBFB5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8326926"/>
              </p:ext>
            </p:extLst>
          </p:nvPr>
        </p:nvGraphicFramePr>
        <p:xfrm>
          <a:off x="2089522" y="1133196"/>
          <a:ext cx="2499659" cy="1717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B012BA30-059A-2594-91D9-5E9B3ABC58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3624833"/>
              </p:ext>
            </p:extLst>
          </p:nvPr>
        </p:nvGraphicFramePr>
        <p:xfrm>
          <a:off x="3891427" y="1133196"/>
          <a:ext cx="2499659" cy="1717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B196ED56-2FE5-CF19-C120-30D43F6C2F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4550985"/>
              </p:ext>
            </p:extLst>
          </p:nvPr>
        </p:nvGraphicFramePr>
        <p:xfrm>
          <a:off x="5639539" y="1133196"/>
          <a:ext cx="2499659" cy="1717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D99937A0-3CE1-7006-25ED-41FE39D0D1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6891883"/>
              </p:ext>
            </p:extLst>
          </p:nvPr>
        </p:nvGraphicFramePr>
        <p:xfrm>
          <a:off x="7469096" y="1133196"/>
          <a:ext cx="2499659" cy="1717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6EECB4B0-2FEE-0963-7157-37FE992ACD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899521"/>
              </p:ext>
            </p:extLst>
          </p:nvPr>
        </p:nvGraphicFramePr>
        <p:xfrm>
          <a:off x="2071592" y="3021106"/>
          <a:ext cx="2499659" cy="1717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742C9531-30A9-2A03-5DEA-93488FA47F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5597580"/>
              </p:ext>
            </p:extLst>
          </p:nvPr>
        </p:nvGraphicFramePr>
        <p:xfrm>
          <a:off x="3873496" y="3021106"/>
          <a:ext cx="2499659" cy="1717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7E372900-7E1B-22D6-8FBD-C2D512C6D2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5642672"/>
              </p:ext>
            </p:extLst>
          </p:nvPr>
        </p:nvGraphicFramePr>
        <p:xfrm>
          <a:off x="5674650" y="3021106"/>
          <a:ext cx="2499659" cy="1717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50586DA8-04A8-BC6E-369A-A0C8204C66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7539864"/>
              </p:ext>
            </p:extLst>
          </p:nvPr>
        </p:nvGraphicFramePr>
        <p:xfrm>
          <a:off x="7459375" y="3021106"/>
          <a:ext cx="2499659" cy="1717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8A8266A7-EF74-02CC-1171-7DE0D20C29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6788879"/>
              </p:ext>
            </p:extLst>
          </p:nvPr>
        </p:nvGraphicFramePr>
        <p:xfrm>
          <a:off x="287617" y="4888099"/>
          <a:ext cx="2499659" cy="1717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09E75466-28CF-BA05-7555-584D82E470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0768231"/>
              </p:ext>
            </p:extLst>
          </p:nvPr>
        </p:nvGraphicFramePr>
        <p:xfrm>
          <a:off x="2071592" y="4888099"/>
          <a:ext cx="2499659" cy="1717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950F23D5-02C3-C73A-5093-C9D54847A2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2615772"/>
              </p:ext>
            </p:extLst>
          </p:nvPr>
        </p:nvGraphicFramePr>
        <p:xfrm>
          <a:off x="3873496" y="4888099"/>
          <a:ext cx="2499659" cy="1717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</p:spTree>
    <p:extLst>
      <p:ext uri="{BB962C8B-B14F-4D97-AF65-F5344CB8AC3E}">
        <p14:creationId xmlns:p14="http://schemas.microsoft.com/office/powerpoint/2010/main" val="3898381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F9B529-921A-EC05-EF69-2B94EDBEEC92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707092-6EE5-2E0D-0394-119DE2D05C8B}"/>
              </a:ext>
            </a:extLst>
          </p:cNvPr>
          <p:cNvSpPr txBox="1"/>
          <p:nvPr/>
        </p:nvSpPr>
        <p:spPr>
          <a:xfrm>
            <a:off x="202841" y="150290"/>
            <a:ext cx="2586854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노경인력 변동현황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실행 단추: 홈 45">
            <a:hlinkClick r:id="rId2" action="ppaction://hlinksldjump"/>
            <a:extLst>
              <a:ext uri="{FF2B5EF4-FFF2-40B4-BE49-F238E27FC236}">
                <a16:creationId xmlns:a16="http://schemas.microsoft.com/office/drawing/2014/main" id="{0BF29156-DCF6-7E86-33AF-245C5DBA8A1C}"/>
              </a:ext>
            </a:extLst>
          </p:cNvPr>
          <p:cNvSpPr/>
          <p:nvPr/>
        </p:nvSpPr>
        <p:spPr>
          <a:xfrm>
            <a:off x="9237062" y="107566"/>
            <a:ext cx="360000" cy="360000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0E46500-011D-36AE-652B-A25940175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679225"/>
              </p:ext>
            </p:extLst>
          </p:nvPr>
        </p:nvGraphicFramePr>
        <p:xfrm>
          <a:off x="3266256" y="771082"/>
          <a:ext cx="3373489" cy="5766868"/>
        </p:xfrm>
        <a:graphic>
          <a:graphicData uri="http://schemas.openxmlformats.org/drawingml/2006/table">
            <a:tbl>
              <a:tblPr/>
              <a:tblGrid>
                <a:gridCol w="536575">
                  <a:extLst>
                    <a:ext uri="{9D8B030D-6E8A-4147-A177-3AD203B41FA5}">
                      <a16:colId xmlns:a16="http://schemas.microsoft.com/office/drawing/2014/main" val="906005941"/>
                    </a:ext>
                  </a:extLst>
                </a:gridCol>
                <a:gridCol w="1004888">
                  <a:extLst>
                    <a:ext uri="{9D8B030D-6E8A-4147-A177-3AD203B41FA5}">
                      <a16:colId xmlns:a16="http://schemas.microsoft.com/office/drawing/2014/main" val="3563395637"/>
                    </a:ext>
                  </a:extLst>
                </a:gridCol>
                <a:gridCol w="1045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402">
                  <a:extLst>
                    <a:ext uri="{9D8B030D-6E8A-4147-A177-3AD203B41FA5}">
                      <a16:colId xmlns:a16="http://schemas.microsoft.com/office/drawing/2014/main" val="4194964852"/>
                    </a:ext>
                  </a:extLst>
                </a:gridCol>
              </a:tblGrid>
              <a:tr h="167546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en-US" altLang="ko-KR" sz="1000" b="1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이름 </a:t>
                      </a:r>
                      <a:endParaRPr lang="en-US" altLang="ko-KR" sz="1000" b="1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  <a:endParaRPr lang="en-US" altLang="ko-KR" sz="1000" b="1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546">
                <a:tc rowSpan="15"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분사직후 </a:t>
                      </a:r>
                      <a:br>
                        <a:rPr lang="en-US" altLang="ko-KR" sz="1000" b="1" i="0" u="none" strike="noStrike" kern="1200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i="0" u="none" strike="noStrike" kern="1200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(’20.12</a:t>
                      </a:r>
                      <a:r>
                        <a:rPr lang="ko-KR" altLang="en-US" sz="1000" b="1" i="0" u="none" strike="noStrike" kern="1200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월말</a:t>
                      </a:r>
                      <a:r>
                        <a:rPr lang="en-US" altLang="ko-KR" sz="1000" b="1" i="0" u="none" strike="noStrike" kern="1200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오창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노경담당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김용술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4360198"/>
                  </a:ext>
                </a:extLst>
              </a:tr>
              <a:tr h="167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노경지원팀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강성길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426094"/>
                  </a:ext>
                </a:extLst>
              </a:tr>
              <a:tr h="167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백태성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6205319"/>
                  </a:ext>
                </a:extLst>
              </a:tr>
              <a:tr h="167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이영준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9662330"/>
                  </a:ext>
                </a:extLst>
              </a:tr>
              <a:tr h="167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김태완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3144338"/>
                  </a:ext>
                </a:extLst>
              </a:tr>
              <a:tr h="167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오창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노경팀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이영기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6724186"/>
                  </a:ext>
                </a:extLst>
              </a:tr>
              <a:tr h="1675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홍은기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546">
                <a:tc vMerge="1"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ko-KR" altLang="en-US" sz="1200" b="1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이성민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546">
                <a:tc vMerge="1"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ko-KR" altLang="en-US" sz="1200" b="1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배경원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546">
                <a:tc vMerge="1"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ko-KR" altLang="en-US" sz="1200" b="1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우성민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546">
                <a:tc vMerge="1"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ko-KR" altLang="en-US" sz="1200" b="1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윤영문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546">
                <a:tc vMerge="1"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ko-KR" altLang="en-US" sz="1200" b="1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오창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인사지원팀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223399"/>
                  </a:ext>
                </a:extLst>
              </a:tr>
              <a:tr h="167546">
                <a:tc vMerge="1"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ko-KR" altLang="en-US" sz="1200" b="1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임현수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5399421"/>
                  </a:ext>
                </a:extLst>
              </a:tr>
              <a:tr h="1675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임효빈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642698"/>
                  </a:ext>
                </a:extLst>
              </a:tr>
              <a:tr h="167546">
                <a:tc vMerge="1"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ko-KR" altLang="en-US" sz="1200" b="1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윤재승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385400"/>
                  </a:ext>
                </a:extLst>
              </a:tr>
              <a:tr h="59826">
                <a:tc gridSpan="4"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en-US" altLang="ko-KR" sz="100" b="1" i="0" u="none" strike="noStrike" kern="1200" spc="-5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181328"/>
                  </a:ext>
                </a:extLst>
              </a:tr>
              <a:tr h="178018">
                <a:tc rowSpan="17"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현재 </a:t>
                      </a:r>
                      <a:br>
                        <a:rPr lang="en-US" altLang="ko-KR" sz="1000" b="1" i="0" u="none" strike="noStrike" kern="1200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i="0" u="none" strike="noStrike" kern="1200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(’26.3</a:t>
                      </a:r>
                      <a:r>
                        <a:rPr lang="ko-KR" altLang="en-US" sz="1000" b="1" i="0" u="none" strike="noStrike" kern="1200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000" b="1" i="0" u="none" strike="noStrike" kern="1200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주재임원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노경담당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김용술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258118"/>
                  </a:ext>
                </a:extLst>
              </a:tr>
              <a:tr h="178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노경기획팀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강우진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6453487"/>
                  </a:ext>
                </a:extLst>
              </a:tr>
              <a:tr h="178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김성현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806612"/>
                  </a:ext>
                </a:extLst>
              </a:tr>
              <a:tr h="178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이영준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8508803"/>
                  </a:ext>
                </a:extLst>
              </a:tr>
              <a:tr h="178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김지양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5146213"/>
                  </a:ext>
                </a:extLst>
              </a:tr>
              <a:tr h="178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이시형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9257127"/>
                  </a:ext>
                </a:extLst>
              </a:tr>
              <a:tr h="178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곽지호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9146877"/>
                  </a:ext>
                </a:extLst>
              </a:tr>
              <a:tr h="178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노경협력팀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이성민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2702882"/>
                  </a:ext>
                </a:extLst>
              </a:tr>
              <a:tr h="178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최윤희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9821909"/>
                  </a:ext>
                </a:extLst>
              </a:tr>
              <a:tr h="178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우선근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1725820"/>
                  </a:ext>
                </a:extLst>
              </a:tr>
              <a:tr h="178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채수길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123039"/>
                  </a:ext>
                </a:extLst>
              </a:tr>
              <a:tr h="178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우성민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470190"/>
                  </a:ext>
                </a:extLst>
              </a:tr>
              <a:tr h="178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김민호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033386"/>
                  </a:ext>
                </a:extLst>
              </a:tr>
              <a:tr h="178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노경운영팀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강성길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9041605"/>
                  </a:ext>
                </a:extLst>
              </a:tr>
              <a:tr h="178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임효빈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7650516"/>
                  </a:ext>
                </a:extLst>
              </a:tr>
              <a:tr h="178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윤재승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3271436"/>
                  </a:ext>
                </a:extLst>
              </a:tr>
              <a:tr h="1780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김한결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4376701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72D22D6B-D2CA-B75F-CB76-1423E977BBBE}"/>
              </a:ext>
            </a:extLst>
          </p:cNvPr>
          <p:cNvSpPr/>
          <p:nvPr/>
        </p:nvSpPr>
        <p:spPr>
          <a:xfrm>
            <a:off x="6797040" y="967740"/>
            <a:ext cx="518160" cy="12954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125EBC-1269-65C2-1A37-66C2137FD1D4}"/>
              </a:ext>
            </a:extLst>
          </p:cNvPr>
          <p:cNvSpPr txBox="1"/>
          <p:nvPr/>
        </p:nvSpPr>
        <p:spPr>
          <a:xfrm>
            <a:off x="7265568" y="909399"/>
            <a:ext cx="6693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조직이동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7EA0FB7-696E-39E3-5E85-0D580D5D5AD6}"/>
              </a:ext>
            </a:extLst>
          </p:cNvPr>
          <p:cNvSpPr/>
          <p:nvPr/>
        </p:nvSpPr>
        <p:spPr>
          <a:xfrm>
            <a:off x="6797040" y="3525441"/>
            <a:ext cx="518160" cy="129540"/>
          </a:xfrm>
          <a:prstGeom prst="rect">
            <a:avLst/>
          </a:prstGeom>
          <a:solidFill>
            <a:srgbClr val="25FF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0D6910-27CF-944D-6C1F-7345BF9315DB}"/>
              </a:ext>
            </a:extLst>
          </p:cNvPr>
          <p:cNvSpPr txBox="1"/>
          <p:nvPr/>
        </p:nvSpPr>
        <p:spPr>
          <a:xfrm>
            <a:off x="7265568" y="3467100"/>
            <a:ext cx="6402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신규유입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24491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F9B529-921A-EC05-EF69-2B94EDBEEC92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707092-6EE5-2E0D-0394-119DE2D05C8B}"/>
              </a:ext>
            </a:extLst>
          </p:cNvPr>
          <p:cNvSpPr txBox="1"/>
          <p:nvPr/>
        </p:nvSpPr>
        <p:spPr>
          <a:xfrm>
            <a:off x="202841" y="150290"/>
            <a:ext cx="2586854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노경담당 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KPI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실행 단추: 홈 45">
            <a:hlinkClick r:id="rId2" action="ppaction://hlinksldjump"/>
            <a:extLst>
              <a:ext uri="{FF2B5EF4-FFF2-40B4-BE49-F238E27FC236}">
                <a16:creationId xmlns:a16="http://schemas.microsoft.com/office/drawing/2014/main" id="{0BF29156-DCF6-7E86-33AF-245C5DBA8A1C}"/>
              </a:ext>
            </a:extLst>
          </p:cNvPr>
          <p:cNvSpPr/>
          <p:nvPr/>
        </p:nvSpPr>
        <p:spPr>
          <a:xfrm>
            <a:off x="9237062" y="107566"/>
            <a:ext cx="360000" cy="360000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2" name="Group 49">
            <a:extLst>
              <a:ext uri="{FF2B5EF4-FFF2-40B4-BE49-F238E27FC236}">
                <a16:creationId xmlns:a16="http://schemas.microsoft.com/office/drawing/2014/main" id="{5DC8510A-597B-3656-FCC2-C9A98455B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514129"/>
              </p:ext>
            </p:extLst>
          </p:nvPr>
        </p:nvGraphicFramePr>
        <p:xfrm>
          <a:off x="270692" y="4273682"/>
          <a:ext cx="9283417" cy="2438400"/>
        </p:xfrm>
        <a:graphic>
          <a:graphicData uri="http://schemas.openxmlformats.org/drawingml/2006/table">
            <a:tbl>
              <a:tblPr/>
              <a:tblGrid>
                <a:gridCol w="103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1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60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73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913">
                <a:tc gridSpan="3"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평가항목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Light" panose="020B0600000101010101" pitchFamily="50" charset="-127"/>
                        <a:ea typeface="LG스마트체 Light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평가방법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비고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869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원칙에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입각한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생산적 </a:t>
                      </a: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임단협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임단협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Guideline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준수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임단협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C/M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목표 달성도 및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Impact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평가</a:t>
                      </a:r>
                      <a:b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  -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임단협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C/M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시 합의한 핵심과제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교섭 타결 내용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목표 타결 시기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등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)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달성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수준</a:t>
                      </a:r>
                      <a:b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  -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난이도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기여도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주도성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등 종합 평가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848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조직관리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역량강화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현장관리감독자</a:t>
                      </a:r>
                      <a:b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 </a:t>
                      </a: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조직관리력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제고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역량제고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P/G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운영 실적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조직관리 역량제고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P/G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에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대한 사업장 목표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수립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/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달성수준 반영</a:t>
                      </a:r>
                      <a:b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현장관리감독자의 리더십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위상제고를 위한 교육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, W/S,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코칭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P/G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등</a:t>
                      </a:r>
                      <a:b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  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연간 활동계획 수립 및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CHO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와 사전 협의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(‘21.3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월 限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)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84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현장리더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리더십 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Survey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결과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현장리더 리더십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Survey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결과 반영</a:t>
                      </a:r>
                      <a:b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  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관리감독자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실장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반장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)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대상</a:t>
                      </a:r>
                      <a:b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  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하반기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On-line Survey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실시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상사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부하 평가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)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827">
                <a:tc v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현장 사업이슈 해결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지원 실적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현장 사업이슈 해결 지원 실적 반영</a:t>
                      </a:r>
                      <a:b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  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사업 효율화 지원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생산성 제고 방안 운영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불합리한 현장관행 개선 등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0138">
                <a:tc rowSpan="2"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노경 </a:t>
                      </a:r>
                      <a:b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Partnership </a:t>
                      </a:r>
                      <a:b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확보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노경 신뢰 구축</a:t>
                      </a: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노경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Hot-line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구축 </a:t>
                      </a: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수준 및</a:t>
                      </a: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b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1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  Impact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indent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노경간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Communication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및 신뢰 확보 수준을 고려한 종합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평가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9pPr>
                    </a:lstStyle>
                    <a:p>
                      <a:pPr marL="0" indent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63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일상적 노경이슈 </a:t>
                      </a:r>
                      <a:b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</a:b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예방관리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노경이슈 발생건수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charset="0"/>
                        </a:rPr>
                        <a:t>불합리한 요구 관철 목적의 집단행동 발생 건수 반영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돋움체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charset="0"/>
                      </a:endParaRPr>
                    </a:p>
                  </a:txBody>
                  <a:tcPr marL="36000" marR="36000" marT="0" marB="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 Box 82">
            <a:extLst>
              <a:ext uri="{FF2B5EF4-FFF2-40B4-BE49-F238E27FC236}">
                <a16:creationId xmlns:a16="http://schemas.microsoft.com/office/drawing/2014/main" id="{18A31469-E20A-DF04-2667-B9B0F4EEA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461" y="4003473"/>
            <a:ext cx="436973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ko-KR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2. </a:t>
            </a:r>
            <a:r>
              <a:rPr lang="ko-KR" altLang="en-US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조직리더십 평가기준</a:t>
            </a:r>
            <a:endParaRPr lang="ko-KR" altLang="en-US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Text Box 82">
            <a:extLst>
              <a:ext uri="{FF2B5EF4-FFF2-40B4-BE49-F238E27FC236}">
                <a16:creationId xmlns:a16="http://schemas.microsoft.com/office/drawing/2014/main" id="{6CFBE855-0FC8-9E7F-71B0-CDD3278E1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841" y="904938"/>
            <a:ext cx="4369739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ko-KR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1. </a:t>
            </a:r>
            <a:r>
              <a:rPr lang="ko-KR" altLang="en-US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특성지표 </a:t>
            </a:r>
            <a:r>
              <a:rPr lang="en-US" altLang="ko-KR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노경관련</a:t>
            </a:r>
            <a:r>
              <a:rPr lang="en-US" altLang="ko-KR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endParaRPr lang="ko-KR" altLang="en-US" sz="11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8" name="Group 37">
            <a:extLst>
              <a:ext uri="{FF2B5EF4-FFF2-40B4-BE49-F238E27FC236}">
                <a16:creationId xmlns:a16="http://schemas.microsoft.com/office/drawing/2014/main" id="{E7BDC334-7DBD-A43D-C612-7688C3A9D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897158"/>
              </p:ext>
            </p:extLst>
          </p:nvPr>
        </p:nvGraphicFramePr>
        <p:xfrm>
          <a:off x="270692" y="1208154"/>
          <a:ext cx="9283418" cy="2646698"/>
        </p:xfrm>
        <a:graphic>
          <a:graphicData uri="http://schemas.openxmlformats.org/drawingml/2006/table">
            <a:tbl>
              <a:tblPr/>
              <a:tblGrid>
                <a:gridCol w="110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8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4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9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특성지표 평가항목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’21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년 목표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목표 </a:t>
                      </a: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설정 근거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Light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실행 계획</a:t>
                      </a: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세부일정 포함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Light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노경신뢰관계 </a:t>
                      </a:r>
                      <a:endParaRPr kumimoji="0" lang="en-US" altLang="ko-KR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확보를 위한 </a:t>
                      </a:r>
                      <a:endParaRPr kumimoji="0" lang="en-US" altLang="ko-KR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소통활동 강화</a:t>
                      </a:r>
                      <a:endParaRPr kumimoji="0" lang="en-US" altLang="ko-KR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과제 실행 </a:t>
                      </a:r>
                      <a:r>
                        <a:rPr kumimoji="1" lang="en-US" altLang="ko-KR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1" lang="ko-KR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건 실행</a:t>
                      </a:r>
                      <a:endParaRPr kumimoji="1" lang="en-US" altLang="ko-KR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Light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en-US" altLang="ko-KR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(50</a:t>
                      </a:r>
                      <a:r>
                        <a:rPr kumimoji="1" lang="ko-KR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r>
                        <a:rPr kumimoji="1" lang="en-US" altLang="ko-KR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① 노경 대표자 주간 미팅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(20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Light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Light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② 노경합동 경영실적 </a:t>
                      </a:r>
                      <a:r>
                        <a:rPr kumimoji="1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공유회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(20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Light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Light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③ 前조합리더 </a:t>
                      </a:r>
                      <a:r>
                        <a:rPr kumimoji="1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정기간담회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(10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b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</a:b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Light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b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회</a:t>
                      </a: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주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Light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b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</a:b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Light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회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공장실적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회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전사실적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b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회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분기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사내도급</a:t>
                      </a:r>
                      <a:r>
                        <a:rPr kumimoji="0" lang="ko-KR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운영 </a:t>
                      </a:r>
                      <a:endParaRPr kumimoji="0" lang="en-US" altLang="ko-KR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안정화 지원</a:t>
                      </a:r>
                      <a:endParaRPr kumimoji="0" lang="en-US" altLang="ko-KR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11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사내도급</a:t>
                      </a:r>
                      <a:r>
                        <a:rPr kumimoji="1" lang="ko-KR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1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Compliance Issue Zero</a:t>
                      </a:r>
                      <a:r>
                        <a:rPr kumimoji="1" lang="ko-KR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화</a:t>
                      </a:r>
                      <a:r>
                        <a:rPr kumimoji="1" lang="en-US" altLang="ko-KR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(40</a:t>
                      </a:r>
                      <a:r>
                        <a:rPr kumimoji="1" lang="ko-KR" altLang="en-US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점</a:t>
                      </a:r>
                      <a:r>
                        <a:rPr kumimoji="1" lang="en-US" altLang="ko-KR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사내도급</a:t>
                      </a:r>
                      <a:r>
                        <a:rPr kumimoji="1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 법적 </a:t>
                      </a:r>
                      <a:r>
                        <a:rPr kumimoji="1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Risk </a:t>
                      </a:r>
                      <a:r>
                        <a:rPr kumimoji="1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해소 및 </a:t>
                      </a:r>
                      <a:r>
                        <a:rPr kumimoji="1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Issue Zero</a:t>
                      </a:r>
                      <a:r>
                        <a:rPr kumimoji="1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화</a:t>
                      </a:r>
                      <a:endParaRPr kumimoji="1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LG스마트체 Light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사내도급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 주요 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Risk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점검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반기 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회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Light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간담회 및 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HR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관련 상시 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Consulting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실시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연중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Light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Light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400816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0E4DD36-54FF-DCE1-BCA5-FC0305CA8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784397"/>
              </p:ext>
            </p:extLst>
          </p:nvPr>
        </p:nvGraphicFramePr>
        <p:xfrm>
          <a:off x="2860326" y="1692445"/>
          <a:ext cx="3060465" cy="2411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745"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 초과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 미만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7E9D69E-F535-0B4B-CD9F-1274EBE8ED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297157"/>
              </p:ext>
            </p:extLst>
          </p:nvPr>
        </p:nvGraphicFramePr>
        <p:xfrm>
          <a:off x="2860326" y="2211322"/>
          <a:ext cx="3060465" cy="2411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794"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12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 초과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12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 미만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D0B4259E-6626-6562-2ED7-777BC253C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891436"/>
              </p:ext>
            </p:extLst>
          </p:nvPr>
        </p:nvGraphicFramePr>
        <p:xfrm>
          <a:off x="2860325" y="2710987"/>
          <a:ext cx="3060465" cy="2411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0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294"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 이상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회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미실시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F2EA519-F8E3-2577-A562-FA097B8C00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571695"/>
              </p:ext>
            </p:extLst>
          </p:nvPr>
        </p:nvGraphicFramePr>
        <p:xfrm>
          <a:off x="2869850" y="3276155"/>
          <a:ext cx="3463935" cy="4850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27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0000"/>
                        </a:lnSpc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Compliance Issue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미발생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및 운영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Sys.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Compliance Issue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미발생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Compliance Issue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발생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 Box 82">
            <a:extLst>
              <a:ext uri="{FF2B5EF4-FFF2-40B4-BE49-F238E27FC236}">
                <a16:creationId xmlns:a16="http://schemas.microsoft.com/office/drawing/2014/main" id="{393DF35D-25FB-EA61-2DC6-E414FC771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5207" y="588600"/>
            <a:ext cx="436973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ko-KR" sz="10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</a:t>
            </a:r>
            <a:r>
              <a:rPr lang="ko-KR" altLang="en-US" sz="10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임원</a:t>
            </a:r>
            <a:r>
              <a:rPr lang="en-US" altLang="ko-KR" sz="10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00" b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담당 성과평가서 및 조직리더십 평가기준 限</a:t>
            </a:r>
            <a:endParaRPr lang="ko-KR" altLang="en-US" sz="1000" b="1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Text Box 82">
            <a:extLst>
              <a:ext uri="{FF2B5EF4-FFF2-40B4-BE49-F238E27FC236}">
                <a16:creationId xmlns:a16="http://schemas.microsoft.com/office/drawing/2014/main" id="{41C3F863-3F02-E73C-7CA2-B76941C77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841" y="551229"/>
            <a:ext cx="436973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ko-KR" sz="13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[’21</a:t>
            </a:r>
            <a:r>
              <a:rPr lang="ko-KR" altLang="en-US" sz="13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년 주재임원</a:t>
            </a:r>
            <a:r>
              <a:rPr lang="en-US" altLang="ko-KR" sz="13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3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노경담당 </a:t>
            </a:r>
            <a:r>
              <a:rPr lang="en-US" altLang="ko-KR" sz="13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KPI]</a:t>
            </a:r>
            <a:endParaRPr lang="ko-KR" altLang="en-US" sz="13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40716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F9B529-921A-EC05-EF69-2B94EDBEEC92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707092-6EE5-2E0D-0394-119DE2D05C8B}"/>
              </a:ext>
            </a:extLst>
          </p:cNvPr>
          <p:cNvSpPr txBox="1"/>
          <p:nvPr/>
        </p:nvSpPr>
        <p:spPr>
          <a:xfrm>
            <a:off x="202841" y="150290"/>
            <a:ext cx="2586854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노경담당 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KPI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실행 단추: 홈 45">
            <a:hlinkClick r:id="rId2" action="ppaction://hlinksldjump"/>
            <a:extLst>
              <a:ext uri="{FF2B5EF4-FFF2-40B4-BE49-F238E27FC236}">
                <a16:creationId xmlns:a16="http://schemas.microsoft.com/office/drawing/2014/main" id="{0BF29156-DCF6-7E86-33AF-245C5DBA8A1C}"/>
              </a:ext>
            </a:extLst>
          </p:cNvPr>
          <p:cNvSpPr/>
          <p:nvPr/>
        </p:nvSpPr>
        <p:spPr>
          <a:xfrm>
            <a:off x="9237062" y="107566"/>
            <a:ext cx="360000" cy="360000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Text Box 82">
            <a:extLst>
              <a:ext uri="{FF2B5EF4-FFF2-40B4-BE49-F238E27FC236}">
                <a16:creationId xmlns:a16="http://schemas.microsoft.com/office/drawing/2014/main" id="{8013A992-D26D-ADD6-9C26-897D561BF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01" y="617159"/>
            <a:ext cx="436973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ko-KR" sz="13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[’26</a:t>
            </a:r>
            <a:r>
              <a:rPr lang="ko-KR" altLang="en-US" sz="13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년 주재임원</a:t>
            </a:r>
            <a:r>
              <a:rPr lang="en-US" altLang="ko-KR" sz="13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3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노경담당 </a:t>
            </a:r>
            <a:r>
              <a:rPr lang="en-US" altLang="ko-KR" sz="13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KPI]</a:t>
            </a:r>
            <a:endParaRPr lang="ko-KR" altLang="en-US" sz="13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DFF636-530C-D686-4694-26D500C68E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099137"/>
              </p:ext>
            </p:extLst>
          </p:nvPr>
        </p:nvGraphicFramePr>
        <p:xfrm>
          <a:off x="164306" y="910831"/>
          <a:ext cx="9577388" cy="5892943"/>
        </p:xfrm>
        <a:graphic>
          <a:graphicData uri="http://schemas.openxmlformats.org/drawingml/2006/table">
            <a:tbl>
              <a:tblPr/>
              <a:tblGrid>
                <a:gridCol w="511838">
                  <a:extLst>
                    <a:ext uri="{9D8B030D-6E8A-4147-A177-3AD203B41FA5}">
                      <a16:colId xmlns:a16="http://schemas.microsoft.com/office/drawing/2014/main" val="1285339405"/>
                    </a:ext>
                  </a:extLst>
                </a:gridCol>
                <a:gridCol w="8978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533">
                  <a:extLst>
                    <a:ext uri="{9D8B030D-6E8A-4147-A177-3AD203B41FA5}">
                      <a16:colId xmlns:a16="http://schemas.microsoft.com/office/drawing/2014/main" val="1485838750"/>
                    </a:ext>
                  </a:extLst>
                </a:gridCol>
                <a:gridCol w="263502">
                  <a:extLst>
                    <a:ext uri="{9D8B030D-6E8A-4147-A177-3AD203B41FA5}">
                      <a16:colId xmlns:a16="http://schemas.microsoft.com/office/drawing/2014/main" val="3694603259"/>
                    </a:ext>
                  </a:extLst>
                </a:gridCol>
                <a:gridCol w="2694565">
                  <a:extLst>
                    <a:ext uri="{9D8B030D-6E8A-4147-A177-3AD203B41FA5}">
                      <a16:colId xmlns:a16="http://schemas.microsoft.com/office/drawing/2014/main" val="2421510175"/>
                    </a:ext>
                  </a:extLst>
                </a:gridCol>
                <a:gridCol w="4230053">
                  <a:extLst>
                    <a:ext uri="{9D8B030D-6E8A-4147-A177-3AD203B41FA5}">
                      <a16:colId xmlns:a16="http://schemas.microsoft.com/office/drawing/2014/main" val="46673577"/>
                    </a:ext>
                  </a:extLst>
                </a:gridCol>
              </a:tblGrid>
              <a:tr h="232992">
                <a:tc gridSpan="2">
                  <a:txBody>
                    <a:bodyPr/>
                    <a:lstStyle/>
                    <a:p>
                      <a:pPr algn="ctr" rtl="0" fontAlgn="ctr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구분</a:t>
                      </a:r>
                      <a:endParaRPr 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en-US" sz="1000" b="1" i="0" u="none" strike="noStrike" spc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8000" marB="1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</a:t>
                      </a:r>
                      <a:endParaRPr lang="ko-KR" altLang="en-US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비중</a:t>
                      </a:r>
                      <a:endParaRPr lang="en-US" altLang="ko-KR" sz="1000" b="1" i="0" u="none" strike="noStrike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상세 목표</a:t>
                      </a:r>
                      <a:endParaRPr lang="en-US" altLang="ko-KR" sz="1000" b="1" i="0" u="none" strike="noStrike" kern="1200" spc="-1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1" spc="-1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주요 실행 계획</a:t>
                      </a:r>
                    </a:p>
                  </a:txBody>
                  <a:tcPr marL="3600" marR="3600" marT="10800" marB="108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191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핵심</a:t>
                      </a:r>
                      <a:br>
                        <a:rPr kumimoji="1" lang="en-US" altLang="ko-KR" sz="10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kumimoji="1" lang="ko-KR" altLang="en-US" sz="10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성과</a:t>
                      </a:r>
                      <a:br>
                        <a:rPr kumimoji="1" lang="en-US" altLang="ko-KR" sz="10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kumimoji="1" lang="ko-KR" altLang="en-US" sz="10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지표</a:t>
                      </a:r>
                      <a:br>
                        <a:rPr kumimoji="1" lang="en-US" altLang="ko-KR" sz="10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kumimoji="1" lang="en-US" altLang="ko-KR" sz="10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(30%)</a:t>
                      </a:r>
                      <a:endParaRPr kumimoji="1" lang="ko-KR" altLang="en-US" sz="1000" b="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재무목표 달성</a:t>
                      </a:r>
                      <a:br>
                        <a:rPr kumimoji="1" lang="en-US" altLang="ko-KR" sz="10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kumimoji="1" lang="en-US" altLang="ko-KR" sz="10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(10%)</a:t>
                      </a:r>
                      <a:endParaRPr kumimoji="1" lang="ko-KR" altLang="en-US" sz="1000" b="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매출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영업이익</a:t>
                      </a:r>
                      <a:b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 달성</a:t>
                      </a:r>
                      <a:endParaRPr kumimoji="0" lang="en-US" altLang="ko-KR" sz="10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altLang="ko-KR" sz="10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  <a:endParaRPr lang="ko-KR" altLang="en-US" sz="1000" b="1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5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매출</a:t>
                      </a:r>
                      <a: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30</a:t>
                      </a: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</a:t>
                      </a:r>
                      <a: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500</a:t>
                      </a: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endParaRPr kumimoji="1" lang="ko-KR" altLang="en-US" sz="1000" b="0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5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경영목표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사업계획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기준 목표 수립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1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5%</a:t>
                      </a:r>
                      <a:endParaRPr lang="ko-KR" altLang="en-US" sz="1000" b="1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10800" marB="108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5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영업이익 </a:t>
                      </a:r>
                      <a: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4,000 </a:t>
                      </a: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endParaRPr kumimoji="1" lang="ko-KR" altLang="en-US" sz="1000" b="0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5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/>
                </a:tc>
                <a:extLst>
                  <a:ext uri="{0D108BD9-81ED-4DB2-BD59-A6C34878D82A}">
                    <a16:rowId xmlns:a16="http://schemas.microsoft.com/office/drawing/2014/main" val="2232225254"/>
                  </a:ext>
                </a:extLst>
              </a:tr>
              <a:tr h="767357">
                <a:tc vMerge="1"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80000"/>
                        <a:buFont typeface="Wingdings" panose="05000000000000000000" pitchFamily="2" charset="2"/>
                        <a:buNone/>
                      </a:pPr>
                      <a:endParaRPr lang="en-US" altLang="ko-KR" sz="1000" b="0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노경관계 개선</a:t>
                      </a:r>
                      <a:b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(20%)</a:t>
                      </a:r>
                      <a:endParaRPr lang="ko-KR" altLang="en-US" sz="1000" b="1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890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독자노경 확립 및 </a:t>
                      </a:r>
                      <a:r>
                        <a:rPr lang="ko-KR" altLang="en-US" sz="1000" b="1" kern="1200" spc="-5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무분규</a:t>
                      </a: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spc="-5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임단협</a:t>
                      </a:r>
                      <a:b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실현</a:t>
                      </a:r>
                      <a:endParaRPr lang="en-US" altLang="ko-KR" sz="1000" b="1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</a:t>
                      </a:r>
                      <a:endParaRPr kumimoji="0" lang="en-US" altLang="ko-KR" sz="10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0800" marB="108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독자적 노경관계 확립</a:t>
                      </a:r>
                      <a:endParaRPr kumimoji="1" lang="en-US" altLang="ko-KR" sz="1000" b="1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사업계획 內 </a:t>
                      </a:r>
                      <a:r>
                        <a:rPr kumimoji="1" lang="ko-KR" altLang="en-US" sz="10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임단협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타결</a:t>
                      </a:r>
                      <a:endParaRPr kumimoji="1" lang="en-US" altLang="ko-KR" sz="1000" b="1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8900" marR="0" lvl="0" indent="-8890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독자적 노경관계 확립 및 합리적 노경파트너십 제고</a:t>
                      </a:r>
                      <a:endParaRPr kumimoji="1" lang="en-US" altLang="ko-KR" sz="1000" b="1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사업계획 內 </a:t>
                      </a:r>
                      <a:r>
                        <a:rPr kumimoji="1" lang="ko-KR" altLang="en-US" sz="10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무분규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임단협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실현을 통한 안정적 사업운영 지원</a:t>
                      </a:r>
                      <a:endParaRPr kumimoji="1" lang="en-US" altLang="ko-KR" sz="1000" b="1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189530"/>
                  </a:ext>
                </a:extLst>
              </a:tr>
              <a:tr h="782147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전략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(40%)</a:t>
                      </a:r>
                      <a:endParaRPr kumimoji="1" lang="ko-KR" altLang="en-US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endParaRPr spc="-50" dirty="0">
                        <a:latin typeface="Arial Narrow" panose="020B0606020202030204" pitchFamily="34" charset="0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생산기술직</a:t>
                      </a:r>
                      <a:br>
                        <a:rPr lang="ko-KR" altLang="en-US" sz="1000" b="1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성장지원</a:t>
                      </a:r>
                      <a:br>
                        <a:rPr lang="en-US" altLang="ko-KR" sz="1000" b="1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(15%)</a:t>
                      </a:r>
                      <a:endParaRPr lang="ko-KR" altLang="en-US" sz="1000" b="1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기술전문가 대상 </a:t>
                      </a:r>
                      <a: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Pool </a:t>
                      </a: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확보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15%</a:t>
                      </a:r>
                    </a:p>
                  </a:txBody>
                  <a:tcPr marL="3600" marR="3600" marT="10800" marB="108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현장전문가 제도 확대 및 안정적 운영</a:t>
                      </a:r>
                      <a:b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기술전문가 대상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Pool 13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확보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성장 가능한 생산기술직 핵심인재 발굴 및 기술전문가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Pool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로 육성</a:t>
                      </a:r>
                      <a:b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우수 현장개선과제와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Align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현업리더와 소통을 통해 발굴</a:t>
                      </a:r>
                      <a:b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미충족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자격요건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(MGB belt,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기사 이상 자격증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필수교육 이수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선행적 확보 지원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503052"/>
                  </a:ext>
                </a:extLst>
              </a:tr>
              <a:tr h="74885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Global </a:t>
                      </a:r>
                      <a:r>
                        <a:rPr lang="ko-KR" altLang="en-US" sz="10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노경관계</a:t>
                      </a:r>
                      <a:endParaRPr lang="en-US" altLang="ko-KR" sz="1000" b="1" kern="120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안정화</a:t>
                      </a:r>
                      <a:br>
                        <a:rPr lang="en-US" altLang="ko-KR" sz="10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(15%)</a:t>
                      </a:r>
                      <a:endParaRPr lang="ko-KR" altLang="en-US" sz="1000" b="0" kern="120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Global </a:t>
                      </a: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생산법인</a:t>
                      </a:r>
                      <a:b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노경관계 안정화</a:t>
                      </a:r>
                      <a:endParaRPr lang="en-US" altLang="ko-KR" sz="1000" b="1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15%</a:t>
                      </a:r>
                    </a:p>
                  </a:txBody>
                  <a:tcPr marL="3600" marR="3600" marT="10800" marB="108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Q : Global 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생산법인 노경관계 안정화 활동 </a:t>
                      </a:r>
                      <a:r>
                        <a:rPr kumimoji="1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건 이상</a:t>
                      </a:r>
                      <a:endParaRPr kumimoji="1" lang="en-US" altLang="ko-KR" sz="1000" b="1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Global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노경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Control Tower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역할 수행</a:t>
                      </a:r>
                      <a:b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무노조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사업장 노경관리 체계 구축 및 </a:t>
                      </a:r>
                      <a:r>
                        <a:rPr kumimoji="0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유노조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사업장 단체교섭 지원</a:t>
                      </a:r>
                      <a:b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폴란드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중국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인도네시아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노경 역량 강화 활동 지원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365298"/>
                  </a:ext>
                </a:extLst>
              </a:tr>
              <a:tr h="68385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1" kern="1200" spc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효율적</a:t>
                      </a:r>
                      <a:br>
                        <a:rPr lang="en-US" altLang="ko-KR" sz="1000" b="1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인력운영</a:t>
                      </a:r>
                      <a:br>
                        <a:rPr lang="en-US" altLang="ko-KR" sz="1000" b="1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(10%)</a:t>
                      </a:r>
                      <a:endParaRPr lang="ko-KR" altLang="en-US" sz="1000" b="1" spc="-5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생산기술직 </a:t>
                      </a:r>
                      <a:b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인력운영 최적화</a:t>
                      </a:r>
                      <a:endParaRPr lang="en-US" altLang="ko-KR" sz="1000" b="1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</a:t>
                      </a:r>
                    </a:p>
                  </a:txBody>
                  <a:tcPr marL="3600" marR="3600" marT="10800" marB="108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여유인력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100%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재배치 및 조직별 적정인력 운영</a:t>
                      </a:r>
                      <a:br>
                        <a:rPr kumimoji="1"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외부 충원 없이 생산기술직 필요인력</a:t>
                      </a:r>
                      <a:b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적기 확보 및 재배치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EOP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에 따른 여유인력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100%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재배치 및 라인별 적정인력 산정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운영을 통해 </a:t>
                      </a:r>
                      <a:b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필요인력 추가 확보 및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재배치</a:t>
                      </a:r>
                      <a:endParaRPr kumimoji="0" lang="en-US" altLang="ko-KR" sz="10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재배치 프로세스 개선을 통해 적기충원 강화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761821"/>
                  </a:ext>
                </a:extLst>
              </a:tr>
              <a:tr h="683853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spc="-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구조적</a:t>
                      </a:r>
                      <a:br>
                        <a:rPr lang="en-US" altLang="ko-KR" sz="1000" b="1" kern="1200" spc="-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경쟁력</a:t>
                      </a:r>
                      <a:br>
                        <a:rPr lang="en-US" altLang="ko-KR" sz="1000" b="1" kern="1200" spc="-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강화</a:t>
                      </a:r>
                      <a:br>
                        <a:rPr lang="en-US" altLang="ko-KR" sz="1000" b="0" kern="1200" spc="-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-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(30%)</a:t>
                      </a: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노경환경 변화</a:t>
                      </a:r>
                      <a:b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대응 경쟁력 강화</a:t>
                      </a:r>
                      <a:endParaRPr lang="en-US" altLang="ko-KR" sz="1000" b="1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(10%)</a:t>
                      </a:r>
                      <a:endParaRPr lang="ko-KR" altLang="en-US" sz="1000" b="0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노경 이슈 선행</a:t>
                      </a:r>
                      <a:b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대응 및</a:t>
                      </a:r>
                      <a:b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노경 역량 고도화</a:t>
                      </a:r>
                      <a:endParaRPr lang="en-US" altLang="ko-KR" sz="1000" b="1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10%</a:t>
                      </a:r>
                    </a:p>
                  </a:txBody>
                  <a:tcPr marL="3600" marR="3600" marT="10800" marB="108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HR Compliance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이슈 선행 대응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건 이상 </a:t>
                      </a:r>
                      <a:endParaRPr kumimoji="0" lang="en-US" altLang="ko-KR" sz="10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노경 전문 역량 고도화</a:t>
                      </a:r>
                      <a:endParaRPr kumimoji="0" lang="en-US" altLang="ko-KR" sz="10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노경 관련 입법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정책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판결 변화 선제적 대응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대외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HR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제도 운영에 따른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Compliance Risk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예방 및 지원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대내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노경담당 내 공동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Task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운영을 통한 노경환경 변화 대응 역량 고도화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중장기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681181"/>
                  </a:ext>
                </a:extLst>
              </a:tr>
              <a:tr h="731502">
                <a:tc vMerge="1"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80000"/>
                        <a:buFont typeface="Wingdings" panose="05000000000000000000" pitchFamily="2" charset="2"/>
                        <a:buNone/>
                      </a:pPr>
                      <a:endParaRPr lang="en-US" altLang="ko-KR" sz="1000" b="0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오창에너지플랜트</a:t>
                      </a:r>
                      <a:b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사업활동 지원</a:t>
                      </a:r>
                      <a:b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(10%)</a:t>
                      </a:r>
                      <a:endParaRPr kumimoji="0" lang="en-US" altLang="ko-KR" sz="10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현업 대관업무</a:t>
                      </a:r>
                      <a:b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애로사항 지원</a:t>
                      </a:r>
                      <a:r>
                        <a:rPr lang="en-US" altLang="ko-KR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해결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u="none" strike="noStrike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대관이슈 지원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해결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kern="1200" spc="-5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대관업무 </a:t>
                      </a:r>
                      <a:r>
                        <a:rPr kumimoji="0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해결율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100%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</a:t>
                      </a:r>
                      <a:endParaRPr kumimoji="1" lang="en-US" altLang="ko-KR" sz="10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54000" marR="54000" marT="32400" marB="324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주요 대관업무 계획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일정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List up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후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필요사항지원 </a:t>
                      </a:r>
                      <a:endParaRPr kumimoji="0" lang="en-US" altLang="ko-KR" sz="10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* </a:t>
                      </a:r>
                      <a:r>
                        <a:rPr kumimoji="0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신뢰성</a:t>
                      </a:r>
                      <a:r>
                        <a:rPr kumimoji="0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</a:t>
                      </a:r>
                      <a:r>
                        <a:rPr kumimoji="0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동</a:t>
                      </a:r>
                      <a:r>
                        <a:rPr kumimoji="0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동편부지 주차장</a:t>
                      </a:r>
                      <a:r>
                        <a:rPr kumimoji="0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경계선 이슈</a:t>
                      </a:r>
                      <a:r>
                        <a:rPr kumimoji="0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OC9/10</a:t>
                      </a:r>
                      <a:r>
                        <a:rPr kumimoji="0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동</a:t>
                      </a:r>
                      <a:r>
                        <a:rPr kumimoji="0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신뢰성</a:t>
                      </a:r>
                      <a:r>
                        <a:rPr kumimoji="0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kumimoji="0" lang="ko-KR" altLang="en-US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동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유관부서간 유기적 협업 구조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절차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프로세스 개선 및 네트워킹</a:t>
                      </a:r>
                      <a:endParaRPr kumimoji="0" lang="en-US" altLang="ko-KR" sz="10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54000" marR="54000" marT="32400" marB="324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934979"/>
                  </a:ext>
                </a:extLst>
              </a:tr>
              <a:tr h="74399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dirty="0">
                        <a:solidFill>
                          <a:srgbClr val="0000FF"/>
                        </a:solidFill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1" kern="1200" spc="-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미래역량</a:t>
                      </a:r>
                      <a:br>
                        <a:rPr lang="en-US" altLang="ko-KR" sz="1000" b="1" kern="1200" spc="-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확보</a:t>
                      </a:r>
                      <a:r>
                        <a:rPr lang="en-US" altLang="ko-KR" sz="1000" b="0" kern="1200" spc="-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(10%)</a:t>
                      </a:r>
                    </a:p>
                  </a:txBody>
                  <a:tcPr marL="3600" marR="36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1" kern="1200" spc="-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000" b="1" kern="1200" spc="-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일하는</a:t>
                      </a:r>
                      <a:br>
                        <a:rPr lang="en-US" altLang="ko-KR" sz="1000" b="1" kern="1200" spc="-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kern="1200" spc="-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방식 혁신</a:t>
                      </a:r>
                      <a:endParaRPr lang="en-US" altLang="ko-KR" sz="1000" b="1" kern="1200" spc="-5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10%</a:t>
                      </a:r>
                    </a:p>
                  </a:txBody>
                  <a:tcPr marL="3600" marR="3600" marT="10800" marB="108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개선점수 </a:t>
                      </a:r>
                      <a:r>
                        <a:rPr kumimoji="1" lang="en-US" altLang="ko-K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kumimoji="1" lang="ko-KR" alt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 이상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팀 참여도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 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정량 개선 효과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- Q : AI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활용을 통해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M/M,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비용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오류 축소 등</a:t>
                      </a:r>
                      <a:b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업무 효율성 제고</a:t>
                      </a:r>
                      <a:b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- D : ’26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3Q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내 실행</a:t>
                      </a:r>
                      <a:endParaRPr kumimoji="1" lang="en-US" altLang="ko-KR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노경관리 업무 효율성을 </a:t>
                      </a:r>
                      <a:r>
                        <a:rPr kumimoji="0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증대시킬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수 있는 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노경관리 어시스턴트</a:t>
                      </a: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 </a:t>
                      </a:r>
                      <a:r>
                        <a:rPr kumimoji="0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구축</a:t>
                      </a:r>
                      <a:b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노동 법률 자문 지원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노경관계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History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플랫폼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현장리더 리더십 분석 시스템 등</a:t>
                      </a:r>
                      <a:endParaRPr kumimoji="0" lang="en-US" altLang="ko-KR" sz="10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696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41531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F9B529-921A-EC05-EF69-2B94EDBEEC92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707092-6EE5-2E0D-0394-119DE2D05C8B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유첨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 CHO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부문 내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List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실행 단추: 홈 45">
            <a:hlinkClick r:id="rId2" action="ppaction://hlinksldjump"/>
            <a:extLst>
              <a:ext uri="{FF2B5EF4-FFF2-40B4-BE49-F238E27FC236}">
                <a16:creationId xmlns:a16="http://schemas.microsoft.com/office/drawing/2014/main" id="{0BF29156-DCF6-7E86-33AF-245C5DBA8A1C}"/>
              </a:ext>
            </a:extLst>
          </p:cNvPr>
          <p:cNvSpPr/>
          <p:nvPr/>
        </p:nvSpPr>
        <p:spPr>
          <a:xfrm>
            <a:off x="9237062" y="107566"/>
            <a:ext cx="360000" cy="360000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0E46500-011D-36AE-652B-A25940175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944975"/>
              </p:ext>
            </p:extLst>
          </p:nvPr>
        </p:nvGraphicFramePr>
        <p:xfrm>
          <a:off x="1030734" y="1081046"/>
          <a:ext cx="7844532" cy="3513114"/>
        </p:xfrm>
        <a:graphic>
          <a:graphicData uri="http://schemas.openxmlformats.org/drawingml/2006/table">
            <a:tbl>
              <a:tblPr/>
              <a:tblGrid>
                <a:gridCol w="358611">
                  <a:extLst>
                    <a:ext uri="{9D8B030D-6E8A-4147-A177-3AD203B41FA5}">
                      <a16:colId xmlns:a16="http://schemas.microsoft.com/office/drawing/2014/main" val="3563395637"/>
                    </a:ext>
                  </a:extLst>
                </a:gridCol>
                <a:gridCol w="1096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908120596"/>
                    </a:ext>
                  </a:extLst>
                </a:gridCol>
                <a:gridCol w="815121">
                  <a:extLst>
                    <a:ext uri="{9D8B030D-6E8A-4147-A177-3AD203B41FA5}">
                      <a16:colId xmlns:a16="http://schemas.microsoft.com/office/drawing/2014/main" val="3212291411"/>
                    </a:ext>
                  </a:extLst>
                </a:gridCol>
                <a:gridCol w="815121">
                  <a:extLst>
                    <a:ext uri="{9D8B030D-6E8A-4147-A177-3AD203B41FA5}">
                      <a16:colId xmlns:a16="http://schemas.microsoft.com/office/drawing/2014/main" val="4036371697"/>
                    </a:ext>
                  </a:extLst>
                </a:gridCol>
                <a:gridCol w="815121">
                  <a:extLst>
                    <a:ext uri="{9D8B030D-6E8A-4147-A177-3AD203B41FA5}">
                      <a16:colId xmlns:a16="http://schemas.microsoft.com/office/drawing/2014/main" val="739804374"/>
                    </a:ext>
                  </a:extLst>
                </a:gridCol>
                <a:gridCol w="815121">
                  <a:extLst>
                    <a:ext uri="{9D8B030D-6E8A-4147-A177-3AD203B41FA5}">
                      <a16:colId xmlns:a16="http://schemas.microsoft.com/office/drawing/2014/main" val="278547095"/>
                    </a:ext>
                  </a:extLst>
                </a:gridCol>
                <a:gridCol w="1414583">
                  <a:extLst>
                    <a:ext uri="{9D8B030D-6E8A-4147-A177-3AD203B41FA5}">
                      <a16:colId xmlns:a16="http://schemas.microsoft.com/office/drawing/2014/main" val="4194964852"/>
                    </a:ext>
                  </a:extLst>
                </a:gridCol>
              </a:tblGrid>
              <a:tr h="42228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  <a:endParaRPr sz="1200" b="1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2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이름 </a:t>
                      </a:r>
                      <a:endParaRPr lang="en-US" altLang="ko-KR" sz="1200" b="1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2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부서</a:t>
                      </a:r>
                      <a:endParaRPr lang="en-US" altLang="ko-KR" sz="1200" b="1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2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직책</a:t>
                      </a:r>
                      <a:endParaRPr lang="en-US" altLang="ko-KR" sz="1200" b="1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2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직위</a:t>
                      </a:r>
                      <a:endParaRPr lang="en-US" altLang="ko-KR" sz="1200" b="1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2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근속</a:t>
                      </a:r>
                      <a:r>
                        <a:rPr lang="en-US" altLang="ko-KR" sz="12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2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12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en-US" altLang="ko-KR" sz="1200" b="1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2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연령</a:t>
                      </a:r>
                      <a:r>
                        <a:rPr lang="en-US" altLang="ko-KR" sz="12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2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세</a:t>
                      </a:r>
                      <a:r>
                        <a:rPr lang="en-US" altLang="ko-KR" sz="12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en-US" altLang="ko-KR" sz="1200" b="1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2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  <a:endParaRPr lang="en-US" altLang="ko-KR" sz="1200" b="1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4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이동술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LGESMI.Holland HR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팀장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책임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LG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화학 노경기획팀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4360198"/>
                  </a:ext>
                </a:extLst>
              </a:tr>
              <a:tr h="3434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배경원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LGESWA.HR.HR Planning Team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책임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9.2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41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노경협력팀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114557"/>
                  </a:ext>
                </a:extLst>
              </a:tr>
              <a:tr h="3434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한수진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Staff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인사지원팀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책임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16.6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46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LG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전자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사무직노경 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683071"/>
                  </a:ext>
                </a:extLst>
              </a:tr>
              <a:tr h="3434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백승열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Staff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인사지원팀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책임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11.2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36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LG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전자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사무직노경 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8444799"/>
                  </a:ext>
                </a:extLst>
              </a:tr>
              <a:tr h="3434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김기운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자동차전지 인사지원팀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책임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3.7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44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두산중공업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노사협력 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3759916"/>
                  </a:ext>
                </a:extLst>
              </a:tr>
              <a:tr h="3434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조영직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ESS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전지 인사지원팀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책임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13.3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39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ER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담당자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1640111"/>
                  </a:ext>
                </a:extLst>
              </a:tr>
              <a:tr h="3434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김경용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Global HR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책임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12.0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41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Global HR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업무 수행 중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90594"/>
                  </a:ext>
                </a:extLst>
              </a:tr>
              <a:tr h="3434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이진권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조직문화팀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책임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3.9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45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JB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담당자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7524727"/>
                  </a:ext>
                </a:extLst>
              </a:tr>
              <a:tr h="3434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최민주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CTO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인사지원팀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책임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3.1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35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신세계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노사관리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1959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48414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F9B529-921A-EC05-EF69-2B94EDBEEC92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707092-6EE5-2E0D-0394-119DE2D05C8B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엔솔 및 계열사 인원현황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A3905B2-315B-1320-EAB9-1E0166A14F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622971"/>
              </p:ext>
            </p:extLst>
          </p:nvPr>
        </p:nvGraphicFramePr>
        <p:xfrm>
          <a:off x="727531" y="975864"/>
          <a:ext cx="8734181" cy="2453136"/>
        </p:xfrm>
        <a:graphic>
          <a:graphicData uri="http://schemas.openxmlformats.org/drawingml/2006/table">
            <a:tbl>
              <a:tblPr/>
              <a:tblGrid>
                <a:gridCol w="927374">
                  <a:extLst>
                    <a:ext uri="{9D8B030D-6E8A-4147-A177-3AD203B41FA5}">
                      <a16:colId xmlns:a16="http://schemas.microsoft.com/office/drawing/2014/main" val="4166394734"/>
                    </a:ext>
                  </a:extLst>
                </a:gridCol>
                <a:gridCol w="927374">
                  <a:extLst>
                    <a:ext uri="{9D8B030D-6E8A-4147-A177-3AD203B41FA5}">
                      <a16:colId xmlns:a16="http://schemas.microsoft.com/office/drawing/2014/main" val="1229890413"/>
                    </a:ext>
                  </a:extLst>
                </a:gridCol>
                <a:gridCol w="994820">
                  <a:extLst>
                    <a:ext uri="{9D8B030D-6E8A-4147-A177-3AD203B41FA5}">
                      <a16:colId xmlns:a16="http://schemas.microsoft.com/office/drawing/2014/main" val="2293665433"/>
                    </a:ext>
                  </a:extLst>
                </a:gridCol>
                <a:gridCol w="994820">
                  <a:extLst>
                    <a:ext uri="{9D8B030D-6E8A-4147-A177-3AD203B41FA5}">
                      <a16:colId xmlns:a16="http://schemas.microsoft.com/office/drawing/2014/main" val="1024527967"/>
                    </a:ext>
                  </a:extLst>
                </a:gridCol>
                <a:gridCol w="994820">
                  <a:extLst>
                    <a:ext uri="{9D8B030D-6E8A-4147-A177-3AD203B41FA5}">
                      <a16:colId xmlns:a16="http://schemas.microsoft.com/office/drawing/2014/main" val="2759348739"/>
                    </a:ext>
                  </a:extLst>
                </a:gridCol>
                <a:gridCol w="994820">
                  <a:extLst>
                    <a:ext uri="{9D8B030D-6E8A-4147-A177-3AD203B41FA5}">
                      <a16:colId xmlns:a16="http://schemas.microsoft.com/office/drawing/2014/main" val="2371089754"/>
                    </a:ext>
                  </a:extLst>
                </a:gridCol>
                <a:gridCol w="994820">
                  <a:extLst>
                    <a:ext uri="{9D8B030D-6E8A-4147-A177-3AD203B41FA5}">
                      <a16:colId xmlns:a16="http://schemas.microsoft.com/office/drawing/2014/main" val="4171018129"/>
                    </a:ext>
                  </a:extLst>
                </a:gridCol>
                <a:gridCol w="994820">
                  <a:extLst>
                    <a:ext uri="{9D8B030D-6E8A-4147-A177-3AD203B41FA5}">
                      <a16:colId xmlns:a16="http://schemas.microsoft.com/office/drawing/2014/main" val="3888027769"/>
                    </a:ext>
                  </a:extLst>
                </a:gridCol>
                <a:gridCol w="910513">
                  <a:extLst>
                    <a:ext uri="{9D8B030D-6E8A-4147-A177-3AD203B41FA5}">
                      <a16:colId xmlns:a16="http://schemas.microsoft.com/office/drawing/2014/main" val="2056521515"/>
                    </a:ext>
                  </a:extLst>
                </a:gridCol>
              </a:tblGrid>
              <a:tr h="249459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8950" marR="8950" marT="89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노경</a:t>
                      </a:r>
                      <a:b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인력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인원현황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691280"/>
                  </a:ext>
                </a:extLst>
              </a:tr>
              <a:tr h="2494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정규직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계약직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도급인원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총원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478955"/>
                  </a:ext>
                </a:extLst>
              </a:tr>
              <a:tr h="2494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사무직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현장직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사무직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현장직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825905"/>
                  </a:ext>
                </a:extLst>
              </a:tr>
              <a:tr h="2494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인원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인원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조합원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140608"/>
                  </a:ext>
                </a:extLst>
              </a:tr>
              <a:tr h="242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파크원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950" marR="8950" marT="89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2,134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21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92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2,247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45315"/>
                  </a:ext>
                </a:extLst>
              </a:tr>
              <a:tr h="242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오창</a:t>
                      </a:r>
                    </a:p>
                  </a:txBody>
                  <a:tcPr marL="8950" marR="8950" marT="89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3,591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1,878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1,871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37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55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1,060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6,621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995479"/>
                  </a:ext>
                </a:extLst>
              </a:tr>
              <a:tr h="242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대전</a:t>
                      </a:r>
                    </a:p>
                  </a:txBody>
                  <a:tcPr marL="8950" marR="8950" marT="89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2,978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91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90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16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385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3,470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389312"/>
                  </a:ext>
                </a:extLst>
              </a:tr>
              <a:tr h="242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서초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과천</a:t>
                      </a:r>
                    </a:p>
                  </a:txBody>
                  <a:tcPr marL="8950" marR="8950" marT="89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983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66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1,050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490210"/>
                  </a:ext>
                </a:extLst>
              </a:tr>
              <a:tr h="242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마곡 </a:t>
                      </a:r>
                    </a:p>
                  </a:txBody>
                  <a:tcPr marL="8950" marR="8950" marT="89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228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16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249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87235"/>
                  </a:ext>
                </a:extLst>
              </a:tr>
              <a:tr h="242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합계</a:t>
                      </a:r>
                    </a:p>
                  </a:txBody>
                  <a:tcPr marL="8950" marR="8950" marT="89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9,914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1,969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1,961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80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55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1,619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13,637</a:t>
                      </a:r>
                    </a:p>
                  </a:txBody>
                  <a:tcPr marL="8950" marR="8950" marT="89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61566"/>
                  </a:ext>
                </a:extLst>
              </a:tr>
            </a:tbl>
          </a:graphicData>
        </a:graphic>
      </p:graphicFrame>
      <p:sp>
        <p:nvSpPr>
          <p:cNvPr id="6" name="실행 단추: 홈 45">
            <a:hlinkClick r:id="rId2" action="ppaction://hlinksldjump"/>
            <a:extLst>
              <a:ext uri="{FF2B5EF4-FFF2-40B4-BE49-F238E27FC236}">
                <a16:creationId xmlns:a16="http://schemas.microsoft.com/office/drawing/2014/main" id="{0BF29156-DCF6-7E86-33AF-245C5DBA8A1C}"/>
              </a:ext>
            </a:extLst>
          </p:cNvPr>
          <p:cNvSpPr/>
          <p:nvPr/>
        </p:nvSpPr>
        <p:spPr>
          <a:xfrm>
            <a:off x="9237062" y="107566"/>
            <a:ext cx="360000" cy="360000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701C4D9-8BDE-0DE3-1DE8-1C39B8AEC1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063754"/>
              </p:ext>
            </p:extLst>
          </p:nvPr>
        </p:nvGraphicFramePr>
        <p:xfrm>
          <a:off x="681037" y="4045954"/>
          <a:ext cx="4164323" cy="2483748"/>
        </p:xfrm>
        <a:graphic>
          <a:graphicData uri="http://schemas.openxmlformats.org/drawingml/2006/table">
            <a:tbl>
              <a:tblPr/>
              <a:tblGrid>
                <a:gridCol w="979489">
                  <a:extLst>
                    <a:ext uri="{9D8B030D-6E8A-4147-A177-3AD203B41FA5}">
                      <a16:colId xmlns:a16="http://schemas.microsoft.com/office/drawing/2014/main" val="906005941"/>
                    </a:ext>
                  </a:extLst>
                </a:gridCol>
                <a:gridCol w="9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292">
                  <a:extLst>
                    <a:ext uri="{9D8B030D-6E8A-4147-A177-3AD203B41FA5}">
                      <a16:colId xmlns:a16="http://schemas.microsoft.com/office/drawing/2014/main" val="1448183534"/>
                    </a:ext>
                  </a:extLst>
                </a:gridCol>
                <a:gridCol w="1099292">
                  <a:extLst>
                    <a:ext uri="{9D8B030D-6E8A-4147-A177-3AD203B41FA5}">
                      <a16:colId xmlns:a16="http://schemas.microsoft.com/office/drawing/2014/main" val="760383211"/>
                    </a:ext>
                  </a:extLst>
                </a:gridCol>
              </a:tblGrid>
              <a:tr h="224849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ko-KR" altLang="en-US" sz="12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1200" b="1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ko-KR" altLang="en-US" sz="12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노경 인력</a:t>
                      </a:r>
                      <a:br>
                        <a:rPr lang="en-US" altLang="ko-KR" sz="12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2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(A)</a:t>
                      </a:r>
                      <a:endParaRPr lang="en-US" altLang="ko-KR" sz="1200" b="1" i="0" u="none" strike="noStrike" spc="-50" baseline="300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ko-KR" altLang="en-US" sz="12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관리대상 인원</a:t>
                      </a:r>
                      <a:endParaRPr lang="en-US" altLang="ko-KR" sz="1200" b="1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endParaRPr lang="en-US" altLang="ko-KR" sz="1000" b="1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인원</a:t>
                      </a:r>
                      <a:r>
                        <a:rPr lang="en-US" altLang="ko-KR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정규직</a:t>
                      </a:r>
                      <a:r>
                        <a:rPr lang="en-US" altLang="ko-KR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(B)</a:t>
                      </a:r>
                      <a:endParaRPr lang="ko-KR" altLang="en-US" sz="12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인당 </a:t>
                      </a:r>
                      <a:r>
                        <a:rPr lang="en-US" altLang="ko-KR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SoC</a:t>
                      </a:r>
                      <a:br>
                        <a:rPr lang="en-US" altLang="ko-KR" sz="1200" b="0" i="0" u="none" strike="noStrike" spc="-50" baseline="30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2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(B/A)</a:t>
                      </a:r>
                      <a:endParaRPr lang="ko-KR" altLang="en-US" sz="12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082710"/>
                  </a:ext>
                </a:extLst>
              </a:tr>
              <a:tr h="23751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72000" lvl="1" indent="0" algn="l" defTabSz="914400" rtl="0" eaLnBrk="1" fontAlgn="ctr" latinLnBrk="1" hangingPunct="1">
                        <a:lnSpc>
                          <a:spcPct val="90000"/>
                        </a:lnSpc>
                      </a:pPr>
                      <a:r>
                        <a:rPr lang="ko-KR" altLang="en-US" sz="1200" b="1" i="0" u="none" strike="noStrike" kern="1200" spc="-5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전자</a:t>
                      </a:r>
                    </a:p>
                  </a:txBody>
                  <a:tcPr marL="37148" marR="37148" marT="37148" marB="3714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77</a:t>
                      </a: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35,727</a:t>
                      </a: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464</a:t>
                      </a: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51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72000" lvl="1" indent="0" algn="l" defTabSz="914400" rtl="0" eaLnBrk="1" fontAlgn="ctr" latinLnBrk="1" hangingPunct="1">
                        <a:lnSpc>
                          <a:spcPct val="90000"/>
                        </a:lnSpc>
                      </a:pPr>
                      <a:r>
                        <a:rPr lang="ko-KR" altLang="en-US" sz="1200" b="1" i="0" u="none" strike="noStrike" kern="1200" spc="-5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디스플레이</a:t>
                      </a:r>
                    </a:p>
                  </a:txBody>
                  <a:tcPr marL="37148" marR="37148" marT="37148" marB="3714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48</a:t>
                      </a: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26,048</a:t>
                      </a: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543</a:t>
                      </a: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51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72000" lvl="1" indent="0" algn="l" defTabSz="914400" rtl="0" eaLnBrk="1" fontAlgn="ctr" latinLnBrk="1" hangingPunct="1">
                        <a:lnSpc>
                          <a:spcPct val="90000"/>
                        </a:lnSpc>
                      </a:pPr>
                      <a:r>
                        <a:rPr lang="ko-KR" altLang="en-US" sz="1200" b="1" i="0" u="none" strike="noStrike" kern="1200" spc="-5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이노텍</a:t>
                      </a:r>
                    </a:p>
                  </a:txBody>
                  <a:tcPr marL="37148" marR="37148" marT="37148" marB="3714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37</a:t>
                      </a: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12,658</a:t>
                      </a: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342</a:t>
                      </a: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51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72000" lvl="1" indent="0" algn="l" defTabSz="914400" rtl="0" eaLnBrk="1" fontAlgn="ctr" latinLnBrk="1" hangingPunct="1">
                        <a:lnSpc>
                          <a:spcPct val="90000"/>
                        </a:lnSpc>
                      </a:pPr>
                      <a:r>
                        <a:rPr lang="ko-KR" altLang="en-US" sz="1200" b="1" i="0" u="none" strike="noStrike" kern="1200" spc="-5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화학</a:t>
                      </a:r>
                    </a:p>
                  </a:txBody>
                  <a:tcPr marL="37148" marR="37148" marT="37148" marB="3714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32</a:t>
                      </a: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13,206</a:t>
                      </a: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413</a:t>
                      </a: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51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72000" lvl="1" indent="0" algn="l" defTabSz="914400" rtl="0" eaLnBrk="1" fontAlgn="ctr" latinLnBrk="1" hangingPunct="1">
                        <a:lnSpc>
                          <a:spcPct val="90000"/>
                        </a:lnSpc>
                      </a:pPr>
                      <a:r>
                        <a:rPr lang="ko-KR" altLang="en-US" sz="1200" b="1" i="0" u="none" strike="noStrike" kern="1200" spc="-5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유플러스</a:t>
                      </a:r>
                    </a:p>
                  </a:txBody>
                  <a:tcPr marL="37148" marR="37148" marT="37148" marB="3714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21</a:t>
                      </a: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10,571</a:t>
                      </a: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503</a:t>
                      </a: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283817"/>
                  </a:ext>
                </a:extLst>
              </a:tr>
              <a:tr h="23751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72000" lvl="1" indent="0" algn="l" defTabSz="914400" rtl="0" eaLnBrk="1" fontAlgn="ctr" latinLnBrk="1" hangingPunct="1">
                        <a:lnSpc>
                          <a:spcPct val="90000"/>
                        </a:lnSpc>
                      </a:pPr>
                      <a:r>
                        <a:rPr lang="ko-KR" altLang="en-US" sz="1200" b="1" i="0" u="none" strike="noStrike" kern="1200" spc="-5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생활건강</a:t>
                      </a:r>
                    </a:p>
                  </a:txBody>
                  <a:tcPr marL="37148" marR="37148" marT="37148" marB="3714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4,381</a:t>
                      </a: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273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51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72000" lvl="1" indent="0" algn="l" defTabSz="914400" rtl="0" eaLnBrk="1" fontAlgn="ctr" latinLnBrk="1" hangingPunct="1">
                        <a:lnSpc>
                          <a:spcPct val="90000"/>
                        </a:lnSpc>
                      </a:pPr>
                      <a:r>
                        <a:rPr lang="ko-KR" altLang="en-US" sz="1200" b="1" i="0" u="none" strike="noStrike" kern="1200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에너지솔루션</a:t>
                      </a:r>
                      <a:r>
                        <a:rPr lang="en-US" altLang="ko-KR" sz="1200" b="1" i="0" u="none" strike="noStrike" kern="1200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*</a:t>
                      </a:r>
                      <a:endParaRPr lang="ko-KR" altLang="en-US" sz="1200" b="1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7148" marR="37148" marT="37148" marB="37148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12,635</a:t>
                      </a: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1,052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803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5F52562E-F225-7704-B2D1-0A047AF2EEDB}"/>
              </a:ext>
            </a:extLst>
          </p:cNvPr>
          <p:cNvSpPr/>
          <p:nvPr/>
        </p:nvSpPr>
        <p:spPr>
          <a:xfrm>
            <a:off x="4378175" y="3816580"/>
            <a:ext cx="396206" cy="229374"/>
          </a:xfrm>
          <a:prstGeom prst="rect">
            <a:avLst/>
          </a:prstGeom>
          <a:noFill/>
        </p:spPr>
        <p:txBody>
          <a:bodyPr wrap="square" lIns="29250" tIns="29250" rIns="0" bIns="29250">
            <a:spAutoFit/>
          </a:bodyPr>
          <a:lstStyle/>
          <a:p>
            <a:pPr algn="r" defTabSz="371464" latinLnBrk="0">
              <a:lnSpc>
                <a:spcPct val="120000"/>
              </a:lnSpc>
              <a:defRPr/>
            </a:pPr>
            <a:r>
              <a:rPr kumimoji="1" lang="ko-KR" altLang="en-US" sz="1000" spc="-32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인원</a:t>
            </a:r>
            <a:r>
              <a:rPr kumimoji="1" lang="en-US" altLang="ko-KR" sz="1000" spc="-32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1" lang="ko-KR" altLang="en-US" sz="1000" spc="-32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명</a:t>
            </a:r>
            <a:r>
              <a:rPr kumimoji="1" lang="en-US" altLang="ko-KR" sz="1000" spc="-32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6E5E9143-9372-ECCF-A280-F0A5D7DD0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531" y="6574410"/>
            <a:ext cx="179939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 </a:t>
            </a:r>
            <a:r>
              <a:rPr lang="ko-KR" altLang="en-US" sz="1200" b="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노경기획</a:t>
            </a:r>
            <a:r>
              <a:rPr lang="en-US" altLang="ko-KR" sz="1200" b="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+</a:t>
            </a:r>
            <a:r>
              <a:rPr lang="ko-KR" altLang="en-US" sz="1200" b="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노경협력</a:t>
            </a:r>
            <a:endParaRPr kumimoji="1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AB2ED2A-106E-57FD-8223-D2B2C22E78ED}"/>
              </a:ext>
            </a:extLst>
          </p:cNvPr>
          <p:cNvSpPr/>
          <p:nvPr/>
        </p:nvSpPr>
        <p:spPr>
          <a:xfrm>
            <a:off x="9035136" y="746491"/>
            <a:ext cx="396206" cy="229374"/>
          </a:xfrm>
          <a:prstGeom prst="rect">
            <a:avLst/>
          </a:prstGeom>
          <a:noFill/>
        </p:spPr>
        <p:txBody>
          <a:bodyPr wrap="square" lIns="29250" tIns="29250" rIns="0" bIns="29250">
            <a:spAutoFit/>
          </a:bodyPr>
          <a:lstStyle/>
          <a:p>
            <a:pPr algn="r" defTabSz="371464" latinLnBrk="0">
              <a:lnSpc>
                <a:spcPct val="120000"/>
              </a:lnSpc>
              <a:defRPr/>
            </a:pPr>
            <a:r>
              <a:rPr kumimoji="1" lang="ko-KR" altLang="en-US" sz="1000" spc="-32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인원</a:t>
            </a:r>
            <a:r>
              <a:rPr kumimoji="1" lang="en-US" altLang="ko-KR" sz="1000" spc="-32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1" lang="ko-KR" altLang="en-US" sz="1000" spc="-32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명</a:t>
            </a:r>
            <a:r>
              <a:rPr kumimoji="1" lang="en-US" altLang="ko-KR" sz="1000" spc="-32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9EB7CE-03DA-5076-1122-2C7B4326C4EE}"/>
              </a:ext>
            </a:extLst>
          </p:cNvPr>
          <p:cNvSpPr txBox="1"/>
          <p:nvPr/>
        </p:nvSpPr>
        <p:spPr>
          <a:xfrm>
            <a:off x="651268" y="664231"/>
            <a:ext cx="183781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엔솔 사업장별 인원</a:t>
            </a:r>
            <a:endParaRPr lang="en-US" altLang="ko-KR" sz="12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203650-FC93-71B0-55BE-892616E31DEE}"/>
              </a:ext>
            </a:extLst>
          </p:cNvPr>
          <p:cNvSpPr txBox="1"/>
          <p:nvPr/>
        </p:nvSpPr>
        <p:spPr>
          <a:xfrm>
            <a:off x="609036" y="3746095"/>
            <a:ext cx="183781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계열사 노경인력</a:t>
            </a:r>
            <a:endParaRPr lang="en-US" altLang="ko-KR" sz="12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995F6F3-8CF3-7069-ECB2-D3CE7F9BC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429161"/>
              </p:ext>
            </p:extLst>
          </p:nvPr>
        </p:nvGraphicFramePr>
        <p:xfrm>
          <a:off x="5630476" y="4048664"/>
          <a:ext cx="3786586" cy="2481036"/>
        </p:xfrm>
        <a:graphic>
          <a:graphicData uri="http://schemas.openxmlformats.org/drawingml/2006/table">
            <a:tbl>
              <a:tblPr/>
              <a:tblGrid>
                <a:gridCol w="873855">
                  <a:extLst>
                    <a:ext uri="{9D8B030D-6E8A-4147-A177-3AD203B41FA5}">
                      <a16:colId xmlns:a16="http://schemas.microsoft.com/office/drawing/2014/main" val="906005941"/>
                    </a:ext>
                  </a:extLst>
                </a:gridCol>
                <a:gridCol w="971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942">
                  <a:extLst>
                    <a:ext uri="{9D8B030D-6E8A-4147-A177-3AD203B41FA5}">
                      <a16:colId xmlns:a16="http://schemas.microsoft.com/office/drawing/2014/main" val="1448183534"/>
                    </a:ext>
                  </a:extLst>
                </a:gridCol>
                <a:gridCol w="734556">
                  <a:extLst>
                    <a:ext uri="{9D8B030D-6E8A-4147-A177-3AD203B41FA5}">
                      <a16:colId xmlns:a16="http://schemas.microsoft.com/office/drawing/2014/main" val="760383211"/>
                    </a:ext>
                  </a:extLst>
                </a:gridCol>
              </a:tblGrid>
              <a:tr h="206753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Global </a:t>
                      </a:r>
                      <a:r>
                        <a:rPr lang="ko-KR" altLang="en-US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노경조직</a:t>
                      </a:r>
                      <a:endParaRPr sz="12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생산법인 </a:t>
                      </a:r>
                      <a:br>
                        <a:rPr lang="en-US" altLang="ko-KR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현황</a:t>
                      </a:r>
                      <a:endParaRPr lang="ko-KR" altLang="en-US" sz="1200" b="1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235309"/>
                  </a:ext>
                </a:extLst>
              </a:tr>
              <a:tr h="20675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팀명</a:t>
                      </a:r>
                      <a:endParaRPr sz="12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인원</a:t>
                      </a:r>
                      <a:endParaRPr lang="ko-KR" altLang="en-US" sz="12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/>
                    </a:p>
                  </a:txBody>
                  <a:tcPr marL="37148" marR="37148" marT="37148" marB="3714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082710"/>
                  </a:ext>
                </a:extLst>
              </a:tr>
              <a:tr h="41350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72000" lvl="1" indent="0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200" b="1" i="0" u="none" strike="noStrike" kern="1200" spc="-5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전자</a:t>
                      </a:r>
                    </a:p>
                  </a:txBody>
                  <a:tcPr marL="37148" marR="3714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글로벌노경팀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 </a:t>
                      </a:r>
                      <a:b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팀장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팀원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28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50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72000" lvl="1" indent="0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200" b="1" i="0" u="none" strike="noStrike" kern="1200" spc="-5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디스플레이</a:t>
                      </a:r>
                    </a:p>
                  </a:txBody>
                  <a:tcPr marL="37148" marR="3714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글로벌노경팀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 </a:t>
                      </a:r>
                      <a:b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팀장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팀원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50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72000" lvl="1" indent="0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200" b="1" i="0" u="none" strike="noStrike" kern="1200" spc="-5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이노텍</a:t>
                      </a:r>
                    </a:p>
                  </a:txBody>
                  <a:tcPr marL="37148" marR="3714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2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Global HR</a:t>
                      </a:r>
                      <a:r>
                        <a:rPr lang="ko-KR" altLang="en-US" sz="12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팀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 </a:t>
                      </a:r>
                      <a:b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팀장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팀원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37148" marR="37148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50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72000" lvl="1" indent="0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200" b="1" i="0" u="none" strike="noStrike" kern="1200" spc="-5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화학</a:t>
                      </a:r>
                    </a:p>
                  </a:txBody>
                  <a:tcPr marL="37148" marR="3714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Global ER TFT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</a:t>
                      </a:r>
                      <a:b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(’25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신설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17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506">
                <a:tc>
                  <a:txBody>
                    <a:bodyPr/>
                    <a:lstStyle/>
                    <a:p>
                      <a:pPr marL="72000" lvl="1" indent="0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200" b="1" i="0" u="none" strike="noStrike" kern="1200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엔솔</a:t>
                      </a:r>
                      <a:endParaRPr lang="ko-KR" altLang="en-US" sz="1200" b="1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7148" marR="3714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노경기획팀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</a:t>
                      </a:r>
                      <a:b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팀장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팀원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7148" marR="37148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4379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68BC562-0647-EF75-8697-28E9C00D8EF8}"/>
              </a:ext>
            </a:extLst>
          </p:cNvPr>
          <p:cNvSpPr txBox="1"/>
          <p:nvPr/>
        </p:nvSpPr>
        <p:spPr>
          <a:xfrm>
            <a:off x="5559497" y="3749473"/>
            <a:ext cx="183781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계열사 </a:t>
            </a:r>
            <a:r>
              <a:rPr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 </a:t>
            </a:r>
            <a:r>
              <a:rPr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노경조직</a:t>
            </a:r>
            <a:endParaRPr lang="en-US" altLang="ko-KR" sz="12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실행 단추: 앞으로 또는 다음 84">
            <a:hlinkClick r:id="rId3" action="ppaction://hlinksldjump"/>
            <a:extLst>
              <a:ext uri="{FF2B5EF4-FFF2-40B4-BE49-F238E27FC236}">
                <a16:creationId xmlns:a16="http://schemas.microsoft.com/office/drawing/2014/main" id="{9958C6B6-FF61-E18A-05A0-5AFC847F87A3}"/>
              </a:ext>
            </a:extLst>
          </p:cNvPr>
          <p:cNvSpPr/>
          <p:nvPr/>
        </p:nvSpPr>
        <p:spPr>
          <a:xfrm>
            <a:off x="6021192" y="6257563"/>
            <a:ext cx="144000" cy="144000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0834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F9B529-921A-EC05-EF69-2B94EDBEEC92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실행 단추: 홈 45">
            <a:hlinkClick r:id="rId2" action="ppaction://hlinksldjump"/>
            <a:extLst>
              <a:ext uri="{FF2B5EF4-FFF2-40B4-BE49-F238E27FC236}">
                <a16:creationId xmlns:a16="http://schemas.microsoft.com/office/drawing/2014/main" id="{0BF29156-DCF6-7E86-33AF-245C5DBA8A1C}"/>
              </a:ext>
            </a:extLst>
          </p:cNvPr>
          <p:cNvSpPr/>
          <p:nvPr/>
        </p:nvSpPr>
        <p:spPr>
          <a:xfrm>
            <a:off x="9237062" y="107566"/>
            <a:ext cx="360000" cy="360000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AutoShape 182">
            <a:extLst>
              <a:ext uri="{FF2B5EF4-FFF2-40B4-BE49-F238E27FC236}">
                <a16:creationId xmlns:a16="http://schemas.microsoft.com/office/drawing/2014/main" id="{B3BDB784-9532-D00F-2888-A69032BA5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206" y="2737618"/>
            <a:ext cx="738253" cy="1557576"/>
          </a:xfrm>
          <a:prstGeom prst="homePlate">
            <a:avLst>
              <a:gd name="adj" fmla="val 0"/>
            </a:avLst>
          </a:prstGeom>
          <a:solidFill>
            <a:schemeClr val="bg1">
              <a:alpha val="49019"/>
            </a:schemeClr>
          </a:solidFill>
          <a:ln w="9525" algn="ctr">
            <a:solidFill>
              <a:srgbClr val="969696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tIns="91440" bIns="91440" anchor="ctr"/>
          <a:lstStyle>
            <a:lvl1pPr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담당 업무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5" name="AutoShape 201">
            <a:extLst>
              <a:ext uri="{FF2B5EF4-FFF2-40B4-BE49-F238E27FC236}">
                <a16:creationId xmlns:a16="http://schemas.microsoft.com/office/drawing/2014/main" id="{B5E4322B-EB41-D08B-7BD2-3CA7B8553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4343" y="2734845"/>
            <a:ext cx="1688700" cy="1557576"/>
          </a:xfrm>
          <a:prstGeom prst="homePlate">
            <a:avLst>
              <a:gd name="adj" fmla="val 0"/>
            </a:avLst>
          </a:prstGeom>
          <a:noFill/>
          <a:ln w="9525" algn="ctr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/>
          <a:lstStyle>
            <a:lvl1pPr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 ESG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노경 거버넌스 체계 운영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- Compliance Risk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항목 관리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법기준 준수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이슈 지원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 RBA Control Tower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노경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인권 영역 관리 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- ESG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부적합 사항 개선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지원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 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근로시간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비정규 이슈 등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</a:p>
        </p:txBody>
      </p:sp>
      <p:sp>
        <p:nvSpPr>
          <p:cNvPr id="17" name="AutoShape 209">
            <a:extLst>
              <a:ext uri="{FF2B5EF4-FFF2-40B4-BE49-F238E27FC236}">
                <a16:creationId xmlns:a16="http://schemas.microsoft.com/office/drawing/2014/main" id="{7CF1DB81-099C-733D-179D-16F61BF0C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9675" y="2734844"/>
            <a:ext cx="1588575" cy="1566568"/>
          </a:xfrm>
          <a:prstGeom prst="homePlate">
            <a:avLst>
              <a:gd name="adj" fmla="val 0"/>
            </a:avLst>
          </a:prstGeom>
          <a:noFill/>
          <a:ln w="9525" algn="ctr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/>
          <a:lstStyle>
            <a:lvl1pPr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해외법인 임단협 관리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-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현황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이슈 개선 관리</a:t>
            </a:r>
            <a:endParaRPr kumimoji="1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-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복리후생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, HR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규정 포함 </a:t>
            </a:r>
            <a:endParaRPr kumimoji="1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노동조합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Risk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관리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-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운영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및 이슈 대응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지원</a:t>
            </a:r>
            <a:endParaRPr kumimoji="1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8" name="AutoShape 213">
            <a:extLst>
              <a:ext uri="{FF2B5EF4-FFF2-40B4-BE49-F238E27FC236}">
                <a16:creationId xmlns:a16="http://schemas.microsoft.com/office/drawing/2014/main" id="{6B17DEA5-1B92-3137-9B12-5CD4D7346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2226" y="2734844"/>
            <a:ext cx="1588575" cy="1565151"/>
          </a:xfrm>
          <a:prstGeom prst="homePlate">
            <a:avLst>
              <a:gd name="adj" fmla="val 0"/>
            </a:avLst>
          </a:prstGeom>
          <a:noFill/>
          <a:ln w="9525" algn="ctr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/>
          <a:lstStyle>
            <a:lvl1pPr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인력조정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사업철수</a:t>
            </a:r>
            <a:b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사전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사후 비상대응 체계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맞춤형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3C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전략 전개 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신설법인 셋업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초기 노경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쳬계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강화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해외노경 로드맵 운영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4EC2488C-649F-8940-DE58-B7C53FC45157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4" r="11505" b="15032"/>
          <a:stretch/>
        </p:blipFill>
        <p:spPr bwMode="auto">
          <a:xfrm>
            <a:off x="1670296" y="1885942"/>
            <a:ext cx="625475" cy="78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B50B283-700F-A2D0-8142-394B738B7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900" y="841974"/>
            <a:ext cx="673995" cy="787651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06F5B6B3-CF16-3F76-D28F-72D8F5A3BC10}"/>
              </a:ext>
            </a:extLst>
          </p:cNvPr>
          <p:cNvSpPr/>
          <p:nvPr/>
        </p:nvSpPr>
        <p:spPr>
          <a:xfrm>
            <a:off x="1597745" y="5813140"/>
            <a:ext cx="5543719" cy="549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사업 전략에 따른 노경 안정화 지원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본부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법인 협업하여 대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내외 노경 이슈 최소화 대응 및 지원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</a:p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노동환경 현화에 대한 선제적 대응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노동정책 분석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선행 대응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노경협력체계 구축 등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</a:p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노경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Fundamental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강화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상시 노경관리체계 지원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, EA Infra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셋업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교육 지원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등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22" name="TextBox 137">
            <a:extLst>
              <a:ext uri="{FF2B5EF4-FFF2-40B4-BE49-F238E27FC236}">
                <a16:creationId xmlns:a16="http://schemas.microsoft.com/office/drawing/2014/main" id="{D6E9699E-0491-7032-1468-B401DB554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4442" y="897839"/>
            <a:ext cx="588623" cy="502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강무수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base" latinLnBrk="1" hangingPunct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팀장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23" name="AutoShape 182">
            <a:extLst>
              <a:ext uri="{FF2B5EF4-FFF2-40B4-BE49-F238E27FC236}">
                <a16:creationId xmlns:a16="http://schemas.microsoft.com/office/drawing/2014/main" id="{58215E64-985F-65AF-4456-6E48AD268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78" y="842041"/>
            <a:ext cx="738253" cy="796178"/>
          </a:xfrm>
          <a:prstGeom prst="homePlate">
            <a:avLst>
              <a:gd name="adj" fmla="val 0"/>
            </a:avLst>
          </a:prstGeom>
          <a:solidFill>
            <a:schemeClr val="bg1">
              <a:alpha val="49019"/>
            </a:schemeClr>
          </a:solidFill>
          <a:ln w="9525" algn="ctr">
            <a:solidFill>
              <a:srgbClr val="969696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tIns="91440" bIns="91440" anchor="ctr"/>
          <a:lstStyle>
            <a:lvl1pPr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조직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책임자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24" name="AutoShape 182">
            <a:extLst>
              <a:ext uri="{FF2B5EF4-FFF2-40B4-BE49-F238E27FC236}">
                <a16:creationId xmlns:a16="http://schemas.microsoft.com/office/drawing/2014/main" id="{9CB970DE-A6A6-BF18-41A0-8EE44BFB1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583" y="5796658"/>
            <a:ext cx="921952" cy="289901"/>
          </a:xfrm>
          <a:prstGeom prst="homePlate">
            <a:avLst>
              <a:gd name="adj" fmla="val 0"/>
            </a:avLst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tIns="91440" bIns="91440" anchor="ctr"/>
          <a:lstStyle>
            <a:lvl1pPr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1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지원 영역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</a:p>
        </p:txBody>
      </p:sp>
      <p:sp>
        <p:nvSpPr>
          <p:cNvPr id="25" name="TextBox 39">
            <a:extLst>
              <a:ext uri="{FF2B5EF4-FFF2-40B4-BE49-F238E27FC236}">
                <a16:creationId xmlns:a16="http://schemas.microsoft.com/office/drawing/2014/main" id="{ADB4F1C6-EDC4-CEC1-2FF7-446400A05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8477" y="2300285"/>
            <a:ext cx="53777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marL="142875" indent="-142875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해외 노경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전략</a:t>
            </a:r>
            <a:r>
              <a:rPr kumimoji="1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/</a:t>
            </a:r>
            <a:r>
              <a:rPr kumimoji="1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협력 </a:t>
            </a:r>
          </a:p>
        </p:txBody>
      </p:sp>
      <p:sp>
        <p:nvSpPr>
          <p:cNvPr id="26" name="TextBox 39">
            <a:extLst>
              <a:ext uri="{FF2B5EF4-FFF2-40B4-BE49-F238E27FC236}">
                <a16:creationId xmlns:a16="http://schemas.microsoft.com/office/drawing/2014/main" id="{B2221C51-5DFA-E7B6-2C1D-ED90F281B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318" y="2274812"/>
            <a:ext cx="5899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marL="142875" indent="-142875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이해관계자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Risk </a:t>
            </a:r>
            <a:r>
              <a:rPr kumimoji="1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관리</a:t>
            </a:r>
          </a:p>
        </p:txBody>
      </p:sp>
      <p:sp>
        <p:nvSpPr>
          <p:cNvPr id="27" name="TextBox 39">
            <a:extLst>
              <a:ext uri="{FF2B5EF4-FFF2-40B4-BE49-F238E27FC236}">
                <a16:creationId xmlns:a16="http://schemas.microsoft.com/office/drawing/2014/main" id="{091E34D0-D2CB-A831-9488-151EEEE7A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9941" y="2300285"/>
            <a:ext cx="4776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marL="142875" indent="-142875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생산지</a:t>
            </a:r>
            <a:endParaRPr kumimoji="1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전략 지원</a:t>
            </a:r>
          </a:p>
        </p:txBody>
      </p:sp>
      <p:sp>
        <p:nvSpPr>
          <p:cNvPr id="28" name="AutoShape 182">
            <a:extLst>
              <a:ext uri="{FF2B5EF4-FFF2-40B4-BE49-F238E27FC236}">
                <a16:creationId xmlns:a16="http://schemas.microsoft.com/office/drawing/2014/main" id="{983E9C62-5650-AAD8-EA32-C7D92840C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856" y="1879420"/>
            <a:ext cx="738253" cy="796178"/>
          </a:xfrm>
          <a:prstGeom prst="homePlate">
            <a:avLst>
              <a:gd name="adj" fmla="val 0"/>
            </a:avLst>
          </a:prstGeom>
          <a:solidFill>
            <a:schemeClr val="bg1">
              <a:alpha val="49019"/>
            </a:schemeClr>
          </a:solidFill>
          <a:ln w="9525" algn="ctr">
            <a:solidFill>
              <a:srgbClr val="969696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tIns="91440" bIns="91440" anchor="ctr"/>
          <a:lstStyle>
            <a:lvl1pPr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팀원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29" name="TextBox 137">
            <a:extLst>
              <a:ext uri="{FF2B5EF4-FFF2-40B4-BE49-F238E27FC236}">
                <a16:creationId xmlns:a16="http://schemas.microsoft.com/office/drawing/2014/main" id="{1E68F9B1-0431-1AC2-12CD-8D8CB3CC1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3639" y="1947929"/>
            <a:ext cx="870353" cy="281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이종관</a:t>
            </a: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책임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30" name="TextBox 137">
            <a:extLst>
              <a:ext uri="{FF2B5EF4-FFF2-40B4-BE49-F238E27FC236}">
                <a16:creationId xmlns:a16="http://schemas.microsoft.com/office/drawing/2014/main" id="{4DA1942D-5776-00B2-463D-2ADC64CC3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5609" y="1947929"/>
            <a:ext cx="852285" cy="281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최진우</a:t>
            </a: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책임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31" name="TextBox 137">
            <a:extLst>
              <a:ext uri="{FF2B5EF4-FFF2-40B4-BE49-F238E27FC236}">
                <a16:creationId xmlns:a16="http://schemas.microsoft.com/office/drawing/2014/main" id="{47DFEA43-3780-58A4-AD9F-D2579FA34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4977" y="1947929"/>
            <a:ext cx="852285" cy="281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송준용</a:t>
            </a: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책임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32" name="AutoShape 182">
            <a:extLst>
              <a:ext uri="{FF2B5EF4-FFF2-40B4-BE49-F238E27FC236}">
                <a16:creationId xmlns:a16="http://schemas.microsoft.com/office/drawing/2014/main" id="{3BAC5B88-B0E6-4345-0240-DE2FA07D0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440" y="4605506"/>
            <a:ext cx="738253" cy="1163549"/>
          </a:xfrm>
          <a:prstGeom prst="homePlate">
            <a:avLst>
              <a:gd name="adj" fmla="val 0"/>
            </a:avLst>
          </a:prstGeom>
          <a:solidFill>
            <a:schemeClr val="bg1">
              <a:alpha val="49019"/>
            </a:schemeClr>
          </a:solidFill>
          <a:ln w="9525" algn="ctr">
            <a:solidFill>
              <a:srgbClr val="969696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tIns="91440" bIns="91440" anchor="ctr"/>
          <a:lstStyle>
            <a:lvl1pPr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담당 지역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33" name="AutoShape 201">
            <a:extLst>
              <a:ext uri="{FF2B5EF4-FFF2-40B4-BE49-F238E27FC236}">
                <a16:creationId xmlns:a16="http://schemas.microsoft.com/office/drawing/2014/main" id="{C24EC642-EEE3-93D5-F644-0DF5B9AE4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7311" y="4607404"/>
            <a:ext cx="1588575" cy="1150708"/>
          </a:xfrm>
          <a:prstGeom prst="homePlate">
            <a:avLst>
              <a:gd name="adj" fmla="val 0"/>
            </a:avLst>
          </a:prstGeom>
          <a:noFill/>
          <a:ln w="9525" algn="ctr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91440" anchor="t" anchorCtr="0"/>
          <a:lstStyle>
            <a:lvl1pPr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 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중국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- TA, QA, TR, HZ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아시아 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- VH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 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브라질</a:t>
            </a: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- AZ, Parana* </a:t>
            </a:r>
          </a:p>
        </p:txBody>
      </p:sp>
      <p:sp>
        <p:nvSpPr>
          <p:cNvPr id="34" name="AutoShape 209">
            <a:extLst>
              <a:ext uri="{FF2B5EF4-FFF2-40B4-BE49-F238E27FC236}">
                <a16:creationId xmlns:a16="http://schemas.microsoft.com/office/drawing/2014/main" id="{762E57DA-3641-E432-8347-BD69E230E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909" y="4607402"/>
            <a:ext cx="1588575" cy="1161863"/>
          </a:xfrm>
          <a:prstGeom prst="homePlate">
            <a:avLst>
              <a:gd name="adj" fmla="val 0"/>
            </a:avLst>
          </a:prstGeom>
          <a:noFill/>
          <a:ln w="9525" algn="ctr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91440" anchor="t" anchorCtr="0"/>
          <a:lstStyle>
            <a:lvl1pPr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인도네시아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- IN Cibitung, Tangerang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중아 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- EG, SR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 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러시아</a:t>
            </a: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유럽 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- RA,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WR, MA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35" name="AutoShape 213">
            <a:extLst>
              <a:ext uri="{FF2B5EF4-FFF2-40B4-BE49-F238E27FC236}">
                <a16:creationId xmlns:a16="http://schemas.microsoft.com/office/drawing/2014/main" id="{CB107627-806B-DC1A-2FEC-FD3361CE5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6460" y="4605507"/>
            <a:ext cx="1588575" cy="1150564"/>
          </a:xfrm>
          <a:prstGeom prst="homePlate">
            <a:avLst>
              <a:gd name="adj" fmla="val 0"/>
            </a:avLst>
          </a:prstGeom>
          <a:noFill/>
          <a:ln w="9525" algn="ctr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91440" anchor="t" anchorCtr="0"/>
          <a:lstStyle>
            <a:lvl1pPr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북미 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- TN, CAC(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헌츠빌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멕시코 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- MX, MN, RS, VR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 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중아 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- AT </a:t>
            </a:r>
          </a:p>
        </p:txBody>
      </p:sp>
      <p:sp>
        <p:nvSpPr>
          <p:cNvPr id="36" name="TextBox 137">
            <a:extLst>
              <a:ext uri="{FF2B5EF4-FFF2-40B4-BE49-F238E27FC236}">
                <a16:creationId xmlns:a16="http://schemas.microsoft.com/office/drawing/2014/main" id="{6DA5556B-4E16-0013-23F8-D0A743FE7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9921" y="1947929"/>
            <a:ext cx="870353" cy="281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오철민</a:t>
            </a: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책임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37" name="AutoShape 213">
            <a:extLst>
              <a:ext uri="{FF2B5EF4-FFF2-40B4-BE49-F238E27FC236}">
                <a16:creationId xmlns:a16="http://schemas.microsoft.com/office/drawing/2014/main" id="{07CDF793-6CA6-A569-0099-3A75AC057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209" y="4607402"/>
            <a:ext cx="1688700" cy="1150564"/>
          </a:xfrm>
          <a:prstGeom prst="homePlate">
            <a:avLst>
              <a:gd name="adj" fmla="val 0"/>
            </a:avLst>
          </a:prstGeom>
          <a:noFill/>
          <a:ln w="9525" algn="ctr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91440" anchor="t" anchorCtr="0"/>
          <a:lstStyle>
            <a:lvl1pPr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중국 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- PN, NT, NV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인도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- IL Noida, Pune, Sri city*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 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아시아</a:t>
            </a: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- TH</a:t>
            </a: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14AB8A5C-4B9C-218E-885E-84AC7575ACC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791"/>
          <a:stretch/>
        </p:blipFill>
        <p:spPr>
          <a:xfrm>
            <a:off x="7331582" y="1919159"/>
            <a:ext cx="584191" cy="764168"/>
          </a:xfrm>
          <a:prstGeom prst="rect">
            <a:avLst/>
          </a:prstGeom>
        </p:spPr>
      </p:pic>
      <p:sp>
        <p:nvSpPr>
          <p:cNvPr id="39" name="TextBox 39">
            <a:extLst>
              <a:ext uri="{FF2B5EF4-FFF2-40B4-BE49-F238E27FC236}">
                <a16:creationId xmlns:a16="http://schemas.microsoft.com/office/drawing/2014/main" id="{529971FF-5B58-DB3A-8A2E-6DE5D8766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9198" y="5583795"/>
            <a:ext cx="15549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marL="142875" indent="-142875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7</a:t>
            </a:r>
            <a:r>
              <a:rPr kumimoji="1" lang="ko-KR" altLang="en-US" sz="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개</a:t>
            </a:r>
            <a:endParaRPr kumimoji="1" lang="en-US" altLang="ko-KR" sz="9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C2716B-4784-E56C-0089-5207FEE9B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3028" y="5583795"/>
            <a:ext cx="15549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marL="142875" indent="-142875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7</a:t>
            </a:r>
            <a:r>
              <a:rPr kumimoji="1" lang="ko-KR" altLang="en-US" sz="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개</a:t>
            </a:r>
            <a:endParaRPr kumimoji="1" lang="en-US" altLang="ko-KR" sz="9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554B356-00DA-09D9-5E16-320471DAC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7162" y="5583795"/>
            <a:ext cx="15549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marL="142875" indent="-142875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7</a:t>
            </a:r>
            <a:r>
              <a:rPr kumimoji="1" lang="ko-KR" altLang="en-US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개</a:t>
            </a:r>
            <a:endParaRPr kumimoji="1" lang="en-US" altLang="ko-KR" sz="9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18A4EA-E4A1-C136-1A52-49FC37EF9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8845" y="5583795"/>
            <a:ext cx="18114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marL="142875" indent="-142875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7</a:t>
            </a:r>
            <a:r>
              <a:rPr kumimoji="1" lang="ko-KR" altLang="en-US" sz="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개 </a:t>
            </a:r>
            <a:endParaRPr kumimoji="1" lang="en-US" altLang="ko-KR" sz="9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EDCF3E-3581-CFC7-199A-71DAE192F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1601" y="5899755"/>
            <a:ext cx="2643352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marL="142875" indent="-142875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*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신설법인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: Parana(5dnjf)Sri-city(10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월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) , **LG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마그나 해외생산법인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(3)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F4A88FE-81CD-C4D4-5FD0-35A360B28378}"/>
              </a:ext>
            </a:extLst>
          </p:cNvPr>
          <p:cNvSpPr txBox="1"/>
          <p:nvPr/>
        </p:nvSpPr>
        <p:spPr>
          <a:xfrm>
            <a:off x="740288" y="5275512"/>
            <a:ext cx="655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26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개 법인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&amp;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</a:b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신설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2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개 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n-cs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B191D02-8376-4521-693E-E88B01E8E3AB}"/>
              </a:ext>
            </a:extLst>
          </p:cNvPr>
          <p:cNvSpPr/>
          <p:nvPr/>
        </p:nvSpPr>
        <p:spPr>
          <a:xfrm>
            <a:off x="2753825" y="907314"/>
            <a:ext cx="4245481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“We, Global Labor Management Team, set and orchestrate corporate rules for subsidiary labor  management,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to build an optimal labor management system for each country aligned with our business strategy,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to expand the value of employee experience in stabilizing the labor relation,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and to minimize the labor risk by spreading positive experiences even to external stakeholders.”.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6" name="TextBox 39">
            <a:extLst>
              <a:ext uri="{FF2B5EF4-FFF2-40B4-BE49-F238E27FC236}">
                <a16:creationId xmlns:a16="http://schemas.microsoft.com/office/drawing/2014/main" id="{171AB280-1CD2-02FD-BD7E-72BE3326F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5488" y="2300285"/>
            <a:ext cx="58156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42875" indent="-142875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 해외 노경</a:t>
            </a:r>
            <a:endParaRPr kumimoji="1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-10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역량   개발 </a:t>
            </a:r>
            <a:endParaRPr kumimoji="1" lang="en-US" altLang="ko-KR" sz="1000" b="1" i="0" u="none" strike="noStrike" kern="1200" cap="none" spc="-10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n-cs"/>
            </a:endParaRPr>
          </a:p>
        </p:txBody>
      </p:sp>
      <p:sp>
        <p:nvSpPr>
          <p:cNvPr id="47" name="AutoShape 213">
            <a:extLst>
              <a:ext uri="{FF2B5EF4-FFF2-40B4-BE49-F238E27FC236}">
                <a16:creationId xmlns:a16="http://schemas.microsoft.com/office/drawing/2014/main" id="{961E1F5E-8206-E244-F866-FF7C88EB3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8043" y="2744175"/>
            <a:ext cx="1588575" cy="1565151"/>
          </a:xfrm>
          <a:prstGeom prst="homePlate">
            <a:avLst>
              <a:gd name="adj" fmla="val 0"/>
            </a:avLst>
          </a:prstGeom>
          <a:noFill/>
          <a:ln w="9525" algn="ctr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/>
          <a:lstStyle>
            <a:lvl1pPr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 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법인 </a:t>
            </a: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EA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역량 관리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-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노경 주체별 점검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개발</a:t>
            </a:r>
            <a:endParaRPr kumimoji="1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-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공통 로드맵 운영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컨설팅</a:t>
            </a:r>
            <a:endParaRPr kumimoji="1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 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노경 기본 교육</a:t>
            </a: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운영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-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주재 원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법인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HR OJT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교육</a:t>
            </a:r>
            <a:endParaRPr kumimoji="1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-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해외 노경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Mind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구축</a:t>
            </a:r>
            <a:endParaRPr kumimoji="1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 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협력체계 기획</a:t>
            </a: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운영</a:t>
            </a:r>
            <a:b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- EA Forum,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노경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Council </a:t>
            </a:r>
            <a:endParaRPr kumimoji="1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pic>
        <p:nvPicPr>
          <p:cNvPr id="48" name="Picture 1" descr="Profile Image">
            <a:extLst>
              <a:ext uri="{FF2B5EF4-FFF2-40B4-BE49-F238E27FC236}">
                <a16:creationId xmlns:a16="http://schemas.microsoft.com/office/drawing/2014/main" id="{277800B3-257D-C419-F194-6E5682AF2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3001" y="1919163"/>
            <a:ext cx="581569" cy="763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3" descr="Profile Image">
            <a:extLst>
              <a:ext uri="{FF2B5EF4-FFF2-40B4-BE49-F238E27FC236}">
                <a16:creationId xmlns:a16="http://schemas.microsoft.com/office/drawing/2014/main" id="{FBA5EF26-9E58-E112-F417-6B97AFB70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218" y="1916410"/>
            <a:ext cx="636456" cy="758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BEFC7807-971E-6621-943D-DF18F8556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769" y="4825276"/>
            <a:ext cx="410369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marL="142875" indent="-142875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1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LGMNP**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D5CEEBC-2ACA-83A3-5690-B177D7EA85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8626" y="4992455"/>
            <a:ext cx="419987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marL="142875" indent="-142875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1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LGMPM**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1121DD-980D-637D-29FC-9CDF006C5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3375" y="5382001"/>
            <a:ext cx="410369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marL="142875" indent="-142875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1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LGMHP**</a:t>
            </a:r>
          </a:p>
        </p:txBody>
      </p:sp>
      <p:sp>
        <p:nvSpPr>
          <p:cNvPr id="53" name="AutoShape 182">
            <a:extLst>
              <a:ext uri="{FF2B5EF4-FFF2-40B4-BE49-F238E27FC236}">
                <a16:creationId xmlns:a16="http://schemas.microsoft.com/office/drawing/2014/main" id="{777171A5-C14E-49D4-85D2-707A128BE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72" y="4345170"/>
            <a:ext cx="684803" cy="211203"/>
          </a:xfrm>
          <a:prstGeom prst="homePlate">
            <a:avLst>
              <a:gd name="adj" fmla="val 0"/>
            </a:avLst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tIns="36000" bIns="36000" anchor="t" anchorCtr="0"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공통 업무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</a:p>
        </p:txBody>
      </p:sp>
      <p:sp>
        <p:nvSpPr>
          <p:cNvPr id="54" name="AutoShape 201">
            <a:extLst>
              <a:ext uri="{FF2B5EF4-FFF2-40B4-BE49-F238E27FC236}">
                <a16:creationId xmlns:a16="http://schemas.microsoft.com/office/drawing/2014/main" id="{06759883-856E-DFF9-CD8F-15A534678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669" y="4345170"/>
            <a:ext cx="1462260" cy="211203"/>
          </a:xfrm>
          <a:prstGeom prst="homePlate">
            <a:avLst>
              <a:gd name="adj" fmla="val 0"/>
            </a:avLst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tIns="36000" bIns="36000" anchor="t" anchorCtr="0"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 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주간업무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, 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팀기획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하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), 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예산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55" name="AutoShape 209">
            <a:extLst>
              <a:ext uri="{FF2B5EF4-FFF2-40B4-BE49-F238E27FC236}">
                <a16:creationId xmlns:a16="http://schemas.microsoft.com/office/drawing/2014/main" id="{BAAA64A1-B3A4-6486-4A4C-452DC7AC5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0418" y="4345170"/>
            <a:ext cx="926857" cy="211203"/>
          </a:xfrm>
          <a:prstGeom prst="homePlate">
            <a:avLst>
              <a:gd name="adj" fmla="val 0"/>
            </a:avLst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tIns="36000" bIns="36000" anchor="t" anchorCtr="0"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 SM, 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원단위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, DX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56" name="AutoShape 213">
            <a:extLst>
              <a:ext uri="{FF2B5EF4-FFF2-40B4-BE49-F238E27FC236}">
                <a16:creationId xmlns:a16="http://schemas.microsoft.com/office/drawing/2014/main" id="{092B023A-37E3-A025-C16C-4B46B8771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086" y="4339976"/>
            <a:ext cx="449162" cy="211203"/>
          </a:xfrm>
          <a:prstGeom prst="homePlate">
            <a:avLst>
              <a:gd name="adj" fmla="val 0"/>
            </a:avLst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tIns="36000" bIns="36000" anchor="t" anchorCtr="0"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 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징계</a:t>
            </a:r>
            <a:endParaRPr kumimoji="1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57" name="AutoShape 213">
            <a:extLst>
              <a:ext uri="{FF2B5EF4-FFF2-40B4-BE49-F238E27FC236}">
                <a16:creationId xmlns:a16="http://schemas.microsoft.com/office/drawing/2014/main" id="{BA01B2D1-F004-1DD3-278F-EE6B9676C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5450" y="4336951"/>
            <a:ext cx="1420582" cy="245571"/>
          </a:xfrm>
          <a:prstGeom prst="homePlate">
            <a:avLst>
              <a:gd name="adj" fmla="val 0"/>
            </a:avLst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tIns="36000" bIns="36000" anchor="t" anchorCtr="0"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• 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팀기획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상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), GHR, CA, 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보안</a:t>
            </a:r>
            <a:endParaRPr kumimoji="1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58" name="Text Box 41">
            <a:extLst>
              <a:ext uri="{FF2B5EF4-FFF2-40B4-BE49-F238E27FC236}">
                <a16:creationId xmlns:a16="http://schemas.microsoft.com/office/drawing/2014/main" id="{B4803F49-C7A7-8B9B-A094-B7AA96D0A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17" y="94406"/>
            <a:ext cx="4447375" cy="327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Times New Roman" panose="02020603050405020304" pitchFamily="18" charset="0"/>
              </a:rPr>
              <a:t>※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Times New Roman" panose="02020603050405020304" pitchFamily="18" charset="0"/>
              </a:rPr>
              <a:t>유첨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Times New Roman" panose="02020603050405020304" pitchFamily="18" charset="0"/>
              </a:rPr>
              <a:t>. LG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Times New Roman" panose="02020603050405020304" pitchFamily="18" charset="0"/>
              </a:rPr>
              <a:t>전자 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Times New Roman" panose="02020603050405020304" pitchFamily="18" charset="0"/>
              </a:rPr>
              <a:t>’26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Times New Roman" panose="02020603050405020304" pitchFamily="18" charset="0"/>
              </a:rPr>
              <a:t>년 글로벌노경팀 조직도</a:t>
            </a:r>
            <a:endParaRPr kumimoji="1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9376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F9B529-921A-EC05-EF69-2B94EDBEEC92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실행 단추: 홈 45">
            <a:hlinkClick r:id="rId2" action="ppaction://hlinksldjump"/>
            <a:extLst>
              <a:ext uri="{FF2B5EF4-FFF2-40B4-BE49-F238E27FC236}">
                <a16:creationId xmlns:a16="http://schemas.microsoft.com/office/drawing/2014/main" id="{0BF29156-DCF6-7E86-33AF-245C5DBA8A1C}"/>
              </a:ext>
            </a:extLst>
          </p:cNvPr>
          <p:cNvSpPr/>
          <p:nvPr/>
        </p:nvSpPr>
        <p:spPr>
          <a:xfrm>
            <a:off x="9237062" y="107566"/>
            <a:ext cx="360000" cy="360000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9" name="그래픽 10">
            <a:extLst>
              <a:ext uri="{FF2B5EF4-FFF2-40B4-BE49-F238E27FC236}">
                <a16:creationId xmlns:a16="http://schemas.microsoft.com/office/drawing/2014/main" id="{5DCB58DB-6ED3-80E2-41AD-2290571262F6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60000">
            <a:off x="2016535" y="3163754"/>
            <a:ext cx="2449450" cy="266674"/>
          </a:xfrm>
          <a:prstGeom prst="rect">
            <a:avLst/>
          </a:prstGeom>
        </p:spPr>
      </p:pic>
      <p:pic>
        <p:nvPicPr>
          <p:cNvPr id="15" name="그래픽 10">
            <a:extLst>
              <a:ext uri="{FF2B5EF4-FFF2-40B4-BE49-F238E27FC236}">
                <a16:creationId xmlns:a16="http://schemas.microsoft.com/office/drawing/2014/main" id="{D60E583F-A983-3B61-DEFF-838C0124C703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60000">
            <a:off x="1896070" y="2409268"/>
            <a:ext cx="1593892" cy="266674"/>
          </a:xfrm>
          <a:prstGeom prst="rect">
            <a:avLst/>
          </a:prstGeom>
        </p:spPr>
      </p:pic>
      <p:pic>
        <p:nvPicPr>
          <p:cNvPr id="17" name="그래픽 10">
            <a:extLst>
              <a:ext uri="{FF2B5EF4-FFF2-40B4-BE49-F238E27FC236}">
                <a16:creationId xmlns:a16="http://schemas.microsoft.com/office/drawing/2014/main" id="{3B02B029-2ACB-603A-D85E-C6CAA1050B5B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60000">
            <a:off x="2249318" y="1612640"/>
            <a:ext cx="2139628" cy="266674"/>
          </a:xfrm>
          <a:prstGeom prst="rect">
            <a:avLst/>
          </a:prstGeom>
        </p:spPr>
      </p:pic>
      <p:sp>
        <p:nvSpPr>
          <p:cNvPr id="18" name="화살표: 왼쪽/오른쪽 17">
            <a:extLst>
              <a:ext uri="{FF2B5EF4-FFF2-40B4-BE49-F238E27FC236}">
                <a16:creationId xmlns:a16="http://schemas.microsoft.com/office/drawing/2014/main" id="{0CFF9543-F952-0A5B-433D-E51BE666E002}"/>
              </a:ext>
            </a:extLst>
          </p:cNvPr>
          <p:cNvSpPr/>
          <p:nvPr/>
        </p:nvSpPr>
        <p:spPr>
          <a:xfrm>
            <a:off x="4389120" y="2570424"/>
            <a:ext cx="1206589" cy="431566"/>
          </a:xfrm>
          <a:prstGeom prst="leftRightArrow">
            <a:avLst/>
          </a:prstGeom>
          <a:gradFill flip="none" rotWithShape="1">
            <a:gsLst>
              <a:gs pos="0">
                <a:srgbClr val="C0C0C0">
                  <a:alpha val="99000"/>
                </a:srgbClr>
              </a:gs>
              <a:gs pos="100000">
                <a:srgbClr val="FFFF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0E085E-698E-E64A-3B04-D490586E1292}"/>
              </a:ext>
            </a:extLst>
          </p:cNvPr>
          <p:cNvSpPr txBox="1"/>
          <p:nvPr/>
        </p:nvSpPr>
        <p:spPr>
          <a:xfrm>
            <a:off x="7074377" y="1126012"/>
            <a:ext cx="80663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실행 방식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9CD9B5F2-F25B-3231-4A2D-8BBAE8E130A8}"/>
              </a:ext>
            </a:extLst>
          </p:cNvPr>
          <p:cNvCxnSpPr/>
          <p:nvPr/>
        </p:nvCxnSpPr>
        <p:spPr>
          <a:xfrm>
            <a:off x="5767689" y="1449665"/>
            <a:ext cx="342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89A7238-6004-419A-DBD3-92132C4CF67B}"/>
              </a:ext>
            </a:extLst>
          </p:cNvPr>
          <p:cNvSpPr txBox="1"/>
          <p:nvPr/>
        </p:nvSpPr>
        <p:spPr>
          <a:xfrm>
            <a:off x="2591756" y="1126012"/>
            <a:ext cx="95250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업무 방향성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8C0B4E5-1AD2-C7D6-5838-76FE56C6BADB}"/>
              </a:ext>
            </a:extLst>
          </p:cNvPr>
          <p:cNvCxnSpPr/>
          <p:nvPr/>
        </p:nvCxnSpPr>
        <p:spPr>
          <a:xfrm>
            <a:off x="1486107" y="1449665"/>
            <a:ext cx="3168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FCF5757-855F-C046-48FF-569DCC435208}"/>
              </a:ext>
            </a:extLst>
          </p:cNvPr>
          <p:cNvSpPr txBox="1"/>
          <p:nvPr/>
        </p:nvSpPr>
        <p:spPr>
          <a:xfrm>
            <a:off x="530228" y="560901"/>
            <a:ext cx="9149009" cy="548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생산지 전략과 노동환경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/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노경관계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/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이해관계자 변화에 적기 대응하며 해외생산법인 노경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Risk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를 최소화하고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글로벌노경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 협업 체계 기반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Operation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실행력 및 상시 노경관리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Fundamental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강화를 통해 사업 성과에 기여함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.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n-cs"/>
            </a:endParaRPr>
          </a:p>
        </p:txBody>
      </p:sp>
      <p:pic>
        <p:nvPicPr>
          <p:cNvPr id="25" name="그래픽 10">
            <a:extLst>
              <a:ext uri="{FF2B5EF4-FFF2-40B4-BE49-F238E27FC236}">
                <a16:creationId xmlns:a16="http://schemas.microsoft.com/office/drawing/2014/main" id="{AF8AD71E-5EFC-4E18-C63D-CD2C6F2D3C8C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60000">
            <a:off x="6412110" y="1504516"/>
            <a:ext cx="1548000" cy="266674"/>
          </a:xfrm>
          <a:prstGeom prst="rect">
            <a:avLst/>
          </a:prstGeom>
        </p:spPr>
      </p:pic>
      <p:pic>
        <p:nvPicPr>
          <p:cNvPr id="26" name="그래픽 10">
            <a:extLst>
              <a:ext uri="{FF2B5EF4-FFF2-40B4-BE49-F238E27FC236}">
                <a16:creationId xmlns:a16="http://schemas.microsoft.com/office/drawing/2014/main" id="{72E01354-42EB-12D0-18AF-772D78CA4245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60000">
            <a:off x="6398810" y="2183491"/>
            <a:ext cx="1620000" cy="266674"/>
          </a:xfrm>
          <a:prstGeom prst="rect">
            <a:avLst/>
          </a:prstGeom>
        </p:spPr>
      </p:pic>
      <p:pic>
        <p:nvPicPr>
          <p:cNvPr id="27" name="그래픽 10">
            <a:extLst>
              <a:ext uri="{FF2B5EF4-FFF2-40B4-BE49-F238E27FC236}">
                <a16:creationId xmlns:a16="http://schemas.microsoft.com/office/drawing/2014/main" id="{26233455-9A89-7329-92F9-AA0911C8121D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60000">
            <a:off x="6405069" y="2857320"/>
            <a:ext cx="1620000" cy="266674"/>
          </a:xfrm>
          <a:prstGeom prst="rect">
            <a:avLst/>
          </a:prstGeom>
        </p:spPr>
      </p:pic>
      <p:pic>
        <p:nvPicPr>
          <p:cNvPr id="28" name="그래픽 27">
            <a:extLst>
              <a:ext uri="{FF2B5EF4-FFF2-40B4-BE49-F238E27FC236}">
                <a16:creationId xmlns:a16="http://schemas.microsoft.com/office/drawing/2014/main" id="{A04F3BA9-BC57-92E2-3154-2C2C565B6231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60000">
            <a:off x="6405057" y="3536362"/>
            <a:ext cx="1260000" cy="266674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A416F760-E961-9718-F002-4FBD2A9D0B0B}"/>
              </a:ext>
            </a:extLst>
          </p:cNvPr>
          <p:cNvSpPr/>
          <p:nvPr/>
        </p:nvSpPr>
        <p:spPr>
          <a:xfrm>
            <a:off x="1310711" y="1609603"/>
            <a:ext cx="3640302" cy="2411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▪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적기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유연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]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법인 생산지 전략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/ Risk Management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  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생산지 재편에 따른 노경 이슈 최소화  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  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노경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Risk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에 대한 체계적 관리를 통한 법인 안정화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  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▪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선행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]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글로벌 노동 환경 변화 대응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  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국가별 노동 정책 변경 모니터링 및 선제적 대응 강화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  - Compliance Risk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요소 발굴 및 제거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▪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[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맞춤형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]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성과기여의 노경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Fundamental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활동 강화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  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성과기여 관점의 노경 관리 체계 구축 및 진단 체계 고도화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  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노경관리 주체별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/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법인별 맞춤형 필요역량 지원 강화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  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주요법인 중심의 해외 노경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database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구축 및 관리 체계화</a:t>
            </a:r>
          </a:p>
        </p:txBody>
      </p:sp>
      <p:sp>
        <p:nvSpPr>
          <p:cNvPr id="30" name="모서리가 둥근 직사각형 21">
            <a:extLst>
              <a:ext uri="{FF2B5EF4-FFF2-40B4-BE49-F238E27FC236}">
                <a16:creationId xmlns:a16="http://schemas.microsoft.com/office/drawing/2014/main" id="{E7133362-0652-23D5-3E54-457DCA5DA536}"/>
              </a:ext>
            </a:extLst>
          </p:cNvPr>
          <p:cNvSpPr/>
          <p:nvPr/>
        </p:nvSpPr>
        <p:spPr>
          <a:xfrm>
            <a:off x="636937" y="1658522"/>
            <a:ext cx="589822" cy="227524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중점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추진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1" name="Text Box 13">
            <a:extLst>
              <a:ext uri="{FF2B5EF4-FFF2-40B4-BE49-F238E27FC236}">
                <a16:creationId xmlns:a16="http://schemas.microsoft.com/office/drawing/2014/main" id="{53709B3F-AE4F-05E5-74FB-0148232ED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4273" y="1512934"/>
            <a:ext cx="4083858" cy="278922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200" b="1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▪ 완결형 노경체계 운영 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신설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(POPS)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운영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(SM)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청산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(3C)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노경관리 전사 로드맵 전개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선제적 노경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Risk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점검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및 시나리오 대응 체계 수립</a:t>
            </a:r>
            <a:b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▪ 해외 노경 협력 관계 컨설팅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단체협약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취업규칙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현황 분석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단계적 실시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 관계 컨설팅 및 이슈 대응 지원</a:t>
            </a: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▪ 해외 노경 역량 구축 및 개발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 주체별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경영진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EA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팀 등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역량 로드맵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운영 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 기본 교육 운영 및 전사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지역 협업 체계 운영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▪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이해관계자 노경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Risk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관리 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외부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Audit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(RBA,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노동부 등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사내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외 제보 등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Risk Control Tower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비정규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협력사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법기준 모니터링 및 선행 관리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Tool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개발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운영</a:t>
            </a:r>
          </a:p>
        </p:txBody>
      </p:sp>
      <p:sp>
        <p:nvSpPr>
          <p:cNvPr id="32" name="모서리가 둥근 직사각형 21">
            <a:extLst>
              <a:ext uri="{FF2B5EF4-FFF2-40B4-BE49-F238E27FC236}">
                <a16:creationId xmlns:a16="http://schemas.microsoft.com/office/drawing/2014/main" id="{F87D3A0A-A47A-0C42-3D9B-BF98134771A8}"/>
              </a:ext>
            </a:extLst>
          </p:cNvPr>
          <p:cNvSpPr/>
          <p:nvPr/>
        </p:nvSpPr>
        <p:spPr>
          <a:xfrm>
            <a:off x="5564684" y="1658522"/>
            <a:ext cx="589822" cy="227524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주요</a:t>
            </a:r>
            <a:b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영역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33" name="그래픽 10">
            <a:extLst>
              <a:ext uri="{FF2B5EF4-FFF2-40B4-BE49-F238E27FC236}">
                <a16:creationId xmlns:a16="http://schemas.microsoft.com/office/drawing/2014/main" id="{06E56C9C-2995-5EFC-50C1-1AA9BF8652B7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60000">
            <a:off x="5753831" y="6008342"/>
            <a:ext cx="1980000" cy="266674"/>
          </a:xfrm>
          <a:prstGeom prst="rect">
            <a:avLst/>
          </a:prstGeom>
        </p:spPr>
      </p:pic>
      <p:pic>
        <p:nvPicPr>
          <p:cNvPr id="34" name="그래픽 10">
            <a:extLst>
              <a:ext uri="{FF2B5EF4-FFF2-40B4-BE49-F238E27FC236}">
                <a16:creationId xmlns:a16="http://schemas.microsoft.com/office/drawing/2014/main" id="{833D6099-FCD8-C4FB-0B28-175A5F8D4FB6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60000">
            <a:off x="5760016" y="5342138"/>
            <a:ext cx="1512000" cy="266674"/>
          </a:xfrm>
          <a:prstGeom prst="rect">
            <a:avLst/>
          </a:prstGeom>
        </p:spPr>
      </p:pic>
      <p:pic>
        <p:nvPicPr>
          <p:cNvPr id="35" name="그래픽 10">
            <a:extLst>
              <a:ext uri="{FF2B5EF4-FFF2-40B4-BE49-F238E27FC236}">
                <a16:creationId xmlns:a16="http://schemas.microsoft.com/office/drawing/2014/main" id="{1D0C4245-6880-CE6A-3AB1-38B30527156C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60000">
            <a:off x="5760842" y="4473146"/>
            <a:ext cx="1656000" cy="288000"/>
          </a:xfrm>
          <a:prstGeom prst="rect">
            <a:avLst/>
          </a:prstGeom>
        </p:spPr>
      </p:pic>
      <p:sp>
        <p:nvSpPr>
          <p:cNvPr id="36" name="AutoShape 37">
            <a:extLst>
              <a:ext uri="{FF2B5EF4-FFF2-40B4-BE49-F238E27FC236}">
                <a16:creationId xmlns:a16="http://schemas.microsoft.com/office/drawing/2014/main" id="{25D2267F-6141-50FD-B2B5-EDAF06ED716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222920" y="5429433"/>
            <a:ext cx="1620000" cy="180000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C0C0C0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vert="eaVert" wrap="none" lIns="119693" tIns="59844" rIns="119693" bIns="59844" anchor="ctr"/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itchFamily="2" charset="2"/>
            </a:endParaRPr>
          </a:p>
        </p:txBody>
      </p:sp>
      <p:sp>
        <p:nvSpPr>
          <p:cNvPr id="37" name="모서리가 둥근 직사각형 17">
            <a:extLst>
              <a:ext uri="{FF2B5EF4-FFF2-40B4-BE49-F238E27FC236}">
                <a16:creationId xmlns:a16="http://schemas.microsoft.com/office/drawing/2014/main" id="{7964BABD-0F71-87AA-5330-5D9A40F43FE1}"/>
              </a:ext>
            </a:extLst>
          </p:cNvPr>
          <p:cNvSpPr/>
          <p:nvPr/>
        </p:nvSpPr>
        <p:spPr>
          <a:xfrm>
            <a:off x="628845" y="4567930"/>
            <a:ext cx="589822" cy="207742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" rIns="468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조직 </a:t>
            </a:r>
            <a:endParaRPr kumimoji="0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운영</a:t>
            </a:r>
            <a:endParaRPr kumimoji="0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8D53C1-6FF6-3FD3-BD8A-D1CEDB4D877F}"/>
              </a:ext>
            </a:extLst>
          </p:cNvPr>
          <p:cNvSpPr txBox="1"/>
          <p:nvPr/>
        </p:nvSpPr>
        <p:spPr>
          <a:xfrm>
            <a:off x="628845" y="4247904"/>
            <a:ext cx="1098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기존 운영방식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05FFAD6-AA05-239E-8590-B26EB55A1B95}"/>
              </a:ext>
            </a:extLst>
          </p:cNvPr>
          <p:cNvSpPr/>
          <p:nvPr/>
        </p:nvSpPr>
        <p:spPr>
          <a:xfrm>
            <a:off x="1302618" y="4509990"/>
            <a:ext cx="3600400" cy="2225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▪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‘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지역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국가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담당제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운영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개인별 담당 국가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법인의 모든 노경 이슈 대응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주요 본사 기능은 공통 업무로 전원 분담 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▪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‘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당면 이슈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문제 해결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위주의 업무 진행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사업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생산지 전략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본부 계획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연계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수시 대응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-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후행적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해결 측면의 업무 비중 ↑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▪ 본사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본부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법인간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‘R&amp;R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부재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중첩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불명확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상황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이슈별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협의하여 단독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공동 대응 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본부간 해외노경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R&amp;R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및 역량 상이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0" name="Text Box 13">
            <a:extLst>
              <a:ext uri="{FF2B5EF4-FFF2-40B4-BE49-F238E27FC236}">
                <a16:creationId xmlns:a16="http://schemas.microsoft.com/office/drawing/2014/main" id="{1606F667-EA20-0F86-3ECC-18E5BB8B5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5021" y="4509990"/>
            <a:ext cx="4293408" cy="22082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200" b="1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▪ 본사 고유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‘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직무 전문가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체계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기존 정례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수시 지원 업무 분석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&gt;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핵심 직무 중심으로 재편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: Rule Setting / Orchestration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측면의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HQ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전문 영역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전사 전개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 :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해외 노경 전문가로서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(Center of Excellence)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본부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지원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컨설팅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▪ 노경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Risk ‘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선행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점검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대응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Risk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사전 감지 체계 구축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미래 발생 가능한 사업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Loss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최소화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Compliance Risk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발굴 등 선제적인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ESG /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이해관계자 가치 제고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▪ 전사 해외 노경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‘R&amp;R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정립 및 협업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’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본사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본부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및 생산법인 주재원 노경관리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R&amp;R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정립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체계적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점진적 본부 해외 노경 역량 셋업 및 상향 평준화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6FD14DE-635E-188A-6702-55BDA4105C35}"/>
              </a:ext>
            </a:extLst>
          </p:cNvPr>
          <p:cNvSpPr/>
          <p:nvPr/>
        </p:nvSpPr>
        <p:spPr>
          <a:xfrm>
            <a:off x="7247598" y="5406829"/>
            <a:ext cx="137730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선제 이슈 발굴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/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컨설턴트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n-cs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A837032-8FD7-7AB3-D0B1-354E37BFFE94}"/>
              </a:ext>
            </a:extLst>
          </p:cNvPr>
          <p:cNvSpPr/>
          <p:nvPr/>
        </p:nvSpPr>
        <p:spPr>
          <a:xfrm>
            <a:off x="3737495" y="5323437"/>
            <a:ext cx="95410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사후 문제 해결사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27C2D6C-9345-EABF-4A8D-D2AC386EBBAF}"/>
              </a:ext>
            </a:extLst>
          </p:cNvPr>
          <p:cNvSpPr txBox="1"/>
          <p:nvPr/>
        </p:nvSpPr>
        <p:spPr>
          <a:xfrm>
            <a:off x="5713643" y="4247904"/>
            <a:ext cx="12891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변화된 운영방식</a:t>
            </a:r>
            <a:endParaRPr kumimoji="0" lang="en-US" altLang="ko-KR" sz="1300" b="1" i="0" u="sng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5B88E519-1880-9AEF-8B32-46D8A7A0B674}"/>
              </a:ext>
            </a:extLst>
          </p:cNvPr>
          <p:cNvCxnSpPr>
            <a:cxnSpLocks/>
          </p:cNvCxnSpPr>
          <p:nvPr/>
        </p:nvCxnSpPr>
        <p:spPr bwMode="auto">
          <a:xfrm>
            <a:off x="590844" y="4203545"/>
            <a:ext cx="8991306" cy="0"/>
          </a:xfrm>
          <a:prstGeom prst="straightConnector1">
            <a:avLst/>
          </a:prstGeom>
          <a:noFill/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3519110-A0A3-22D7-D72B-87704D1E4CE7}"/>
              </a:ext>
            </a:extLst>
          </p:cNvPr>
          <p:cNvSpPr txBox="1"/>
          <p:nvPr/>
        </p:nvSpPr>
        <p:spPr>
          <a:xfrm>
            <a:off x="4595989" y="2549667"/>
            <a:ext cx="80663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상호 작용</a:t>
            </a:r>
          </a:p>
        </p:txBody>
      </p:sp>
    </p:spTree>
    <p:extLst>
      <p:ext uri="{BB962C8B-B14F-4D97-AF65-F5344CB8AC3E}">
        <p14:creationId xmlns:p14="http://schemas.microsoft.com/office/powerpoint/2010/main" val="33515109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실행 단추: 홈 45">
            <a:hlinkClick r:id="rId2" action="ppaction://hlinksldjump"/>
            <a:extLst>
              <a:ext uri="{FF2B5EF4-FFF2-40B4-BE49-F238E27FC236}">
                <a16:creationId xmlns:a16="http://schemas.microsoft.com/office/drawing/2014/main" id="{A4870B19-F402-F54E-2BBB-F6472FEF6E4D}"/>
              </a:ext>
            </a:extLst>
          </p:cNvPr>
          <p:cNvSpPr/>
          <p:nvPr/>
        </p:nvSpPr>
        <p:spPr>
          <a:xfrm>
            <a:off x="9237062" y="107566"/>
            <a:ext cx="360000" cy="360000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40E2B5-05B7-EC1F-17EF-573A1E720A90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HAY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Task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계획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안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A4A251F-1DC2-EBF4-1DB0-A7E28AE66085}"/>
              </a:ext>
            </a:extLst>
          </p:cNvPr>
          <p:cNvSpPr/>
          <p:nvPr/>
        </p:nvSpPr>
        <p:spPr bwMode="auto">
          <a:xfrm>
            <a:off x="324246" y="993529"/>
            <a:ext cx="972000" cy="630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" tIns="3600" rIns="3600" bIns="36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57263" fontAlgn="base">
              <a:spcBef>
                <a:spcPts val="100"/>
              </a:spcBef>
              <a:spcAft>
                <a:spcPct val="0"/>
              </a:spcAft>
              <a:buSzPct val="120000"/>
              <a:defRPr/>
            </a:pPr>
            <a:r>
              <a:rPr kumimoji="1" lang="ko-KR" altLang="en-US" sz="1200" b="1" kern="0" dirty="0">
                <a:solidFill>
                  <a:prstClr val="black"/>
                </a:solidFill>
                <a:latin typeface="Arial Narrow"/>
                <a:ea typeface="LG스마트체 Regular"/>
                <a:cs typeface="Arial" panose="020B0604020202020204" pitchFamily="34" charset="0"/>
              </a:rPr>
              <a:t>검토 배경</a:t>
            </a:r>
            <a:endParaRPr kumimoji="1" lang="en-US" altLang="ko-KR" sz="1200" b="1" kern="0" dirty="0">
              <a:solidFill>
                <a:prstClr val="black"/>
              </a:solidFill>
              <a:latin typeface="Arial Narrow"/>
              <a:ea typeface="LG스마트체 Regular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C28A94-8E22-670C-B759-0B6856E1870C}"/>
              </a:ext>
            </a:extLst>
          </p:cNvPr>
          <p:cNvSpPr txBox="1"/>
          <p:nvPr/>
        </p:nvSpPr>
        <p:spPr>
          <a:xfrm>
            <a:off x="1290732" y="931900"/>
            <a:ext cx="8615268" cy="1103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fontAlgn="ctr">
              <a:lnSpc>
                <a:spcPct val="120000"/>
              </a:lnSpc>
              <a:spcBef>
                <a:spcPts val="400"/>
              </a:spcBef>
              <a:buFont typeface="Wingdings" panose="05000000000000000000" pitchFamily="2" charset="2"/>
              <a:buChar char="q"/>
              <a:defRPr/>
            </a:pPr>
            <a:r>
              <a:rPr lang="ko-KR" altLang="en-US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주 </a:t>
            </a:r>
            <a:r>
              <a:rPr lang="en-US" altLang="ko-KR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52</a:t>
            </a:r>
            <a:r>
              <a:rPr lang="ko-KR" altLang="en-US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시간 제도 정착 이후 근로시간 관리의 초점이 총량 관리로 되어 있으나 향후 주 </a:t>
            </a:r>
            <a:r>
              <a:rPr lang="en-US" altLang="ko-KR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4.5</a:t>
            </a:r>
            <a:r>
              <a:rPr lang="ko-KR" altLang="en-US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일제 등 근무일 단축 및 성과 중심의</a:t>
            </a:r>
            <a:br>
              <a:rPr lang="en-US" altLang="ko-KR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ko-KR" altLang="en-US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조직문화를 강화하기 위해서는 근로시간 질적 관리가 요구됩니다</a:t>
            </a:r>
            <a:r>
              <a:rPr lang="en-US" altLang="ko-KR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</a:p>
          <a:p>
            <a:pPr marL="85725" fontAlgn="ctr">
              <a:lnSpc>
                <a:spcPct val="120000"/>
              </a:lnSpc>
              <a:spcBef>
                <a:spcPts val="40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현행 </a:t>
            </a:r>
            <a:r>
              <a:rPr lang="en-US" altLang="ko-KR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HR </a:t>
            </a:r>
            <a:r>
              <a:rPr lang="ko-KR" altLang="en-US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시스템은</a:t>
            </a:r>
            <a:r>
              <a:rPr lang="en-US" altLang="ko-KR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근로시간 입력</a:t>
            </a:r>
            <a:r>
              <a:rPr lang="en-US" altLang="ko-KR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집계</a:t>
            </a:r>
            <a:r>
              <a:rPr lang="en-US" altLang="ko-KR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연차 조회</a:t>
            </a:r>
            <a:r>
              <a:rPr lang="en-US" altLang="ko-KR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기념일 정보 등록</a:t>
            </a:r>
            <a:r>
              <a:rPr lang="en-US" altLang="ko-KR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근속 정보 관리 등의 기능 중심의 구조로 되어있어</a:t>
            </a:r>
            <a:r>
              <a:rPr lang="en-US" altLang="ko-KR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br>
              <a:rPr lang="en-US" altLang="ko-KR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ko-KR" altLang="en-US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구성원 경험 기반 구성원들의 행동을 유도하고 데이터 기반 정서 케어가 필요 합니다</a:t>
            </a:r>
            <a:r>
              <a:rPr lang="en-US" altLang="ko-KR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en-US" altLang="ko-KR" sz="1300" b="1" spc="-3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F0C916E-54F4-E971-1EB4-7BCC4E0A9374}"/>
              </a:ext>
            </a:extLst>
          </p:cNvPr>
          <p:cNvSpPr/>
          <p:nvPr/>
        </p:nvSpPr>
        <p:spPr bwMode="auto">
          <a:xfrm>
            <a:off x="324246" y="2177344"/>
            <a:ext cx="972000" cy="630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" tIns="3600" rIns="3600" bIns="36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57263" fontAlgn="base">
              <a:spcBef>
                <a:spcPts val="100"/>
              </a:spcBef>
              <a:spcAft>
                <a:spcPct val="0"/>
              </a:spcAft>
              <a:buSzPct val="120000"/>
              <a:defRPr/>
            </a:pPr>
            <a:r>
              <a:rPr kumimoji="1" lang="ko-KR" altLang="en-US" sz="1200" b="1" kern="0" dirty="0">
                <a:solidFill>
                  <a:prstClr val="black"/>
                </a:solidFill>
                <a:latin typeface="Arial Narrow"/>
                <a:ea typeface="LG스마트체 Regular"/>
                <a:cs typeface="Arial" panose="020B0604020202020204" pitchFamily="34" charset="0"/>
              </a:rPr>
              <a:t>기본 방향</a:t>
            </a:r>
            <a:endParaRPr kumimoji="1" lang="en-US" altLang="ko-KR" sz="1200" b="1" kern="0" dirty="0">
              <a:solidFill>
                <a:prstClr val="black"/>
              </a:solidFill>
              <a:latin typeface="Arial Narrow"/>
              <a:ea typeface="LG스마트체 Regular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638262-BCD8-0725-C451-F2B7F90FADAB}"/>
              </a:ext>
            </a:extLst>
          </p:cNvPr>
          <p:cNvSpPr txBox="1"/>
          <p:nvPr/>
        </p:nvSpPr>
        <p:spPr>
          <a:xfrm>
            <a:off x="1290732" y="2115715"/>
            <a:ext cx="8615268" cy="1103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fontAlgn="ctr">
              <a:lnSpc>
                <a:spcPct val="120000"/>
              </a:lnSpc>
              <a:spcBef>
                <a:spcPts val="400"/>
              </a:spcBef>
              <a:buFont typeface="Wingdings" panose="05000000000000000000" pitchFamily="2" charset="2"/>
              <a:buChar char="q"/>
              <a:defRPr/>
            </a:pPr>
            <a:r>
              <a:rPr lang="ko-KR" altLang="en-US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300" b="1" spc="-5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엔포털</a:t>
            </a:r>
            <a:r>
              <a:rPr lang="ko-KR" altLang="en-US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및 </a:t>
            </a:r>
            <a:r>
              <a:rPr lang="en-US" altLang="ko-KR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Teams</a:t>
            </a:r>
            <a:r>
              <a:rPr lang="ko-KR" altLang="en-US" sz="13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에서 </a:t>
            </a:r>
            <a:r>
              <a:rPr lang="ko-KR" altLang="en-US" sz="1300" b="1" spc="-3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구성원들이 최접점에서 쉽게 개인이 기본적으로 확인하고 관리가 필요한 정보를 쉽게 접할 수 있게</a:t>
            </a:r>
            <a:br>
              <a:rPr lang="en-US" altLang="ko-KR" sz="1300" b="1" spc="-3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300" b="1" spc="-3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ko-KR" altLang="en-US" sz="1300" b="1" spc="-3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넛지기술을</a:t>
            </a:r>
            <a:r>
              <a:rPr lang="ko-KR" altLang="en-US" sz="1300" b="1" spc="-3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접목하여 </a:t>
            </a:r>
            <a:r>
              <a:rPr lang="en-US" altLang="ko-KR" sz="1300" b="1" spc="-3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HR</a:t>
            </a:r>
            <a:r>
              <a:rPr lang="ko-KR" altLang="en-US" sz="1300" b="1" spc="-3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300" b="1" spc="-3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Data </a:t>
            </a:r>
            <a:r>
              <a:rPr lang="ko-KR" altLang="en-US" sz="1300" b="1" spc="-3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기반의 「나만의 비서 </a:t>
            </a:r>
            <a:r>
              <a:rPr lang="en-US" altLang="ko-KR" sz="1300" b="1" spc="-3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HAY</a:t>
            </a:r>
            <a:r>
              <a:rPr lang="ko-KR" altLang="en-US" sz="1300" b="1" spc="-3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」</a:t>
            </a:r>
            <a:r>
              <a:rPr lang="en-US" altLang="ko-KR" sz="1300" b="1" spc="-3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300" b="1" spc="-3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운영 하겠습니다</a:t>
            </a:r>
            <a:r>
              <a:rPr lang="en-US" altLang="ko-KR" sz="1300" b="1" spc="-3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 marL="85725" fontAlgn="ctr">
              <a:lnSpc>
                <a:spcPct val="120000"/>
              </a:lnSpc>
              <a:spcBef>
                <a:spcPts val="40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1300" b="1" spc="-3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300" b="1" spc="-6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또한</a:t>
            </a:r>
            <a:r>
              <a:rPr lang="en-US" altLang="ko-KR" sz="1300" b="1" spc="-6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HAY</a:t>
            </a:r>
            <a:r>
              <a:rPr lang="ko-KR" altLang="en-US" sz="1300" b="1" spc="-6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통해 </a:t>
            </a:r>
            <a:r>
              <a:rPr lang="en-US" altLang="ko-KR" sz="1300" b="1" spc="-6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HR</a:t>
            </a:r>
            <a:r>
              <a:rPr lang="ko-KR" altLang="en-US" sz="1300" b="1" spc="-6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 통합 허브로서 개인</a:t>
            </a:r>
            <a:r>
              <a:rPr lang="en-US" altLang="ko-KR" sz="1300" b="1" spc="-6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300" b="1" spc="-6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조직의 미세한 정서 신호를 실시간 포착하고</a:t>
            </a:r>
            <a:r>
              <a:rPr lang="en-US" altLang="ko-KR" sz="1300" b="1" spc="-6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24/7 </a:t>
            </a:r>
            <a:r>
              <a:rPr lang="ko-KR" altLang="en-US" sz="1300" b="1" spc="-6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밀착 케어를 위한 </a:t>
            </a:r>
            <a:r>
              <a:rPr lang="en-US" altLang="ko-KR" sz="1300" b="1" spc="-6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AI</a:t>
            </a:r>
            <a:r>
              <a:rPr lang="ko-KR" altLang="en-US" sz="1300" b="1" spc="-6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심리상담을 </a:t>
            </a:r>
            <a:br>
              <a:rPr lang="en-US" altLang="ko-KR" sz="1300" b="1" spc="-6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300" b="1" spc="-6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ko-KR" altLang="en-US" sz="1300" b="1" spc="-6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제공하여 사후 수습 개념의 노무 관리가 아닌</a:t>
            </a:r>
            <a:r>
              <a:rPr lang="en-US" altLang="ko-KR" sz="1300" b="1" spc="-6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1300" b="1" spc="-6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컴플라이언스 차원에 사전 예방할 수 있도록 </a:t>
            </a:r>
            <a:r>
              <a:rPr lang="en-US" altLang="ko-KR" sz="1300" b="1" spc="-6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‘</a:t>
            </a:r>
            <a:r>
              <a:rPr lang="ko-KR" altLang="en-US" sz="1300" b="1" spc="-6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예방</a:t>
            </a:r>
            <a:r>
              <a:rPr lang="en-US" altLang="ko-KR" sz="1300" b="1" spc="-6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–</a:t>
            </a:r>
            <a:r>
              <a:rPr lang="ko-KR" altLang="en-US" sz="1300" b="1" spc="-6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감지</a:t>
            </a:r>
            <a:r>
              <a:rPr lang="en-US" altLang="ko-KR" sz="1300" b="1" spc="-6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–</a:t>
            </a:r>
            <a:r>
              <a:rPr lang="ko-KR" altLang="en-US" sz="1300" b="1" spc="-6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개입</a:t>
            </a:r>
            <a:r>
              <a:rPr lang="en-US" altLang="ko-KR" sz="1300" b="1" spc="-6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’  </a:t>
            </a:r>
            <a:r>
              <a:rPr lang="ko-KR" altLang="en-US" sz="1300" b="1" spc="-6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체계를 구축 하겠습니다</a:t>
            </a:r>
            <a:r>
              <a:rPr lang="en-US" altLang="ko-KR" sz="1300" b="1" spc="-6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r>
              <a:rPr lang="ko-KR" altLang="en-US" sz="1300" b="1" spc="-6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lang="en-US" altLang="ko-KR" sz="1300" b="1" spc="-6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7825C67-7573-0D30-740C-000DB98A13D1}"/>
              </a:ext>
            </a:extLst>
          </p:cNvPr>
          <p:cNvSpPr/>
          <p:nvPr/>
        </p:nvSpPr>
        <p:spPr>
          <a:xfrm>
            <a:off x="1652286" y="3239058"/>
            <a:ext cx="7919943" cy="306761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51" name="원호 50">
            <a:extLst>
              <a:ext uri="{FF2B5EF4-FFF2-40B4-BE49-F238E27FC236}">
                <a16:creationId xmlns:a16="http://schemas.microsoft.com/office/drawing/2014/main" id="{B288E2BE-2FD0-5840-C894-63F4F495F932}"/>
              </a:ext>
            </a:extLst>
          </p:cNvPr>
          <p:cNvSpPr/>
          <p:nvPr/>
        </p:nvSpPr>
        <p:spPr>
          <a:xfrm>
            <a:off x="2333926" y="3679798"/>
            <a:ext cx="1226368" cy="1240667"/>
          </a:xfrm>
          <a:prstGeom prst="arc">
            <a:avLst>
              <a:gd name="adj1" fmla="val 18920575"/>
              <a:gd name="adj2" fmla="val 18845710"/>
            </a:avLst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BD3D0FE2-E2F4-1FA7-DA49-2E5014D6D44F}"/>
              </a:ext>
            </a:extLst>
          </p:cNvPr>
          <p:cNvSpPr/>
          <p:nvPr/>
        </p:nvSpPr>
        <p:spPr>
          <a:xfrm>
            <a:off x="3072013" y="4722470"/>
            <a:ext cx="576000" cy="288000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전사 </a:t>
            </a:r>
            <a:r>
              <a:rPr kumimoji="0" lang="en-US" altLang="ko-KR" sz="105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DAY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600" b="1" i="0" u="none" strike="noStrike" kern="0" cap="none" spc="-4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패밀리데이</a:t>
            </a:r>
            <a:r>
              <a:rPr kumimoji="0" lang="en-US" altLang="ko-KR" sz="6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6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등</a:t>
            </a:r>
            <a:r>
              <a:rPr kumimoji="0" lang="en-US" altLang="ko-KR" sz="6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600" b="1" i="0" u="none" strike="noStrike" kern="0" cap="none" spc="-4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0B76E2DA-4B07-6D3D-F092-B3B968BAEDA9}"/>
              </a:ext>
            </a:extLst>
          </p:cNvPr>
          <p:cNvCxnSpPr>
            <a:cxnSpLocks/>
            <a:stCxn id="52" idx="0"/>
          </p:cNvCxnSpPr>
          <p:nvPr/>
        </p:nvCxnSpPr>
        <p:spPr>
          <a:xfrm flipH="1" flipV="1">
            <a:off x="3105150" y="4458196"/>
            <a:ext cx="254863" cy="264274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28842E0B-0664-7FF6-170F-6B8F17B026E0}"/>
              </a:ext>
            </a:extLst>
          </p:cNvPr>
          <p:cNvCxnSpPr>
            <a:cxnSpLocks/>
          </p:cNvCxnSpPr>
          <p:nvPr/>
        </p:nvCxnSpPr>
        <p:spPr>
          <a:xfrm flipH="1" flipV="1">
            <a:off x="3165724" y="4298430"/>
            <a:ext cx="234172" cy="1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6F1B0B8F-7858-A125-D7B1-BF7CE7A1ADCB}"/>
              </a:ext>
            </a:extLst>
          </p:cNvPr>
          <p:cNvSpPr/>
          <p:nvPr/>
        </p:nvSpPr>
        <p:spPr>
          <a:xfrm>
            <a:off x="2747644" y="4076882"/>
            <a:ext cx="418080" cy="443095"/>
          </a:xfrm>
          <a:prstGeom prst="roundRect">
            <a:avLst>
              <a:gd name="adj" fmla="val 50000"/>
            </a:avLst>
          </a:prstGeom>
          <a:solidFill>
            <a:srgbClr val="F1593F">
              <a:lumMod val="20000"/>
              <a:lumOff val="80000"/>
            </a:srgbClr>
          </a:solidFill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HAY</a:t>
            </a:r>
            <a:endParaRPr kumimoji="0" lang="ko-KR" altLang="en-US" sz="1200" b="1" i="0" u="none" strike="noStrike" kern="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3BD744C8-304D-9938-21F1-971C395AC6E4}"/>
              </a:ext>
            </a:extLst>
          </p:cNvPr>
          <p:cNvCxnSpPr>
            <a:cxnSpLocks/>
          </p:cNvCxnSpPr>
          <p:nvPr/>
        </p:nvCxnSpPr>
        <p:spPr>
          <a:xfrm flipV="1">
            <a:off x="2518024" y="4298430"/>
            <a:ext cx="234172" cy="1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5D7601BC-6164-AF85-852C-181ECF7E3CC5}"/>
              </a:ext>
            </a:extLst>
          </p:cNvPr>
          <p:cNvCxnSpPr>
            <a:cxnSpLocks/>
          </p:cNvCxnSpPr>
          <p:nvPr/>
        </p:nvCxnSpPr>
        <p:spPr>
          <a:xfrm flipH="1" flipV="1">
            <a:off x="2547829" y="3848658"/>
            <a:ext cx="269494" cy="290005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C748DD91-2D0D-06E7-F543-F3DA6B145F73}"/>
              </a:ext>
            </a:extLst>
          </p:cNvPr>
          <p:cNvCxnSpPr>
            <a:cxnSpLocks/>
          </p:cNvCxnSpPr>
          <p:nvPr/>
        </p:nvCxnSpPr>
        <p:spPr>
          <a:xfrm flipV="1">
            <a:off x="2524732" y="4448199"/>
            <a:ext cx="292591" cy="314859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654F416-C968-0928-D46B-79F9D92B5366}"/>
              </a:ext>
            </a:extLst>
          </p:cNvPr>
          <p:cNvCxnSpPr>
            <a:cxnSpLocks/>
          </p:cNvCxnSpPr>
          <p:nvPr/>
        </p:nvCxnSpPr>
        <p:spPr>
          <a:xfrm flipH="1">
            <a:off x="3105262" y="3833245"/>
            <a:ext cx="292591" cy="314859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C35F7208-1CCF-21CF-1CAD-730F454381A4}"/>
              </a:ext>
            </a:extLst>
          </p:cNvPr>
          <p:cNvSpPr/>
          <p:nvPr/>
        </p:nvSpPr>
        <p:spPr>
          <a:xfrm>
            <a:off x="3072013" y="3573657"/>
            <a:ext cx="576000" cy="288000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연차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4D9AE542-2366-E648-0732-712708F8AFD9}"/>
              </a:ext>
            </a:extLst>
          </p:cNvPr>
          <p:cNvSpPr/>
          <p:nvPr/>
        </p:nvSpPr>
        <p:spPr>
          <a:xfrm>
            <a:off x="2236732" y="4722470"/>
            <a:ext cx="576000" cy="288000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-4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기념일</a:t>
            </a:r>
            <a:endParaRPr kumimoji="0" lang="en-US" altLang="ko-KR" sz="1050" b="1" i="0" u="none" strike="noStrike" kern="0" cap="none" spc="-4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1" i="0" u="none" strike="noStrike" kern="0" cap="none" spc="-4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600" b="1" i="0" u="none" strike="noStrike" kern="0" cap="none" spc="-4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결혼기념일</a:t>
            </a:r>
            <a:r>
              <a:rPr kumimoji="0" lang="en-US" altLang="ko-KR" sz="600" b="1" i="0" u="none" strike="noStrike" kern="0" cap="none" spc="-4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3D920683-FE86-61E5-5F5E-25852898C06D}"/>
              </a:ext>
            </a:extLst>
          </p:cNvPr>
          <p:cNvSpPr/>
          <p:nvPr/>
        </p:nvSpPr>
        <p:spPr>
          <a:xfrm>
            <a:off x="3399896" y="4150732"/>
            <a:ext cx="576000" cy="288000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LG DAY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(D-100.. / 1</a:t>
            </a:r>
            <a:r>
              <a:rPr kumimoji="0" lang="ko-KR" altLang="en-US" sz="6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주년</a:t>
            </a:r>
            <a:r>
              <a:rPr kumimoji="0" lang="en-US" altLang="ko-KR" sz="6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..</a:t>
            </a:r>
            <a:r>
              <a:rPr kumimoji="0" lang="ko-KR" altLang="en-US" sz="6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등</a:t>
            </a:r>
            <a:r>
              <a:rPr kumimoji="0" lang="en-US" altLang="ko-KR" sz="6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600" b="1" i="0" u="none" strike="noStrike" kern="0" cap="none" spc="-4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83902119-BF96-B1FF-3022-5FC4D9D746F6}"/>
              </a:ext>
            </a:extLst>
          </p:cNvPr>
          <p:cNvSpPr/>
          <p:nvPr/>
        </p:nvSpPr>
        <p:spPr>
          <a:xfrm>
            <a:off x="1927456" y="4150732"/>
            <a:ext cx="576000" cy="288000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-4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자녀현황</a:t>
            </a:r>
            <a:endParaRPr kumimoji="0" lang="en-US" altLang="ko-KR" sz="1050" b="1" i="0" u="none" strike="noStrike" kern="0" cap="none" spc="-4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1" i="0" u="none" strike="noStrike" kern="0" cap="none" spc="-4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600" b="1" i="0" u="none" strike="noStrike" kern="0" cap="none" spc="-4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초</a:t>
            </a:r>
            <a:r>
              <a:rPr kumimoji="0" lang="en-US" altLang="ko-KR" sz="600" b="1" i="0" u="none" strike="noStrike" kern="0" cap="none" spc="-4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600" b="1" i="0" u="none" strike="noStrike" kern="0" cap="none" spc="-4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중</a:t>
            </a:r>
            <a:r>
              <a:rPr kumimoji="0" lang="en-US" altLang="ko-KR" sz="600" b="1" i="0" u="none" strike="noStrike" kern="0" cap="none" spc="-4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600" b="1" i="0" u="none" strike="noStrike" kern="0" cap="none" spc="-4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고</a:t>
            </a:r>
            <a:r>
              <a:rPr kumimoji="0" lang="en-US" altLang="ko-KR" sz="600" b="1" i="0" u="none" strike="noStrike" kern="0" cap="none" spc="-4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en-US" altLang="ko-KR" sz="1050" b="1" i="0" u="none" strike="noStrike" kern="0" cap="none" spc="-4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6491336-CBE0-DDDF-BB74-F0807A154BD7}"/>
              </a:ext>
            </a:extLst>
          </p:cNvPr>
          <p:cNvSpPr txBox="1"/>
          <p:nvPr/>
        </p:nvSpPr>
        <p:spPr>
          <a:xfrm>
            <a:off x="2032333" y="3279878"/>
            <a:ext cx="1825292" cy="26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 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HAY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에 활용되는 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HR Data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B842002-63A1-9B20-8550-BFD5FBA8E0FA}"/>
              </a:ext>
            </a:extLst>
          </p:cNvPr>
          <p:cNvSpPr txBox="1"/>
          <p:nvPr/>
        </p:nvSpPr>
        <p:spPr>
          <a:xfrm>
            <a:off x="6977191" y="3279878"/>
            <a:ext cx="1825292" cy="26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 HAY 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주요기능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]</a:t>
            </a:r>
          </a:p>
        </p:txBody>
      </p:sp>
      <p:sp>
        <p:nvSpPr>
          <p:cNvPr id="66" name="이등변 삼각형 65">
            <a:extLst>
              <a:ext uri="{FF2B5EF4-FFF2-40B4-BE49-F238E27FC236}">
                <a16:creationId xmlns:a16="http://schemas.microsoft.com/office/drawing/2014/main" id="{55245858-3040-DED4-7EE5-B44696A6FECE}"/>
              </a:ext>
            </a:extLst>
          </p:cNvPr>
          <p:cNvSpPr/>
          <p:nvPr/>
        </p:nvSpPr>
        <p:spPr>
          <a:xfrm rot="5400000">
            <a:off x="3712837" y="4184562"/>
            <a:ext cx="864000" cy="108000"/>
          </a:xfrm>
          <a:prstGeom prst="triangle">
            <a:avLst/>
          </a:prstGeom>
          <a:solidFill>
            <a:sysClr val="window" lastClr="FFFFFF">
              <a:lumMod val="50000"/>
            </a:sys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14F80963-D7B6-7E83-94AE-20E3DDEE83DD}"/>
              </a:ext>
            </a:extLst>
          </p:cNvPr>
          <p:cNvSpPr/>
          <p:nvPr/>
        </p:nvSpPr>
        <p:spPr>
          <a:xfrm>
            <a:off x="2236732" y="3572465"/>
            <a:ext cx="576000" cy="288000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-4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근로시간</a:t>
            </a:r>
            <a:endParaRPr kumimoji="0" lang="en-US" altLang="ko-KR" sz="1050" b="1" i="0" u="none" strike="noStrike" kern="0" cap="none" spc="-4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F42E64C-AFF6-9948-3E0B-6BF5B50D7DB0}"/>
              </a:ext>
            </a:extLst>
          </p:cNvPr>
          <p:cNvSpPr txBox="1"/>
          <p:nvPr/>
        </p:nvSpPr>
        <p:spPr>
          <a:xfrm>
            <a:off x="4364494" y="3279878"/>
            <a:ext cx="1825292" cy="26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 </a:t>
            </a:r>
            <a:r>
              <a:rPr lang="ko-KR" altLang="en-US" sz="11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엔포털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/Teams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內 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HAY </a:t>
            </a:r>
            <a:r>
              <a:rPr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구현</a:t>
            </a:r>
            <a:r>
              <a:rPr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]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E118BEA1-FF21-1573-8D9D-D8720B05E0AC}"/>
              </a:ext>
            </a:extLst>
          </p:cNvPr>
          <p:cNvSpPr/>
          <p:nvPr/>
        </p:nvSpPr>
        <p:spPr>
          <a:xfrm>
            <a:off x="6459704" y="3546810"/>
            <a:ext cx="2958616" cy="2275766"/>
          </a:xfrm>
          <a:prstGeom prst="roundRect">
            <a:avLst>
              <a:gd name="adj" fmla="val 6843"/>
            </a:avLst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FEFEEEA-4A1A-7A3C-3315-3CD23DE26F79}"/>
              </a:ext>
            </a:extLst>
          </p:cNvPr>
          <p:cNvSpPr txBox="1"/>
          <p:nvPr/>
        </p:nvSpPr>
        <p:spPr>
          <a:xfrm>
            <a:off x="6465581" y="3557803"/>
            <a:ext cx="3659957" cy="1923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ko-KR" altLang="en-US" sz="1050" b="1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➊  스마트 근로시간 </a:t>
            </a:r>
            <a:r>
              <a:rPr lang="ko-KR" altLang="en-US" sz="1050" b="1" spc="-7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넛지</a:t>
            </a:r>
            <a:br>
              <a:rPr lang="en-US" altLang="ko-KR" sz="105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- </a:t>
            </a:r>
            <a:r>
              <a:rPr lang="ko-KR" altLang="en-US" sz="100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단순 근태관리를 넘어 다가오는 주 </a:t>
            </a:r>
            <a:r>
              <a:rPr lang="en-US" altLang="ko-KR" sz="100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4.5</a:t>
            </a:r>
            <a:r>
              <a:rPr lang="ko-KR" altLang="en-US" sz="100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일제 환경에서</a:t>
            </a:r>
            <a:br>
              <a:rPr lang="en-US" altLang="ko-KR" sz="100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</a:t>
            </a:r>
            <a:r>
              <a:rPr lang="ko-KR" altLang="en-US" sz="100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업무 몰입과 휴식의 밸런스를 맞추는 가이드 역할 수행</a:t>
            </a:r>
            <a:endParaRPr lang="en-US" altLang="ko-KR" sz="1050" spc="-7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ko-KR" altLang="en-US" sz="1050" b="1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➋  </a:t>
            </a:r>
            <a:r>
              <a:rPr lang="ko-KR" altLang="en-US" sz="1050" b="1" spc="-7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리프레시</a:t>
            </a:r>
            <a:r>
              <a:rPr lang="ko-KR" altLang="en-US" sz="1050" b="1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50" b="1" spc="-7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내비게이터</a:t>
            </a:r>
            <a:br>
              <a:rPr lang="en-US" altLang="ko-KR" sz="105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- </a:t>
            </a:r>
            <a:r>
              <a:rPr lang="ko-KR" altLang="en-US" sz="100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남은 연차를 가치 있게 사용할 수 있도록 안내</a:t>
            </a:r>
            <a:endParaRPr lang="en-US" altLang="ko-KR" sz="1000" spc="-7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en-US" altLang="ko-KR" sz="1050" b="1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➌</a:t>
            </a:r>
            <a:r>
              <a:rPr lang="ko-KR" altLang="en-US" sz="1050" b="1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통합 복지 타임라인 및 구성원 라이프 케어</a:t>
            </a:r>
            <a:br>
              <a:rPr lang="en-US" altLang="ko-KR" sz="105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- </a:t>
            </a:r>
            <a:r>
              <a:rPr lang="ko-KR" altLang="en-US" sz="100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흩어져 있는 사내 인사</a:t>
            </a:r>
            <a:r>
              <a:rPr lang="en-US" altLang="ko-KR" sz="100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DB</a:t>
            </a:r>
            <a:r>
              <a:rPr lang="ko-KR" altLang="en-US" sz="100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와 연동</a:t>
            </a:r>
            <a:r>
              <a:rPr lang="en-US" altLang="ko-KR" sz="100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한눈에 파악할 수 있도록</a:t>
            </a:r>
            <a:br>
              <a:rPr lang="en-US" altLang="ko-KR" sz="100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</a:t>
            </a:r>
            <a:r>
              <a:rPr lang="ko-KR" altLang="en-US" sz="100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직관적인 타임라인을 제공</a:t>
            </a:r>
            <a:r>
              <a:rPr lang="en-US" altLang="ko-KR" sz="100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구성원의 주요 개인사와 복지 </a:t>
            </a:r>
            <a:br>
              <a:rPr lang="en-US" altLang="ko-KR" sz="100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</a:t>
            </a:r>
            <a:r>
              <a:rPr lang="ko-KR" altLang="en-US" sz="100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혜택을 개인 비서처럼 챙김</a:t>
            </a:r>
            <a:endParaRPr lang="en-US" altLang="ko-KR" sz="1000" spc="-7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ko-KR" altLang="ko-KR" sz="105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➍</a:t>
            </a:r>
            <a:r>
              <a:rPr lang="en-US" altLang="ko-KR" sz="105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24/7</a:t>
            </a:r>
            <a:r>
              <a:rPr lang="ko-KR" altLang="en-US" sz="1050" spc="-7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정서관리 </a:t>
            </a:r>
            <a:r>
              <a:rPr lang="en-US" altLang="ko-KR" sz="1050" spc="-7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AI </a:t>
            </a:r>
            <a:r>
              <a:rPr lang="ko-KR" altLang="en-US" sz="1050" spc="-7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심리상담</a:t>
            </a:r>
            <a:endParaRPr lang="ko-KR" altLang="en-US" sz="140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14D0551-5ED0-D2E6-1E8F-8C9EFE72E1EB}"/>
              </a:ext>
            </a:extLst>
          </p:cNvPr>
          <p:cNvSpPr txBox="1"/>
          <p:nvPr/>
        </p:nvSpPr>
        <p:spPr>
          <a:xfrm>
            <a:off x="7265437" y="2580339"/>
            <a:ext cx="72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24 </a:t>
            </a:r>
            <a:r>
              <a:rPr lang="ko-KR" altLang="en-US" sz="800" b="1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시간</a:t>
            </a:r>
            <a:r>
              <a:rPr lang="en-US" altLang="ko-KR" sz="800" b="1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7</a:t>
            </a:r>
            <a:r>
              <a:rPr lang="ko-KR" altLang="en-US" sz="800" b="1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일</a:t>
            </a:r>
            <a:endParaRPr lang="ko-KR" altLang="en-US" sz="800" dirty="0">
              <a:solidFill>
                <a:srgbClr val="006600"/>
              </a:solidFill>
              <a:latin typeface="Arial Narrow"/>
              <a:ea typeface="LG스마트체 Regular"/>
            </a:endParaRPr>
          </a:p>
        </p:txBody>
      </p:sp>
      <p:pic>
        <p:nvPicPr>
          <p:cNvPr id="72" name="그림 71">
            <a:extLst>
              <a:ext uri="{FF2B5EF4-FFF2-40B4-BE49-F238E27FC236}">
                <a16:creationId xmlns:a16="http://schemas.microsoft.com/office/drawing/2014/main" id="{2A2D53EF-320B-6121-22F0-7DF99AA49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387" y="3565954"/>
            <a:ext cx="1167094" cy="783428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971E6ADF-7827-50A3-5B5C-9887CC705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223" y="3565954"/>
            <a:ext cx="1167094" cy="783428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CAB15325-C003-4AED-2133-22CA4DFFC79B}"/>
              </a:ext>
            </a:extLst>
          </p:cNvPr>
          <p:cNvSpPr txBox="1"/>
          <p:nvPr/>
        </p:nvSpPr>
        <p:spPr>
          <a:xfrm>
            <a:off x="4352848" y="3842815"/>
            <a:ext cx="893424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" b="1" i="0" u="none" strike="noStrike" kern="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잠깐</a:t>
            </a:r>
            <a:r>
              <a:rPr kumimoji="0" lang="en-US" altLang="ko-KR" sz="450" b="1" i="0" u="none" strike="noStrike" kern="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! </a:t>
            </a:r>
            <a:r>
              <a:rPr kumimoji="0" lang="ko-KR" altLang="en-US" sz="450" b="1" i="0" u="none" strike="noStrike" kern="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업무량이 상당하시군요</a:t>
            </a:r>
            <a:r>
              <a:rPr kumimoji="0" lang="en-US" altLang="ko-KR" sz="450" b="1" i="0" u="none" strike="noStrike" kern="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br>
              <a:rPr kumimoji="0" lang="en-US" altLang="ko-KR" sz="450" b="1" i="0" u="none" strike="noStrike" kern="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ko-KR" altLang="en-US" sz="450" b="1" i="0" u="none" strike="noStrike" kern="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남은 업무의 우선 순위를 재조정 </a:t>
            </a:r>
            <a:r>
              <a:rPr kumimoji="0" lang="ko-KR" altLang="en-US" sz="450" b="1" i="0" u="none" strike="noStrike" kern="0" cap="none" spc="-9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해보는건</a:t>
            </a:r>
            <a:r>
              <a:rPr kumimoji="0" lang="ko-KR" altLang="en-US" sz="450" b="1" i="0" u="none" strike="noStrike" kern="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어떨까요</a:t>
            </a:r>
            <a:r>
              <a:rPr kumimoji="0" lang="en-US" altLang="ko-KR" sz="450" b="1" i="0" u="none" strike="noStrike" kern="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?</a:t>
            </a:r>
            <a:br>
              <a:rPr kumimoji="0" lang="en-US" altLang="ko-KR" sz="450" b="1" i="0" u="none" strike="noStrike" kern="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en-US" altLang="ko-KR" sz="450" b="1" i="0" u="none" strike="noStrike" kern="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br>
              <a:rPr kumimoji="0" lang="en-US" altLang="ko-KR" sz="450" b="1" i="0" u="none" strike="noStrike" kern="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ko-KR" altLang="en-US" sz="450" b="1" i="0" u="none" strike="noStrike" kern="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혹시 어려운 점이 있다면 리더에게 살짝 들려주세요</a:t>
            </a:r>
            <a:r>
              <a:rPr kumimoji="0" lang="en-US" altLang="ko-KR" sz="450" b="1" i="0" u="none" strike="noStrike" kern="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kumimoji="0" lang="en-US" altLang="ko-KR" sz="450" b="0" i="0" u="none" strike="noStrike" kern="0" cap="none" spc="-9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75" name="그림 74">
            <a:extLst>
              <a:ext uri="{FF2B5EF4-FFF2-40B4-BE49-F238E27FC236}">
                <a16:creationId xmlns:a16="http://schemas.microsoft.com/office/drawing/2014/main" id="{A8D790B4-1821-F1F4-5C46-0C1C3455F65E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5114364" y="4616162"/>
            <a:ext cx="1132343" cy="558742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0C9C9AE8-A96C-4F92-CFE7-8E7F4D1ADD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4835" y="5228087"/>
            <a:ext cx="1791501" cy="796552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4C748FFA-9A70-0FF9-449C-4A805DA710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5170" y="4429815"/>
            <a:ext cx="1131508" cy="559140"/>
          </a:xfrm>
          <a:prstGeom prst="rect">
            <a:avLst/>
          </a:prstGeom>
        </p:spPr>
      </p:pic>
      <p:sp>
        <p:nvSpPr>
          <p:cNvPr id="78" name="화살표: 오른쪽 77">
            <a:extLst>
              <a:ext uri="{FF2B5EF4-FFF2-40B4-BE49-F238E27FC236}">
                <a16:creationId xmlns:a16="http://schemas.microsoft.com/office/drawing/2014/main" id="{261A442D-B9E2-EB3C-447D-FECC32397835}"/>
              </a:ext>
            </a:extLst>
          </p:cNvPr>
          <p:cNvSpPr/>
          <p:nvPr/>
        </p:nvSpPr>
        <p:spPr>
          <a:xfrm rot="5400000" flipH="1">
            <a:off x="5210875" y="4323138"/>
            <a:ext cx="165677" cy="212366"/>
          </a:xfrm>
          <a:prstGeom prst="rightArrow">
            <a:avLst/>
          </a:prstGeom>
          <a:solidFill>
            <a:sysClr val="windowText" lastClr="000000">
              <a:lumMod val="50000"/>
              <a:lumOff val="5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79" name="화살표: 오른쪽 78">
            <a:extLst>
              <a:ext uri="{FF2B5EF4-FFF2-40B4-BE49-F238E27FC236}">
                <a16:creationId xmlns:a16="http://schemas.microsoft.com/office/drawing/2014/main" id="{4EE34B5D-FC8E-61AE-60EB-C1407F248E17}"/>
              </a:ext>
            </a:extLst>
          </p:cNvPr>
          <p:cNvSpPr/>
          <p:nvPr/>
        </p:nvSpPr>
        <p:spPr>
          <a:xfrm rot="16200000" flipH="1" flipV="1">
            <a:off x="5210875" y="5119612"/>
            <a:ext cx="165677" cy="212366"/>
          </a:xfrm>
          <a:prstGeom prst="rightArrow">
            <a:avLst/>
          </a:prstGeom>
          <a:solidFill>
            <a:sysClr val="windowText" lastClr="000000">
              <a:lumMod val="50000"/>
              <a:lumOff val="5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80" name="Text Box 3">
            <a:extLst>
              <a:ext uri="{FF2B5EF4-FFF2-40B4-BE49-F238E27FC236}">
                <a16:creationId xmlns:a16="http://schemas.microsoft.com/office/drawing/2014/main" id="{4E9A3AF5-6CF7-1622-C9BF-B9206610F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647" y="5856609"/>
            <a:ext cx="1371253" cy="1702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000" spc="-5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spc="-5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맞춤형 </a:t>
            </a:r>
            <a:r>
              <a:rPr lang="ko-KR" altLang="en-US" sz="1000" spc="-50" dirty="0" err="1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넛지</a:t>
            </a:r>
            <a:r>
              <a:rPr lang="ko-KR" altLang="en-US" sz="1000" spc="-5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메시지</a:t>
            </a:r>
            <a:endParaRPr lang="en-US" altLang="ko-KR" sz="1000" b="1" spc="-50" dirty="0">
              <a:solidFill>
                <a:prstClr val="black">
                  <a:lumMod val="50000"/>
                  <a:lumOff val="50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81" name="Picture 3">
            <a:hlinkClick r:id="rId8" action="ppaction://hlinksldjump"/>
            <a:extLst>
              <a:ext uri="{FF2B5EF4-FFF2-40B4-BE49-F238E27FC236}">
                <a16:creationId xmlns:a16="http://schemas.microsoft.com/office/drawing/2014/main" id="{71B59A01-FCF3-255F-C93F-69602B0FA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514715" y="5873127"/>
            <a:ext cx="143931" cy="144000"/>
          </a:xfrm>
          <a:prstGeom prst="rect">
            <a:avLst/>
          </a:prstGeom>
          <a:noFill/>
          <a:ln w="9525">
            <a:solidFill>
              <a:sysClr val="window" lastClr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23" name="Text Box 3">
            <a:extLst>
              <a:ext uri="{FF2B5EF4-FFF2-40B4-BE49-F238E27FC236}">
                <a16:creationId xmlns:a16="http://schemas.microsoft.com/office/drawing/2014/main" id="{5F485A2A-46A3-7D74-24EE-6A01D83EB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647" y="6047306"/>
            <a:ext cx="1371253" cy="1702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000" spc="-5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spc="-50" dirty="0" err="1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엔포털</a:t>
            </a:r>
            <a:r>
              <a:rPr lang="ko-KR" altLang="en-US" sz="1000" spc="-5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예시 화면</a:t>
            </a:r>
            <a:endParaRPr lang="en-US" altLang="ko-KR" sz="1000" b="1" spc="-50" dirty="0">
              <a:solidFill>
                <a:prstClr val="black">
                  <a:lumMod val="50000"/>
                  <a:lumOff val="50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24" name="Picture 3">
            <a:hlinkClick r:id="rId10" action="ppaction://hlinksldjump"/>
            <a:extLst>
              <a:ext uri="{FF2B5EF4-FFF2-40B4-BE49-F238E27FC236}">
                <a16:creationId xmlns:a16="http://schemas.microsoft.com/office/drawing/2014/main" id="{70C0DB97-57E5-6831-15C1-E96B1793A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514715" y="6063824"/>
            <a:ext cx="143931" cy="144000"/>
          </a:xfrm>
          <a:prstGeom prst="rect">
            <a:avLst/>
          </a:prstGeom>
          <a:noFill/>
          <a:ln w="9525">
            <a:solidFill>
              <a:sysClr val="window" lastClr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25" name="Text Box 3">
            <a:extLst>
              <a:ext uri="{FF2B5EF4-FFF2-40B4-BE49-F238E27FC236}">
                <a16:creationId xmlns:a16="http://schemas.microsoft.com/office/drawing/2014/main" id="{D5E1D93D-910B-D135-4CDB-5CCA9F6D3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3577" y="5854397"/>
            <a:ext cx="1371253" cy="1702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000" spc="-5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Teams </a:t>
            </a:r>
            <a:r>
              <a:rPr lang="ko-KR" altLang="en-US" sz="1000" spc="-5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예시 화면</a:t>
            </a:r>
            <a:endParaRPr lang="en-US" altLang="ko-KR" sz="1000" b="1" spc="-50" dirty="0">
              <a:solidFill>
                <a:prstClr val="black">
                  <a:lumMod val="50000"/>
                  <a:lumOff val="50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26" name="Picture 3">
            <a:hlinkClick r:id="rId11" action="ppaction://hlinksldjump"/>
            <a:extLst>
              <a:ext uri="{FF2B5EF4-FFF2-40B4-BE49-F238E27FC236}">
                <a16:creationId xmlns:a16="http://schemas.microsoft.com/office/drawing/2014/main" id="{89FDFE63-7426-D305-3CA8-527706935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918645" y="5870915"/>
            <a:ext cx="143931" cy="144000"/>
          </a:xfrm>
          <a:prstGeom prst="rect">
            <a:avLst/>
          </a:prstGeom>
          <a:noFill/>
          <a:ln w="9525">
            <a:solidFill>
              <a:sysClr val="window" lastClr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27" name="Text Box 3">
            <a:extLst>
              <a:ext uri="{FF2B5EF4-FFF2-40B4-BE49-F238E27FC236}">
                <a16:creationId xmlns:a16="http://schemas.microsoft.com/office/drawing/2014/main" id="{AB19720A-79C4-1A6E-B5A6-B08DD615B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3577" y="6050977"/>
            <a:ext cx="1371253" cy="1702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000" spc="-5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HAY </a:t>
            </a:r>
            <a:r>
              <a:rPr lang="ko-KR" altLang="en-US" sz="1000" spc="-50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필요 요건</a:t>
            </a:r>
            <a:endParaRPr lang="en-US" altLang="ko-KR" sz="1000" b="1" spc="-50" dirty="0">
              <a:solidFill>
                <a:prstClr val="black">
                  <a:lumMod val="50000"/>
                  <a:lumOff val="50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28" name="Picture 3">
            <a:hlinkClick r:id="rId8" action="ppaction://hlinksldjump"/>
            <a:extLst>
              <a:ext uri="{FF2B5EF4-FFF2-40B4-BE49-F238E27FC236}">
                <a16:creationId xmlns:a16="http://schemas.microsoft.com/office/drawing/2014/main" id="{C55F20CB-E313-AD1A-22C3-CBA608F2C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918645" y="6067495"/>
            <a:ext cx="143931" cy="144000"/>
          </a:xfrm>
          <a:prstGeom prst="rect">
            <a:avLst/>
          </a:prstGeom>
          <a:noFill/>
          <a:ln w="9525">
            <a:solidFill>
              <a:sysClr val="window" lastClr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11607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실행 단추: 홈 45">
            <a:hlinkClick r:id="rId2" action="ppaction://hlinksldjump"/>
            <a:extLst>
              <a:ext uri="{FF2B5EF4-FFF2-40B4-BE49-F238E27FC236}">
                <a16:creationId xmlns:a16="http://schemas.microsoft.com/office/drawing/2014/main" id="{A4870B19-F402-F54E-2BBB-F6472FEF6E4D}"/>
              </a:ext>
            </a:extLst>
          </p:cNvPr>
          <p:cNvSpPr/>
          <p:nvPr/>
        </p:nvSpPr>
        <p:spPr>
          <a:xfrm>
            <a:off x="9237062" y="107566"/>
            <a:ext cx="360000" cy="360000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40E2B5-05B7-EC1F-17EF-573A1E720A90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현장직 인력 변화 예상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6914615-DBFF-87EC-3AA6-9FB922FE1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193635"/>
              </p:ext>
            </p:extLst>
          </p:nvPr>
        </p:nvGraphicFramePr>
        <p:xfrm>
          <a:off x="761046" y="821600"/>
          <a:ext cx="8383908" cy="4561960"/>
        </p:xfrm>
        <a:graphic>
          <a:graphicData uri="http://schemas.openxmlformats.org/drawingml/2006/table">
            <a:tbl>
              <a:tblPr/>
              <a:tblGrid>
                <a:gridCol w="1050490">
                  <a:extLst>
                    <a:ext uri="{9D8B030D-6E8A-4147-A177-3AD203B41FA5}">
                      <a16:colId xmlns:a16="http://schemas.microsoft.com/office/drawing/2014/main" val="2633613811"/>
                    </a:ext>
                  </a:extLst>
                </a:gridCol>
                <a:gridCol w="879252">
                  <a:extLst>
                    <a:ext uri="{9D8B030D-6E8A-4147-A177-3AD203B41FA5}">
                      <a16:colId xmlns:a16="http://schemas.microsoft.com/office/drawing/2014/main" val="785610995"/>
                    </a:ext>
                  </a:extLst>
                </a:gridCol>
                <a:gridCol w="2451836">
                  <a:extLst>
                    <a:ext uri="{9D8B030D-6E8A-4147-A177-3AD203B41FA5}">
                      <a16:colId xmlns:a16="http://schemas.microsoft.com/office/drawing/2014/main" val="3428190429"/>
                    </a:ext>
                  </a:extLst>
                </a:gridCol>
                <a:gridCol w="667055">
                  <a:extLst>
                    <a:ext uri="{9D8B030D-6E8A-4147-A177-3AD203B41FA5}">
                      <a16:colId xmlns:a16="http://schemas.microsoft.com/office/drawing/2014/main" val="1844983935"/>
                    </a:ext>
                  </a:extLst>
                </a:gridCol>
                <a:gridCol w="667055">
                  <a:extLst>
                    <a:ext uri="{9D8B030D-6E8A-4147-A177-3AD203B41FA5}">
                      <a16:colId xmlns:a16="http://schemas.microsoft.com/office/drawing/2014/main" val="726872647"/>
                    </a:ext>
                  </a:extLst>
                </a:gridCol>
                <a:gridCol w="667055">
                  <a:extLst>
                    <a:ext uri="{9D8B030D-6E8A-4147-A177-3AD203B41FA5}">
                      <a16:colId xmlns:a16="http://schemas.microsoft.com/office/drawing/2014/main" val="277177759"/>
                    </a:ext>
                  </a:extLst>
                </a:gridCol>
                <a:gridCol w="667055">
                  <a:extLst>
                    <a:ext uri="{9D8B030D-6E8A-4147-A177-3AD203B41FA5}">
                      <a16:colId xmlns:a16="http://schemas.microsoft.com/office/drawing/2014/main" val="1799241971"/>
                    </a:ext>
                  </a:extLst>
                </a:gridCol>
                <a:gridCol w="667055">
                  <a:extLst>
                    <a:ext uri="{9D8B030D-6E8A-4147-A177-3AD203B41FA5}">
                      <a16:colId xmlns:a16="http://schemas.microsoft.com/office/drawing/2014/main" val="2495698001"/>
                    </a:ext>
                  </a:extLst>
                </a:gridCol>
                <a:gridCol w="667055">
                  <a:extLst>
                    <a:ext uri="{9D8B030D-6E8A-4147-A177-3AD203B41FA5}">
                      <a16:colId xmlns:a16="http://schemas.microsoft.com/office/drawing/2014/main" val="1251117794"/>
                    </a:ext>
                  </a:extLst>
                </a:gridCol>
              </a:tblGrid>
              <a:tr h="174359">
                <a:tc rowSpan="2"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7820" marR="7820" marT="78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7820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현장직</a:t>
                      </a:r>
                    </a:p>
                  </a:txBody>
                  <a:tcPr marL="7820" marR="7820" marT="78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271835"/>
                  </a:ext>
                </a:extLst>
              </a:tr>
              <a:tr h="174359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’26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初</a:t>
                      </a:r>
                    </a:p>
                  </a:txBody>
                  <a:tcPr marL="7820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’26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末</a:t>
                      </a:r>
                    </a:p>
                  </a:txBody>
                  <a:tcPr marL="7820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’27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末</a:t>
                      </a:r>
                    </a:p>
                  </a:txBody>
                  <a:tcPr marL="7820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’28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末</a:t>
                      </a:r>
                    </a:p>
                  </a:txBody>
                  <a:tcPr marL="7820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’29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末</a:t>
                      </a:r>
                    </a:p>
                  </a:txBody>
                  <a:tcPr marL="7820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’30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末</a:t>
                      </a:r>
                    </a:p>
                  </a:txBody>
                  <a:tcPr marL="7820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271806"/>
                  </a:ext>
                </a:extLst>
              </a:tr>
              <a:tr h="174359">
                <a:tc rowSpan="2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에너지플랜트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b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대전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820" marR="7820" marT="78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자동차전지</a:t>
                      </a:r>
                    </a:p>
                  </a:txBody>
                  <a:tcPr marL="7820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개발센터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/AR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그룹</a:t>
                      </a:r>
                    </a:p>
                  </a:txBody>
                  <a:tcPr marL="117293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442422"/>
                  </a:ext>
                </a:extLst>
              </a:tr>
              <a:tr h="1743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계</a:t>
                      </a:r>
                    </a:p>
                  </a:txBody>
                  <a:tcPr marL="7820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433320"/>
                  </a:ext>
                </a:extLst>
              </a:tr>
              <a:tr h="1743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소형전지</a:t>
                      </a:r>
                    </a:p>
                  </a:txBody>
                  <a:tcPr marL="7820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소형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개발센터</a:t>
                      </a:r>
                    </a:p>
                  </a:txBody>
                  <a:tcPr marL="117293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668832"/>
                  </a:ext>
                </a:extLst>
              </a:tr>
              <a:tr h="1743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계</a:t>
                      </a:r>
                    </a:p>
                  </a:txBody>
                  <a:tcPr marL="7820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6772"/>
                  </a:ext>
                </a:extLst>
              </a:tr>
              <a:tr h="1743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CPO</a:t>
                      </a:r>
                    </a:p>
                  </a:txBody>
                  <a:tcPr marL="7820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오창생산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오창생산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117293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398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393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383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562287"/>
                  </a:ext>
                </a:extLst>
              </a:tr>
              <a:tr h="1743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오창생산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오창생산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117293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540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537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531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529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522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510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941284"/>
                  </a:ext>
                </a:extLst>
              </a:tr>
              <a:tr h="1743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오창생산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.46Cell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117293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133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132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131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130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130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742870"/>
                  </a:ext>
                </a:extLst>
              </a:tr>
              <a:tr h="1743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오창생산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.46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전극담당</a:t>
                      </a:r>
                    </a:p>
                  </a:txBody>
                  <a:tcPr marL="117293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134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132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132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132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132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131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348464"/>
                  </a:ext>
                </a:extLst>
              </a:tr>
              <a:tr h="1743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SEO</a:t>
                      </a:r>
                    </a:p>
                  </a:txBody>
                  <a:tcPr marL="117293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56420"/>
                  </a:ext>
                </a:extLst>
              </a:tr>
              <a:tr h="1743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7820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계</a:t>
                      </a:r>
                    </a:p>
                  </a:txBody>
                  <a:tcPr marL="7820" marR="7820" marT="782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1,250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1,242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1,230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1,224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1,210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1,186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380011"/>
                  </a:ext>
                </a:extLst>
              </a:tr>
              <a:tr h="1743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생산기술</a:t>
                      </a:r>
                      <a:b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혁신센터</a:t>
                      </a:r>
                    </a:p>
                  </a:txBody>
                  <a:tcPr marL="7820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생산기술혁신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.Pack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기술그룹</a:t>
                      </a:r>
                    </a:p>
                  </a:txBody>
                  <a:tcPr marL="117293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798796"/>
                  </a:ext>
                </a:extLst>
              </a:tr>
              <a:tr h="1743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생산기술혁신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원통형기술그룹</a:t>
                      </a:r>
                    </a:p>
                  </a:txBody>
                  <a:tcPr marL="117293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23971"/>
                  </a:ext>
                </a:extLst>
              </a:tr>
              <a:tr h="1743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생산기술혁신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인프라그룹</a:t>
                      </a:r>
                    </a:p>
                  </a:txBody>
                  <a:tcPr marL="117293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45609"/>
                  </a:ext>
                </a:extLst>
              </a:tr>
              <a:tr h="1743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생산기술혁신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전극기술그룹</a:t>
                      </a:r>
                    </a:p>
                  </a:txBody>
                  <a:tcPr marL="117293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140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139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138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25046"/>
                  </a:ext>
                </a:extLst>
              </a:tr>
              <a:tr h="1743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생산기술혁신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파우치형기술그룹</a:t>
                      </a:r>
                    </a:p>
                  </a:txBody>
                  <a:tcPr marL="117293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835223"/>
                  </a:ext>
                </a:extLst>
              </a:tr>
              <a:tr h="1743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계</a:t>
                      </a:r>
                    </a:p>
                  </a:txBody>
                  <a:tcPr marL="7820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250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250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249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248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243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240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99548"/>
                  </a:ext>
                </a:extLst>
              </a:tr>
              <a:tr h="1743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CQO</a:t>
                      </a:r>
                    </a:p>
                  </a:txBody>
                  <a:tcPr marL="7820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품질경영센터</a:t>
                      </a:r>
                    </a:p>
                  </a:txBody>
                  <a:tcPr marL="117293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241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240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239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239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236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234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6987579"/>
                  </a:ext>
                </a:extLst>
              </a:tr>
              <a:tr h="1743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고객품질그룹</a:t>
                      </a:r>
                    </a:p>
                  </a:txBody>
                  <a:tcPr marL="117293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273767"/>
                  </a:ext>
                </a:extLst>
              </a:tr>
              <a:tr h="1743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Quality Solution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그룹</a:t>
                      </a:r>
                    </a:p>
                  </a:txBody>
                  <a:tcPr marL="117293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761993"/>
                  </a:ext>
                </a:extLst>
              </a:tr>
              <a:tr h="1743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계</a:t>
                      </a:r>
                    </a:p>
                  </a:txBody>
                  <a:tcPr marL="7820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31639"/>
                  </a:ext>
                </a:extLst>
              </a:tr>
              <a:tr h="1743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구매센터</a:t>
                      </a:r>
                    </a:p>
                  </a:txBody>
                  <a:tcPr marL="117293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675050"/>
                  </a:ext>
                </a:extLst>
              </a:tr>
              <a:tr h="1743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CTO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17293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727332"/>
                  </a:ext>
                </a:extLst>
              </a:tr>
              <a:tr h="1743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노동조합</a:t>
                      </a:r>
                    </a:p>
                  </a:txBody>
                  <a:tcPr marL="117293" marR="7820" marT="78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366613"/>
                  </a:ext>
                </a:extLst>
              </a:tr>
              <a:tr h="174359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총계 </a:t>
                      </a:r>
                    </a:p>
                  </a:txBody>
                  <a:tcPr marL="7820" marR="7820" marT="78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1,969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1,960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1,944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1,935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1,912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1,875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14313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E19AE01-F165-5F98-6442-5E18A109DDF3}"/>
              </a:ext>
            </a:extLst>
          </p:cNvPr>
          <p:cNvSpPr txBox="1"/>
          <p:nvPr/>
        </p:nvSpPr>
        <p:spPr>
          <a:xfrm>
            <a:off x="761047" y="5486400"/>
            <a:ext cx="4361144" cy="910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주</a:t>
            </a: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1) </a:t>
            </a: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생산기술직 주재원 현재 인원 </a:t>
            </a: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: 79</a:t>
            </a: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</a:p>
          <a:p>
            <a:pPr>
              <a:lnSpc>
                <a:spcPct val="120000"/>
              </a:lnSpc>
            </a:pP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 - LGESAZ : 6</a:t>
            </a: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, LGESGM : 9</a:t>
            </a: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, LGESHD : 6</a:t>
            </a: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, LGESHG : 4</a:t>
            </a: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명  </a:t>
            </a:r>
          </a:p>
          <a:p>
            <a:pPr>
              <a:lnSpc>
                <a:spcPct val="120000"/>
              </a:lnSpc>
            </a:pP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   LGESMI : 39</a:t>
            </a: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, LGESHM : 1</a:t>
            </a: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, LGESNJ 1</a:t>
            </a: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, LGESST : 4</a:t>
            </a: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, LGESWA : 9</a:t>
            </a: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b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주</a:t>
            </a: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2) </a:t>
            </a: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생산계약직 현재 인원 </a:t>
            </a: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: 55</a:t>
            </a: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(CTO 27</a:t>
            </a: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, CQO 24</a:t>
            </a: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소형개발 </a:t>
            </a: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 - </a:t>
            </a: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올해 </a:t>
            </a: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6</a:t>
            </a: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기준 </a:t>
            </a: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IM Biz </a:t>
            </a: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대응으로 생산계약직 </a:t>
            </a: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70</a:t>
            </a: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명 이상 예정 </a:t>
            </a: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예정 충원 소속 </a:t>
            </a:r>
            <a:r>
              <a:rPr lang="en-US" altLang="ko-KR" sz="900">
                <a:latin typeface="Arial Narrow" panose="020B0606020202030204" pitchFamily="34" charset="0"/>
                <a:ea typeface="LG스마트체 Regular" panose="020B0600000101010101" pitchFamily="50" charset="-127"/>
              </a:rPr>
              <a:t>CPO/CQO]</a:t>
            </a:r>
            <a:endParaRPr lang="ko-KR" altLang="en-US" sz="9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1E8FAA-B965-1925-A5A4-EE66099802B6}"/>
              </a:ext>
            </a:extLst>
          </p:cNvPr>
          <p:cNvSpPr txBox="1"/>
          <p:nvPr/>
        </p:nvSpPr>
        <p:spPr>
          <a:xfrm>
            <a:off x="8595208" y="621698"/>
            <a:ext cx="685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ctr"/>
            <a:r>
              <a:rPr lang="en-US" altLang="ko-KR" sz="800" i="0" u="none" strike="noStrike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단위 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명</a:t>
            </a:r>
            <a:r>
              <a:rPr lang="en-US" altLang="ko-KR" sz="8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800" i="0" u="none" strike="noStrike">
              <a:solidFill>
                <a:srgbClr val="000000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96BF44-C40E-03A0-0185-97FF463D5CAE}"/>
              </a:ext>
            </a:extLst>
          </p:cNvPr>
          <p:cNvSpPr txBox="1"/>
          <p:nvPr/>
        </p:nvSpPr>
        <p:spPr>
          <a:xfrm>
            <a:off x="7937238" y="5416659"/>
            <a:ext cx="173554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ctr"/>
            <a:r>
              <a:rPr lang="ko-KR" altLang="en-US" sz="900" b="1" i="0" u="none" strike="noStrike">
                <a:solidFill>
                  <a:srgbClr val="0066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▲</a:t>
            </a:r>
            <a:br>
              <a:rPr lang="en-US" altLang="ko-KR" sz="900" b="1" i="0" u="none" strike="noStrike">
                <a:solidFill>
                  <a:srgbClr val="0066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900" b="1" i="0" u="none" strike="noStrike">
                <a:solidFill>
                  <a:srgbClr val="0066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현인원 대비 </a:t>
            </a:r>
            <a:r>
              <a:rPr lang="en-US" altLang="ko-KR" sz="900" b="1" i="0" u="none" strike="noStrike">
                <a:solidFill>
                  <a:srgbClr val="0066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93</a:t>
            </a:r>
            <a:r>
              <a:rPr lang="ko-KR" altLang="en-US" sz="900" b="1" i="0" u="none" strike="noStrike">
                <a:solidFill>
                  <a:srgbClr val="0066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명 감소 예상</a:t>
            </a:r>
            <a:br>
              <a:rPr lang="en-US" altLang="ko-KR" sz="900" b="1" i="0" u="none" strike="noStrike">
                <a:solidFill>
                  <a:srgbClr val="0066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b="1" i="0" u="none" strike="noStrike">
                <a:solidFill>
                  <a:srgbClr val="0066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(10</a:t>
            </a:r>
            <a:r>
              <a:rPr lang="ko-KR" altLang="en-US" sz="900" b="1" i="0" u="none" strike="noStrike">
                <a:solidFill>
                  <a:srgbClr val="0066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년 뒤 </a:t>
            </a:r>
            <a:r>
              <a:rPr lang="en-US" altLang="ko-KR" sz="900" b="1" i="0" u="none" strike="noStrike">
                <a:solidFill>
                  <a:srgbClr val="0066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220</a:t>
            </a:r>
            <a:r>
              <a:rPr lang="ko-KR" altLang="en-US" sz="900" b="1" i="0" u="none" strike="noStrike">
                <a:solidFill>
                  <a:srgbClr val="0066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명 감소 예상</a:t>
            </a:r>
            <a:r>
              <a:rPr lang="en-US" altLang="ko-KR" sz="900" b="1" i="0" u="none" strike="noStrike">
                <a:solidFill>
                  <a:srgbClr val="00660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900" b="1" i="0" u="none" strike="noStrike">
              <a:solidFill>
                <a:srgbClr val="006600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33804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5EE0736-F779-065A-3B75-9F5B686CA9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268516"/>
              </p:ext>
            </p:extLst>
          </p:nvPr>
        </p:nvGraphicFramePr>
        <p:xfrm>
          <a:off x="222982" y="690937"/>
          <a:ext cx="9460036" cy="6012171"/>
        </p:xfrm>
        <a:graphic>
          <a:graphicData uri="http://schemas.openxmlformats.org/drawingml/2006/table">
            <a:tbl>
              <a:tblPr/>
              <a:tblGrid>
                <a:gridCol w="733386">
                  <a:extLst>
                    <a:ext uri="{9D8B030D-6E8A-4147-A177-3AD203B41FA5}">
                      <a16:colId xmlns:a16="http://schemas.microsoft.com/office/drawing/2014/main" val="906005941"/>
                    </a:ext>
                  </a:extLst>
                </a:gridCol>
                <a:gridCol w="2721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228">
                  <a:extLst>
                    <a:ext uri="{9D8B030D-6E8A-4147-A177-3AD203B41FA5}">
                      <a16:colId xmlns:a16="http://schemas.microsoft.com/office/drawing/2014/main" val="2539507338"/>
                    </a:ext>
                  </a:extLst>
                </a:gridCol>
                <a:gridCol w="333228">
                  <a:extLst>
                    <a:ext uri="{9D8B030D-6E8A-4147-A177-3AD203B41FA5}">
                      <a16:colId xmlns:a16="http://schemas.microsoft.com/office/drawing/2014/main" val="480710041"/>
                    </a:ext>
                  </a:extLst>
                </a:gridCol>
                <a:gridCol w="314984">
                  <a:extLst>
                    <a:ext uri="{9D8B030D-6E8A-4147-A177-3AD203B41FA5}">
                      <a16:colId xmlns:a16="http://schemas.microsoft.com/office/drawing/2014/main" val="798521068"/>
                    </a:ext>
                  </a:extLst>
                </a:gridCol>
                <a:gridCol w="3833569">
                  <a:extLst>
                    <a:ext uri="{9D8B030D-6E8A-4147-A177-3AD203B41FA5}">
                      <a16:colId xmlns:a16="http://schemas.microsoft.com/office/drawing/2014/main" val="2039596598"/>
                    </a:ext>
                  </a:extLst>
                </a:gridCol>
                <a:gridCol w="396701">
                  <a:extLst>
                    <a:ext uri="{9D8B030D-6E8A-4147-A177-3AD203B41FA5}">
                      <a16:colId xmlns:a16="http://schemas.microsoft.com/office/drawing/2014/main" val="995049354"/>
                    </a:ext>
                  </a:extLst>
                </a:gridCol>
                <a:gridCol w="396701">
                  <a:extLst>
                    <a:ext uri="{9D8B030D-6E8A-4147-A177-3AD203B41FA5}">
                      <a16:colId xmlns:a16="http://schemas.microsoft.com/office/drawing/2014/main" val="738625066"/>
                    </a:ext>
                  </a:extLst>
                </a:gridCol>
                <a:gridCol w="396701">
                  <a:extLst>
                    <a:ext uri="{9D8B030D-6E8A-4147-A177-3AD203B41FA5}">
                      <a16:colId xmlns:a16="http://schemas.microsoft.com/office/drawing/2014/main" val="2981280447"/>
                    </a:ext>
                  </a:extLst>
                </a:gridCol>
              </a:tblGrid>
              <a:tr h="187883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5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Task </a:t>
                      </a:r>
                      <a:r>
                        <a:rPr lang="ko-KR" altLang="en-US" sz="105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주제</a:t>
                      </a:r>
                      <a:endParaRPr lang="en-US" altLang="ko-KR" sz="1050" b="1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실행시기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200" b="1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200" b="1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주요 </a:t>
                      </a:r>
                      <a:r>
                        <a:rPr lang="en-US" altLang="ko-KR" sz="105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Output</a:t>
                      </a:r>
                      <a:endParaRPr lang="ko-KR" altLang="en-US" sz="1050" b="1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Task </a:t>
                      </a:r>
                      <a:r>
                        <a:rPr lang="ko-KR" altLang="en-US" sz="105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멤버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50" b="1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50" b="1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050" b="1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기획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협력</a:t>
                      </a:r>
                      <a:endParaRPr lang="ko-KR" altLang="en-US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운영</a:t>
                      </a:r>
                      <a:endParaRPr lang="ko-KR" altLang="en-US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541757"/>
                  </a:ext>
                </a:extLst>
              </a:tr>
              <a:tr h="1627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단기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중기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장기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기획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협력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운영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493297"/>
                  </a:ext>
                </a:extLst>
              </a:tr>
              <a:tr h="301530">
                <a:tc rowSpan="3"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50" b="1" i="0" u="none" strike="noStrike" kern="1200" spc="-50" baseline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현장노조</a:t>
                      </a:r>
                      <a:endParaRPr lang="ko-KR" altLang="en-US" sz="1050" b="1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독자적 노경관계 구축 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 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 체졔 확립을 위한 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Action plan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수립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이영준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우선근</a:t>
                      </a:r>
                      <a:b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채수길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임효빈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7385"/>
                  </a:ext>
                </a:extLst>
              </a:tr>
              <a:tr h="301530">
                <a:tc vMerge="1">
                  <a:txBody>
                    <a:bodyPr/>
                    <a:lstStyle/>
                    <a:p>
                      <a:pPr marL="0" lvl="1" indent="0" algn="l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ko-KR" altLang="en-US" sz="1050" b="1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 완결형 노무관리 체계 구축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현장리더의 노무관리 역량 강화 및 지원방안 설계 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곽지호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최윤희</a:t>
                      </a:r>
                      <a:b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김민호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윤재승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3550093"/>
                  </a:ext>
                </a:extLst>
              </a:tr>
              <a:tr h="3517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회사 주도의 노사관계 구축 전략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임단협 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Process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개선을 위한 노조 설득논리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노사관계 불합리한 관행 </a:t>
                      </a:r>
                      <a:b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개선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노동조합 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OL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건전화 방안 수립 등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이시형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우선근</a:t>
                      </a:r>
                      <a:b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채수길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김한결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4360198"/>
                  </a:ext>
                </a:extLst>
              </a:tr>
              <a:tr h="175892">
                <a:tc rowSpan="3"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50" b="1" i="0" u="none" strike="noStrike" kern="1200" spc="-50" baseline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사무노조</a:t>
                      </a:r>
                      <a:endParaRPr lang="ko-KR" altLang="en-US" sz="1050" b="1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세확산 대응 시나리오 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Plan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조합원 규모별 예상이슈 및 대응안 선수립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이영준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우선근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김한결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0187716"/>
                  </a:ext>
                </a:extLst>
              </a:tr>
              <a:tr h="52767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법적이슈 대응</a:t>
                      </a:r>
                      <a:b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-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교섭단위분리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공정대표의무 위반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노사협의회 등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노동위원회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노동청 관련 회사 서면 준 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대응논리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대리인 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Pool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회사 패소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시정지시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 대응방안 선 검토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이영준</a:t>
                      </a:r>
                      <a:b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김지양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최윤희</a:t>
                      </a:r>
                      <a:b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우성민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임효빈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7886213"/>
                  </a:ext>
                </a:extLst>
              </a:tr>
              <a:tr h="351785">
                <a:tc vMerge="1"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ko-KR" altLang="en-US" sz="1000" b="1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신설노조 설립 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과반노조 출범 시 대응전략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신설노조 설립 시 대응안 및 노사관계 운영전략 수립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b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사무노조 과반 시 교섭운영 방향성 및 임단협 타결전략 수립 등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이영준 </a:t>
                      </a:r>
                      <a:b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이시형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우선근</a:t>
                      </a:r>
                      <a:b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우성민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임효빈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2050265"/>
                  </a:ext>
                </a:extLst>
              </a:tr>
              <a:tr h="301530">
                <a:tc rowSpan="4">
                  <a:txBody>
                    <a:bodyPr/>
                    <a:lstStyle/>
                    <a:p>
                      <a:pPr algn="ctr"/>
                      <a:r>
                        <a:rPr lang="ko-KR" altLang="en-US" sz="105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사무직 </a:t>
                      </a:r>
                      <a:br>
                        <a:rPr lang="en-US" altLang="ko-KR" sz="105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5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노경관리</a:t>
                      </a:r>
                      <a:endParaRPr sz="1050" b="1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노경관리 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Index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 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Data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기반 조직점검 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Tool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고도화 및 조직책임자 노경관리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마인드 제고 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이영준 </a:t>
                      </a:r>
                      <a:b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이시형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최윤희</a:t>
                      </a:r>
                      <a:b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김민호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윤재승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4140507"/>
                  </a:ext>
                </a:extLst>
              </a:tr>
              <a:tr h="301530">
                <a:tc vMerge="1">
                  <a:txBody>
                    <a:bodyPr/>
                    <a:lstStyle/>
                    <a:p>
                      <a:pPr algn="ctr"/>
                      <a:endParaRPr sz="1000" b="1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선제적 근로자대표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노사협의회 설치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노사협의회 근로자위원 선발전략 수립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효율적 운영방안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검토 등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김지양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우선근</a:t>
                      </a:r>
                      <a:b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김민호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임효빈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6113800"/>
                  </a:ext>
                </a:extLst>
              </a:tr>
              <a:tr h="301530">
                <a:tc vMerge="1">
                  <a:txBody>
                    <a:bodyPr/>
                    <a:lstStyle/>
                    <a:p>
                      <a:pPr algn="l"/>
                      <a:endParaRPr sz="1050" b="1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조직책임자 노경마인드 제고 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P/G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구축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팀장 조직관리 교육 운영 및 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Care P/G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실시안 수립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김성현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최윤희</a:t>
                      </a:r>
                      <a:b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우성민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임효빈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648268"/>
                  </a:ext>
                </a:extLst>
              </a:tr>
              <a:tr h="175892">
                <a:tc vMerge="1">
                  <a:txBody>
                    <a:bodyPr/>
                    <a:lstStyle/>
                    <a:p>
                      <a:pPr algn="l"/>
                      <a:endParaRPr sz="1050" b="1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자기주도형 노무관리 체계 시스템화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HAY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구축 및 실행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김성현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채수길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윤재승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3613806"/>
                  </a:ext>
                </a:extLst>
              </a:tr>
              <a:tr h="175892">
                <a:tc rowSpan="5"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Global </a:t>
                      </a:r>
                      <a:br>
                        <a:rPr lang="en-US" sz="105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5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노경</a:t>
                      </a:r>
                      <a:endParaRPr sz="1050" b="1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ker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북미 </a:t>
                      </a:r>
                      <a:r>
                        <a:rPr lang="en-US" altLang="ko-KR" sz="1050" b="1" ker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</a:t>
                      </a:r>
                      <a:r>
                        <a:rPr lang="ko-KR" altLang="en-US" sz="1050" b="1" ker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 노조 조직화 대응</a:t>
                      </a:r>
                      <a:endParaRPr lang="en-US" altLang="ko-KR" sz="1050" b="1" kern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UAW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조직화 단계별 대응 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Plan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수립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곽지호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김민호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김한결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556651"/>
                  </a:ext>
                </a:extLst>
              </a:tr>
              <a:tr h="17589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1" i="0" strike="noStrike" kern="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Global </a:t>
                      </a:r>
                      <a:r>
                        <a:rPr lang="ko-KR" altLang="en-US" sz="1050" b="1" ker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노경 역량 점검 </a:t>
                      </a:r>
                      <a:r>
                        <a:rPr lang="en-US" altLang="ko-KR" sz="1050" b="1" kern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Tool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해외법인 노경역량 점검 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Tool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개발 및 활용방안 수립 등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김지양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우성민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임효빈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9923769"/>
                  </a:ext>
                </a:extLst>
              </a:tr>
              <a:tr h="301530">
                <a:tc vMerge="1">
                  <a:txBody>
                    <a:bodyPr/>
                    <a:lstStyle/>
                    <a:p>
                      <a:pPr algn="ctr"/>
                      <a:endParaRPr sz="1000" b="1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ESHM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조직화 대응 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Plan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수립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조직화 상황별 대응 시나리오 구축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비상 시 대응방안 수립 등 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이영준</a:t>
                      </a:r>
                      <a:b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이시형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우선근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윤재승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919546"/>
                  </a:ext>
                </a:extLst>
              </a:tr>
              <a:tr h="301530">
                <a:tc vMerge="1">
                  <a:txBody>
                    <a:bodyPr/>
                    <a:lstStyle/>
                    <a:p>
                      <a:pPr algn="l"/>
                      <a:endParaRPr sz="1050" b="1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Global ER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컨트롤 타워 구축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해외법인별 노경이슈 대응 지원 및 노경 안정화 활동방안 수립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김지양</a:t>
                      </a:r>
                      <a:b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곽지호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채수길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임효빈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499025"/>
                  </a:ext>
                </a:extLst>
              </a:tr>
              <a:tr h="301530">
                <a:tc vMerge="1">
                  <a:txBody>
                    <a:bodyPr/>
                    <a:lstStyle/>
                    <a:p>
                      <a:pPr algn="l"/>
                      <a:endParaRPr sz="1050" b="1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Global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표준 노사관리 모델 구축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 생산법인 적용 가능한 노사관리 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Standard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수립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주체별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이슈별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김지양</a:t>
                      </a:r>
                      <a:b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곽지호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우성민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임효빈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853805"/>
                  </a:ext>
                </a:extLst>
              </a:tr>
              <a:tr h="301530"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05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현장직 </a:t>
                      </a:r>
                      <a:br>
                        <a:rPr lang="en-US" altLang="ko-KR" sz="105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5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인사제도</a:t>
                      </a:r>
                      <a:endParaRPr sz="1050" b="1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현장인력구조 변화 대응 시나리오 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향후 현장인력 구조 변화 예측 및 진급제도 개편안 검토 등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이시형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최윤희</a:t>
                      </a:r>
                      <a:b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우성민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임효빈윤재승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2633145"/>
                  </a:ext>
                </a:extLst>
              </a:tr>
              <a:tr h="301530">
                <a:tc vMerge="1">
                  <a:txBody>
                    <a:bodyPr/>
                    <a:lstStyle/>
                    <a:p>
                      <a:pPr algn="l"/>
                      <a:endParaRPr sz="1050" b="1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현장직 인사제도 해외 표준 가이드 구축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해외법인 현장직 인사제도 표준안 수립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보상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승진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 기능별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이영준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최윤희</a:t>
                      </a:r>
                      <a:b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김민호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윤재승</a:t>
                      </a:r>
                      <a:b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김한결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095575"/>
                  </a:ext>
                </a:extLst>
              </a:tr>
              <a:tr h="301530">
                <a:tc rowSpan="3">
                  <a:txBody>
                    <a:bodyPr/>
                    <a:lstStyle/>
                    <a:p>
                      <a:pPr algn="ctr"/>
                      <a:r>
                        <a:rPr lang="ko-KR" altLang="en-US" sz="105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노경이슈</a:t>
                      </a:r>
                      <a:br>
                        <a:rPr lang="en-US" altLang="ko-KR" sz="105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5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선행대응</a:t>
                      </a:r>
                      <a:endParaRPr sz="1050" b="1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인력효율화 체계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(RMB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제도 수립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시행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고령인력 활용방안 및 인력선순환 쳬계 확립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김지양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b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김성현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채수길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임효빈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7806793"/>
                  </a:ext>
                </a:extLst>
              </a:tr>
              <a:tr h="1758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AI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노무사 구축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AI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를 활용한 노무 특화형 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AI Assistant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구축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이시형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김민호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조영목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8481138"/>
                  </a:ext>
                </a:extLst>
              </a:tr>
              <a:tr h="20815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예측형 노경 </a:t>
                      </a:r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Risk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관리쳬계 구축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105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AI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를 활용한 노경이슈 선행 예측 및 대응안 수립</a:t>
                      </a:r>
                      <a:endParaRPr lang="en-US" altLang="ko-KR" sz="105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이시형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최윤희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윤재승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8674121"/>
                  </a:ext>
                </a:extLst>
              </a:tr>
            </a:tbl>
          </a:graphicData>
        </a:graphic>
      </p:graphicFrame>
      <p:sp>
        <p:nvSpPr>
          <p:cNvPr id="3" name="실행 단추: 홈 45">
            <a:hlinkClick r:id="rId2" action="ppaction://hlinksldjump"/>
            <a:extLst>
              <a:ext uri="{FF2B5EF4-FFF2-40B4-BE49-F238E27FC236}">
                <a16:creationId xmlns:a16="http://schemas.microsoft.com/office/drawing/2014/main" id="{A4870B19-F402-F54E-2BBB-F6472FEF6E4D}"/>
              </a:ext>
            </a:extLst>
          </p:cNvPr>
          <p:cNvSpPr/>
          <p:nvPr/>
        </p:nvSpPr>
        <p:spPr>
          <a:xfrm>
            <a:off x="9237062" y="107566"/>
            <a:ext cx="360000" cy="360000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40E2B5-05B7-EC1F-17EF-573A1E720A90}"/>
              </a:ext>
            </a:extLst>
          </p:cNvPr>
          <p:cNvSpPr txBox="1"/>
          <p:nvPr/>
        </p:nvSpPr>
        <p:spPr>
          <a:xfrm>
            <a:off x="4641169" y="287566"/>
            <a:ext cx="4185116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팀별 </a:t>
            </a: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Task </a:t>
            </a:r>
            <a:r>
              <a:rPr lang="ko-KR" altLang="en-US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멤버 검토 후 최종확정 예정</a:t>
            </a:r>
            <a:r>
              <a:rPr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최소 </a:t>
            </a:r>
            <a:r>
              <a:rPr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 </a:t>
            </a:r>
            <a:r>
              <a:rPr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r>
              <a:rPr lang="ko-KR" altLang="en-US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 이상 </a:t>
            </a:r>
            <a:r>
              <a:rPr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Task </a:t>
            </a:r>
            <a:r>
              <a:rPr lang="ko-KR" altLang="en-US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부여</a:t>
            </a:r>
            <a:r>
              <a:rPr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6C41A0-E576-4F4E-07D4-56DE54140862}"/>
              </a:ext>
            </a:extLst>
          </p:cNvPr>
          <p:cNvSpPr txBox="1"/>
          <p:nvPr/>
        </p:nvSpPr>
        <p:spPr>
          <a:xfrm>
            <a:off x="266604" y="154891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 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Task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계획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안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19219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40E2B5-05B7-EC1F-17EF-573A1E720A90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en-US" altLang="ko-KR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HQ-</a:t>
            </a:r>
            <a:r>
              <a:rPr lang="ko-KR" altLang="en-US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 노경관리 </a:t>
            </a:r>
            <a:r>
              <a:rPr lang="en-US" altLang="ko-KR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R&amp;R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175BAD-CAE1-47AF-58D3-F69185913CFE}"/>
              </a:ext>
            </a:extLst>
          </p:cNvPr>
          <p:cNvSpPr txBox="1"/>
          <p:nvPr/>
        </p:nvSpPr>
        <p:spPr>
          <a:xfrm>
            <a:off x="631825" y="2981378"/>
            <a:ext cx="1042331" cy="535238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13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지역 총괄</a:t>
            </a:r>
            <a:endParaRPr kumimoji="0" lang="ko-KR" altLang="en-US" sz="130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30470F-AE7C-FC5D-B93B-C3EEBBB76DC2}"/>
              </a:ext>
            </a:extLst>
          </p:cNvPr>
          <p:cNvSpPr txBox="1"/>
          <p:nvPr/>
        </p:nvSpPr>
        <p:spPr>
          <a:xfrm>
            <a:off x="631825" y="1052513"/>
            <a:ext cx="1042331" cy="535238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HQ</a:t>
            </a:r>
            <a:endParaRPr kumimoji="0" lang="ko-KR" altLang="en-US" sz="130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3F16A0E-7CE0-7EB1-5273-104D059C8B25}"/>
              </a:ext>
            </a:extLst>
          </p:cNvPr>
          <p:cNvSpPr txBox="1">
            <a:spLocks/>
          </p:cNvSpPr>
          <p:nvPr/>
        </p:nvSpPr>
        <p:spPr>
          <a:xfrm>
            <a:off x="1846722" y="2981378"/>
            <a:ext cx="5112000" cy="257631"/>
          </a:xfrm>
          <a:prstGeom prst="rect">
            <a:avLst/>
          </a:prstGeom>
        </p:spPr>
        <p:txBody>
          <a:bodyPr vert="horz" wrap="square" lIns="36000" tIns="0" rIns="36000" bIns="36000" rtlCol="0">
            <a:spAutoFit/>
          </a:bodyPr>
          <a:lstStyle>
            <a:defPPr>
              <a:defRPr lang="ko-KR"/>
            </a:defPPr>
            <a:lvl1pPr marL="114303" indent="-114303" defTabSz="914423" latinLnBrk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Wingdings" panose="05000000000000000000" pitchFamily="2" charset="2"/>
              <a:buChar char="§"/>
              <a:defRPr sz="1300" b="1" spc="0" baseline="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  <a:lvl2pPr marL="228600" lvl="1" indent="-80963" defTabSz="914423" latinLnBrk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 Narrow" panose="020B0606020202030204" pitchFamily="34" charset="0"/>
              <a:buChar char="-"/>
              <a:defRPr sz="1200" spc="0" baseline="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2pPr>
            <a:lvl3pPr marL="311150" indent="-76200" defTabSz="914423" latinLnBrk="0">
              <a:lnSpc>
                <a:spcPct val="120000"/>
              </a:lnSpc>
              <a:spcBef>
                <a:spcPts val="0"/>
              </a:spcBef>
              <a:buFont typeface="LG스마트체 Regular" panose="020B0600000101010101" pitchFamily="50" charset="-127"/>
              <a:buChar char="ㆍ"/>
              <a:defRPr sz="1300" spc="0" baseline="0"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3pPr>
            <a:lvl4pPr marL="176217" indent="-176217" defTabSz="914423" latinLnBrk="0">
              <a:lnSpc>
                <a:spcPct val="120000"/>
              </a:lnSpc>
              <a:spcBef>
                <a:spcPts val="0"/>
              </a:spcBef>
              <a:buFont typeface="LG스마트체 Regular" panose="020B0600000101010101" pitchFamily="50" charset="-127"/>
              <a:buChar char="☞"/>
              <a:defRPr sz="1400" b="1" spc="0" baseline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4pPr>
            <a:lvl5pPr marL="180980" indent="0" defTabSz="914423" latinLnBrk="0">
              <a:lnSpc>
                <a:spcPct val="120000"/>
              </a:lnSpc>
              <a:spcBef>
                <a:spcPts val="0"/>
              </a:spcBef>
              <a:buFont typeface="Wingdings 2" panose="05020102010507070707" pitchFamily="18" charset="2"/>
              <a:buChar char="Ü"/>
              <a:defRPr sz="1000" spc="0" baseline="0">
                <a:solidFill>
                  <a:srgbClr val="0064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5pPr>
            <a:lvl6pPr marL="93665" indent="-93665" defTabSz="914423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100" baseline="0">
                <a:solidFill>
                  <a:srgbClr val="0137F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6pPr>
            <a:lvl7pPr marL="2971874" indent="-228606" defTabSz="91442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86" indent="-228606" defTabSz="91442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97" indent="-228606" defTabSz="91442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kumimoji="1" lang="ko-KR" altLang="en-US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/>
                <a:ea typeface="LG스마트체 Regular"/>
              </a:rPr>
              <a:t>지역 그룹 내 사업장</a:t>
            </a:r>
            <a:r>
              <a:rPr kumimoji="1" lang="en-US" altLang="ko-KR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/>
                <a:ea typeface="LG스마트체 Regular"/>
              </a:rPr>
              <a:t> </a:t>
            </a:r>
            <a:r>
              <a:rPr kumimoji="1" lang="ko-KR" altLang="en-US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/>
                <a:ea typeface="LG스마트체 Regular"/>
              </a:rPr>
              <a:t>전체에 대한 노경 방향성 수립</a:t>
            </a:r>
            <a:r>
              <a:rPr kumimoji="1" lang="en-US" altLang="ko-KR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/>
                <a:ea typeface="LG스마트체 Regular"/>
              </a:rPr>
              <a:t>, </a:t>
            </a:r>
            <a:r>
              <a:rPr kumimoji="1" lang="ko-KR" altLang="en-US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/>
                <a:ea typeface="LG스마트체 Regular"/>
              </a:rPr>
              <a:t>모니터링 및 이슈 대응 지원</a:t>
            </a:r>
            <a:endParaRPr kumimoji="1" lang="en-US" altLang="ko-KR" kern="0" spc="-4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000000"/>
              </a:solidFill>
              <a:latin typeface="Arial Narrow"/>
              <a:ea typeface="LG스마트체 Regular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00DA051-DA53-154D-15E7-40AF95E4C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636755"/>
              </p:ext>
            </p:extLst>
          </p:nvPr>
        </p:nvGraphicFramePr>
        <p:xfrm>
          <a:off x="2001199" y="3312811"/>
          <a:ext cx="6389766" cy="1036320"/>
        </p:xfrm>
        <a:graphic>
          <a:graphicData uri="http://schemas.openxmlformats.org/drawingml/2006/table">
            <a:tbl>
              <a:tblPr firstRow="1" bandRow="1"/>
              <a:tblGrid>
                <a:gridCol w="774517">
                  <a:extLst>
                    <a:ext uri="{9D8B030D-6E8A-4147-A177-3AD203B41FA5}">
                      <a16:colId xmlns:a16="http://schemas.microsoft.com/office/drawing/2014/main" val="3783700300"/>
                    </a:ext>
                  </a:extLst>
                </a:gridCol>
                <a:gridCol w="5615249">
                  <a:extLst>
                    <a:ext uri="{9D8B030D-6E8A-4147-A177-3AD203B41FA5}">
                      <a16:colId xmlns:a16="http://schemas.microsoft.com/office/drawing/2014/main" val="3685088954"/>
                    </a:ext>
                  </a:extLst>
                </a:gridCol>
              </a:tblGrid>
              <a:tr h="23201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>
                        <a:spcAft>
                          <a:spcPts val="300"/>
                        </a:spcAft>
                      </a:pPr>
                      <a:r>
                        <a:rPr lang="ko-KR" altLang="en-US" sz="11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기획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19050" indent="0" algn="l" defTabSz="914400" rtl="0" eaLnBrk="1" fontAlgn="ctr" latinLnBrk="1" hangingPunct="1">
                        <a:spcAft>
                          <a:spcPts val="3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노동 동향 </a:t>
                      </a:r>
                      <a:r>
                        <a:rPr lang="en-US" altLang="ko-KR" sz="11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Sensing / </a:t>
                      </a: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</a:t>
                      </a:r>
                      <a:r>
                        <a:rPr lang="en-US" altLang="ko-KR" sz="11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공유</a:t>
                      </a:r>
                      <a:r>
                        <a:rPr lang="en-US" altLang="ko-KR" sz="11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외부 행정기관</a:t>
                      </a:r>
                      <a:r>
                        <a:rPr lang="en-US" altLang="ko-KR" sz="11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로펌 등과의 협업 체계 구축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732072"/>
                  </a:ext>
                </a:extLst>
              </a:tr>
              <a:tr h="22428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>
                        <a:spcAft>
                          <a:spcPts val="300"/>
                        </a:spcAft>
                      </a:pPr>
                      <a:r>
                        <a:rPr lang="ko-KR" altLang="en-US" sz="11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모니터링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1905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노경 </a:t>
                      </a:r>
                      <a:r>
                        <a:rPr kumimoji="1" lang="en-US" altLang="ko-KR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Compliance Risk </a:t>
                      </a: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모니터링</a:t>
                      </a:r>
                      <a:r>
                        <a:rPr kumimoji="1" lang="en-US" altLang="ko-KR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HQ</a:t>
                      </a: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와의 중개 역할</a:t>
                      </a:r>
                      <a:r>
                        <a:rPr kumimoji="1" lang="en-US" altLang="ko-KR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정보 공유</a:t>
                      </a:r>
                      <a:r>
                        <a:rPr kumimoji="1" lang="en-US" altLang="ko-KR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보고 등</a:t>
                      </a:r>
                      <a:r>
                        <a:rPr kumimoji="1" lang="en-US" altLang="ko-KR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195659"/>
                  </a:ext>
                </a:extLst>
              </a:tr>
              <a:tr h="19840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>
                        <a:spcAft>
                          <a:spcPts val="300"/>
                        </a:spcAft>
                      </a:pPr>
                      <a:r>
                        <a:rPr lang="ko-KR" altLang="en-US" sz="11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지원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1905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사업장 별 이슈 상시 관리 지원</a:t>
                      </a:r>
                      <a:r>
                        <a:rPr kumimoji="0" lang="en-US" altLang="ko-KR" sz="1100" b="0" kern="1200" spc="-5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</a:t>
                      </a:r>
                      <a:r>
                        <a:rPr kumimoji="0" lang="ko-KR" altLang="en-US" sz="1100" b="0" kern="1200" spc="-5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노경관리 </a:t>
                      </a:r>
                      <a:r>
                        <a:rPr kumimoji="1" lang="en-US" altLang="ko-KR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Best Practice </a:t>
                      </a: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발굴 </a:t>
                      </a:r>
                      <a:r>
                        <a:rPr kumimoji="1" lang="en-US" altLang="ko-KR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공유</a:t>
                      </a:r>
                      <a:endParaRPr kumimoji="1" lang="en-US" altLang="ko-KR" sz="1100" kern="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94964"/>
                  </a:ext>
                </a:extLst>
              </a:tr>
              <a:tr h="25879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>
                        <a:spcAft>
                          <a:spcPts val="300"/>
                        </a:spcAft>
                      </a:pPr>
                      <a:r>
                        <a:rPr lang="ko-KR" altLang="en-US" sz="11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교섭 대응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1905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노조 설립</a:t>
                      </a:r>
                      <a:r>
                        <a:rPr kumimoji="1" lang="en-US" altLang="ko-KR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유사 시</a:t>
                      </a:r>
                      <a:r>
                        <a:rPr kumimoji="1" lang="en-US" altLang="ko-KR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단체 교섭</a:t>
                      </a:r>
                      <a:r>
                        <a:rPr kumimoji="1" lang="en-US" altLang="ko-KR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</a:t>
                      </a: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단위</a:t>
                      </a:r>
                      <a:r>
                        <a:rPr kumimoji="1" lang="en-US" altLang="ko-KR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대응 시</a:t>
                      </a:r>
                      <a:r>
                        <a:rPr kumimoji="1" lang="en-US" altLang="ko-KR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법인</a:t>
                      </a:r>
                      <a:r>
                        <a:rPr kumimoji="1" lang="en-US" altLang="ko-KR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노경 등 유관 조직과 </a:t>
                      </a:r>
                      <a:r>
                        <a:rPr kumimoji="1" lang="en-US" altLang="ko-KR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TFT </a:t>
                      </a: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참여</a:t>
                      </a:r>
                      <a:endParaRPr kumimoji="1" lang="en-US" altLang="ko-KR" sz="1100" kern="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777093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72329BE-77D2-C964-7836-0B5127DF3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381569"/>
              </p:ext>
            </p:extLst>
          </p:nvPr>
        </p:nvGraphicFramePr>
        <p:xfrm>
          <a:off x="2001199" y="1388682"/>
          <a:ext cx="6389766" cy="1241152"/>
        </p:xfrm>
        <a:graphic>
          <a:graphicData uri="http://schemas.openxmlformats.org/drawingml/2006/table">
            <a:tbl>
              <a:tblPr firstRow="1" bandRow="1"/>
              <a:tblGrid>
                <a:gridCol w="774517">
                  <a:extLst>
                    <a:ext uri="{9D8B030D-6E8A-4147-A177-3AD203B41FA5}">
                      <a16:colId xmlns:a16="http://schemas.microsoft.com/office/drawing/2014/main" val="3783700300"/>
                    </a:ext>
                  </a:extLst>
                </a:gridCol>
                <a:gridCol w="5615249">
                  <a:extLst>
                    <a:ext uri="{9D8B030D-6E8A-4147-A177-3AD203B41FA5}">
                      <a16:colId xmlns:a16="http://schemas.microsoft.com/office/drawing/2014/main" val="3685088954"/>
                    </a:ext>
                  </a:extLst>
                </a:gridCol>
              </a:tblGrid>
              <a:tr h="24086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>
                        <a:spcAft>
                          <a:spcPts val="300"/>
                        </a:spcAft>
                      </a:pPr>
                      <a:r>
                        <a:rPr lang="ko-KR" altLang="en-US" sz="11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전략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19050" indent="0" algn="l" defTabSz="914400" rtl="0" eaLnBrk="1" fontAlgn="ctr" latinLnBrk="1" hangingPunct="1">
                        <a:spcAft>
                          <a:spcPts val="3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글로벌 노경 전략</a:t>
                      </a:r>
                      <a:r>
                        <a:rPr lang="en-US" altLang="ko-KR" sz="11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정책 수립</a:t>
                      </a:r>
                      <a:r>
                        <a:rPr lang="en-US" altLang="ko-KR" sz="11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전파</a:t>
                      </a:r>
                      <a:endParaRPr lang="en-US" altLang="ko-KR" sz="1100" b="0" kern="120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" marT="3600" marB="36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732072"/>
                  </a:ext>
                </a:extLst>
              </a:tr>
              <a:tr h="24086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>
                        <a:spcAft>
                          <a:spcPts val="300"/>
                        </a:spcAft>
                      </a:pPr>
                      <a:r>
                        <a:rPr lang="ko-KR" altLang="en-US" sz="11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기획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19050" indent="0" algn="l" defTabSz="914400" rtl="0" eaLnBrk="1" fontAlgn="ctr" latinLnBrk="1" hangingPunct="1">
                        <a:spcAft>
                          <a:spcPts val="3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각종 노경 관련 제도 표준화</a:t>
                      </a:r>
                      <a:r>
                        <a:rPr lang="en-US" altLang="ko-KR" sz="11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매뉴얼 제작</a:t>
                      </a:r>
                      <a:r>
                        <a:rPr lang="en-US" altLang="ko-KR" sz="11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가이드 마련</a:t>
                      </a:r>
                      <a:endParaRPr lang="en-US" altLang="ko-KR" sz="1100" b="0" kern="120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" marT="3600" marB="36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907121"/>
                  </a:ext>
                </a:extLst>
              </a:tr>
              <a:tr h="22951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>
                        <a:spcAft>
                          <a:spcPts val="300"/>
                        </a:spcAft>
                      </a:pPr>
                      <a:r>
                        <a:rPr lang="ko-KR" altLang="en-US" sz="11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육성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1905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노경관리 역량 향상 프로그램 운영</a:t>
                      </a:r>
                      <a:r>
                        <a:rPr kumimoji="1" lang="en-US" altLang="ko-KR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kumimoji="1" lang="ko-KR" altLang="en-US" sz="1100" kern="0" spc="-5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법인별</a:t>
                      </a: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필요 </a:t>
                      </a:r>
                      <a:r>
                        <a:rPr kumimoji="1" lang="en-US" altLang="ko-KR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Resource </a:t>
                      </a: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제공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195659"/>
                  </a:ext>
                </a:extLst>
              </a:tr>
              <a:tr h="25016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>
                        <a:spcAft>
                          <a:spcPts val="300"/>
                        </a:spcAft>
                      </a:pPr>
                      <a:r>
                        <a:rPr lang="ko-KR" altLang="en-US" sz="11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지원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1905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조직화 등 주요 집단적 노경관계 이슈 </a:t>
                      </a:r>
                      <a:r>
                        <a:rPr kumimoji="1" lang="en-US" altLang="ko-KR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TF </a:t>
                      </a: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공동 대응</a:t>
                      </a:r>
                      <a:r>
                        <a:rPr kumimoji="1" lang="en-US" altLang="ko-KR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사업 관련 이슈 대응 지원</a:t>
                      </a:r>
                      <a:endParaRPr kumimoji="1" lang="en-US" altLang="ko-KR" sz="1100" kern="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" marT="3600" marB="36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94964"/>
                  </a:ext>
                </a:extLst>
              </a:tr>
              <a:tr h="25016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교섭 대응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1905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노조 설립</a:t>
                      </a:r>
                      <a:r>
                        <a:rPr kumimoji="1" lang="en-US" altLang="ko-KR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유사 시</a:t>
                      </a:r>
                      <a:r>
                        <a:rPr kumimoji="1" lang="en-US" altLang="ko-KR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), </a:t>
                      </a: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단체 교섭</a:t>
                      </a:r>
                      <a:r>
                        <a:rPr kumimoji="1" lang="en-US" altLang="ko-KR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</a:t>
                      </a: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단위</a:t>
                      </a:r>
                      <a:r>
                        <a:rPr kumimoji="1" lang="en-US" altLang="ko-KR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대응 시</a:t>
                      </a:r>
                      <a:r>
                        <a:rPr kumimoji="1" lang="en-US" altLang="ko-KR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유관 조직과 </a:t>
                      </a:r>
                      <a:r>
                        <a:rPr kumimoji="1" lang="en-US" altLang="ko-KR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TFT </a:t>
                      </a: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구성 </a:t>
                      </a:r>
                      <a:r>
                        <a:rPr kumimoji="1" lang="en-US" altLang="ko-KR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kumimoji="1" lang="ko-KR" altLang="en-US" sz="1100" kern="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운영</a:t>
                      </a:r>
                      <a:endParaRPr kumimoji="1" lang="en-US" altLang="ko-KR" sz="1100" kern="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" marT="3600" marB="36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020816"/>
                  </a:ext>
                </a:extLst>
              </a:tr>
            </a:tbl>
          </a:graphicData>
        </a:graphic>
      </p:graphicFrame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656C14DF-7C6B-2361-A806-98787D18A03C}"/>
              </a:ext>
            </a:extLst>
          </p:cNvPr>
          <p:cNvSpPr txBox="1">
            <a:spLocks/>
          </p:cNvSpPr>
          <p:nvPr/>
        </p:nvSpPr>
        <p:spPr>
          <a:xfrm>
            <a:off x="1846721" y="1052513"/>
            <a:ext cx="7924808" cy="257631"/>
          </a:xfrm>
          <a:prstGeom prst="rect">
            <a:avLst/>
          </a:prstGeom>
        </p:spPr>
        <p:txBody>
          <a:bodyPr vert="horz" wrap="square" lIns="36000" tIns="0" rIns="36000" bIns="36000" rtlCol="0">
            <a:spAutoFit/>
          </a:bodyPr>
          <a:lstStyle>
            <a:defPPr>
              <a:defRPr lang="ko-KR"/>
            </a:defPPr>
            <a:lvl1pPr marL="114303" indent="-114303" defTabSz="914423" latinLnBrk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Wingdings" panose="05000000000000000000" pitchFamily="2" charset="2"/>
              <a:buChar char="§"/>
              <a:defRPr sz="1300" b="1" spc="0" baseline="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  <a:lvl2pPr marL="228600" lvl="1" indent="-80963" defTabSz="914423" latinLnBrk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 Narrow" panose="020B0606020202030204" pitchFamily="34" charset="0"/>
              <a:buChar char="-"/>
              <a:defRPr sz="1200" spc="0" baseline="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2pPr>
            <a:lvl3pPr marL="311150" indent="-76200" defTabSz="914423" latinLnBrk="0">
              <a:lnSpc>
                <a:spcPct val="120000"/>
              </a:lnSpc>
              <a:spcBef>
                <a:spcPts val="0"/>
              </a:spcBef>
              <a:buFont typeface="LG스마트체 Regular" panose="020B0600000101010101" pitchFamily="50" charset="-127"/>
              <a:buChar char="ㆍ"/>
              <a:defRPr sz="1300" spc="0" baseline="0"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3pPr>
            <a:lvl4pPr marL="176217" indent="-176217" defTabSz="914423" latinLnBrk="0">
              <a:lnSpc>
                <a:spcPct val="120000"/>
              </a:lnSpc>
              <a:spcBef>
                <a:spcPts val="0"/>
              </a:spcBef>
              <a:buFont typeface="LG스마트체 Regular" panose="020B0600000101010101" pitchFamily="50" charset="-127"/>
              <a:buChar char="☞"/>
              <a:defRPr sz="1400" b="1" spc="0" baseline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4pPr>
            <a:lvl5pPr marL="180980" indent="0" defTabSz="914423" latinLnBrk="0">
              <a:lnSpc>
                <a:spcPct val="120000"/>
              </a:lnSpc>
              <a:spcBef>
                <a:spcPts val="0"/>
              </a:spcBef>
              <a:buFont typeface="Wingdings 2" panose="05020102010507070707" pitchFamily="18" charset="2"/>
              <a:buChar char="Ü"/>
              <a:defRPr sz="1000" spc="0" baseline="0">
                <a:solidFill>
                  <a:srgbClr val="0064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5pPr>
            <a:lvl6pPr marL="93665" indent="-93665" defTabSz="914423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100" baseline="0">
                <a:solidFill>
                  <a:srgbClr val="0137F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6pPr>
            <a:lvl7pPr marL="2971874" indent="-228606" defTabSz="91442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86" indent="-228606" defTabSz="91442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97" indent="-228606" defTabSz="91442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kumimoji="1" lang="en-US" altLang="ko-KR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/>
                <a:ea typeface="LG스마트체 Regular"/>
              </a:rPr>
              <a:t>HQ </a:t>
            </a:r>
            <a:r>
              <a:rPr kumimoji="1" lang="ko-KR" altLang="en-US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/>
                <a:ea typeface="LG스마트체 Regular"/>
              </a:rPr>
              <a:t>노경은 글로벌 </a:t>
            </a:r>
            <a:r>
              <a:rPr kumimoji="1" lang="en-US" altLang="ko-KR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/>
                <a:ea typeface="LG스마트체 Regular"/>
              </a:rPr>
              <a:t>Policy </a:t>
            </a:r>
            <a:r>
              <a:rPr kumimoji="1" lang="ko-KR" altLang="en-US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/>
                <a:ea typeface="LG스마트체 Regular"/>
              </a:rPr>
              <a:t>수립</a:t>
            </a:r>
            <a:r>
              <a:rPr kumimoji="1" lang="en-US" altLang="ko-KR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/>
                <a:ea typeface="LG스마트체 Regular"/>
              </a:rPr>
              <a:t>, </a:t>
            </a:r>
            <a:r>
              <a:rPr kumimoji="1" lang="ko-KR" altLang="en-US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/>
                <a:ea typeface="LG스마트체 Regular"/>
              </a:rPr>
              <a:t>유관부서 공조 체제 구축</a:t>
            </a:r>
            <a:r>
              <a:rPr kumimoji="1" lang="en-US" altLang="ko-KR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/>
                <a:ea typeface="LG스마트체 Regular"/>
              </a:rPr>
              <a:t>, </a:t>
            </a:r>
            <a:r>
              <a:rPr kumimoji="1" lang="ko-KR" altLang="en-US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/>
                <a:ea typeface="LG스마트체 Regular"/>
              </a:rPr>
              <a:t>협약 분석 </a:t>
            </a:r>
            <a:r>
              <a:rPr kumimoji="1" lang="en-US" altLang="ko-KR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/>
                <a:ea typeface="LG스마트체 Regular"/>
              </a:rPr>
              <a:t>/ </a:t>
            </a:r>
            <a:r>
              <a:rPr kumimoji="1" lang="ko-KR" altLang="en-US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/>
                <a:ea typeface="LG스마트체 Regular"/>
              </a:rPr>
              <a:t>전략 수립 등을 수행하며 전담 인력을 통한 지원 수행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8EF284-B2EE-2B72-FCF3-AF395128C2C9}"/>
              </a:ext>
            </a:extLst>
          </p:cNvPr>
          <p:cNvSpPr txBox="1"/>
          <p:nvPr/>
        </p:nvSpPr>
        <p:spPr>
          <a:xfrm>
            <a:off x="631825" y="4740047"/>
            <a:ext cx="1042331" cy="535238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생산법인</a:t>
            </a:r>
            <a:endParaRPr kumimoji="0" lang="en-US" altLang="ko-KR" sz="130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F7DF831A-A747-1F08-1D44-41DC5E78AD6C}"/>
              </a:ext>
            </a:extLst>
          </p:cNvPr>
          <p:cNvSpPr txBox="1">
            <a:spLocks/>
          </p:cNvSpPr>
          <p:nvPr/>
        </p:nvSpPr>
        <p:spPr>
          <a:xfrm>
            <a:off x="1846722" y="4740047"/>
            <a:ext cx="7171772" cy="257631"/>
          </a:xfrm>
          <a:prstGeom prst="rect">
            <a:avLst/>
          </a:prstGeom>
        </p:spPr>
        <p:txBody>
          <a:bodyPr vert="horz" wrap="square" lIns="36000" tIns="0" rIns="36000" bIns="36000" rtlCol="0">
            <a:spAutoFit/>
          </a:bodyPr>
          <a:lstStyle>
            <a:defPPr>
              <a:defRPr lang="ko-KR"/>
            </a:defPPr>
            <a:lvl1pPr marL="114303" indent="-114303" defTabSz="914423" latinLnBrk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Wingdings" panose="05000000000000000000" pitchFamily="2" charset="2"/>
              <a:buChar char="§"/>
              <a:defRPr sz="1300" b="1" spc="0" baseline="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  <a:lvl2pPr marL="228600" lvl="1" indent="-80963" defTabSz="914423" latinLnBrk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 Narrow" panose="020B0606020202030204" pitchFamily="34" charset="0"/>
              <a:buChar char="-"/>
              <a:defRPr sz="1200" spc="0" baseline="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2pPr>
            <a:lvl3pPr marL="311150" indent="-76200" defTabSz="914423" latinLnBrk="0">
              <a:lnSpc>
                <a:spcPct val="120000"/>
              </a:lnSpc>
              <a:spcBef>
                <a:spcPts val="0"/>
              </a:spcBef>
              <a:buFont typeface="LG스마트체 Regular" panose="020B0600000101010101" pitchFamily="50" charset="-127"/>
              <a:buChar char="ㆍ"/>
              <a:defRPr sz="1300" spc="0" baseline="0"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3pPr>
            <a:lvl4pPr marL="176217" indent="-176217" defTabSz="914423" latinLnBrk="0">
              <a:lnSpc>
                <a:spcPct val="120000"/>
              </a:lnSpc>
              <a:spcBef>
                <a:spcPts val="0"/>
              </a:spcBef>
              <a:buFont typeface="LG스마트체 Regular" panose="020B0600000101010101" pitchFamily="50" charset="-127"/>
              <a:buChar char="☞"/>
              <a:defRPr sz="1400" b="1" spc="0" baseline="0">
                <a:solidFill>
                  <a:srgbClr val="C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4pPr>
            <a:lvl5pPr marL="180980" indent="0" defTabSz="914423" latinLnBrk="0">
              <a:lnSpc>
                <a:spcPct val="120000"/>
              </a:lnSpc>
              <a:spcBef>
                <a:spcPts val="0"/>
              </a:spcBef>
              <a:buFont typeface="Wingdings 2" panose="05020102010507070707" pitchFamily="18" charset="2"/>
              <a:buChar char="Ü"/>
              <a:defRPr sz="1000" spc="0" baseline="0">
                <a:solidFill>
                  <a:srgbClr val="0064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5pPr>
            <a:lvl6pPr marL="93665" indent="-93665" defTabSz="914423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100" baseline="0">
                <a:solidFill>
                  <a:srgbClr val="0137F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</a:defRPr>
            </a:lvl6pPr>
            <a:lvl7pPr marL="2971874" indent="-228606" defTabSz="91442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86" indent="-228606" defTabSz="91442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97" indent="-228606" defTabSz="91442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kumimoji="1" lang="ko-KR" altLang="en-US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/>
                <a:ea typeface="LG스마트체 Regular"/>
              </a:rPr>
              <a:t>생산법인은 현지 노경 조직과 적정 인원을 배치해 상시 노경관리를 실행하며 법인 완결형 노경관리 체계를 구축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A598D34-F6B3-C6A7-945C-1E02D2420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914202"/>
              </p:ext>
            </p:extLst>
          </p:nvPr>
        </p:nvGraphicFramePr>
        <p:xfrm>
          <a:off x="2001199" y="5068337"/>
          <a:ext cx="6389766" cy="1036320"/>
        </p:xfrm>
        <a:graphic>
          <a:graphicData uri="http://schemas.openxmlformats.org/drawingml/2006/table">
            <a:tbl>
              <a:tblPr firstRow="1" bandRow="1"/>
              <a:tblGrid>
                <a:gridCol w="777734">
                  <a:extLst>
                    <a:ext uri="{9D8B030D-6E8A-4147-A177-3AD203B41FA5}">
                      <a16:colId xmlns:a16="http://schemas.microsoft.com/office/drawing/2014/main" val="3783700300"/>
                    </a:ext>
                  </a:extLst>
                </a:gridCol>
                <a:gridCol w="5612032">
                  <a:extLst>
                    <a:ext uri="{9D8B030D-6E8A-4147-A177-3AD203B41FA5}">
                      <a16:colId xmlns:a16="http://schemas.microsoft.com/office/drawing/2014/main" val="3685088954"/>
                    </a:ext>
                  </a:extLst>
                </a:gridCol>
              </a:tblGrid>
              <a:tr h="21472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기획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노경 동향 취합</a:t>
                      </a:r>
                      <a:r>
                        <a:rPr lang="en-US" altLang="ko-KR" sz="11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전략 과제 수립</a:t>
                      </a:r>
                      <a:r>
                        <a:rPr lang="en-US" altLang="ko-KR" sz="11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노경 </a:t>
                      </a:r>
                      <a:r>
                        <a:rPr lang="en-US" altLang="ko-KR" sz="11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Compliance risk </a:t>
                      </a:r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관리</a:t>
                      </a:r>
                      <a:endParaRPr lang="en-US" sz="1100" b="0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732072"/>
                  </a:ext>
                </a:extLst>
              </a:tr>
              <a:tr h="21472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현장 관리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1100" b="0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구성원 </a:t>
                      </a:r>
                      <a:r>
                        <a:rPr lang="en-US" altLang="ko-KR" sz="1100" b="0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VOE </a:t>
                      </a:r>
                      <a:r>
                        <a:rPr lang="ko-KR" altLang="en-US" sz="1100" b="0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관리</a:t>
                      </a:r>
                      <a:r>
                        <a:rPr lang="en-US" altLang="ko-KR" sz="1100" b="0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b="0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현장관리자 및 구성원 협의체 운영</a:t>
                      </a:r>
                      <a:endParaRPr lang="en-US" sz="1100" b="0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195659"/>
                  </a:ext>
                </a:extLst>
              </a:tr>
              <a:tr h="21472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조직 문화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1100" b="0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조직 문화 전파</a:t>
                      </a:r>
                      <a:r>
                        <a:rPr lang="en-US" altLang="ko-KR" sz="1100" b="0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b="0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구성원 </a:t>
                      </a:r>
                      <a:r>
                        <a:rPr lang="en-US" altLang="ko-KR" sz="1100" b="0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Comm. </a:t>
                      </a:r>
                      <a:r>
                        <a:rPr lang="ko-KR" altLang="en-US" sz="1100" b="0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홍보</a:t>
                      </a:r>
                      <a:endParaRPr lang="en-US" sz="1100" b="0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94964"/>
                  </a:ext>
                </a:extLst>
              </a:tr>
              <a:tr h="21472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이슈 대응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1100" b="0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노조 조직화</a:t>
                      </a:r>
                      <a:r>
                        <a:rPr lang="en-US" altLang="ko-KR" sz="1100" b="0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b="0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교섭 및 집단 행동</a:t>
                      </a:r>
                      <a:r>
                        <a:rPr lang="en-US" altLang="ko-KR" sz="1100" b="0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100" b="0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대관 활동 등</a:t>
                      </a:r>
                      <a:endParaRPr lang="en-US" sz="1100" b="0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24443"/>
                  </a:ext>
                </a:extLst>
              </a:tr>
            </a:tbl>
          </a:graphicData>
        </a:graphic>
      </p:graphicFrame>
      <p:sp>
        <p:nvSpPr>
          <p:cNvPr id="3" name="실행 단추: 홈 45">
            <a:hlinkClick r:id="rId2" action="ppaction://hlinksldjump"/>
            <a:extLst>
              <a:ext uri="{FF2B5EF4-FFF2-40B4-BE49-F238E27FC236}">
                <a16:creationId xmlns:a16="http://schemas.microsoft.com/office/drawing/2014/main" id="{3B7D1C42-FAF5-F1B7-4CCE-EFD63953CF1C}"/>
              </a:ext>
            </a:extLst>
          </p:cNvPr>
          <p:cNvSpPr/>
          <p:nvPr/>
        </p:nvSpPr>
        <p:spPr>
          <a:xfrm>
            <a:off x="9237062" y="107566"/>
            <a:ext cx="360000" cy="360000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25809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4E2CA-E3A5-48E9-945E-313363ACC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753" y="2048040"/>
            <a:ext cx="6590564" cy="463846"/>
          </a:xfrm>
        </p:spPr>
        <p:txBody>
          <a:bodyPr/>
          <a:lstStyle/>
          <a:p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ESMI </a:t>
            </a:r>
            <a:r>
              <a:rPr lang="ko-KR" alt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랜싱</a:t>
            </a:r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조직화 취약성 진단 및 조직화 선행 대응 </a:t>
            </a:r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Plan</a:t>
            </a:r>
            <a:endParaRPr lang="ko-KR" alt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FCFC5727-65C6-47DD-9C54-81D598C66FE7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1208088" y="5174259"/>
            <a:ext cx="2357033" cy="309958"/>
          </a:xfrm>
        </p:spPr>
        <p:txBody>
          <a:bodyPr/>
          <a:lstStyle/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LG스마트체 Regular" panose="020B0600000101010101" pitchFamily="50" charset="-127"/>
              </a:rPr>
              <a:t>HQ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노경기획팀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&amp;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북미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LG스마트체 Regular" panose="020B0600000101010101" pitchFamily="50" charset="-127"/>
              </a:rPr>
              <a:t>ER Part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E52BA4-F2AB-0676-FB83-7E0B4EEC8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50753" y="2532380"/>
            <a:ext cx="3753056" cy="568490"/>
          </a:xfrm>
        </p:spPr>
        <p:txBody>
          <a:bodyPr/>
          <a:lstStyle/>
          <a:p>
            <a:r>
              <a:rPr lang="en-US" altLang="ko-KR" sz="1400" spc="-31" dirty="0">
                <a:solidFill>
                  <a:schemeClr val="tx1">
                    <a:lumMod val="50000"/>
                    <a:lumOff val="50000"/>
                  </a:schemeClr>
                </a:solidFill>
                <a:ea typeface="LG스마트체 Regular" panose="020B0600000101010101" pitchFamily="50" charset="-127"/>
                <a:cs typeface="+mj-cs"/>
              </a:rPr>
              <a:t>- Supervisor </a:t>
            </a:r>
            <a:r>
              <a:rPr lang="ko-KR" altLang="en-US" sz="1400" spc="-31" dirty="0">
                <a:solidFill>
                  <a:schemeClr val="tx1">
                    <a:lumMod val="50000"/>
                    <a:lumOff val="50000"/>
                  </a:schemeClr>
                </a:solidFill>
                <a:ea typeface="LG스마트체 Regular" panose="020B0600000101010101" pitchFamily="50" charset="-127"/>
                <a:cs typeface="+mj-cs"/>
              </a:rPr>
              <a:t>인터뷰를 통한 조직화 취약성 점검</a:t>
            </a:r>
          </a:p>
          <a:p>
            <a:r>
              <a:rPr lang="en-US" altLang="ko-KR" sz="1400" spc="-31" dirty="0">
                <a:solidFill>
                  <a:schemeClr val="tx1">
                    <a:lumMod val="50000"/>
                    <a:lumOff val="50000"/>
                  </a:schemeClr>
                </a:solidFill>
                <a:ea typeface="LG스마트체 Regular" panose="020B0600000101010101" pitchFamily="50" charset="-127"/>
                <a:cs typeface="+mj-cs"/>
              </a:rPr>
              <a:t>- </a:t>
            </a:r>
            <a:r>
              <a:rPr lang="ko-KR" altLang="en-US" sz="1400" spc="-31" dirty="0">
                <a:solidFill>
                  <a:schemeClr val="tx1">
                    <a:lumMod val="50000"/>
                    <a:lumOff val="50000"/>
                  </a:schemeClr>
                </a:solidFill>
                <a:ea typeface="LG스마트체 Regular" panose="020B0600000101010101" pitchFamily="50" charset="-127"/>
                <a:cs typeface="+mj-cs"/>
              </a:rPr>
              <a:t>조직화 선행대응 </a:t>
            </a:r>
            <a:r>
              <a:rPr lang="en-US" altLang="ko-KR" sz="1400" spc="-31" dirty="0">
                <a:solidFill>
                  <a:schemeClr val="tx1">
                    <a:lumMod val="50000"/>
                    <a:lumOff val="50000"/>
                  </a:schemeClr>
                </a:solidFill>
                <a:ea typeface="LG스마트체 Regular" panose="020B0600000101010101" pitchFamily="50" charset="-127"/>
                <a:cs typeface="+mj-cs"/>
              </a:rPr>
              <a:t>Plan</a:t>
            </a:r>
            <a:r>
              <a:rPr lang="ko-KR" altLang="en-US" spc="-31" dirty="0">
                <a:solidFill>
                  <a:schemeClr val="tx1">
                    <a:lumMod val="50000"/>
                    <a:lumOff val="50000"/>
                  </a:schemeClr>
                </a:solidFill>
                <a:ea typeface="LG스마트체 Regular" panose="020B0600000101010101" pitchFamily="50" charset="-127"/>
                <a:cs typeface="+mj-cs"/>
              </a:rPr>
              <a:t> </a:t>
            </a:r>
            <a:r>
              <a:rPr lang="en-US" altLang="ko-KR" sz="1400" spc="-31" dirty="0">
                <a:solidFill>
                  <a:schemeClr val="tx1">
                    <a:lumMod val="50000"/>
                    <a:lumOff val="50000"/>
                  </a:schemeClr>
                </a:solidFill>
                <a:ea typeface="LG스마트체 Regular" panose="020B0600000101010101" pitchFamily="50" charset="-127"/>
                <a:cs typeface="+mj-cs"/>
              </a:rPr>
              <a:t>(Proactive Response Plan) </a:t>
            </a:r>
            <a:r>
              <a:rPr lang="ko-KR" altLang="en-US" sz="1400" spc="-31" dirty="0">
                <a:solidFill>
                  <a:schemeClr val="tx1">
                    <a:lumMod val="50000"/>
                    <a:lumOff val="50000"/>
                  </a:schemeClr>
                </a:solidFill>
                <a:ea typeface="LG스마트체 Regular" panose="020B0600000101010101" pitchFamily="50" charset="-127"/>
                <a:cs typeface="+mj-cs"/>
              </a:rPr>
              <a:t>수립</a:t>
            </a:r>
          </a:p>
        </p:txBody>
      </p:sp>
    </p:spTree>
    <p:extLst>
      <p:ext uri="{BB962C8B-B14F-4D97-AF65-F5344CB8AC3E}">
        <p14:creationId xmlns:p14="http://schemas.microsoft.com/office/powerpoint/2010/main" val="22509216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FC6B9A-2323-B293-6C16-E6C56E78C1F3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C390C76-C4DA-6431-7535-EEB301ECA63D}"/>
              </a:ext>
            </a:extLst>
          </p:cNvPr>
          <p:cNvSpPr/>
          <p:nvPr/>
        </p:nvSpPr>
        <p:spPr bwMode="auto">
          <a:xfrm>
            <a:off x="2765612" y="2040073"/>
            <a:ext cx="4374776" cy="3826445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돋움체" pitchFamily="49" charset="-127"/>
              <a:cs typeface="+mn-cs"/>
            </a:endParaRPr>
          </a:p>
        </p:txBody>
      </p:sp>
      <p:sp>
        <p:nvSpPr>
          <p:cNvPr id="13" name="제목 3">
            <a:extLst>
              <a:ext uri="{FF2B5EF4-FFF2-40B4-BE49-F238E27FC236}">
                <a16:creationId xmlns:a16="http://schemas.microsoft.com/office/drawing/2014/main" id="{07EB204F-ACBD-ECBD-D3C0-1C681F82A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2542" y="1867966"/>
            <a:ext cx="2300916" cy="369332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altLang="ko-KR" sz="2400" spc="-50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Table of Contents</a:t>
            </a:r>
            <a:endParaRPr lang="ko-KR" altLang="en-US" sz="2400" spc="-50" dirty="0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" name="텍스트 개체 틀 3">
            <a:extLst>
              <a:ext uri="{FF2B5EF4-FFF2-40B4-BE49-F238E27FC236}">
                <a16:creationId xmlns:a16="http://schemas.microsoft.com/office/drawing/2014/main" id="{751DA5B2-815F-5145-FB3D-41350C68C896}"/>
              </a:ext>
            </a:extLst>
          </p:cNvPr>
          <p:cNvSpPr txBox="1">
            <a:spLocks/>
          </p:cNvSpPr>
          <p:nvPr/>
        </p:nvSpPr>
        <p:spPr>
          <a:xfrm>
            <a:off x="3354672" y="2842284"/>
            <a:ext cx="3196657" cy="1478243"/>
          </a:xfrm>
          <a:prstGeom prst="rect">
            <a:avLst/>
          </a:prstGeom>
        </p:spPr>
        <p:txBody>
          <a:bodyPr wrap="none"/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79388" marR="0" lvl="0" indent="-179388" algn="l" defTabSz="914400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en-US" altLang="ko-KR" sz="1400" b="0" i="0" u="none" strike="noStrike" kern="0" cap="none" spc="-31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2025 </a:t>
            </a:r>
            <a:r>
              <a:rPr kumimoji="1" lang="ko-KR" altLang="en-US" sz="1400" b="0" i="0" u="none" strike="noStrike" kern="0" cap="none" spc="-31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노경관리 </a:t>
            </a:r>
            <a:r>
              <a:rPr kumimoji="1" lang="en-US" altLang="ko-KR" sz="1400" b="0" i="0" u="none" strike="noStrike" kern="0" cap="none" spc="-31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Fundamental </a:t>
            </a:r>
            <a:r>
              <a:rPr kumimoji="1" lang="ko-KR" altLang="en-US" sz="1400" b="0" i="0" u="none" strike="noStrike" kern="0" cap="none" spc="-31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구축 진행경과</a:t>
            </a:r>
            <a:endParaRPr kumimoji="1" lang="en-US" altLang="ko-KR" sz="1400" b="0" i="0" u="none" strike="noStrike" kern="0" cap="none" spc="-31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179388" marR="0" lvl="0" indent="-179388" algn="l" defTabSz="914400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en-US" altLang="ko-KR" sz="1400" b="0" i="0" u="none" strike="noStrike" kern="0" cap="none" spc="-31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2026 </a:t>
            </a:r>
            <a:r>
              <a:rPr kumimoji="1" lang="ko-KR" altLang="en-US" sz="1400" b="0" i="0" u="none" strike="noStrike" kern="0" cap="none" spc="-31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북미 대외 노경환경 </a:t>
            </a:r>
            <a:r>
              <a:rPr kumimoji="1" lang="en-US" altLang="ko-KR" sz="1400" b="0" i="0" u="none" strike="noStrike" kern="0" cap="none" spc="-31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Update</a:t>
            </a:r>
          </a:p>
          <a:p>
            <a:pPr marL="179388" marR="0" lvl="0" indent="-179388" algn="l" defTabSz="914400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en-US" altLang="ko-KR" sz="1400" b="0" i="0" u="none" strike="noStrike" kern="0" cap="none" spc="-31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ESMI </a:t>
            </a:r>
            <a:r>
              <a:rPr kumimoji="1" lang="ko-KR" altLang="en-US" sz="1400" b="0" i="0" u="none" strike="noStrike" kern="0" cap="none" spc="-31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랜싱</a:t>
            </a:r>
            <a:r>
              <a:rPr kumimoji="1" lang="ko-KR" altLang="en-US" sz="1400" b="0" i="0" u="none" strike="noStrike" kern="0" cap="none" spc="-31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조직화 취약성 진단 결과</a:t>
            </a:r>
            <a:endParaRPr kumimoji="1" lang="en-US" altLang="ko-KR" sz="1400" b="0" i="0" u="none" strike="noStrike" kern="0" cap="none" spc="-31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179388" marR="0" lvl="0" indent="-179388" algn="l" defTabSz="914400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en-US" altLang="ko-KR" sz="1400" b="0" i="0" u="none" strike="noStrike" kern="0" cap="none" spc="-31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2026 ESMI </a:t>
            </a:r>
            <a:r>
              <a:rPr kumimoji="1" lang="ko-KR" altLang="en-US" sz="1400" b="0" i="0" u="none" strike="noStrike" kern="0" cap="none" spc="-31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노경관리 중점 추진 활동</a:t>
            </a:r>
          </a:p>
        </p:txBody>
      </p:sp>
      <p:sp>
        <p:nvSpPr>
          <p:cNvPr id="15" name="텍스트 개체 틀 3">
            <a:extLst>
              <a:ext uri="{FF2B5EF4-FFF2-40B4-BE49-F238E27FC236}">
                <a16:creationId xmlns:a16="http://schemas.microsoft.com/office/drawing/2014/main" id="{56BE1E5F-EF16-EE3B-F383-2626D763004A}"/>
              </a:ext>
            </a:extLst>
          </p:cNvPr>
          <p:cNvSpPr txBox="1">
            <a:spLocks/>
          </p:cNvSpPr>
          <p:nvPr/>
        </p:nvSpPr>
        <p:spPr>
          <a:xfrm>
            <a:off x="3277543" y="2431865"/>
            <a:ext cx="801399" cy="338699"/>
          </a:xfrm>
          <a:prstGeom prst="rect">
            <a:avLst/>
          </a:prstGeom>
        </p:spPr>
        <p:txBody>
          <a:bodyPr wrap="square"/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0" cap="none" spc="-31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Part Ⅰ</a:t>
            </a:r>
            <a:r>
              <a:rPr kumimoji="1" lang="ko-KR" altLang="en-US" sz="1600" b="1" i="0" u="none" strike="noStrike" kern="0" cap="none" spc="-31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</a:p>
        </p:txBody>
      </p:sp>
      <p:sp>
        <p:nvSpPr>
          <p:cNvPr id="16" name="텍스트 개체 틀 3">
            <a:extLst>
              <a:ext uri="{FF2B5EF4-FFF2-40B4-BE49-F238E27FC236}">
                <a16:creationId xmlns:a16="http://schemas.microsoft.com/office/drawing/2014/main" id="{51F08F3E-31CF-BE52-9AF6-381B72E7C9A7}"/>
              </a:ext>
            </a:extLst>
          </p:cNvPr>
          <p:cNvSpPr txBox="1">
            <a:spLocks/>
          </p:cNvSpPr>
          <p:nvPr/>
        </p:nvSpPr>
        <p:spPr>
          <a:xfrm>
            <a:off x="3277543" y="4428107"/>
            <a:ext cx="801399" cy="364680"/>
          </a:xfrm>
          <a:prstGeom prst="rect">
            <a:avLst/>
          </a:prstGeom>
        </p:spPr>
        <p:txBody>
          <a:bodyPr wrap="square"/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0" cap="none" spc="-31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Part Ⅱ</a:t>
            </a:r>
            <a:r>
              <a:rPr kumimoji="1" lang="ko-KR" altLang="en-US" sz="1600" b="1" i="0" u="none" strike="noStrike" kern="0" cap="none" spc="-31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5375D075-1D84-CC2C-F18A-F13F864BE9E1}"/>
              </a:ext>
            </a:extLst>
          </p:cNvPr>
          <p:cNvSpPr txBox="1">
            <a:spLocks/>
          </p:cNvSpPr>
          <p:nvPr/>
        </p:nvSpPr>
        <p:spPr>
          <a:xfrm>
            <a:off x="3524998" y="4889653"/>
            <a:ext cx="3440564" cy="392731"/>
          </a:xfrm>
          <a:prstGeom prst="rect">
            <a:avLst/>
          </a:prstGeom>
        </p:spPr>
        <p:txBody>
          <a:bodyPr wrap="none"/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0" cap="none" spc="-31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ESMI </a:t>
            </a:r>
            <a:r>
              <a:rPr kumimoji="1" lang="ko-KR" altLang="en-US" sz="1400" b="0" i="0" u="none" strike="noStrike" kern="0" cap="none" spc="-31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랜싱</a:t>
            </a:r>
            <a:r>
              <a:rPr kumimoji="1" lang="ko-KR" altLang="en-US" sz="1400" b="0" i="0" u="none" strike="noStrike" kern="0" cap="none" spc="-31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조직화 선행 대응 </a:t>
            </a:r>
            <a:r>
              <a:rPr kumimoji="1" lang="en-US" altLang="ko-KR" sz="1400" b="0" i="0" u="none" strike="noStrike" kern="0" cap="none" spc="-31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Plan</a:t>
            </a:r>
            <a:endParaRPr kumimoji="1" lang="ko-KR" altLang="en-US" sz="1400" b="0" i="0" u="none" strike="noStrike" kern="0" cap="none" spc="-31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03025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5784A1A-A9D2-968D-5AD0-B76F1B0075DF}"/>
              </a:ext>
            </a:extLst>
          </p:cNvPr>
          <p:cNvGraphicFramePr>
            <a:graphicFrameLocks noGrp="1"/>
          </p:cNvGraphicFramePr>
          <p:nvPr/>
        </p:nvGraphicFramePr>
        <p:xfrm>
          <a:off x="390279" y="2079111"/>
          <a:ext cx="9354356" cy="4361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839">
                  <a:extLst>
                    <a:ext uri="{9D8B030D-6E8A-4147-A177-3AD203B41FA5}">
                      <a16:colId xmlns:a16="http://schemas.microsoft.com/office/drawing/2014/main" val="1706955899"/>
                    </a:ext>
                  </a:extLst>
                </a:gridCol>
                <a:gridCol w="1041851">
                  <a:extLst>
                    <a:ext uri="{9D8B030D-6E8A-4147-A177-3AD203B41FA5}">
                      <a16:colId xmlns:a16="http://schemas.microsoft.com/office/drawing/2014/main" val="3489365983"/>
                    </a:ext>
                  </a:extLst>
                </a:gridCol>
                <a:gridCol w="1252609">
                  <a:extLst>
                    <a:ext uri="{9D8B030D-6E8A-4147-A177-3AD203B41FA5}">
                      <a16:colId xmlns:a16="http://schemas.microsoft.com/office/drawing/2014/main" val="2938333765"/>
                    </a:ext>
                  </a:extLst>
                </a:gridCol>
                <a:gridCol w="623406">
                  <a:extLst>
                    <a:ext uri="{9D8B030D-6E8A-4147-A177-3AD203B41FA5}">
                      <a16:colId xmlns:a16="http://schemas.microsoft.com/office/drawing/2014/main" val="3288918455"/>
                    </a:ext>
                  </a:extLst>
                </a:gridCol>
                <a:gridCol w="2804302">
                  <a:extLst>
                    <a:ext uri="{9D8B030D-6E8A-4147-A177-3AD203B41FA5}">
                      <a16:colId xmlns:a16="http://schemas.microsoft.com/office/drawing/2014/main" val="3962797135"/>
                    </a:ext>
                  </a:extLst>
                </a:gridCol>
                <a:gridCol w="2369349">
                  <a:extLst>
                    <a:ext uri="{9D8B030D-6E8A-4147-A177-3AD203B41FA5}">
                      <a16:colId xmlns:a16="http://schemas.microsoft.com/office/drawing/2014/main" val="2296050331"/>
                    </a:ext>
                  </a:extLst>
                </a:gridCol>
              </a:tblGrid>
              <a:tr h="3203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</a:rPr>
                        <a:t>실행과제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</a:rPr>
                        <a:t>현황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</a:rPr>
                        <a:t>세부내용 및 진행경과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spc="-50" baseline="0" dirty="0">
                          <a:solidFill>
                            <a:schemeClr val="tx1"/>
                          </a:solidFill>
                        </a:rPr>
                        <a:t>‘26</a:t>
                      </a:r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</a:rPr>
                        <a:t>년 계획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062933"/>
                  </a:ext>
                </a:extLst>
              </a:tr>
              <a:tr h="46002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➊ 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Supervisor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중심의</a:t>
                      </a:r>
                      <a:b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현장 노경관리</a:t>
                      </a:r>
                      <a:b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체계 정비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① 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SPV R&amp;R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정비 및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노경관리 미션 부여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완료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SPV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워크샵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(‘25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월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 통한 공식화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특별 급여 인상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(‘25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월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시 공식 레터로 재 안내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</a:rPr>
                        <a:t>평가를 통해 실행력과 지속성 확보</a:t>
                      </a:r>
                      <a:endParaRPr lang="en-US" altLang="ko-KR" sz="1100" b="0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897955"/>
                  </a:ext>
                </a:extLst>
              </a:tr>
              <a:tr h="279298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② 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Sr. Supervisor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신설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완료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개인역량과 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Sr.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인원비율 고려해 진급 운영</a:t>
                      </a:r>
                      <a:endParaRPr lang="en-US" altLang="ko-KR" sz="1100" kern="1200" spc="-5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1100" b="0" kern="1200" spc="-5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02179"/>
                  </a:ext>
                </a:extLst>
              </a:tr>
              <a:tr h="279298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③ 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SPV Council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운영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pc="-50" baseline="0" dirty="0" err="1">
                          <a:solidFill>
                            <a:schemeClr val="tx1"/>
                          </a:solidFill>
                        </a:rPr>
                        <a:t>미실시</a:t>
                      </a:r>
                      <a:endParaRPr lang="ko-KR" altLang="en-US" sz="1100" b="1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구체적인 방향성 미비로 실행하지 못함</a:t>
                      </a:r>
                      <a:endParaRPr lang="ko-KR" altLang="en-US" sz="1100" kern="1200" spc="-5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u="sng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‘</a:t>
                      </a:r>
                      <a:r>
                        <a:rPr lang="ko-KR" altLang="en-US" sz="1100" b="1" u="sng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운영담당</a:t>
                      </a:r>
                      <a:r>
                        <a:rPr lang="en-US" altLang="ko-KR" sz="1100" b="1" u="sng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r>
                        <a:rPr lang="ko-KR" altLang="en-US" sz="1100" b="1" u="sng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주관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SPV 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정기회의체로 대체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920932"/>
                  </a:ext>
                </a:extLst>
              </a:tr>
              <a:tr h="460020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④ 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SPV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처우 조정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완료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S/V 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연봉 약 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20% 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인상</a:t>
                      </a:r>
                      <a:b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C/L, P/L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과 격차 조정</a:t>
                      </a: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조직관리 미션 부여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100" b="0" kern="1200" spc="-5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927661"/>
                  </a:ext>
                </a:extLst>
              </a:tr>
              <a:tr h="460020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➋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노경관리</a:t>
                      </a:r>
                      <a:b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실행력 및 지속성</a:t>
                      </a:r>
                      <a:b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확보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①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리더십 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Empowerment</a:t>
                      </a:r>
                      <a:endParaRPr lang="ko-KR" altLang="en-US" sz="1100" b="1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진행중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법인장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생산담당 현장경영</a:t>
                      </a:r>
                      <a:b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법인장님 주관 </a:t>
                      </a: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SPV 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중식 간담회 진행 중</a:t>
                      </a:r>
                      <a:endParaRPr lang="en-US" altLang="ko-KR" sz="1100" kern="1200" spc="-5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법인장님</a:t>
                      </a:r>
                      <a:r>
                        <a:rPr lang="en-US" altLang="ko-KR" sz="11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-SPV </a:t>
                      </a: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간담회 지속 운영</a:t>
                      </a:r>
                      <a:r>
                        <a:rPr lang="en-US" altLang="ko-KR" sz="11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야간</a:t>
                      </a:r>
                      <a:r>
                        <a:rPr lang="en-US" altLang="ko-KR" sz="11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spc="-5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랜싱</a:t>
                      </a:r>
                      <a:r>
                        <a:rPr lang="en-US" altLang="ko-KR" sz="11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운영담당 주관 </a:t>
                      </a:r>
                      <a:r>
                        <a:rPr lang="en-US" altLang="ko-KR" sz="11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Hourly </a:t>
                      </a: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간담회</a:t>
                      </a:r>
                      <a:r>
                        <a:rPr lang="en-US" altLang="ko-KR" sz="11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지속 운영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701239"/>
                  </a:ext>
                </a:extLst>
              </a:tr>
              <a:tr h="279298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② 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SPV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노경관리 교육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준비중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생산 현안 및 이슈 해결 과정에서 실행 지연</a:t>
                      </a:r>
                      <a:endParaRPr lang="en-US" altLang="ko-KR" sz="1100" b="1" kern="1200" spc="-5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1" u="sng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100" b="1" u="sng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 중 실시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검토</a:t>
                      </a:r>
                      <a:endParaRPr lang="en-US" altLang="ko-KR" sz="1100" b="1" kern="1200" spc="-5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150628"/>
                  </a:ext>
                </a:extLst>
              </a:tr>
              <a:tr h="279298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③ 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SPV</a:t>
                      </a:r>
                      <a:b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노경관리 지원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야간수당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($1K/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완료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조직화 취약 시간대 근무 및 승진 유인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100" b="0" kern="1200" spc="-5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264335"/>
                  </a:ext>
                </a:extLst>
              </a:tr>
              <a:tr h="2792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 b="1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조직관리비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($50pp/Q)</a:t>
                      </a:r>
                      <a:endParaRPr lang="ko-KR" altLang="en-US" sz="1100" b="1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pc="-50" baseline="0" dirty="0" err="1">
                          <a:solidFill>
                            <a:schemeClr val="tx1"/>
                          </a:solidFill>
                        </a:rPr>
                        <a:t>미실시</a:t>
                      </a:r>
                      <a:endParaRPr lang="ko-KR" altLang="en-US" sz="1100" b="1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조직관리를 위한 최소</a:t>
                      </a:r>
                      <a:r>
                        <a:rPr kumimoji="0" lang="en-US" altLang="ko-KR" sz="11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1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활동비 지원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경영상황을 고려해 추후 실시 검토</a:t>
                      </a:r>
                      <a:endParaRPr kumimoji="0" lang="ko-KR" altLang="en-US" sz="11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97364"/>
                  </a:ext>
                </a:extLst>
              </a:tr>
              <a:tr h="279298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④ 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S/V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노경관리 평가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진행중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SPV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워크샵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(‘25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월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 통한 사전 안내 실시</a:t>
                      </a:r>
                      <a:endParaRPr lang="en-US" altLang="ko-KR" sz="1100" b="1" kern="1200" spc="-5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u="sng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SPV KPI</a:t>
                      </a:r>
                      <a:r>
                        <a:rPr lang="ko-KR" altLang="en-US" sz="1100" b="1" u="sng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에 조직관리 </a:t>
                      </a:r>
                      <a:r>
                        <a:rPr lang="en-US" altLang="ko-KR" sz="1100" b="1" u="sng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30%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반영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안내 진행 중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076518"/>
                  </a:ext>
                </a:extLst>
              </a:tr>
              <a:tr h="279298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➌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우호적 현장환경</a:t>
                      </a:r>
                      <a:b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조성</a:t>
                      </a:r>
                      <a:b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조직화 요인 제거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①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선행적 현장 임금 조정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진행중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’26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1, 3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 약 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10% 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인상 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+ 9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 약 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11% 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반영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UC 100% Catch-up </a:t>
                      </a: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전략 지속 추진하되</a:t>
                      </a:r>
                      <a:br>
                        <a:rPr lang="en-US" altLang="ko-KR" sz="11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경영상황과 </a:t>
                      </a:r>
                      <a:r>
                        <a:rPr lang="en-US" altLang="ko-KR" sz="11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Align</a:t>
                      </a: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될 수 있도록 지속 검토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264987"/>
                  </a:ext>
                </a:extLst>
              </a:tr>
              <a:tr h="279298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② 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HZP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인력 </a:t>
                      </a:r>
                      <a:r>
                        <a:rPr lang="ko-KR" altLang="en-US" sz="1100" b="1" spc="-50" baseline="0" dirty="0" err="1">
                          <a:solidFill>
                            <a:schemeClr val="tx1"/>
                          </a:solidFill>
                        </a:rPr>
                        <a:t>랜싱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배치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진행중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필요 인원에 대한 근무이동 지원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운영 종료시까지 지속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0903"/>
                  </a:ext>
                </a:extLst>
              </a:tr>
              <a:tr h="279298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③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현장 온라인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</a:rPr>
                        <a:t> VOE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채널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</a:rPr>
                        <a:t>진행중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QR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코드 활용한 ‘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Feedback’ 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운영 중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개선내용 소통에 집중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22143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273A325-F60D-9709-207F-7A47A42EA921}"/>
              </a:ext>
            </a:extLst>
          </p:cNvPr>
          <p:cNvSpPr txBox="1"/>
          <p:nvPr/>
        </p:nvSpPr>
        <p:spPr>
          <a:xfrm>
            <a:off x="202944" y="733123"/>
            <a:ext cx="9761005" cy="11498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000"/>
              </a:lnSpc>
              <a:spcBef>
                <a:spcPts val="4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2025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년 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5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월 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UAW 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접촉 이후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 CEO 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의사결정을 통해 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① 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조직화 대응 목표를 명확히 하고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 ② 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운영담당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및 북미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ER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조직을 구축했으며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 </a:t>
            </a:r>
            <a:b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③ 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선행적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임금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조정을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실시했습니다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ts val="2000"/>
              </a:lnSpc>
              <a:spcBef>
                <a:spcPts val="4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작년 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6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월말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ESMI 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노경관리 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Fundamental 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구축을 위해 발굴했던 과제들은 법인장님 의사결정 이후 대부분 실행되거나 기존 계획대로 진행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중입니다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.</a:t>
            </a:r>
            <a:b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'26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년에는 이러한 토대 위에서 노경관리가 실질적으로 작동할 수 있도록 실행력과 지속성 측면에서 계속 챙겨 나가겠습니다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.</a:t>
            </a:r>
          </a:p>
        </p:txBody>
      </p:sp>
      <p:sp>
        <p:nvSpPr>
          <p:cNvPr id="22" name="제목 4">
            <a:extLst>
              <a:ext uri="{FF2B5EF4-FFF2-40B4-BE49-F238E27FC236}">
                <a16:creationId xmlns:a16="http://schemas.microsoft.com/office/drawing/2014/main" id="{6C729E8D-D4C3-ECE7-A6A5-2C99428DCF08}"/>
              </a:ext>
            </a:extLst>
          </p:cNvPr>
          <p:cNvSpPr txBox="1">
            <a:spLocks/>
          </p:cNvSpPr>
          <p:nvPr/>
        </p:nvSpPr>
        <p:spPr>
          <a:xfrm>
            <a:off x="194895" y="168348"/>
            <a:ext cx="9516209" cy="36933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10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1. 2025 </a:t>
            </a:r>
            <a:r>
              <a:rPr kumimoji="0" lang="ko-KR" altLang="en-US" sz="1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노경관리 </a:t>
            </a:r>
            <a:r>
              <a:rPr kumimoji="0" lang="en-US" altLang="ko-KR" sz="1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Fundamental </a:t>
            </a:r>
            <a:r>
              <a:rPr kumimoji="0" lang="ko-KR" altLang="en-US" sz="1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구축 진행경과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17CC65A-71B8-4008-80DA-0CD617B7BC8C}"/>
              </a:ext>
            </a:extLst>
          </p:cNvPr>
          <p:cNvCxnSpPr>
            <a:cxnSpLocks/>
          </p:cNvCxnSpPr>
          <p:nvPr/>
        </p:nvCxnSpPr>
        <p:spPr bwMode="auto">
          <a:xfrm>
            <a:off x="226355" y="548842"/>
            <a:ext cx="6907690" cy="0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D061F92-75E4-40F9-A20F-33076DF2ED64}"/>
              </a:ext>
            </a:extLst>
          </p:cNvPr>
          <p:cNvSpPr txBox="1"/>
          <p:nvPr/>
        </p:nvSpPr>
        <p:spPr>
          <a:xfrm>
            <a:off x="4757536" y="6567516"/>
            <a:ext cx="32893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1/8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9E6C1A97-7BE5-EE3C-D49B-36BF5DEBC0E1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E989DC-56DB-B14B-D11B-D005DD754045}"/>
              </a:ext>
            </a:extLst>
          </p:cNvPr>
          <p:cNvSpPr txBox="1"/>
          <p:nvPr/>
        </p:nvSpPr>
        <p:spPr>
          <a:xfrm>
            <a:off x="5974265" y="967919"/>
            <a:ext cx="334418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운영담당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2/16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字 입사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노경주재원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1/1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字 파견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 ER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Attorney 1/1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字 입사</a:t>
            </a:r>
          </a:p>
        </p:txBody>
      </p:sp>
    </p:spTree>
    <p:extLst>
      <p:ext uri="{BB962C8B-B14F-4D97-AF65-F5344CB8AC3E}">
        <p14:creationId xmlns:p14="http://schemas.microsoft.com/office/powerpoint/2010/main" val="40497395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3FB175-1734-6115-9066-C7C58393D364}"/>
              </a:ext>
            </a:extLst>
          </p:cNvPr>
          <p:cNvSpPr txBox="1"/>
          <p:nvPr/>
        </p:nvSpPr>
        <p:spPr>
          <a:xfrm>
            <a:off x="199396" y="752606"/>
            <a:ext cx="9361858" cy="585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000"/>
              </a:lnSpc>
              <a:spcBef>
                <a:spcPts val="4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UAW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는 남부 외국계 </a:t>
            </a:r>
            <a:r>
              <a:rPr kumimoji="0" lang="ko-KR" altLang="en-US" sz="1400" b="1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완성차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업체 조직화를 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'26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년 핵심목표로 발표하고 조직화를 집중 추진하고 있지만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400" b="1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완성차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업체들의 저항도 공고합니다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.</a:t>
            </a:r>
            <a:b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북미 주요 배터리 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J/V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들의 조직화는 일단락 되었으나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EV </a:t>
            </a:r>
            <a:r>
              <a:rPr kumimoji="0" lang="ko-KR" altLang="en-US" sz="1400" b="1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캐즘으로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’26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년에 공장 폐쇄 및 대규모 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Lay-off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로 심각한 고용 불안을 겪고 있습니다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.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CAD91E35-0AFA-7467-C355-606768753189}"/>
              </a:ext>
            </a:extLst>
          </p:cNvPr>
          <p:cNvGraphicFramePr>
            <a:graphicFrameLocks noGrp="1"/>
          </p:cNvGraphicFramePr>
          <p:nvPr/>
        </p:nvGraphicFramePr>
        <p:xfrm>
          <a:off x="1951809" y="4050754"/>
          <a:ext cx="7349142" cy="1342419"/>
        </p:xfrm>
        <a:graphic>
          <a:graphicData uri="http://schemas.openxmlformats.org/drawingml/2006/table">
            <a:tbl>
              <a:tblPr/>
              <a:tblGrid>
                <a:gridCol w="948341">
                  <a:extLst>
                    <a:ext uri="{9D8B030D-6E8A-4147-A177-3AD203B41FA5}">
                      <a16:colId xmlns:a16="http://schemas.microsoft.com/office/drawing/2014/main" val="731993455"/>
                    </a:ext>
                  </a:extLst>
                </a:gridCol>
                <a:gridCol w="658678">
                  <a:extLst>
                    <a:ext uri="{9D8B030D-6E8A-4147-A177-3AD203B41FA5}">
                      <a16:colId xmlns:a16="http://schemas.microsoft.com/office/drawing/2014/main" val="1538461765"/>
                    </a:ext>
                  </a:extLst>
                </a:gridCol>
                <a:gridCol w="658678">
                  <a:extLst>
                    <a:ext uri="{9D8B030D-6E8A-4147-A177-3AD203B41FA5}">
                      <a16:colId xmlns:a16="http://schemas.microsoft.com/office/drawing/2014/main" val="1811909135"/>
                    </a:ext>
                  </a:extLst>
                </a:gridCol>
                <a:gridCol w="1134110">
                  <a:extLst>
                    <a:ext uri="{9D8B030D-6E8A-4147-A177-3AD203B41FA5}">
                      <a16:colId xmlns:a16="http://schemas.microsoft.com/office/drawing/2014/main" val="2087004845"/>
                    </a:ext>
                  </a:extLst>
                </a:gridCol>
                <a:gridCol w="3949335">
                  <a:extLst>
                    <a:ext uri="{9D8B030D-6E8A-4147-A177-3AD203B41FA5}">
                      <a16:colId xmlns:a16="http://schemas.microsoft.com/office/drawing/2014/main" val="2548911138"/>
                    </a:ext>
                  </a:extLst>
                </a:gridCol>
              </a:tblGrid>
              <a:tr h="16807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1100" b="1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45720" marR="457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1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State</a:t>
                      </a:r>
                      <a:endParaRPr lang="ko-KR" altLang="en-US" sz="1100" b="1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1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시기</a:t>
                      </a:r>
                      <a:endParaRPr lang="en-US" sz="1100" b="1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1100" b="1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조직화 방식</a:t>
                      </a:r>
                      <a:r>
                        <a:rPr lang="en-US" altLang="ko-KR" sz="1100" b="1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b="1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결과</a:t>
                      </a:r>
                      <a:endParaRPr lang="en-US" sz="1100" b="1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1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최신 동향</a:t>
                      </a:r>
                      <a:endParaRPr lang="en-US" sz="1100" b="1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014306"/>
                  </a:ext>
                </a:extLst>
              </a:tr>
              <a:tr h="168073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en-US" altLang="ko-KR" sz="1100" b="1" kern="1200" spc="-7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Ultium</a:t>
                      </a:r>
                      <a:r>
                        <a:rPr lang="en-US" altLang="ko-KR" sz="1100" b="1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Cells</a:t>
                      </a:r>
                      <a:b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kern="1200" spc="-7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(GM / LG)</a:t>
                      </a:r>
                      <a:endParaRPr lang="en-US" sz="1100" kern="1200" spc="-70" baseline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오하이오</a:t>
                      </a:r>
                      <a:endParaRPr lang="en-US" altLang="ko-KR" sz="1100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'22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lang="en-US" altLang="ko-KR" sz="1100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인준투표 → 가결</a:t>
                      </a:r>
                      <a:endParaRPr lang="en-US" altLang="ko-KR" sz="1100" kern="1200" spc="-70" baseline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0013" indent="-1000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‘26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~5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1,481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Lay-off 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중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기간 연장 가능성 有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1303730"/>
                  </a:ext>
                </a:extLst>
              </a:tr>
              <a:tr h="168073"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000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5250" marR="5250" marT="52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7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테네시</a:t>
                      </a:r>
                      <a:endParaRPr lang="en-US" altLang="ko-KR" sz="1100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‘24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lang="en-US" altLang="ko-KR" sz="1100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카드체크 → 설립</a:t>
                      </a:r>
                      <a:endParaRPr lang="en-US" altLang="ko-KR" sz="1100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0013" indent="-1000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~3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763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Lay-off 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중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(4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월부터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예정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817201"/>
                  </a:ext>
                </a:extLst>
              </a:tr>
              <a:tr h="263119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100" b="1" kern="1200" spc="-7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StarPlus</a:t>
                      </a:r>
                      <a:r>
                        <a:rPr lang="en-US" sz="1100" b="1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Energy</a:t>
                      </a:r>
                      <a:br>
                        <a:rPr 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sz="1100" kern="1200" spc="-7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(Stellantis / </a:t>
                      </a:r>
                      <a:r>
                        <a:rPr lang="ko-KR" altLang="en-US" sz="1100" kern="1200" spc="-7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삼성</a:t>
                      </a:r>
                      <a:r>
                        <a:rPr lang="en-US" altLang="ko-KR" sz="1100" kern="1200" spc="-7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en-US" sz="1100" kern="1200" spc="-70" baseline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인디애나</a:t>
                      </a:r>
                      <a:endParaRPr lang="en-US" sz="1100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‘25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lang="en-US" altLang="ko-KR" sz="1100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카드체크 → 설립</a:t>
                      </a:r>
                      <a:endParaRPr lang="en-US" altLang="ko-KR" sz="1100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0013" marR="0" lvl="0" indent="-1000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spc="-7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스텔란티스가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J/V 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종료를 모색 중이라는 기사</a:t>
                      </a:r>
                      <a:endParaRPr lang="en-US" altLang="ko-KR" sz="1100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822203"/>
                  </a:ext>
                </a:extLst>
              </a:tr>
              <a:tr h="263119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100" b="1" kern="1200" spc="-7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BlueOval</a:t>
                      </a:r>
                      <a:r>
                        <a:rPr lang="en-US" sz="1100" b="1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SK</a:t>
                      </a:r>
                      <a:br>
                        <a:rPr 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sz="1100" kern="1200" spc="-7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(Ford / SK)</a:t>
                      </a:r>
                    </a:p>
                  </a:txBody>
                  <a:tcPr marL="45720" marR="457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켄터키</a:t>
                      </a:r>
                      <a:endParaRPr lang="en-US" sz="1100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lang="en-US" altLang="ko-KR" sz="1100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인준투표 → 분쟁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→</a:t>
                      </a:r>
                      <a:b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NLRB 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승인 → 설립</a:t>
                      </a:r>
                      <a:endParaRPr lang="en-US" altLang="ko-KR" sz="1100" b="0" kern="1200" spc="-70" baseline="300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0013" marR="0" lvl="0" indent="-1000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J/V 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청산 합의 후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켄터키는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Ford 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가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spc="-7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테네시는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SK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가 단독 운영 결정 </a:t>
                      </a:r>
                      <a:endParaRPr lang="en-US" altLang="ko-KR" sz="1100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100013" marR="0" lvl="0" indent="-1000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Ford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는 켄터키 공장 폐쇄 발표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(1,600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전원 해고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이후 신규 채용 예정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lang="en-US" altLang="ko-KR" sz="1100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100013" marR="0" lvl="0" indent="-1000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SK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는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테네시 공장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150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Lay-off 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진행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전체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250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23191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3E7DE80-BDD3-692A-B8A4-529CA7B8279E}"/>
              </a:ext>
            </a:extLst>
          </p:cNvPr>
          <p:cNvSpPr txBox="1"/>
          <p:nvPr/>
        </p:nvSpPr>
        <p:spPr>
          <a:xfrm>
            <a:off x="390888" y="3367955"/>
            <a:ext cx="1225850" cy="720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29" tIns="45715" rIns="91429" bIns="45715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algn="ctr" defTabSz="914296">
              <a:lnSpc>
                <a:spcPts val="1300"/>
              </a:lnSpc>
              <a:spcBef>
                <a:spcPct val="20000"/>
              </a:spcBef>
              <a:tabLst>
                <a:tab pos="979377" algn="l"/>
              </a:tabLst>
              <a:defRPr sz="12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ctr" defTabSz="914296" rtl="0" eaLnBrk="1" fontAlgn="auto" latinLnBrk="1" hangingPunct="1">
              <a:lnSpc>
                <a:spcPts val="1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377" algn="l"/>
              </a:tabLst>
              <a:defRPr/>
            </a:pPr>
            <a:r>
              <a:rPr kumimoji="0" lang="ko-KR" altLang="en-US" sz="1200" b="1" i="0" u="none" strike="noStrike" kern="1200" cap="none" spc="-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배터리 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J/V 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상황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1F80C5-1C6F-89CD-05C3-5BDE9B55DE3B}"/>
              </a:ext>
            </a:extLst>
          </p:cNvPr>
          <p:cNvSpPr txBox="1"/>
          <p:nvPr/>
        </p:nvSpPr>
        <p:spPr>
          <a:xfrm>
            <a:off x="1944060" y="3829417"/>
            <a:ext cx="1753488" cy="241980"/>
          </a:xfrm>
          <a:prstGeom prst="rect">
            <a:avLst/>
          </a:prstGeom>
          <a:noFill/>
        </p:spPr>
        <p:txBody>
          <a:bodyPr wrap="none" lIns="0" tIns="36000" rIns="36000" bIns="36000" anchor="ctr">
            <a:spAutoFit/>
          </a:bodyPr>
          <a:lstStyle>
            <a:defPPr>
              <a:defRPr lang="ko-KR"/>
            </a:defPPr>
            <a:lvl5pPr marL="38100" lvl="4" indent="-38100" latinLnBrk="0">
              <a:lnSpc>
                <a:spcPct val="110000"/>
              </a:lnSpc>
              <a:defRPr sz="1000" spc="-70">
                <a:solidFill>
                  <a:srgbClr val="006400"/>
                </a:solidFill>
              </a:defRPr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[ </a:t>
            </a:r>
            <a:r>
              <a:rPr kumimoji="0" lang="ko-KR" altLang="en-US" sz="11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배터리 </a:t>
            </a:r>
            <a:r>
              <a:rPr kumimoji="0" lang="en-US" altLang="ko-KR" sz="11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J/V </a:t>
            </a:r>
            <a:r>
              <a:rPr kumimoji="0" lang="ko-KR" altLang="en-US" sz="11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조직화 이후 최신동향 </a:t>
            </a:r>
            <a:r>
              <a:rPr kumimoji="0" lang="en-US" altLang="ko-KR" sz="11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C984E8-26D5-BA2B-766B-630954BC7D5B}"/>
              </a:ext>
            </a:extLst>
          </p:cNvPr>
          <p:cNvSpPr txBox="1"/>
          <p:nvPr/>
        </p:nvSpPr>
        <p:spPr>
          <a:xfrm>
            <a:off x="1706694" y="3371020"/>
            <a:ext cx="7244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138113" indent="-138113">
              <a:spcBef>
                <a:spcPts val="400"/>
              </a:spcBef>
              <a:buFont typeface="Arial" panose="020B0604020202020204" pitchFamily="34" charset="0"/>
              <a:buChar char="•"/>
              <a:defRPr sz="1200" b="1" spc="-50"/>
            </a:lvl1pPr>
          </a:lstStyle>
          <a:p>
            <a:pPr marL="138113" marR="0" lvl="0" indent="-138113" algn="l" defTabSz="914400" rtl="0" eaLnBrk="1" fontAlgn="auto" latinLnBrk="1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북미 주요 배터리 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J/V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들은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UAW 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조직화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이후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'26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년 들어 공장 폐쇄 및 대규모 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Lay-off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등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심각한 고용 불안을 겪고 있음</a:t>
            </a:r>
            <a:b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→ 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조직화가 고용 안전을 보장하는 것은 아니며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 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반대로 우리는 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ESS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로의 빠른 전환을 통해 안정적인 고용을 유지하고 있음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F89BE3D-F238-1BB1-4BB0-570E97EF6C55}"/>
              </a:ext>
            </a:extLst>
          </p:cNvPr>
          <p:cNvSpPr/>
          <p:nvPr/>
        </p:nvSpPr>
        <p:spPr>
          <a:xfrm>
            <a:off x="5330400" y="5361937"/>
            <a:ext cx="314220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* SK ON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은 </a:t>
            </a:r>
            <a: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’26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년 </a:t>
            </a:r>
            <a: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3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월 조지아주 단독 배터리공장 </a:t>
            </a:r>
            <a: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968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명 </a:t>
            </a:r>
            <a: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Lay-off 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발표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469DBB-3C81-5CD0-9FFE-094FB42C7429}"/>
              </a:ext>
            </a:extLst>
          </p:cNvPr>
          <p:cNvSpPr txBox="1"/>
          <p:nvPr/>
        </p:nvSpPr>
        <p:spPr>
          <a:xfrm>
            <a:off x="390888" y="5781191"/>
            <a:ext cx="1225850" cy="720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29" tIns="45715" rIns="91429" bIns="45715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algn="ctr" defTabSz="914296">
              <a:lnSpc>
                <a:spcPts val="1300"/>
              </a:lnSpc>
              <a:spcBef>
                <a:spcPct val="20000"/>
              </a:spcBef>
              <a:tabLst>
                <a:tab pos="979377" algn="l"/>
              </a:tabLst>
              <a:defRPr sz="12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ctr" defTabSz="914296" rtl="0" eaLnBrk="1" fontAlgn="auto" latinLnBrk="1" hangingPunct="1">
              <a:lnSpc>
                <a:spcPts val="1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377" algn="l"/>
              </a:tabLst>
              <a:defRPr/>
            </a:pP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중립협약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DC6948A-90A1-E635-BF1E-C672B3994B05}"/>
              </a:ext>
            </a:extLst>
          </p:cNvPr>
          <p:cNvSpPr/>
          <p:nvPr/>
        </p:nvSpPr>
        <p:spPr bwMode="auto">
          <a:xfrm>
            <a:off x="335392" y="5724068"/>
            <a:ext cx="180000" cy="180000"/>
          </a:xfrm>
          <a:prstGeom prst="ellipse">
            <a:avLst/>
          </a:prstGeom>
          <a:solidFill>
            <a:schemeClr val="tx1"/>
          </a:solidFill>
          <a:ln w="15875"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3</a:t>
            </a:r>
            <a:endParaRPr kumimoji="0" lang="ko-KR" altLang="en-US" sz="1200" b="1" i="0" u="none" strike="noStrike" kern="1200" cap="none" spc="-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BE7E55-1779-616E-8BD8-D8E570A69726}"/>
              </a:ext>
            </a:extLst>
          </p:cNvPr>
          <p:cNvSpPr txBox="1"/>
          <p:nvPr/>
        </p:nvSpPr>
        <p:spPr>
          <a:xfrm>
            <a:off x="1706694" y="5781191"/>
            <a:ext cx="77385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138113" indent="-138113">
              <a:spcBef>
                <a:spcPts val="400"/>
              </a:spcBef>
              <a:buFont typeface="Arial" panose="020B0604020202020204" pitchFamily="34" charset="0"/>
              <a:buChar char="•"/>
              <a:defRPr sz="1200" b="1" spc="-50"/>
            </a:lvl1pPr>
          </a:lstStyle>
          <a:p>
            <a:pPr marL="138113" marR="0" lvl="0" indent="-138113" algn="l" defTabSz="914400" rtl="0" eaLnBrk="1" fontAlgn="auto" latinLnBrk="1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지난 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3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월 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5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일 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UAW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는 작년 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9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월 마지막 연락 이후 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6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개월 만에 중립협약 관련 내부 검토 상황을 물어왔으나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 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중립협약에 대한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직접적인</a:t>
            </a:r>
            <a:b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언급은 피하고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사업적으로만 우회해서 답변함</a:t>
            </a:r>
            <a:b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 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올 해는 중립협약에 대한 논의는 최대한 지연하면서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내부 노경관리 역량 강화에 집중하고자 하겠지만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 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만약 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UAW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가 보다 구체적인</a:t>
            </a:r>
            <a:b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 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입장표명을 요구할 경우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 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당장은 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Premature(or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Early Stage)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해서 중립협약을 검토할 수 있는 상황이 아니라는 답변까지는 검토 중</a:t>
            </a:r>
            <a:endParaRPr kumimoji="0" lang="en-US" altLang="ko-KR" sz="1200" b="0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8E604471-01AC-9EA7-03C6-4D3A4637DA4B}"/>
              </a:ext>
            </a:extLst>
          </p:cNvPr>
          <p:cNvGraphicFramePr>
            <a:graphicFrameLocks noGrp="1"/>
          </p:cNvGraphicFramePr>
          <p:nvPr/>
        </p:nvGraphicFramePr>
        <p:xfrm>
          <a:off x="1944060" y="2532622"/>
          <a:ext cx="7041908" cy="699800"/>
        </p:xfrm>
        <a:graphic>
          <a:graphicData uri="http://schemas.openxmlformats.org/drawingml/2006/table">
            <a:tbl>
              <a:tblPr/>
              <a:tblGrid>
                <a:gridCol w="948341">
                  <a:extLst>
                    <a:ext uri="{9D8B030D-6E8A-4147-A177-3AD203B41FA5}">
                      <a16:colId xmlns:a16="http://schemas.microsoft.com/office/drawing/2014/main" val="731993455"/>
                    </a:ext>
                  </a:extLst>
                </a:gridCol>
                <a:gridCol w="658678">
                  <a:extLst>
                    <a:ext uri="{9D8B030D-6E8A-4147-A177-3AD203B41FA5}">
                      <a16:colId xmlns:a16="http://schemas.microsoft.com/office/drawing/2014/main" val="1538461765"/>
                    </a:ext>
                  </a:extLst>
                </a:gridCol>
                <a:gridCol w="658678">
                  <a:extLst>
                    <a:ext uri="{9D8B030D-6E8A-4147-A177-3AD203B41FA5}">
                      <a16:colId xmlns:a16="http://schemas.microsoft.com/office/drawing/2014/main" val="1811909135"/>
                    </a:ext>
                  </a:extLst>
                </a:gridCol>
                <a:gridCol w="1134110">
                  <a:extLst>
                    <a:ext uri="{9D8B030D-6E8A-4147-A177-3AD203B41FA5}">
                      <a16:colId xmlns:a16="http://schemas.microsoft.com/office/drawing/2014/main" val="2087004845"/>
                    </a:ext>
                  </a:extLst>
                </a:gridCol>
                <a:gridCol w="3642101">
                  <a:extLst>
                    <a:ext uri="{9D8B030D-6E8A-4147-A177-3AD203B41FA5}">
                      <a16:colId xmlns:a16="http://schemas.microsoft.com/office/drawing/2014/main" val="2548911138"/>
                    </a:ext>
                  </a:extLst>
                </a:gridCol>
              </a:tblGrid>
              <a:tr h="11642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1100" b="1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45720" marR="457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b="1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State</a:t>
                      </a:r>
                      <a:endParaRPr lang="ko-KR" altLang="en-US" sz="1100" b="1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1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시기</a:t>
                      </a:r>
                      <a:endParaRPr lang="en-US" sz="1100" b="1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1100" b="1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조직화 방식</a:t>
                      </a:r>
                      <a:r>
                        <a:rPr lang="en-US" altLang="ko-KR" sz="1100" b="1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b="1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결과</a:t>
                      </a:r>
                      <a:endParaRPr lang="en-US" sz="1100" b="1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1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최신 동향</a:t>
                      </a:r>
                      <a:endParaRPr lang="en-US" sz="1100" b="1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014306"/>
                  </a:ext>
                </a:extLst>
              </a:tr>
              <a:tr h="11642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1100" b="1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폭스바겐</a:t>
                      </a:r>
                      <a:endParaRPr lang="en-US" sz="1100" kern="1200" spc="-70" baseline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테네시</a:t>
                      </a:r>
                      <a:endParaRPr lang="en-US" altLang="ko-KR" sz="1100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'24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lang="en-US" altLang="ko-KR" sz="1100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인준투표 → 가결</a:t>
                      </a:r>
                      <a:endParaRPr lang="en-US" altLang="ko-KR" sz="1100" kern="1200" spc="-70" baseline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0013" indent="-100013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이상 지속된 교섭 끝에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‘26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단체협약 비준</a:t>
                      </a:r>
                      <a:endParaRPr lang="en-US" altLang="ko-KR" sz="1100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1303730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1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벤츠</a:t>
                      </a:r>
                      <a:endParaRPr lang="en-US" sz="1100" kern="1200" spc="-70" baseline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앨라배마</a:t>
                      </a:r>
                      <a:endParaRPr lang="en-US" sz="1100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‘24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lang="en-US" altLang="ko-KR" sz="1100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인준투표 → 부결</a:t>
                      </a:r>
                      <a:endParaRPr lang="en-US" altLang="ko-KR" sz="1100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0013" marR="0" lvl="0" indent="-1000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부결 이후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지난 상황에서 다시 조직화 작업이 진행되고 있음</a:t>
                      </a:r>
                      <a:endParaRPr lang="en-US" altLang="ko-KR" sz="1100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822203"/>
                  </a:ext>
                </a:extLst>
              </a:tr>
              <a:tr h="18226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b="1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현대차</a:t>
                      </a:r>
                      <a:endParaRPr lang="en-US" sz="1100" kern="1200" spc="-70" baseline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앨라배마</a:t>
                      </a:r>
                      <a:endParaRPr lang="en-US" sz="1100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’24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~</a:t>
                      </a: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조직화 진행중</a:t>
                      </a:r>
                      <a:endParaRPr lang="en-US" altLang="ko-KR" sz="1100" b="0" kern="1200" spc="-70" baseline="300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0013" marR="0" lvl="0" indent="-1000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UAW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가 </a:t>
                      </a:r>
                      <a:r>
                        <a:rPr lang="en-US" altLang="ko-KR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100" kern="1200" spc="-7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반 가까이 인준투표 신청을 못하고 있음</a:t>
                      </a:r>
                      <a:endParaRPr lang="en-US" altLang="ko-KR" sz="1100" kern="1200" spc="-7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23191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C23B025-5FC1-3CC6-23FC-29B4AE40BE7F}"/>
              </a:ext>
            </a:extLst>
          </p:cNvPr>
          <p:cNvSpPr txBox="1"/>
          <p:nvPr/>
        </p:nvSpPr>
        <p:spPr>
          <a:xfrm>
            <a:off x="390888" y="1634354"/>
            <a:ext cx="1225850" cy="720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29" tIns="45715" rIns="91429" bIns="45715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algn="ctr" defTabSz="914296">
              <a:lnSpc>
                <a:spcPts val="1300"/>
              </a:lnSpc>
              <a:spcBef>
                <a:spcPct val="20000"/>
              </a:spcBef>
              <a:tabLst>
                <a:tab pos="979377" algn="l"/>
              </a:tabLst>
              <a:defRPr sz="1200" b="1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ctr" defTabSz="914296" rtl="0" eaLnBrk="1" fontAlgn="auto" latinLnBrk="1" hangingPunct="1">
              <a:lnSpc>
                <a:spcPts val="1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377" algn="l"/>
              </a:tabLst>
              <a:defRPr/>
            </a:pP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UAW</a:t>
            </a:r>
            <a:b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조직화 전략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77359164-C905-199B-AB7A-CE3217705CC9}"/>
              </a:ext>
            </a:extLst>
          </p:cNvPr>
          <p:cNvSpPr/>
          <p:nvPr/>
        </p:nvSpPr>
        <p:spPr bwMode="auto">
          <a:xfrm>
            <a:off x="335392" y="1586196"/>
            <a:ext cx="180000" cy="180000"/>
          </a:xfrm>
          <a:prstGeom prst="ellipse">
            <a:avLst/>
          </a:prstGeom>
          <a:solidFill>
            <a:schemeClr val="tx1"/>
          </a:solidFill>
          <a:ln w="15875"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1</a:t>
            </a:r>
            <a:endParaRPr kumimoji="0" lang="ko-KR" altLang="en-US" sz="1200" b="1" i="0" u="none" strike="noStrike" kern="1200" cap="none" spc="-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EEF465-C40B-55F9-C138-F92F705D7479}"/>
              </a:ext>
            </a:extLst>
          </p:cNvPr>
          <p:cNvSpPr txBox="1"/>
          <p:nvPr/>
        </p:nvSpPr>
        <p:spPr>
          <a:xfrm>
            <a:off x="1706694" y="1643119"/>
            <a:ext cx="78003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138113" indent="-138113">
              <a:spcBef>
                <a:spcPts val="400"/>
              </a:spcBef>
              <a:buFont typeface="Arial" panose="020B0604020202020204" pitchFamily="34" charset="0"/>
              <a:buChar char="•"/>
              <a:defRPr sz="1200" b="1" spc="-50"/>
            </a:lvl1pPr>
          </a:lstStyle>
          <a:p>
            <a:pPr marL="138113" marR="0" lvl="0" indent="-138113" algn="l" defTabSz="914400" rtl="0" eaLnBrk="1" fontAlgn="auto" latinLnBrk="1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‘26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년 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2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월 전국 노조 대회서 향후 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2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년 內 미국 남부지역 소재 외국계 </a:t>
            </a:r>
            <a:r>
              <a:rPr kumimoji="0" lang="ko-KR" altLang="en-US" sz="1200" b="1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완성차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업체 조직화에 집중해 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2.5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만명 신규 조합원 확보 계획 발표</a:t>
            </a:r>
            <a:b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 UAW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는 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’24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년부터 남부 외국계 </a:t>
            </a:r>
            <a:r>
              <a:rPr kumimoji="0" lang="ko-KR" altLang="en-US" sz="12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완성차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조직화에 집중해 왔지만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 VW 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조직화 외에 뚜렷한 성과를 내지 못했음</a:t>
            </a:r>
            <a:b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 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현재 남부에서 시민단체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(Jobs to move America,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southern coalition of workforce)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를 내세워 온라인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상에서 활발히 활동하고 있음</a:t>
            </a:r>
            <a:endParaRPr kumimoji="0" lang="en-US" altLang="ko-KR" sz="1200" b="0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271B23-EA99-0764-1422-F4A17CD80AE0}"/>
              </a:ext>
            </a:extLst>
          </p:cNvPr>
          <p:cNvSpPr txBox="1"/>
          <p:nvPr/>
        </p:nvSpPr>
        <p:spPr>
          <a:xfrm>
            <a:off x="1944060" y="2290110"/>
            <a:ext cx="1721749" cy="241980"/>
          </a:xfrm>
          <a:prstGeom prst="rect">
            <a:avLst/>
          </a:prstGeom>
          <a:noFill/>
        </p:spPr>
        <p:txBody>
          <a:bodyPr wrap="none" lIns="0" tIns="36000" rIns="36000" bIns="36000" anchor="ctr">
            <a:spAutoFit/>
          </a:bodyPr>
          <a:lstStyle>
            <a:defPPr>
              <a:defRPr lang="ko-KR"/>
            </a:defPPr>
            <a:lvl5pPr marL="38100" lvl="4" indent="-38100" latinLnBrk="0">
              <a:lnSpc>
                <a:spcPct val="110000"/>
              </a:lnSpc>
              <a:defRPr sz="1000" spc="-70">
                <a:solidFill>
                  <a:srgbClr val="006400"/>
                </a:solidFill>
              </a:defRPr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[ </a:t>
            </a:r>
            <a:r>
              <a:rPr kumimoji="0" lang="ko-KR" altLang="en-US" sz="1100" b="1" i="0" u="none" strike="noStrike" kern="1200" cap="none" spc="-7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완성차</a:t>
            </a:r>
            <a:r>
              <a:rPr kumimoji="0" lang="ko-KR" altLang="en-US" sz="11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조직화 결과 및 최신동향 </a:t>
            </a:r>
            <a:r>
              <a:rPr kumimoji="0" lang="en-US" altLang="ko-KR" sz="11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]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DE93582-4B21-E8FD-CF6A-B6C533473F50}"/>
              </a:ext>
            </a:extLst>
          </p:cNvPr>
          <p:cNvCxnSpPr>
            <a:cxnSpLocks/>
          </p:cNvCxnSpPr>
          <p:nvPr/>
        </p:nvCxnSpPr>
        <p:spPr bwMode="auto">
          <a:xfrm>
            <a:off x="226355" y="548842"/>
            <a:ext cx="6907690" cy="0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제목 4">
            <a:extLst>
              <a:ext uri="{FF2B5EF4-FFF2-40B4-BE49-F238E27FC236}">
                <a16:creationId xmlns:a16="http://schemas.microsoft.com/office/drawing/2014/main" id="{B7C992C0-38BE-9536-3C52-12FF48C48903}"/>
              </a:ext>
            </a:extLst>
          </p:cNvPr>
          <p:cNvSpPr txBox="1">
            <a:spLocks/>
          </p:cNvSpPr>
          <p:nvPr/>
        </p:nvSpPr>
        <p:spPr>
          <a:xfrm>
            <a:off x="200472" y="170881"/>
            <a:ext cx="9516209" cy="36933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10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2. 2026 </a:t>
            </a:r>
            <a:r>
              <a:rPr kumimoji="0" lang="ko-KR" altLang="en-US" sz="1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북미</a:t>
            </a:r>
            <a:r>
              <a:rPr kumimoji="0" lang="en-US" altLang="ko-KR" sz="1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 </a:t>
            </a:r>
            <a:r>
              <a:rPr kumimoji="0" lang="ko-KR" altLang="en-US" sz="1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대외 노경환경 업데이트</a:t>
            </a:r>
            <a:endParaRPr kumimoji="0" sz="1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j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1DA4E05-A00C-20E5-8181-F8E30D394470}"/>
              </a:ext>
            </a:extLst>
          </p:cNvPr>
          <p:cNvSpPr/>
          <p:nvPr/>
        </p:nvSpPr>
        <p:spPr bwMode="auto">
          <a:xfrm>
            <a:off x="335392" y="3320036"/>
            <a:ext cx="180000" cy="180000"/>
          </a:xfrm>
          <a:prstGeom prst="ellipse">
            <a:avLst/>
          </a:prstGeom>
          <a:solidFill>
            <a:schemeClr val="tx1"/>
          </a:solidFill>
          <a:ln w="15875"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2</a:t>
            </a:r>
            <a:endParaRPr kumimoji="0" lang="ko-KR" altLang="en-US" sz="1200" b="1" i="0" u="none" strike="noStrike" kern="1200" cap="none" spc="-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A60C54-08F8-12CD-F664-58BACA35983F}"/>
              </a:ext>
            </a:extLst>
          </p:cNvPr>
          <p:cNvSpPr txBox="1"/>
          <p:nvPr/>
        </p:nvSpPr>
        <p:spPr>
          <a:xfrm>
            <a:off x="4757536" y="6567516"/>
            <a:ext cx="32893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2/8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38" name="텍스트 개체 틀 37">
            <a:extLst>
              <a:ext uri="{FF2B5EF4-FFF2-40B4-BE49-F238E27FC236}">
                <a16:creationId xmlns:a16="http://schemas.microsoft.com/office/drawing/2014/main" id="{58B740C6-CF31-28AF-1262-4E04B77CC1D2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D8A9E0B-3989-E848-023C-D44062797EFF}"/>
              </a:ext>
            </a:extLst>
          </p:cNvPr>
          <p:cNvSpPr/>
          <p:nvPr/>
        </p:nvSpPr>
        <p:spPr>
          <a:xfrm>
            <a:off x="4414493" y="5973715"/>
            <a:ext cx="93166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* </a:t>
            </a:r>
            <a:r>
              <a:rPr kumimoji="0" lang="ko-KR" altLang="en-US" sz="10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추가 회신 없음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75913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4">
            <a:extLst>
              <a:ext uri="{FF2B5EF4-FFF2-40B4-BE49-F238E27FC236}">
                <a16:creationId xmlns:a16="http://schemas.microsoft.com/office/drawing/2014/main" id="{F9509E2F-6936-4BC1-A324-75670C5728D1}"/>
              </a:ext>
            </a:extLst>
          </p:cNvPr>
          <p:cNvSpPr txBox="1">
            <a:spLocks/>
          </p:cNvSpPr>
          <p:nvPr/>
        </p:nvSpPr>
        <p:spPr>
          <a:xfrm>
            <a:off x="200472" y="170881"/>
            <a:ext cx="9516209" cy="36933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10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3. ESMI </a:t>
            </a:r>
            <a:r>
              <a:rPr kumimoji="0" lang="ko-KR" altLang="en-US" sz="1800" b="1" i="0" u="none" strike="noStrike" kern="1200" cap="none" spc="-1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랜싱</a:t>
            </a:r>
            <a:r>
              <a:rPr kumimoji="0" lang="ko-KR" altLang="en-US" sz="1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 조직화 취약성 진단 결과</a:t>
            </a:r>
            <a:endParaRPr kumimoji="0" sz="1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j-cs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3BB3EFA-5708-498C-B36A-12C009908642}"/>
              </a:ext>
            </a:extLst>
          </p:cNvPr>
          <p:cNvCxnSpPr>
            <a:cxnSpLocks/>
          </p:cNvCxnSpPr>
          <p:nvPr/>
        </p:nvCxnSpPr>
        <p:spPr bwMode="auto">
          <a:xfrm>
            <a:off x="226355" y="548842"/>
            <a:ext cx="6907690" cy="0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527079A-66B6-4802-BBEF-DF53EB78E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4848" y="1556227"/>
            <a:ext cx="2069927" cy="230832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>
            <a:defPPr>
              <a:defRPr lang="en-US"/>
            </a:defPPr>
            <a:lvl1pPr algn="ctr">
              <a:defRPr sz="1300" b="1" spc="-7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742950" indent="-28575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2pPr>
            <a:lvl3pPr marL="1143000" indent="-22860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3pPr>
            <a:lvl4pPr marL="1600200" indent="-22860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4pPr>
            <a:lvl5pPr marL="2057400" indent="-22860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인터뷰 내용</a:t>
            </a:r>
            <a:endParaRPr kumimoji="0" lang="en-US" altLang="ko-KR" sz="1200" b="1" i="0" u="none" strike="noStrike" kern="1200" cap="none" spc="-7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545027F-8EFE-45DC-BD57-91166218C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8961" y="1556227"/>
            <a:ext cx="2069927" cy="230832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>
            <a:defPPr>
              <a:defRPr lang="en-US"/>
            </a:defPPr>
            <a:lvl1pPr algn="ctr">
              <a:defRPr sz="1300" b="1" spc="-7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742950" indent="-28575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2pPr>
            <a:lvl3pPr marL="1143000" indent="-22860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3pPr>
            <a:lvl4pPr marL="1600200" indent="-22860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4pPr>
            <a:lvl5pPr marL="2057400" indent="-22860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진단 결과</a:t>
            </a:r>
            <a:endParaRPr kumimoji="0" lang="en-US" altLang="ko-KR" sz="1200" b="1" i="0" u="none" strike="noStrike" kern="1200" cap="none" spc="-7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CBCD52B-6253-1C0B-36D0-D68C7D319783}"/>
              </a:ext>
            </a:extLst>
          </p:cNvPr>
          <p:cNvCxnSpPr>
            <a:cxnSpLocks/>
          </p:cNvCxnSpPr>
          <p:nvPr/>
        </p:nvCxnSpPr>
        <p:spPr>
          <a:xfrm>
            <a:off x="1728875" y="1811589"/>
            <a:ext cx="3241873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1AE1A3A-58E4-5494-C65B-20DFEBE3AD9B}"/>
              </a:ext>
            </a:extLst>
          </p:cNvPr>
          <p:cNvSpPr txBox="1"/>
          <p:nvPr/>
        </p:nvSpPr>
        <p:spPr>
          <a:xfrm>
            <a:off x="4757536" y="6567516"/>
            <a:ext cx="32893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3/8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29D281D-E0FD-6558-DA63-A6AF09236C15}"/>
              </a:ext>
            </a:extLst>
          </p:cNvPr>
          <p:cNvSpPr/>
          <p:nvPr/>
        </p:nvSpPr>
        <p:spPr>
          <a:xfrm>
            <a:off x="392796" y="1996108"/>
            <a:ext cx="1057960" cy="688913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29" tIns="45715" rIns="91429" bIns="45715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96" rtl="0" eaLnBrk="1" fontAlgn="auto" latinLnBrk="1" hangingPunct="1">
              <a:lnSpc>
                <a:spcPts val="1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377" algn="l"/>
              </a:tabLst>
              <a:defRPr/>
            </a:pP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환경안전</a:t>
            </a:r>
          </a:p>
        </p:txBody>
      </p:sp>
      <p:sp>
        <p:nvSpPr>
          <p:cNvPr id="27" name="Text Box 38">
            <a:extLst>
              <a:ext uri="{FF2B5EF4-FFF2-40B4-BE49-F238E27FC236}">
                <a16:creationId xmlns:a16="http://schemas.microsoft.com/office/drawing/2014/main" id="{3F6349B5-87B3-4C07-FC93-0A07F927B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3696" y="1996108"/>
            <a:ext cx="3771518" cy="10460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88900" marR="0" lvl="0" indent="-88900" algn="l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안전 규제나 가이드라인 존재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88900" marR="0" lvl="0" indent="-88900" algn="l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현장 실행 단계에서 규정 해석의 편차 발생 및 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부서별 특성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설비 등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이 반영되지 않은 적발중심의 활동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88900" marR="0" lvl="0" indent="-88900" algn="l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생산이 활발한 조직은 안전보다 숫자가 강조되기도 함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21" name="Text Box 38">
            <a:extLst>
              <a:ext uri="{FF2B5EF4-FFF2-40B4-BE49-F238E27FC236}">
                <a16:creationId xmlns:a16="http://schemas.microsoft.com/office/drawing/2014/main" id="{3EC86A48-F7C8-4A35-2E8C-D61FA832D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502" y="1996108"/>
            <a:ext cx="3652748" cy="76597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92075" marR="0" lvl="0" indent="-92075" algn="l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제도적인 측면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구성원 인식 수준은 상당히 양호한 편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양산이 시작되는 조직들은 리더의 업무지시에 있어서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안전이 고려될 수 있도록 주의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30AB998-FE6D-085D-943B-8F8629085A21}"/>
              </a:ext>
            </a:extLst>
          </p:cNvPr>
          <p:cNvSpPr/>
          <p:nvPr/>
        </p:nvSpPr>
        <p:spPr>
          <a:xfrm>
            <a:off x="392796" y="4354912"/>
            <a:ext cx="1057960" cy="688913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29" tIns="45715" rIns="91429" bIns="45715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96" rtl="0" eaLnBrk="1" fontAlgn="auto" latinLnBrk="1" hangingPunct="1">
              <a:lnSpc>
                <a:spcPts val="1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377" algn="l"/>
              </a:tabLst>
              <a:defRPr/>
            </a:pP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VOE</a:t>
            </a:r>
            <a:endParaRPr kumimoji="0" lang="ko-KR" altLang="en-US" sz="1200" b="1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" name="Text Box 38">
            <a:extLst>
              <a:ext uri="{FF2B5EF4-FFF2-40B4-BE49-F238E27FC236}">
                <a16:creationId xmlns:a16="http://schemas.microsoft.com/office/drawing/2014/main" id="{8A03762D-1952-EA65-8118-92AEB4B9D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3696" y="4354912"/>
            <a:ext cx="3771518" cy="12491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92075" marR="0" lvl="0" indent="-92075" algn="l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SPV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들이 꼽은 이직의 가장 큰 원인은 소통 체계의 부재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업무지시에 구체적인 설명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(Why, When, How)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-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SPV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조차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TL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급 차상위 리더십과의 교류 부족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야간 근무자들의 정보 비대칭 및 소외에 대한 불만 존재 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운영담당 합류로 개선에 대한 기대감이 높아진 상황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23" name="Text Box 38">
            <a:extLst>
              <a:ext uri="{FF2B5EF4-FFF2-40B4-BE49-F238E27FC236}">
                <a16:creationId xmlns:a16="http://schemas.microsoft.com/office/drawing/2014/main" id="{BD0844B3-1124-B5A8-2672-C8126C6B6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502" y="4354912"/>
            <a:ext cx="3652748" cy="11722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171450" marR="0" lvl="0" indent="-171450" algn="l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리더십의 소통의 양적 확대 및 질적 강화 필요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- Townhall, Hourly-Upper Management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직접 소통 등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운영담당 중심 소통 활동 확산 및 지속 전개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-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조교대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시간에 맞춰 운영담당을 찾아갈 수 있는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‘Open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Office’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도입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29" name="Text Box 38">
            <a:extLst>
              <a:ext uri="{FF2B5EF4-FFF2-40B4-BE49-F238E27FC236}">
                <a16:creationId xmlns:a16="http://schemas.microsoft.com/office/drawing/2014/main" id="{115EA580-0FB3-66E0-96CB-20C35A118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3696" y="5713813"/>
            <a:ext cx="3771518" cy="76597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92075" marR="0" lvl="0" indent="-92075" algn="l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타사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Layoff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사례에 대해 인식하고 있으며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상대적으로 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당사의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ESS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전환에 따른 고용안정성에 대해 공감하고 있음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신규 사업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각형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ESS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등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을 통한 성장의 기회에 대해 긍정적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D779254-4CC8-13F6-6AD9-9E854192D219}"/>
              </a:ext>
            </a:extLst>
          </p:cNvPr>
          <p:cNvSpPr/>
          <p:nvPr/>
        </p:nvSpPr>
        <p:spPr>
          <a:xfrm>
            <a:off x="392796" y="5713813"/>
            <a:ext cx="1057960" cy="688913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29" tIns="45715" rIns="91429" bIns="45715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96" rtl="0" eaLnBrk="1" fontAlgn="auto" latinLnBrk="1" hangingPunct="1">
              <a:lnSpc>
                <a:spcPts val="1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377" algn="l"/>
              </a:tabLst>
              <a:defRPr/>
            </a:pP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고용안정</a:t>
            </a:r>
          </a:p>
        </p:txBody>
      </p:sp>
      <p:sp>
        <p:nvSpPr>
          <p:cNvPr id="26" name="Text Box 38">
            <a:extLst>
              <a:ext uri="{FF2B5EF4-FFF2-40B4-BE49-F238E27FC236}">
                <a16:creationId xmlns:a16="http://schemas.microsoft.com/office/drawing/2014/main" id="{3D7DEF1E-6456-8CFE-4289-6771C571B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502" y="5713813"/>
            <a:ext cx="3652748" cy="96917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171450" marR="0" lvl="0" indent="-171450" algn="l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고용안정성 측면에서는 동종 산업 내 타사 대비 양호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소통 활동 시 주요 사업 변화에 따른 고용 임팩트 및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성장기회에 대해 강조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- Layoff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없이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ESS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전환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J/V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단독운영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각형 추진 등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E623727-2A62-6A10-B5D9-FD6558F9DB35}"/>
              </a:ext>
            </a:extLst>
          </p:cNvPr>
          <p:cNvSpPr/>
          <p:nvPr/>
        </p:nvSpPr>
        <p:spPr>
          <a:xfrm>
            <a:off x="392796" y="3160842"/>
            <a:ext cx="1057960" cy="688913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29" tIns="45715" rIns="91429" bIns="45715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96" rtl="0" eaLnBrk="1" fontAlgn="auto" latinLnBrk="1" hangingPunct="1">
              <a:lnSpc>
                <a:spcPts val="1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377" algn="l"/>
              </a:tabLst>
              <a:defRPr/>
            </a:pP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보상</a:t>
            </a:r>
          </a:p>
        </p:txBody>
      </p:sp>
      <p:sp>
        <p:nvSpPr>
          <p:cNvPr id="11" name="Text Box 38">
            <a:extLst>
              <a:ext uri="{FF2B5EF4-FFF2-40B4-BE49-F238E27FC236}">
                <a16:creationId xmlns:a16="http://schemas.microsoft.com/office/drawing/2014/main" id="{730BB7D4-80B5-B56A-FB22-3A27FC5F9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3696" y="3160842"/>
            <a:ext cx="3637047" cy="969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92075" marR="0" lvl="0" indent="-92075" algn="l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OP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기준 지역 내 임금 경쟁력이 우수한 편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-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단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조직화된 인근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GM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공장 및 주요 경쟁사인 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블루오벌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(Marshall)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대비 낮은 수준임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작업 환경 및 복리후생에 대한 긍정적 평가가 다수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22" name="Text Box 38">
            <a:extLst>
              <a:ext uri="{FF2B5EF4-FFF2-40B4-BE49-F238E27FC236}">
                <a16:creationId xmlns:a16="http://schemas.microsoft.com/office/drawing/2014/main" id="{5F539394-1787-4CBC-BDA5-986BDDCD4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502" y="3160842"/>
            <a:ext cx="3652748" cy="84292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92075" marR="0" lvl="0" indent="-92075" algn="l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올해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실행된 임금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Catch-Up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전략이 유효함을 확인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사업상황과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Align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해서 보상 경쟁력 유지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92075" marR="0" lvl="0" indent="-92075" algn="l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총보상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관점에서 당사 강점을 홍보할 수 있는 활동 실시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61CC7D-114B-165A-9BB5-E89D2AB7EA6D}"/>
              </a:ext>
            </a:extLst>
          </p:cNvPr>
          <p:cNvSpPr txBox="1"/>
          <p:nvPr/>
        </p:nvSpPr>
        <p:spPr>
          <a:xfrm>
            <a:off x="2551443" y="3997653"/>
            <a:ext cx="185980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건강보험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식대지원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Shift Premium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4ABB84-73DC-A300-4CDD-E7D2E0979953}"/>
              </a:ext>
            </a:extLst>
          </p:cNvPr>
          <p:cNvSpPr txBox="1"/>
          <p:nvPr/>
        </p:nvSpPr>
        <p:spPr>
          <a:xfrm>
            <a:off x="5896774" y="3891476"/>
            <a:ext cx="243848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Benefits Refresher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등 사내 복리후생 제도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Remind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5CF9FCFD-20D4-8481-D903-32B2642C8085}"/>
              </a:ext>
            </a:extLst>
          </p:cNvPr>
          <p:cNvCxnSpPr>
            <a:cxnSpLocks/>
          </p:cNvCxnSpPr>
          <p:nvPr/>
        </p:nvCxnSpPr>
        <p:spPr>
          <a:xfrm>
            <a:off x="5872988" y="1811589"/>
            <a:ext cx="3241873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AB92844-916A-01E2-2158-08C14D94B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195" y="733632"/>
            <a:ext cx="9212778" cy="585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ts val="2000"/>
              </a:lnSpc>
              <a:spcBef>
                <a:spcPts val="4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 kumimoji="0" sz="1400" b="1" i="0" u="none" strike="noStrike" cap="none" spc="-5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defRPr>
            </a:lvl1pPr>
            <a:lvl2pPr marL="742950" indent="-28575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2pPr>
            <a:lvl3pPr marL="1143000" indent="-22860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3pPr>
            <a:lvl4pPr marL="1600200" indent="-22860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4pPr>
            <a:lvl5pPr marL="2057400" indent="-22860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ts val="2000"/>
              </a:lnSpc>
              <a:spcBef>
                <a:spcPts val="4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인터뷰 내용을 종합해 볼 때 </a:t>
            </a:r>
            <a:r>
              <a:rPr kumimoji="0" lang="ko-KR" altLang="en-US" sz="1400" b="1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랜싱의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환경안전 및 고용안정에 대한 지표는 양호한 편이고 보상 경쟁력은 지역 내 우수한 편에 속해 있습니다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.</a:t>
            </a:r>
            <a:b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다만 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VOE 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측면에서는 소통 체계의 취약점이 발견되어 계속해서 소통 활동을 양적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/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질적으로 강화 하겠습니다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.</a:t>
            </a:r>
          </a:p>
        </p:txBody>
      </p:sp>
      <p:sp>
        <p:nvSpPr>
          <p:cNvPr id="9" name="제목 4">
            <a:extLst>
              <a:ext uri="{FF2B5EF4-FFF2-40B4-BE49-F238E27FC236}">
                <a16:creationId xmlns:a16="http://schemas.microsoft.com/office/drawing/2014/main" id="{337504C6-E276-2439-A88A-A84726951A7B}"/>
              </a:ext>
            </a:extLst>
          </p:cNvPr>
          <p:cNvSpPr txBox="1">
            <a:spLocks/>
          </p:cNvSpPr>
          <p:nvPr/>
        </p:nvSpPr>
        <p:spPr>
          <a:xfrm>
            <a:off x="8329788" y="170881"/>
            <a:ext cx="1309974" cy="307777"/>
          </a:xfrm>
          <a:prstGeom prst="rect">
            <a:avLst/>
          </a:prstGeom>
        </p:spPr>
        <p:txBody>
          <a:bodyPr vert="horz" wrap="none" lIns="91440" tIns="45720" rIns="91440" bIns="45720" rtlCol="0" anchor="t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10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①  종합 진단 결과</a:t>
            </a:r>
            <a:endParaRPr kumimoji="0" sz="14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931CED-1FB1-4742-AFBF-94DEC1B896A7}"/>
              </a:ext>
            </a:extLst>
          </p:cNvPr>
          <p:cNvSpPr txBox="1"/>
          <p:nvPr/>
        </p:nvSpPr>
        <p:spPr>
          <a:xfrm>
            <a:off x="1807216" y="3739106"/>
            <a:ext cx="277511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인터뷰 내용 중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OP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초임 언급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: LGES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$23 / BO $27 / GM $28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DA3369-54BC-DC21-1ABC-980AE0EA562E}"/>
              </a:ext>
            </a:extLst>
          </p:cNvPr>
          <p:cNvSpPr txBox="1"/>
          <p:nvPr/>
        </p:nvSpPr>
        <p:spPr>
          <a:xfrm>
            <a:off x="7493924" y="3323537"/>
            <a:ext cx="60144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10%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인상</a:t>
            </a:r>
          </a:p>
        </p:txBody>
      </p:sp>
    </p:spTree>
    <p:extLst>
      <p:ext uri="{BB962C8B-B14F-4D97-AF65-F5344CB8AC3E}">
        <p14:creationId xmlns:p14="http://schemas.microsoft.com/office/powerpoint/2010/main" val="18798876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4">
            <a:extLst>
              <a:ext uri="{FF2B5EF4-FFF2-40B4-BE49-F238E27FC236}">
                <a16:creationId xmlns:a16="http://schemas.microsoft.com/office/drawing/2014/main" id="{F9509E2F-6936-4BC1-A324-75670C5728D1}"/>
              </a:ext>
            </a:extLst>
          </p:cNvPr>
          <p:cNvSpPr txBox="1">
            <a:spLocks/>
          </p:cNvSpPr>
          <p:nvPr/>
        </p:nvSpPr>
        <p:spPr>
          <a:xfrm>
            <a:off x="200472" y="170881"/>
            <a:ext cx="9516209" cy="36933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10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3. ESMI </a:t>
            </a:r>
            <a:r>
              <a:rPr kumimoji="0" lang="ko-KR" altLang="en-US" sz="1800" b="1" i="0" u="none" strike="noStrike" kern="1200" cap="none" spc="-1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랜싱</a:t>
            </a:r>
            <a:r>
              <a:rPr kumimoji="0" lang="ko-KR" altLang="en-US" sz="1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 조직화 취약성 진단 결과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3BB3EFA-5708-498C-B36A-12C009908642}"/>
              </a:ext>
            </a:extLst>
          </p:cNvPr>
          <p:cNvCxnSpPr>
            <a:cxnSpLocks/>
          </p:cNvCxnSpPr>
          <p:nvPr/>
        </p:nvCxnSpPr>
        <p:spPr bwMode="auto">
          <a:xfrm>
            <a:off x="226355" y="548842"/>
            <a:ext cx="6907690" cy="0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Text Box 38">
            <a:extLst>
              <a:ext uri="{FF2B5EF4-FFF2-40B4-BE49-F238E27FC236}">
                <a16:creationId xmlns:a16="http://schemas.microsoft.com/office/drawing/2014/main" id="{47EBE1C6-0E97-40BE-2503-C8365C338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6780" y="1643442"/>
            <a:ext cx="7191392" cy="98488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t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177800" marR="0" lvl="0" indent="-1778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전반적인 분위기나 소문에 비추어보면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LG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는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무노조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경영을 선호 한다고 생각하지만 공식적인 입장은 불명확한 상태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일부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SPV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들은 팀원과 노조 관련 얘기를 하고 있음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</a:p>
          <a:p>
            <a:pPr marL="177800" marR="0" lvl="0" indent="-1778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노조에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가입된 건설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Contractor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들이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우리 직원들을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Influence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할 가능성이 있음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177800" marR="0" lvl="0" indent="-1778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U/C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기 사례에 비추어 보면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Technician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보다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Operator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중심으로 조직화 활동이 확산됨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8065F7A-774F-2966-BBEC-A08C9D2A132E}"/>
              </a:ext>
            </a:extLst>
          </p:cNvPr>
          <p:cNvSpPr/>
          <p:nvPr/>
        </p:nvSpPr>
        <p:spPr>
          <a:xfrm>
            <a:off x="395437" y="1627341"/>
            <a:ext cx="654707" cy="984885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29" tIns="45715" rIns="91429" bIns="45715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96" rtl="0" eaLnBrk="1" fontAlgn="auto" latinLnBrk="1" hangingPunct="1">
              <a:lnSpc>
                <a:spcPts val="1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377" algn="l"/>
              </a:tabLst>
              <a:defRPr/>
            </a:pP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  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BAEFEF-17CE-A0B3-73CA-B103A6EC9CDE}"/>
              </a:ext>
            </a:extLst>
          </p:cNvPr>
          <p:cNvSpPr/>
          <p:nvPr/>
        </p:nvSpPr>
        <p:spPr>
          <a:xfrm>
            <a:off x="394396" y="3047325"/>
            <a:ext cx="654707" cy="160265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29" tIns="45715" rIns="91429" bIns="45715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96" rtl="0" eaLnBrk="1" fontAlgn="auto" latinLnBrk="1" hangingPunct="1">
              <a:lnSpc>
                <a:spcPts val="1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377" algn="l"/>
              </a:tabLst>
              <a:defRPr/>
            </a:pP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조직화</a:t>
            </a:r>
            <a:endParaRPr kumimoji="0" lang="en-US" altLang="ko-KR" sz="1200" b="1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296" rtl="0" eaLnBrk="1" fontAlgn="auto" latinLnBrk="1" hangingPunct="1">
              <a:lnSpc>
                <a:spcPts val="1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377" algn="l"/>
              </a:tabLst>
              <a:defRPr/>
            </a:pP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가능성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CA981A7-683E-2699-EB3E-BC44BFFD6D15}"/>
              </a:ext>
            </a:extLst>
          </p:cNvPr>
          <p:cNvSpPr/>
          <p:nvPr/>
        </p:nvSpPr>
        <p:spPr>
          <a:xfrm>
            <a:off x="1155794" y="3047325"/>
            <a:ext cx="541080" cy="84124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높음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의견</a:t>
            </a:r>
          </a:p>
        </p:txBody>
      </p:sp>
      <p:sp>
        <p:nvSpPr>
          <p:cNvPr id="12" name="Text Box 38">
            <a:extLst>
              <a:ext uri="{FF2B5EF4-FFF2-40B4-BE49-F238E27FC236}">
                <a16:creationId xmlns:a16="http://schemas.microsoft.com/office/drawing/2014/main" id="{A000004B-B57B-DDF9-C5D7-8652736B5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6415" y="3047325"/>
            <a:ext cx="7859844" cy="913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t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근무 환경에 대한 직접적인 불만보다 직원들의 배경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(Background)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이 주요 조직화 요인이 될 것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유노조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사업장 출신 직원들은 조직화를 적극 추진 할 것으로 예상되는 반면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그 외 인원은 중립적인 태도를 보일 것으로 예상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미시간주의 동부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랜싱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는 조직화에 대해 상대적으로 긍정적이나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서부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홀랜드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반대 인식을 보유하고 있음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Policy,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생산계획 변경 등 운영 상 불확실성 증가 시 근로자들 사이에 조직화 필요성이 언급되기도 함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3" name="Text Box 38">
            <a:extLst>
              <a:ext uri="{FF2B5EF4-FFF2-40B4-BE49-F238E27FC236}">
                <a16:creationId xmlns:a16="http://schemas.microsoft.com/office/drawing/2014/main" id="{58C0AB1E-7956-D47A-610D-F4B08594A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6415" y="4137393"/>
            <a:ext cx="7479933" cy="5386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t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주요 불만사항에 대해 소속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SPV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와 직접 소통이 가능할 정도의 관계가 내부적으로 충분히 형성되어 있음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U/C 3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기 당시 입사자들은 조직화 가능성을 예상하였으나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LG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인수 후 입사자들은 조직화에 대한 별도 기대가 없는 상황임 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D9E5034-27B4-6453-336D-453B43A7FA88}"/>
              </a:ext>
            </a:extLst>
          </p:cNvPr>
          <p:cNvSpPr/>
          <p:nvPr/>
        </p:nvSpPr>
        <p:spPr>
          <a:xfrm>
            <a:off x="1155794" y="4111366"/>
            <a:ext cx="541080" cy="53860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낮음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의견</a:t>
            </a:r>
          </a:p>
        </p:txBody>
      </p:sp>
      <p:sp>
        <p:nvSpPr>
          <p:cNvPr id="3" name="Text Box 38">
            <a:extLst>
              <a:ext uri="{FF2B5EF4-FFF2-40B4-BE49-F238E27FC236}">
                <a16:creationId xmlns:a16="http://schemas.microsoft.com/office/drawing/2014/main" id="{2CC0D62A-9F08-D36F-0723-69A7F1CD0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6780" y="5094999"/>
            <a:ext cx="8622873" cy="13234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t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유노조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사업장은 직원들의 역할이 과도하게 세분화 되어있어 업무 진행에 효율성이 매우 떨어짐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노조가 생기면 근속을 기준으로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Shift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선택권을 갖게 되는데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고근속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숙련공 대부분이 주간 근무를 맡게 되면서 야간조의 생산성이 저하됨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노조의 개입으로 고용안정이 권리로 비춰지면서 문제 있는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저성과자가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보호되는 구조 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노조는 협력적인 관계보다 대립적인 관계로 다가오며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관리자들의 대부분의 근무시간이 노조와 싸우는데 소요됨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과할 정도로 소통이 투명하고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반복적이며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가이드북 등을 통해 근로조건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휴가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보상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근태 등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의 모든 내용이 세부적으로 명시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홍보 되고 있음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50504BC-A223-5440-0442-0FDEDCBB2BB8}"/>
              </a:ext>
            </a:extLst>
          </p:cNvPr>
          <p:cNvSpPr/>
          <p:nvPr/>
        </p:nvSpPr>
        <p:spPr>
          <a:xfrm>
            <a:off x="394396" y="5094999"/>
            <a:ext cx="654707" cy="132343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29" tIns="45715" rIns="91429" bIns="45715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96" rtl="0" eaLnBrk="1" fontAlgn="auto" latinLnBrk="1" hangingPunct="1">
              <a:lnSpc>
                <a:spcPts val="1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377" algn="l"/>
              </a:tabLst>
              <a:defRPr/>
            </a:pP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노조</a:t>
            </a:r>
            <a:b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경험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60480E-7D8C-0B7B-9095-14A9C10A24D4}"/>
              </a:ext>
            </a:extLst>
          </p:cNvPr>
          <p:cNvSpPr txBox="1"/>
          <p:nvPr/>
        </p:nvSpPr>
        <p:spPr>
          <a:xfrm>
            <a:off x="7558060" y="6299510"/>
            <a:ext cx="20168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미세한 변화도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Detail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하게  공지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홍보 필요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538905-3347-B287-CDD5-69B73EBBE4A6}"/>
              </a:ext>
            </a:extLst>
          </p:cNvPr>
          <p:cNvSpPr txBox="1"/>
          <p:nvPr/>
        </p:nvSpPr>
        <p:spPr>
          <a:xfrm>
            <a:off x="4757536" y="6567516"/>
            <a:ext cx="32893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4/8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2" name="Text Box 38">
            <a:extLst>
              <a:ext uri="{FF2B5EF4-FFF2-40B4-BE49-F238E27FC236}">
                <a16:creationId xmlns:a16="http://schemas.microsoft.com/office/drawing/2014/main" id="{9A28E287-7B52-E6F9-ED67-652B248C7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446" y="734940"/>
            <a:ext cx="9514143" cy="585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ts val="2000"/>
              </a:lnSpc>
              <a:spcBef>
                <a:spcPts val="4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 kumimoji="0" sz="1400" b="1" i="0" u="none" strike="noStrike" cap="none" spc="-5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defRPr>
            </a:lvl1pPr>
            <a:lvl2pPr marL="742950" indent="-28575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2pPr>
            <a:lvl3pPr marL="1143000" indent="-22860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3pPr>
            <a:lvl4pPr marL="1600200" indent="-22860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4pPr>
            <a:lvl5pPr marL="2057400" indent="-22860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ts val="2000"/>
              </a:lnSpc>
              <a:spcBef>
                <a:spcPts val="4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인터뷰에 따르면 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SPV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들의 </a:t>
            </a:r>
            <a:r>
              <a:rPr kumimoji="0" lang="ko-KR" altLang="en-US" sz="1400" b="1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유노조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경험은 대체로 부정적이나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 </a:t>
            </a:r>
            <a:r>
              <a:rPr kumimoji="0" lang="ko-KR" altLang="en-US" sz="1400" b="1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랜싱은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지역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/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인력 특성상 조직화 가능성이 높은 것으로 확인됩니다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.</a:t>
            </a:r>
            <a:b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특히 일부 조직 내에서는 노조 관련 언급이 존재하는 만큼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 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노조에 대한 회사의 방향성을 교육이나 소통 가이드를 통해 전달할 필요가 있습니다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.</a:t>
            </a:r>
          </a:p>
        </p:txBody>
      </p:sp>
      <p:sp>
        <p:nvSpPr>
          <p:cNvPr id="21" name="제목 4">
            <a:extLst>
              <a:ext uri="{FF2B5EF4-FFF2-40B4-BE49-F238E27FC236}">
                <a16:creationId xmlns:a16="http://schemas.microsoft.com/office/drawing/2014/main" id="{640A99EC-CBF6-4BDB-7424-BD615641A910}"/>
              </a:ext>
            </a:extLst>
          </p:cNvPr>
          <p:cNvSpPr txBox="1">
            <a:spLocks/>
          </p:cNvSpPr>
          <p:nvPr/>
        </p:nvSpPr>
        <p:spPr>
          <a:xfrm>
            <a:off x="8041243" y="170881"/>
            <a:ext cx="1598515" cy="307777"/>
          </a:xfrm>
          <a:prstGeom prst="rect">
            <a:avLst/>
          </a:prstGeom>
        </p:spPr>
        <p:txBody>
          <a:bodyPr vert="horz" wrap="none" lIns="91440" tIns="45720" rIns="91440" bIns="45720" rtlCol="0" anchor="t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10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② 노조 관련 진단 결과</a:t>
            </a:r>
            <a:endParaRPr kumimoji="0" sz="14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946930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2D2322F7-F357-DF9A-87F3-4D7AAA8F625B}"/>
              </a:ext>
            </a:extLst>
          </p:cNvPr>
          <p:cNvSpPr txBox="1"/>
          <p:nvPr/>
        </p:nvSpPr>
        <p:spPr>
          <a:xfrm>
            <a:off x="390236" y="1631789"/>
            <a:ext cx="7088800" cy="1502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100"/>
              </a:lnSpc>
              <a:spcBef>
                <a:spcPts val="4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❶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VOE 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관리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체계 고도화 및 소통 채널의 강화</a:t>
            </a:r>
            <a:b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→ 경영진 소통의 양적 확대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법인장님 소통 지속 진행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운영담당 중심의 소통 활동 확대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및 질적 개선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旣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VOE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채널 통합관리 및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Feedback Loop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시스템 구축</a:t>
            </a:r>
            <a:endParaRPr kumimoji="0" lang="en-US" altLang="ko-KR" sz="900" b="0" i="0" u="none" strike="noStrike" kern="1200" cap="none" spc="-5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100"/>
              </a:lnSpc>
              <a:spcBef>
                <a:spcPts val="4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→ 팀장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한국인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의 소통활동 참여 필요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팀원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</a:t>
            </a:r>
            <a:r>
              <a:rPr kumimoji="0" lang="ko-KR" altLang="en-US" sz="12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현채인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들과의 직접적인 관계 형성</a:t>
            </a:r>
            <a:endParaRPr kumimoji="0" lang="en-US" altLang="ko-KR" sz="1200" b="0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100"/>
              </a:lnSpc>
              <a:spcBef>
                <a:spcPts val="4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→ 고용안정에 대한 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Positive Messaging 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적극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전파</a:t>
            </a:r>
            <a:b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     - “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조직화 이후에 베터리 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J/V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의 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Job Security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는 오히려 불안정해졌으나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 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우리는 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ESS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를 전환을 통해 보듬고 간다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.”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061676-8D22-3950-C77B-EA2E63FF5283}"/>
              </a:ext>
            </a:extLst>
          </p:cNvPr>
          <p:cNvSpPr txBox="1"/>
          <p:nvPr/>
        </p:nvSpPr>
        <p:spPr>
          <a:xfrm>
            <a:off x="390236" y="3301170"/>
            <a:ext cx="6330579" cy="12429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100"/>
              </a:lnSpc>
              <a:spcBef>
                <a:spcPts val="4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❷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Digital Capability</a:t>
            </a:r>
          </a:p>
          <a:p>
            <a:pPr marL="0" marR="0" lvl="0" indent="0" algn="l" defTabSz="914400" rtl="0" eaLnBrk="1" fontAlgn="auto" latinLnBrk="1" hangingPunct="1">
              <a:lnSpc>
                <a:spcPts val="2100"/>
              </a:lnSpc>
              <a:spcBef>
                <a:spcPts val="4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모바일 디지털 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Space 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활용을 통해 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PC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접근이 어려운 </a:t>
            </a:r>
            <a:r>
              <a:rPr kumimoji="0" lang="ko-KR" altLang="en-US" sz="120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현장직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및  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MZ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세대 등 여러 층에 최적화된 소통 채널 확보</a:t>
            </a:r>
            <a:endParaRPr kumimoji="0" lang="en-US" altLang="ko-KR" sz="1200" b="0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100"/>
              </a:lnSpc>
              <a:spcBef>
                <a:spcPts val="4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→ 문자 링크 발송을 통해 주요 회사 소식 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(Newsletter 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등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을 접할 수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있는 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Digital 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창구</a:t>
            </a:r>
            <a:b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→ 조직화 징후가 발견될 경우 회사의 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Positive Relations 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메시지 즉각 전파 창구로 전환해서 운영</a:t>
            </a:r>
            <a:endParaRPr kumimoji="0" lang="en-US" altLang="ko-KR" sz="1200" b="0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24" name="제목 4">
            <a:extLst>
              <a:ext uri="{FF2B5EF4-FFF2-40B4-BE49-F238E27FC236}">
                <a16:creationId xmlns:a16="http://schemas.microsoft.com/office/drawing/2014/main" id="{F9509E2F-6936-4BC1-A324-75670C5728D1}"/>
              </a:ext>
            </a:extLst>
          </p:cNvPr>
          <p:cNvSpPr txBox="1">
            <a:spLocks/>
          </p:cNvSpPr>
          <p:nvPr/>
        </p:nvSpPr>
        <p:spPr>
          <a:xfrm>
            <a:off x="200472" y="170881"/>
            <a:ext cx="9516209" cy="36933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10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4.  </a:t>
            </a:r>
            <a:r>
              <a:rPr kumimoji="0" lang="ko-KR" altLang="en-US" sz="1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노경관리 중점 추진 활동</a:t>
            </a:r>
            <a:endParaRPr kumimoji="0" sz="1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j-cs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3BB3EFA-5708-498C-B36A-12C009908642}"/>
              </a:ext>
            </a:extLst>
          </p:cNvPr>
          <p:cNvCxnSpPr>
            <a:cxnSpLocks/>
          </p:cNvCxnSpPr>
          <p:nvPr/>
        </p:nvCxnSpPr>
        <p:spPr bwMode="auto">
          <a:xfrm>
            <a:off x="226355" y="548842"/>
            <a:ext cx="6907690" cy="0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C538905-3347-B287-CDD5-69B73EBBE4A6}"/>
              </a:ext>
            </a:extLst>
          </p:cNvPr>
          <p:cNvSpPr txBox="1"/>
          <p:nvPr/>
        </p:nvSpPr>
        <p:spPr>
          <a:xfrm>
            <a:off x="4757536" y="6567516"/>
            <a:ext cx="32893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5/8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5" name="Text Box 38">
            <a:extLst>
              <a:ext uri="{FF2B5EF4-FFF2-40B4-BE49-F238E27FC236}">
                <a16:creationId xmlns:a16="http://schemas.microsoft.com/office/drawing/2014/main" id="{09AD06FA-048D-99A1-8FFC-A97894AAD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454" y="734940"/>
            <a:ext cx="9129359" cy="585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ts val="2000"/>
              </a:lnSpc>
              <a:spcBef>
                <a:spcPts val="4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 kumimoji="0" sz="1400" b="1" i="0" u="none" strike="noStrike" cap="none" spc="-5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defRPr>
            </a:lvl1pPr>
            <a:lvl2pPr marL="742950" indent="-28575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2pPr>
            <a:lvl3pPr marL="1143000" indent="-22860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3pPr>
            <a:lvl4pPr marL="1600200" indent="-22860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4pPr>
            <a:lvl5pPr marL="2057400" indent="-22860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ts val="2000"/>
              </a:lnSpc>
              <a:spcBef>
                <a:spcPts val="4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대외적으로 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UAW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의 타겟이 남부 완성차에 더 집중되어 있고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 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내부적으로는 조직화 지연 전략을 통해 내부 역량강화에 집중이 필요합니다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.</a:t>
            </a:r>
            <a:b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조직화 대응 역량을 선제적으로 내재화하기 위해 다음의 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4</a:t>
            </a:r>
            <a:r>
              <a:rPr kumimoji="0" lang="ko-KR" altLang="en-US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가지 과제를 바로 추진하고자 합니다</a:t>
            </a:r>
            <a:r>
              <a:rPr kumimoji="0" lang="en-US" altLang="ko-KR" sz="1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.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9E760BB-CB3D-CB46-353E-F45CF0D58B38}"/>
              </a:ext>
            </a:extLst>
          </p:cNvPr>
          <p:cNvGraphicFramePr>
            <a:graphicFrameLocks noGrp="1"/>
          </p:cNvGraphicFramePr>
          <p:nvPr/>
        </p:nvGraphicFramePr>
        <p:xfrm>
          <a:off x="7595949" y="1962888"/>
          <a:ext cx="2024663" cy="909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24">
                  <a:extLst>
                    <a:ext uri="{9D8B030D-6E8A-4147-A177-3AD203B41FA5}">
                      <a16:colId xmlns:a16="http://schemas.microsoft.com/office/drawing/2014/main" val="1231059346"/>
                    </a:ext>
                  </a:extLst>
                </a:gridCol>
                <a:gridCol w="1232939">
                  <a:extLst>
                    <a:ext uri="{9D8B030D-6E8A-4147-A177-3AD203B41FA5}">
                      <a16:colId xmlns:a16="http://schemas.microsoft.com/office/drawing/2014/main" val="2768285123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84934666"/>
                    </a:ext>
                  </a:extLst>
                </a:gridCol>
              </a:tblGrid>
              <a:tr h="18195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00" b="1" kern="1200" spc="-7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00" b="1" kern="1200" spc="-7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활동 내용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spc="-7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주기</a:t>
                      </a:r>
                    </a:p>
                  </a:txBody>
                  <a:tcPr marL="0" marR="0" marT="18000" marB="1800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606830"/>
                  </a:ext>
                </a:extLst>
              </a:tr>
              <a:tr h="181954">
                <a:tc rowSpan="3"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900" b="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소통</a:t>
                      </a:r>
                    </a:p>
                  </a:txBody>
                  <a:tcPr marL="0" marR="0" marT="18000" marB="18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900" b="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법인장님 간담회</a:t>
                      </a:r>
                    </a:p>
                  </a:txBody>
                  <a:tcPr marL="0" marR="0" marT="18000" marB="18000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006600"/>
                          </a:solidFill>
                        </a:rPr>
                        <a:t>반기</a:t>
                      </a:r>
                      <a:r>
                        <a:rPr lang="en-US" altLang="ko-KR" sz="900" dirty="0">
                          <a:solidFill>
                            <a:srgbClr val="006600"/>
                          </a:solidFill>
                        </a:rPr>
                        <a:t> 1</a:t>
                      </a:r>
                      <a:r>
                        <a:rPr lang="ko-KR" altLang="en-US" sz="900" dirty="0">
                          <a:solidFill>
                            <a:srgbClr val="006600"/>
                          </a:solidFill>
                        </a:rPr>
                        <a:t>회</a:t>
                      </a:r>
                    </a:p>
                  </a:txBody>
                  <a:tcPr marL="0" marR="0" marT="18000" marB="18000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534728"/>
                  </a:ext>
                </a:extLst>
              </a:tr>
              <a:tr h="1819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ko-KR" altLang="en-US" sz="900" b="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운영담당 </a:t>
                      </a:r>
                      <a:r>
                        <a:rPr kumimoji="0" lang="en-US" altLang="ko-KR" sz="900" b="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SPV</a:t>
                      </a:r>
                      <a:r>
                        <a:rPr kumimoji="0" lang="ko-KR" altLang="en-US" sz="900" b="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정기회의</a:t>
                      </a:r>
                    </a:p>
                  </a:txBody>
                  <a:tcPr marL="0" marR="0" marT="18000" marB="18000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ko-KR" altLang="en-US" sz="900" b="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주 </a:t>
                      </a:r>
                      <a:r>
                        <a:rPr kumimoji="0" lang="en-US" altLang="ko-KR" sz="900" b="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1</a:t>
                      </a:r>
                      <a:r>
                        <a:rPr kumimoji="0" lang="ko-KR" altLang="en-US" sz="900" b="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회</a:t>
                      </a:r>
                    </a:p>
                  </a:txBody>
                  <a:tcPr marL="0" marR="0" marT="18000" marB="18000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066298"/>
                  </a:ext>
                </a:extLst>
              </a:tr>
              <a:tr h="181954"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kumimoji="0" lang="ko-KR" altLang="en-US" sz="1000" b="0" kern="120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900" b="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Director Connect</a:t>
                      </a:r>
                      <a:endParaRPr kumimoji="0" lang="ko-KR" altLang="en-US" sz="900" b="0" kern="12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0" marR="0" marT="18000" marB="18000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ko-KR" altLang="en-US" sz="900" b="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주</a:t>
                      </a:r>
                      <a:r>
                        <a:rPr kumimoji="0" lang="en-US" altLang="ko-KR" sz="900" b="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 1</a:t>
                      </a:r>
                      <a:r>
                        <a:rPr kumimoji="0" lang="ko-KR" altLang="en-US" sz="900" b="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회</a:t>
                      </a:r>
                    </a:p>
                  </a:txBody>
                  <a:tcPr marL="0" marR="0" marT="18000" marB="18000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113877"/>
                  </a:ext>
                </a:extLst>
              </a:tr>
              <a:tr h="18195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900" b="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VOE</a:t>
                      </a:r>
                      <a:endParaRPr kumimoji="0" lang="ko-KR" altLang="en-US" sz="900" b="0" kern="12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0" marR="0" marT="18000" marB="18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ko-KR" altLang="en-US" sz="900" b="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통합관리 및 </a:t>
                      </a:r>
                      <a:r>
                        <a:rPr kumimoji="0" lang="en-US" altLang="ko-KR" sz="900" b="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Feedback Loop</a:t>
                      </a:r>
                      <a:endParaRPr kumimoji="0" lang="ko-KR" altLang="en-US" sz="900" b="0" kern="12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0" marR="0" marT="18000" marB="18000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900" b="0" kern="12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</a:t>
                      </a:r>
                      <a:endParaRPr kumimoji="0" lang="ko-KR" altLang="en-US" sz="900" b="0" kern="12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0" marR="0" marT="18000" marB="18000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617759"/>
                  </a:ext>
                </a:extLst>
              </a:tr>
            </a:tbl>
          </a:graphicData>
        </a:graphic>
      </p:graphicFrame>
      <p:grpSp>
        <p:nvGrpSpPr>
          <p:cNvPr id="28" name="그룹 27">
            <a:extLst>
              <a:ext uri="{FF2B5EF4-FFF2-40B4-BE49-F238E27FC236}">
                <a16:creationId xmlns:a16="http://schemas.microsoft.com/office/drawing/2014/main" id="{1CEBE47A-6F40-E96B-699E-383938B53535}"/>
              </a:ext>
            </a:extLst>
          </p:cNvPr>
          <p:cNvGrpSpPr/>
          <p:nvPr/>
        </p:nvGrpSpPr>
        <p:grpSpPr>
          <a:xfrm>
            <a:off x="7603319" y="3669322"/>
            <a:ext cx="1912445" cy="632041"/>
            <a:chOff x="7178140" y="4531744"/>
            <a:chExt cx="1912445" cy="632041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914514D9-0D26-FE9D-0B5A-E2E56A5C77CE}"/>
                </a:ext>
              </a:extLst>
            </p:cNvPr>
            <p:cNvSpPr/>
            <p:nvPr/>
          </p:nvSpPr>
          <p:spPr>
            <a:xfrm>
              <a:off x="8258548" y="4531744"/>
              <a:ext cx="832037" cy="247974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북미지역그룹장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96987B7B-7F42-F5DA-F11D-2B350569B7E8}"/>
                </a:ext>
              </a:extLst>
            </p:cNvPr>
            <p:cNvSpPr/>
            <p:nvPr/>
          </p:nvSpPr>
          <p:spPr>
            <a:xfrm>
              <a:off x="7178140" y="4556615"/>
              <a:ext cx="832037" cy="2308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6600">
                  <a:alpha val="5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운영담당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85A62C0-3366-02A4-2DDA-0EE043003A96}"/>
                </a:ext>
              </a:extLst>
            </p:cNvPr>
            <p:cNvSpPr/>
            <p:nvPr/>
          </p:nvSpPr>
          <p:spPr>
            <a:xfrm>
              <a:off x="7178140" y="4932913"/>
              <a:ext cx="832037" cy="230872"/>
            </a:xfrm>
            <a:prstGeom prst="rect">
              <a:avLst/>
            </a:prstGeom>
            <a:noFill/>
            <a:ln w="9525">
              <a:solidFill>
                <a:srgbClr val="006600">
                  <a:alpha val="5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Communication</a:t>
              </a:r>
              <a:endPara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CC0E940-AB00-03EB-7CC5-DE385584E14F}"/>
                </a:ext>
              </a:extLst>
            </p:cNvPr>
            <p:cNvSpPr/>
            <p:nvPr/>
          </p:nvSpPr>
          <p:spPr>
            <a:xfrm>
              <a:off x="8258548" y="4906018"/>
              <a:ext cx="832037" cy="247974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HR </a:t>
              </a:r>
            </a:p>
          </p:txBody>
        </p:sp>
      </p:grpSp>
      <p:sp>
        <p:nvSpPr>
          <p:cNvPr id="39" name="Text Box 38">
            <a:extLst>
              <a:ext uri="{FF2B5EF4-FFF2-40B4-BE49-F238E27FC236}">
                <a16:creationId xmlns:a16="http://schemas.microsoft.com/office/drawing/2014/main" id="{9583C9A3-C646-3A82-86A8-72E30B537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4051" y="3385879"/>
            <a:ext cx="1057982" cy="2351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0" rIns="0" anchor="t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[Digital Capability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운영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]</a:t>
            </a:r>
          </a:p>
        </p:txBody>
      </p:sp>
      <p:sp>
        <p:nvSpPr>
          <p:cNvPr id="41" name="Text Box 38">
            <a:extLst>
              <a:ext uri="{FF2B5EF4-FFF2-40B4-BE49-F238E27FC236}">
                <a16:creationId xmlns:a16="http://schemas.microsoft.com/office/drawing/2014/main" id="{3C3C2E83-C21A-406B-8B61-64EB7F1F4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681" y="1719106"/>
            <a:ext cx="1173398" cy="2351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rIns="0" anchor="t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[</a:t>
            </a: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랜싱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소통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/VOE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활동 현황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]</a:t>
            </a:r>
          </a:p>
        </p:txBody>
      </p:sp>
      <p:sp>
        <p:nvSpPr>
          <p:cNvPr id="34" name="Text Box 38">
            <a:extLst>
              <a:ext uri="{FF2B5EF4-FFF2-40B4-BE49-F238E27FC236}">
                <a16:creationId xmlns:a16="http://schemas.microsoft.com/office/drawing/2014/main" id="{B21E3EB0-D575-EB7E-A4AE-D085A69B4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870" y="3398460"/>
            <a:ext cx="1809791" cy="2351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rIns="0" anchor="t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UAW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의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Digital Campaign Strategy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대응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DB62F9-6A04-8F2C-73EE-4E278036E08F}"/>
              </a:ext>
            </a:extLst>
          </p:cNvPr>
          <p:cNvSpPr txBox="1"/>
          <p:nvPr/>
        </p:nvSpPr>
        <p:spPr>
          <a:xfrm>
            <a:off x="390236" y="4705094"/>
            <a:ext cx="5963492" cy="973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100"/>
              </a:lnSpc>
              <a:spcBef>
                <a:spcPts val="4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❸ 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Supervisor ER Training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을 통한 조직화 방향성 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Alignment</a:t>
            </a:r>
          </a:p>
          <a:p>
            <a:pPr marL="0" marR="0" lvl="0" indent="0" algn="l" defTabSz="914400" rtl="0" eaLnBrk="1" fontAlgn="auto" latinLnBrk="1" hangingPunct="1">
              <a:lnSpc>
                <a:spcPts val="2100"/>
              </a:lnSpc>
              <a:spcBef>
                <a:spcPts val="4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조직 내 노동조합 관련 논의 시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 SPV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들이 회사의 방향을 인지하고 부당노동행위 등 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Risk 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없이 소통 필요</a:t>
            </a:r>
            <a:endParaRPr kumimoji="0" lang="en-US" altLang="ko-KR" sz="1200" b="0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100"/>
              </a:lnSpc>
              <a:spcBef>
                <a:spcPts val="4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→ 외부 로펌 연계 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‘Positive Labor Relations’ 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교육</a:t>
            </a: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실시 필요</a:t>
            </a:r>
            <a:endParaRPr kumimoji="0" lang="en-US" altLang="ko-KR" sz="1200" b="0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AFE6B9-5D84-F027-81A0-2EBAE2607A5A}"/>
              </a:ext>
            </a:extLst>
          </p:cNvPr>
          <p:cNvSpPr txBox="1"/>
          <p:nvPr/>
        </p:nvSpPr>
        <p:spPr>
          <a:xfrm>
            <a:off x="390236" y="5839713"/>
            <a:ext cx="3525324" cy="6530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100"/>
              </a:lnSpc>
              <a:spcBef>
                <a:spcPts val="4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❹ 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조직화 선행 대응 </a:t>
            </a:r>
            <a:r>
              <a:rPr kumimoji="0" lang="en-US" altLang="ko-KR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Plan (Proactive Response Plan) </a:t>
            </a:r>
            <a:r>
              <a:rPr kumimoji="0" lang="ko-KR" altLang="en-US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수립</a:t>
            </a:r>
            <a:endParaRPr kumimoji="0" lang="en-US" altLang="ko-KR" sz="1200" b="1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ts val="2100"/>
              </a:lnSpc>
              <a:spcBef>
                <a:spcPts val="4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조직화  징후 발견 시 즉각 가동할 수 있는 대응 매뉴얼 필요</a:t>
            </a:r>
            <a:endParaRPr kumimoji="0" lang="en-US" altLang="ko-KR" sz="1200" b="0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FEF9D10-4D73-284A-8FF2-39848198D311}"/>
              </a:ext>
            </a:extLst>
          </p:cNvPr>
          <p:cNvCxnSpPr>
            <a:stCxn id="32" idx="2"/>
            <a:endCxn id="20" idx="0"/>
          </p:cNvCxnSpPr>
          <p:nvPr/>
        </p:nvCxnSpPr>
        <p:spPr bwMode="auto">
          <a:xfrm>
            <a:off x="8019338" y="3925065"/>
            <a:ext cx="0" cy="145426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5CE6DFF-E657-74A6-C7EE-D004502CE41F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8566944" y="4040817"/>
            <a:ext cx="0" cy="234211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4298377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4">
            <a:extLst>
              <a:ext uri="{FF2B5EF4-FFF2-40B4-BE49-F238E27FC236}">
                <a16:creationId xmlns:a16="http://schemas.microsoft.com/office/drawing/2014/main" id="{F9509E2F-6936-4BC1-A324-75670C5728D1}"/>
              </a:ext>
            </a:extLst>
          </p:cNvPr>
          <p:cNvSpPr txBox="1">
            <a:spLocks/>
          </p:cNvSpPr>
          <p:nvPr/>
        </p:nvSpPr>
        <p:spPr>
          <a:xfrm>
            <a:off x="200472" y="170881"/>
            <a:ext cx="9516209" cy="36933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10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조직화 선행 대응 </a:t>
            </a:r>
            <a:r>
              <a:rPr kumimoji="0" lang="en-US" altLang="ko-KR" sz="1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Plan (Proactive Response Plan)</a:t>
            </a:r>
            <a:endParaRPr kumimoji="0" sz="18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j-cs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3BB3EFA-5708-498C-B36A-12C009908642}"/>
              </a:ext>
            </a:extLst>
          </p:cNvPr>
          <p:cNvCxnSpPr>
            <a:cxnSpLocks/>
          </p:cNvCxnSpPr>
          <p:nvPr/>
        </p:nvCxnSpPr>
        <p:spPr bwMode="auto">
          <a:xfrm>
            <a:off x="226355" y="539877"/>
            <a:ext cx="6907690" cy="0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7" name="연결선: 꺾임 166">
            <a:extLst>
              <a:ext uri="{FF2B5EF4-FFF2-40B4-BE49-F238E27FC236}">
                <a16:creationId xmlns:a16="http://schemas.microsoft.com/office/drawing/2014/main" id="{DAA851DC-C4C7-79AA-796D-3D67215D4D89}"/>
              </a:ext>
            </a:extLst>
          </p:cNvPr>
          <p:cNvCxnSpPr>
            <a:cxnSpLocks/>
          </p:cNvCxnSpPr>
          <p:nvPr/>
        </p:nvCxnSpPr>
        <p:spPr>
          <a:xfrm rot="10800000" flipV="1">
            <a:off x="6385650" y="4699246"/>
            <a:ext cx="12700" cy="1809471"/>
          </a:xfrm>
          <a:prstGeom prst="bentConnector3">
            <a:avLst>
              <a:gd name="adj1" fmla="val 1941181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CA99FF3C-EACD-8327-12F8-55AD08E87A65}"/>
              </a:ext>
            </a:extLst>
          </p:cNvPr>
          <p:cNvSpPr txBox="1"/>
          <p:nvPr/>
        </p:nvSpPr>
        <p:spPr>
          <a:xfrm>
            <a:off x="5869688" y="5390823"/>
            <a:ext cx="575479" cy="400110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대응활동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분쟁</a:t>
            </a:r>
          </a:p>
        </p:txBody>
      </p:sp>
      <p:sp>
        <p:nvSpPr>
          <p:cNvPr id="40" name="Text Box 38">
            <a:extLst>
              <a:ext uri="{FF2B5EF4-FFF2-40B4-BE49-F238E27FC236}">
                <a16:creationId xmlns:a16="http://schemas.microsoft.com/office/drawing/2014/main" id="{E6D4B4ED-C011-3C08-413C-1AAD5F8AC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709" y="4948621"/>
            <a:ext cx="3193016" cy="277736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Card Check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방식 수용을 요구하는 경우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43" name="Text Box 38">
            <a:extLst>
              <a:ext uri="{FF2B5EF4-FFF2-40B4-BE49-F238E27FC236}">
                <a16:creationId xmlns:a16="http://schemas.microsoft.com/office/drawing/2014/main" id="{731C44E7-C659-3437-4EC6-D16BCFE66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709" y="5640407"/>
            <a:ext cx="3193016" cy="277736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NLRB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에서 공식 청원 제출 통지를 받은 경우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44" name="Text Box 38">
            <a:extLst>
              <a:ext uri="{FF2B5EF4-FFF2-40B4-BE49-F238E27FC236}">
                <a16:creationId xmlns:a16="http://schemas.microsoft.com/office/drawing/2014/main" id="{29FC40AB-9DC5-F2BE-771D-B1D051A93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2454" y="4590033"/>
            <a:ext cx="3193016" cy="277736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투표 준비기간 회사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Campaign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활동 전개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회사 전략 추진 등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</a:p>
        </p:txBody>
      </p:sp>
      <p:sp>
        <p:nvSpPr>
          <p:cNvPr id="45" name="Text Box 38">
            <a:extLst>
              <a:ext uri="{FF2B5EF4-FFF2-40B4-BE49-F238E27FC236}">
                <a16:creationId xmlns:a16="http://schemas.microsoft.com/office/drawing/2014/main" id="{37481565-29AC-4C67-D99C-B5A81CF1E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2454" y="5627712"/>
            <a:ext cx="3193016" cy="277736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회사 측 소통활동에 대해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ULP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이슈를 제기한 경우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73" name="Text Box 38">
            <a:extLst>
              <a:ext uri="{FF2B5EF4-FFF2-40B4-BE49-F238E27FC236}">
                <a16:creationId xmlns:a16="http://schemas.microsoft.com/office/drawing/2014/main" id="{95FE534B-3225-34B4-24FF-B6E4D19F5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2454" y="4935926"/>
            <a:ext cx="3193016" cy="277736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노조 지지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Campaign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활동 中 취업규칙을 위반한 경우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12" name="Text Box 38">
            <a:extLst>
              <a:ext uri="{FF2B5EF4-FFF2-40B4-BE49-F238E27FC236}">
                <a16:creationId xmlns:a16="http://schemas.microsoft.com/office/drawing/2014/main" id="{0F4B9D23-5712-153D-012F-2622BF275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2454" y="5281819"/>
            <a:ext cx="3193016" cy="277736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현장 리더가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PRP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를 준수하지 않고 독단적 행위를 하는 경우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13" name="Text Box 38">
            <a:extLst>
              <a:ext uri="{FF2B5EF4-FFF2-40B4-BE49-F238E27FC236}">
                <a16:creationId xmlns:a16="http://schemas.microsoft.com/office/drawing/2014/main" id="{99A3BA6B-1957-A792-19ED-2BB59514A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2454" y="5988984"/>
            <a:ext cx="3193016" cy="277736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노동조합의 공격적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Campaign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활동에 따른 현장 갈등 발생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14" name="Text Box 38">
            <a:extLst>
              <a:ext uri="{FF2B5EF4-FFF2-40B4-BE49-F238E27FC236}">
                <a16:creationId xmlns:a16="http://schemas.microsoft.com/office/drawing/2014/main" id="{3449F5B8-D135-1C9D-C53F-BFB8D5D66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709" y="5986300"/>
            <a:ext cx="3193016" cy="277736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노동조합의 직원 개인정보 이용에 대한 불만 표출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15" name="Text Box 38">
            <a:extLst>
              <a:ext uri="{FF2B5EF4-FFF2-40B4-BE49-F238E27FC236}">
                <a16:creationId xmlns:a16="http://schemas.microsoft.com/office/drawing/2014/main" id="{9F586658-9823-A365-8087-B1D1DA208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2454" y="6315883"/>
            <a:ext cx="3193016" cy="277736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투표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48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시간 전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집중 소통 활동 전개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7CC2D1BA-5C55-533A-32A9-C99665B6B19A}"/>
              </a:ext>
            </a:extLst>
          </p:cNvPr>
          <p:cNvGrpSpPr/>
          <p:nvPr/>
        </p:nvGrpSpPr>
        <p:grpSpPr>
          <a:xfrm>
            <a:off x="396422" y="4591724"/>
            <a:ext cx="900954" cy="643665"/>
            <a:chOff x="389963" y="986110"/>
            <a:chExt cx="900953" cy="896476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140" name="화살표: 오각형 139">
              <a:extLst>
                <a:ext uri="{FF2B5EF4-FFF2-40B4-BE49-F238E27FC236}">
                  <a16:creationId xmlns:a16="http://schemas.microsoft.com/office/drawing/2014/main" id="{21C67430-2629-3168-05C6-E74FED473C9C}"/>
                </a:ext>
              </a:extLst>
            </p:cNvPr>
            <p:cNvSpPr/>
            <p:nvPr/>
          </p:nvSpPr>
          <p:spPr>
            <a:xfrm rot="5400000">
              <a:off x="392202" y="983871"/>
              <a:ext cx="896476" cy="900953"/>
            </a:xfrm>
            <a:prstGeom prst="homePlate">
              <a:avLst/>
            </a:prstGeom>
            <a:grp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29" tIns="45715" rIns="91429" bIns="45715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296" rtl="0" eaLnBrk="1" fontAlgn="auto" latinLnBrk="1" hangingPunct="1">
                <a:lnSpc>
                  <a:spcPts val="13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979377" algn="l"/>
                </a:tabLst>
                <a:defRPr/>
              </a:pPr>
              <a:endParaRPr kumimoji="0" lang="ko-KR" altLang="en-US" sz="13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B248996A-924B-01F6-E515-A71661B9652C}"/>
                </a:ext>
              </a:extLst>
            </p:cNvPr>
            <p:cNvSpPr txBox="1"/>
            <p:nvPr/>
          </p:nvSpPr>
          <p:spPr>
            <a:xfrm>
              <a:off x="466781" y="1135715"/>
              <a:ext cx="747319" cy="292456"/>
            </a:xfrm>
            <a:prstGeom prst="rect">
              <a:avLst/>
            </a:prstGeom>
            <a:grp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Phase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Ⅲ</a:t>
              </a:r>
            </a:p>
          </p:txBody>
        </p:sp>
      </p:grpSp>
      <p:sp>
        <p:nvSpPr>
          <p:cNvPr id="164" name="Text Box 38">
            <a:extLst>
              <a:ext uri="{FF2B5EF4-FFF2-40B4-BE49-F238E27FC236}">
                <a16:creationId xmlns:a16="http://schemas.microsoft.com/office/drawing/2014/main" id="{3745CC0F-529A-29D7-652F-D4C23BF17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704" y="4598990"/>
            <a:ext cx="3193016" cy="27773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en-US"/>
            </a:defPPr>
            <a:lvl1pPr lvl="0" algn="ctr" fontAlgn="auto" latinLnBrk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Arial" panose="020B0604020202020204" pitchFamily="34" charset="0"/>
              <a:buNone/>
              <a:defRPr kumimoji="0" sz="10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정치적 압박을 통해 중립협약을 요구하는 경우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165" name="연결선: 꺾임 164">
            <a:extLst>
              <a:ext uri="{FF2B5EF4-FFF2-40B4-BE49-F238E27FC236}">
                <a16:creationId xmlns:a16="http://schemas.microsoft.com/office/drawing/2014/main" id="{1660ED08-8D57-6C66-D1F2-5B948CB62BAC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48761" y="4735980"/>
            <a:ext cx="12700" cy="1359483"/>
          </a:xfrm>
          <a:prstGeom prst="bentConnector3">
            <a:avLst>
              <a:gd name="adj1" fmla="val 1941181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3F9D1A06-8210-7409-017B-894F1C90E46D}"/>
              </a:ext>
            </a:extLst>
          </p:cNvPr>
          <p:cNvSpPr txBox="1"/>
          <p:nvPr/>
        </p:nvSpPr>
        <p:spPr>
          <a:xfrm>
            <a:off x="1642032" y="5319103"/>
            <a:ext cx="575479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노조 설립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58F4AE7-A8BE-794C-1E22-219DC7227F22}"/>
              </a:ext>
            </a:extLst>
          </p:cNvPr>
          <p:cNvSpPr txBox="1"/>
          <p:nvPr/>
        </p:nvSpPr>
        <p:spPr>
          <a:xfrm>
            <a:off x="36730" y="5299322"/>
            <a:ext cx="1638269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본격 추진</a:t>
            </a:r>
            <a:b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노조 인정 요구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공식 청원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투표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43A001F9-CFBD-6E87-1A31-2022940EF559}"/>
              </a:ext>
            </a:extLst>
          </p:cNvPr>
          <p:cNvGrpSpPr/>
          <p:nvPr/>
        </p:nvGrpSpPr>
        <p:grpSpPr>
          <a:xfrm>
            <a:off x="394945" y="1210837"/>
            <a:ext cx="900954" cy="643665"/>
            <a:chOff x="389963" y="986110"/>
            <a:chExt cx="900953" cy="896476"/>
          </a:xfrm>
        </p:grpSpPr>
        <p:sp>
          <p:nvSpPr>
            <p:cNvPr id="2" name="화살표: 오각형 1">
              <a:extLst>
                <a:ext uri="{FF2B5EF4-FFF2-40B4-BE49-F238E27FC236}">
                  <a16:creationId xmlns:a16="http://schemas.microsoft.com/office/drawing/2014/main" id="{97DDED7E-9EDC-E940-B8CA-3B29925C8121}"/>
                </a:ext>
              </a:extLst>
            </p:cNvPr>
            <p:cNvSpPr/>
            <p:nvPr/>
          </p:nvSpPr>
          <p:spPr>
            <a:xfrm rot="5400000">
              <a:off x="392202" y="983871"/>
              <a:ext cx="896476" cy="900953"/>
            </a:xfrm>
            <a:prstGeom prst="homePlate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29" tIns="45715" rIns="91429" bIns="45715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296" rtl="0" eaLnBrk="1" fontAlgn="auto" latinLnBrk="1" hangingPunct="1">
                <a:lnSpc>
                  <a:spcPts val="13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979377" algn="l"/>
                </a:tabLst>
                <a:defRPr/>
              </a:pPr>
              <a:endParaRPr kumimoji="0" lang="ko-KR" altLang="en-US" sz="13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E5600D9-8BEF-2489-39EF-E164780B7C56}"/>
                </a:ext>
              </a:extLst>
            </p:cNvPr>
            <p:cNvSpPr txBox="1"/>
            <p:nvPr/>
          </p:nvSpPr>
          <p:spPr>
            <a:xfrm>
              <a:off x="466781" y="1135715"/>
              <a:ext cx="747319" cy="2924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Phase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Ⅰ</a:t>
              </a:r>
            </a:p>
          </p:txBody>
        </p:sp>
      </p:grpSp>
      <p:sp>
        <p:nvSpPr>
          <p:cNvPr id="7" name="Text Box 38">
            <a:extLst>
              <a:ext uri="{FF2B5EF4-FFF2-40B4-BE49-F238E27FC236}">
                <a16:creationId xmlns:a16="http://schemas.microsoft.com/office/drawing/2014/main" id="{4A8100F0-FEC5-85BB-12DC-AA0866712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9934" y="1211170"/>
            <a:ext cx="3193016" cy="277736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en-US"/>
            </a:defPPr>
            <a:lvl1pPr lvl="0" fontAlgn="auto" latinLnBrk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Arial" panose="020B0604020202020204" pitchFamily="34" charset="0"/>
              <a:buNone/>
              <a:defRPr kumimoji="0" sz="10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평소 사용하지 않는 언어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고충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권리 등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를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사용하며 불만 표출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9" name="Text Box 38">
            <a:extLst>
              <a:ext uri="{FF2B5EF4-FFF2-40B4-BE49-F238E27FC236}">
                <a16:creationId xmlns:a16="http://schemas.microsoft.com/office/drawing/2014/main" id="{EFB07445-EFD8-6349-FBBD-1E316EDB2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9934" y="1551637"/>
            <a:ext cx="3193016" cy="277736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계속된 초과 근로에 대한 직원 불만 증가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노무 수령 거부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</a:p>
        </p:txBody>
      </p:sp>
      <p:sp>
        <p:nvSpPr>
          <p:cNvPr id="10" name="Text Box 38">
            <a:extLst>
              <a:ext uri="{FF2B5EF4-FFF2-40B4-BE49-F238E27FC236}">
                <a16:creationId xmlns:a16="http://schemas.microsoft.com/office/drawing/2014/main" id="{9800A692-D743-C3E6-D287-B51614F1D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9934" y="1892104"/>
            <a:ext cx="3193016" cy="277736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현장 리더의 직원 차별에 대한 이슈 제기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1" name="Text Box 38">
            <a:extLst>
              <a:ext uri="{FF2B5EF4-FFF2-40B4-BE49-F238E27FC236}">
                <a16:creationId xmlns:a16="http://schemas.microsoft.com/office/drawing/2014/main" id="{CB716396-9BDD-5A16-9487-A52C2C709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9934" y="2232570"/>
            <a:ext cx="3193016" cy="277736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회사 보상 정책 및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HR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제도에 대한 목록 및 사본 요청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132" name="연결선: 꺾임 131">
            <a:extLst>
              <a:ext uri="{FF2B5EF4-FFF2-40B4-BE49-F238E27FC236}">
                <a16:creationId xmlns:a16="http://schemas.microsoft.com/office/drawing/2014/main" id="{7AFBE481-0EDF-863B-AFEF-53382D18C7CA}"/>
              </a:ext>
            </a:extLst>
          </p:cNvPr>
          <p:cNvCxnSpPr>
            <a:cxnSpLocks/>
          </p:cNvCxnSpPr>
          <p:nvPr/>
        </p:nvCxnSpPr>
        <p:spPr>
          <a:xfrm rot="10800000" flipV="1">
            <a:off x="6384951" y="1350038"/>
            <a:ext cx="13970" cy="1021400"/>
          </a:xfrm>
          <a:prstGeom prst="bentConnector3">
            <a:avLst>
              <a:gd name="adj1" fmla="val 1941181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90FA12B-659E-57AF-46A0-E927084225DF}"/>
              </a:ext>
            </a:extLst>
          </p:cNvPr>
          <p:cNvSpPr txBox="1"/>
          <p:nvPr/>
        </p:nvSpPr>
        <p:spPr>
          <a:xfrm>
            <a:off x="5825068" y="1728257"/>
            <a:ext cx="575479" cy="246221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잠재적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Risk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247E0823-5FA3-E6BA-D7A2-09D574080D1C}"/>
              </a:ext>
            </a:extLst>
          </p:cNvPr>
          <p:cNvSpPr txBox="1"/>
          <p:nvPr/>
        </p:nvSpPr>
        <p:spPr>
          <a:xfrm>
            <a:off x="499275" y="1915489"/>
            <a:ext cx="697307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추진 前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이상징후 등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 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2" name="Text Box 38">
            <a:extLst>
              <a:ext uri="{FF2B5EF4-FFF2-40B4-BE49-F238E27FC236}">
                <a16:creationId xmlns:a16="http://schemas.microsoft.com/office/drawing/2014/main" id="{6565BE1D-B979-9CD4-3A5C-065A518B5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409" y="1213899"/>
            <a:ext cx="3193311" cy="277736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다른 회사의 노동조합 설립을 공개적 지지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(SNS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등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</a:p>
        </p:txBody>
      </p:sp>
      <p:sp>
        <p:nvSpPr>
          <p:cNvPr id="13" name="Text Box 38">
            <a:extLst>
              <a:ext uri="{FF2B5EF4-FFF2-40B4-BE49-F238E27FC236}">
                <a16:creationId xmlns:a16="http://schemas.microsoft.com/office/drawing/2014/main" id="{12BC70A9-32C0-B5EA-3BA4-F6B2C82E9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704" y="1554366"/>
            <a:ext cx="3193016" cy="27773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현장 리더에게 노동조합 관련 궁금증을 묻는 경우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5" name="Text Box 38">
            <a:extLst>
              <a:ext uri="{FF2B5EF4-FFF2-40B4-BE49-F238E27FC236}">
                <a16:creationId xmlns:a16="http://schemas.microsoft.com/office/drawing/2014/main" id="{EF50F155-DBCE-FBDB-CF0F-59A92E4E4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704" y="1894833"/>
            <a:ext cx="3193016" cy="27773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현장 리더에게 조직화 필요성을 언급한 경우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143" name="연결선: 꺾임 142">
            <a:extLst>
              <a:ext uri="{FF2B5EF4-FFF2-40B4-BE49-F238E27FC236}">
                <a16:creationId xmlns:a16="http://schemas.microsoft.com/office/drawing/2014/main" id="{B96F95BE-F9E3-015A-BFE6-506FE0C9332B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47969" y="1315241"/>
            <a:ext cx="12700" cy="1096651"/>
          </a:xfrm>
          <a:prstGeom prst="bentConnector3">
            <a:avLst>
              <a:gd name="adj1" fmla="val 2223520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27899EBE-3468-6F4A-00B4-91DA831D22C3}"/>
              </a:ext>
            </a:extLst>
          </p:cNvPr>
          <p:cNvSpPr txBox="1"/>
          <p:nvPr/>
        </p:nvSpPr>
        <p:spPr>
          <a:xfrm>
            <a:off x="1590032" y="1734976"/>
            <a:ext cx="575479" cy="246221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가시적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Risk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72" name="Text Box 38">
            <a:extLst>
              <a:ext uri="{FF2B5EF4-FFF2-40B4-BE49-F238E27FC236}">
                <a16:creationId xmlns:a16="http://schemas.microsoft.com/office/drawing/2014/main" id="{D43EA994-EAC9-1E34-FDE3-083BDC53F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704" y="2235299"/>
            <a:ext cx="3193016" cy="27773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내부 불만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근무환경 공론화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(SNS,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지역언론 등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450C337F-425B-116F-87A2-AF27EDC73A7E}"/>
              </a:ext>
            </a:extLst>
          </p:cNvPr>
          <p:cNvSpPr txBox="1"/>
          <p:nvPr/>
        </p:nvSpPr>
        <p:spPr>
          <a:xfrm>
            <a:off x="4757536" y="6567516"/>
            <a:ext cx="32893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6/8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cxnSp>
        <p:nvCxnSpPr>
          <p:cNvPr id="159" name="연결선: 꺾임 158">
            <a:extLst>
              <a:ext uri="{FF2B5EF4-FFF2-40B4-BE49-F238E27FC236}">
                <a16:creationId xmlns:a16="http://schemas.microsoft.com/office/drawing/2014/main" id="{48A757B8-B170-8E00-BC04-E0A3D8431C58}"/>
              </a:ext>
            </a:extLst>
          </p:cNvPr>
          <p:cNvCxnSpPr>
            <a:cxnSpLocks/>
          </p:cNvCxnSpPr>
          <p:nvPr/>
        </p:nvCxnSpPr>
        <p:spPr>
          <a:xfrm rot="10800000" flipV="1">
            <a:off x="6385650" y="2868503"/>
            <a:ext cx="12700" cy="1359483"/>
          </a:xfrm>
          <a:prstGeom prst="bentConnector3">
            <a:avLst>
              <a:gd name="adj1" fmla="val 1941181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D31B2EF9-4C76-79AD-7946-995241D1C759}"/>
              </a:ext>
            </a:extLst>
          </p:cNvPr>
          <p:cNvSpPr txBox="1"/>
          <p:nvPr/>
        </p:nvSpPr>
        <p:spPr>
          <a:xfrm>
            <a:off x="5870875" y="3353011"/>
            <a:ext cx="575479" cy="400110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외부세력 중심 활동</a:t>
            </a:r>
          </a:p>
        </p:txBody>
      </p:sp>
      <p:sp>
        <p:nvSpPr>
          <p:cNvPr id="8" name="Text Box 38">
            <a:extLst>
              <a:ext uri="{FF2B5EF4-FFF2-40B4-BE49-F238E27FC236}">
                <a16:creationId xmlns:a16="http://schemas.microsoft.com/office/drawing/2014/main" id="{5BA6841D-7EFC-2E4D-D4C3-E27EFF07A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709" y="3761638"/>
            <a:ext cx="3193016" cy="277736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en-US"/>
            </a:defPPr>
            <a:lvl1pPr lvl="0" algn="ctr" fontAlgn="auto" latinLnBrk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Arial" panose="020B0604020202020204" pitchFamily="34" charset="0"/>
              <a:buNone/>
              <a:defRPr kumimoji="0" sz="10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소수 주도세력 중심 내부조직을 구성함을 회사가 인지한 경우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28" name="Text Box 38">
            <a:extLst>
              <a:ext uri="{FF2B5EF4-FFF2-40B4-BE49-F238E27FC236}">
                <a16:creationId xmlns:a16="http://schemas.microsoft.com/office/drawing/2014/main" id="{D1E9AD08-5D8D-B692-CEF6-BE3706CDA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709" y="2727322"/>
            <a:ext cx="3193016" cy="27773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en-US"/>
            </a:defPPr>
            <a:lvl1pPr lvl="0" algn="ctr" fontAlgn="auto" latinLnBrk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Arial" panose="020B0604020202020204" pitchFamily="34" charset="0"/>
              <a:buNone/>
              <a:defRPr kumimoji="0" sz="10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직원들이 노조 홍보 의상을 착용한 경우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티셔츠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모자 등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</a:p>
        </p:txBody>
      </p:sp>
      <p:sp>
        <p:nvSpPr>
          <p:cNvPr id="31" name="Text Box 38">
            <a:extLst>
              <a:ext uri="{FF2B5EF4-FFF2-40B4-BE49-F238E27FC236}">
                <a16:creationId xmlns:a16="http://schemas.microsoft.com/office/drawing/2014/main" id="{0B40A9AE-604D-AEE6-8554-F0D4678C5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2454" y="2718357"/>
            <a:ext cx="3193016" cy="277736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외부 노조가 당사의 인사정책을 비판하는 캠페인을 한 경우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32" name="Text Box 38">
            <a:extLst>
              <a:ext uri="{FF2B5EF4-FFF2-40B4-BE49-F238E27FC236}">
                <a16:creationId xmlns:a16="http://schemas.microsoft.com/office/drawing/2014/main" id="{F357FB51-1736-EC11-3723-DBA8700EC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2454" y="3063129"/>
            <a:ext cx="3193016" cy="277736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외부 노조가 음식과 기념품을 제공하며 직원들과 회의하는 경우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33" name="Text Box 38">
            <a:extLst>
              <a:ext uri="{FF2B5EF4-FFF2-40B4-BE49-F238E27FC236}">
                <a16:creationId xmlns:a16="http://schemas.microsoft.com/office/drawing/2014/main" id="{6F8A4A50-11B4-55CF-6743-FA214EE59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2454" y="3407901"/>
            <a:ext cx="3193016" cy="277736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ko-KR"/>
            </a:defPPr>
            <a:lvl1pPr lvl="0" algn="ctr" fontAlgn="auto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Arial" panose="020B0604020202020204" pitchFamily="34" charset="0"/>
              <a:buNone/>
              <a:defRPr kumimoji="0" sz="10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외부 노조가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LGES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를 조직화 목표 기업으로 직접 언급한 경우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34" name="Text Box 38">
            <a:extLst>
              <a:ext uri="{FF2B5EF4-FFF2-40B4-BE49-F238E27FC236}">
                <a16:creationId xmlns:a16="http://schemas.microsoft.com/office/drawing/2014/main" id="{7D913EA1-7374-5EDB-A2C6-59F190F52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2454" y="4098003"/>
            <a:ext cx="3193016" cy="277736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외부 노조가 웹사이트를 </a:t>
            </a: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론칭하고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소통을 시작한 경우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37" name="Text Box 38">
            <a:extLst>
              <a:ext uri="{FF2B5EF4-FFF2-40B4-BE49-F238E27FC236}">
                <a16:creationId xmlns:a16="http://schemas.microsoft.com/office/drawing/2014/main" id="{A211DE75-B153-0D99-F9AF-6F444CFED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2454" y="3752673"/>
            <a:ext cx="3193016" cy="277736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외부 노조가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LGES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관련 데이터를 수집하는 경우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처우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연락처 등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</a:p>
        </p:txBody>
      </p:sp>
      <p:sp>
        <p:nvSpPr>
          <p:cNvPr id="38" name="Text Box 38">
            <a:extLst>
              <a:ext uri="{FF2B5EF4-FFF2-40B4-BE49-F238E27FC236}">
                <a16:creationId xmlns:a16="http://schemas.microsoft.com/office/drawing/2014/main" id="{E21229A9-FD7A-D17C-A0D9-A83D628B9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709" y="3063909"/>
            <a:ext cx="3193016" cy="277736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외부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주차장 등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에서 노조 홍보활동을 목격한 경우</a:t>
            </a:r>
          </a:p>
        </p:txBody>
      </p:sp>
      <p:sp>
        <p:nvSpPr>
          <p:cNvPr id="39" name="Text Box 38">
            <a:extLst>
              <a:ext uri="{FF2B5EF4-FFF2-40B4-BE49-F238E27FC236}">
                <a16:creationId xmlns:a16="http://schemas.microsoft.com/office/drawing/2014/main" id="{65CFA7F0-355D-F619-8734-FD45EDCBC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709" y="3400496"/>
            <a:ext cx="3193016" cy="277736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내부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(Break Room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등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)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에 노조 홍보물이 발견된 경우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64D58A14-C76E-F677-7ECF-CFD2BED6E124}"/>
              </a:ext>
            </a:extLst>
          </p:cNvPr>
          <p:cNvGrpSpPr/>
          <p:nvPr/>
        </p:nvGrpSpPr>
        <p:grpSpPr>
          <a:xfrm>
            <a:off x="396422" y="2719016"/>
            <a:ext cx="900954" cy="643665"/>
            <a:chOff x="389963" y="986110"/>
            <a:chExt cx="900953" cy="896476"/>
          </a:xfrm>
          <a:solidFill>
            <a:schemeClr val="bg1">
              <a:lumMod val="75000"/>
            </a:schemeClr>
          </a:solidFill>
        </p:grpSpPr>
        <p:sp>
          <p:nvSpPr>
            <p:cNvPr id="137" name="화살표: 오각형 136">
              <a:extLst>
                <a:ext uri="{FF2B5EF4-FFF2-40B4-BE49-F238E27FC236}">
                  <a16:creationId xmlns:a16="http://schemas.microsoft.com/office/drawing/2014/main" id="{61850DA8-F3E9-6071-94F9-0B97A569D805}"/>
                </a:ext>
              </a:extLst>
            </p:cNvPr>
            <p:cNvSpPr/>
            <p:nvPr/>
          </p:nvSpPr>
          <p:spPr>
            <a:xfrm rot="5400000">
              <a:off x="392202" y="983871"/>
              <a:ext cx="896476" cy="900953"/>
            </a:xfrm>
            <a:prstGeom prst="homePlate">
              <a:avLst/>
            </a:prstGeom>
            <a:grp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29" tIns="45715" rIns="91429" bIns="45715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296" rtl="0" eaLnBrk="1" fontAlgn="auto" latinLnBrk="1" hangingPunct="1">
                <a:lnSpc>
                  <a:spcPts val="13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979377" algn="l"/>
                </a:tabLst>
                <a:defRPr/>
              </a:pPr>
              <a:endParaRPr kumimoji="0" lang="ko-KR" altLang="en-US" sz="13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DDB15B1D-31DE-5C1B-1CC0-A6F5FBFD4C51}"/>
                </a:ext>
              </a:extLst>
            </p:cNvPr>
            <p:cNvSpPr txBox="1"/>
            <p:nvPr/>
          </p:nvSpPr>
          <p:spPr>
            <a:xfrm>
              <a:off x="466781" y="1135715"/>
              <a:ext cx="747319" cy="292456"/>
            </a:xfrm>
            <a:prstGeom prst="rect">
              <a:avLst/>
            </a:prstGeom>
            <a:grpFill/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Phase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Ⅱ</a:t>
              </a:r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4D05C8A0-8BB8-FAF5-B323-0424B1C0DBE1}"/>
              </a:ext>
            </a:extLst>
          </p:cNvPr>
          <p:cNvSpPr txBox="1"/>
          <p:nvPr/>
        </p:nvSpPr>
        <p:spPr>
          <a:xfrm>
            <a:off x="472246" y="3447566"/>
            <a:ext cx="730969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추진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사실 확인</a:t>
            </a:r>
          </a:p>
        </p:txBody>
      </p:sp>
      <p:cxnSp>
        <p:nvCxnSpPr>
          <p:cNvPr id="157" name="연결선: 꺾임 156">
            <a:extLst>
              <a:ext uri="{FF2B5EF4-FFF2-40B4-BE49-F238E27FC236}">
                <a16:creationId xmlns:a16="http://schemas.microsoft.com/office/drawing/2014/main" id="{092CE897-CFB2-378E-9B13-418C66BE027C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48761" y="2867211"/>
            <a:ext cx="12700" cy="1021400"/>
          </a:xfrm>
          <a:prstGeom prst="bentConnector3">
            <a:avLst>
              <a:gd name="adj1" fmla="val 1941181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0479125D-6976-EF1A-C13E-0971A366F85F}"/>
              </a:ext>
            </a:extLst>
          </p:cNvPr>
          <p:cNvSpPr txBox="1"/>
          <p:nvPr/>
        </p:nvSpPr>
        <p:spPr>
          <a:xfrm>
            <a:off x="1641475" y="3173710"/>
            <a:ext cx="484107" cy="4001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내부세력 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중심활동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BC65492D-479B-7C8B-CBE2-D19425FF78F0}"/>
              </a:ext>
            </a:extLst>
          </p:cNvPr>
          <p:cNvSpPr txBox="1"/>
          <p:nvPr/>
        </p:nvSpPr>
        <p:spPr>
          <a:xfrm>
            <a:off x="206744" y="3620736"/>
            <a:ext cx="1405834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※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조직적 개입이 명확한 경우 </a:t>
            </a:r>
            <a:b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Proactive Response Team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대응</a:t>
            </a:r>
          </a:p>
        </p:txBody>
      </p:sp>
      <p:sp>
        <p:nvSpPr>
          <p:cNvPr id="192" name="Text Box 38">
            <a:extLst>
              <a:ext uri="{FF2B5EF4-FFF2-40B4-BE49-F238E27FC236}">
                <a16:creationId xmlns:a16="http://schemas.microsoft.com/office/drawing/2014/main" id="{C776DF96-287E-DC62-82A1-FCEC89F5C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452" y="734940"/>
            <a:ext cx="9412128" cy="261610"/>
          </a:xfrm>
          <a:prstGeom prst="rect">
            <a:avLst/>
          </a:prstGeom>
          <a:noFill/>
        </p:spPr>
        <p:txBody>
          <a:bodyPr wrap="none" tIns="0" rtlCol="0">
            <a:spAutoFit/>
          </a:bodyPr>
          <a:lstStyle>
            <a:defPPr>
              <a:defRPr lang="en-US"/>
            </a:defPPr>
            <a:lvl1pPr>
              <a:defRPr sz="1400" b="1" spc="-7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742950" indent="-28575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2pPr>
            <a:lvl3pPr marL="1143000" indent="-22860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3pPr>
            <a:lvl4pPr marL="1600200" indent="-22860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4pPr>
            <a:lvl5pPr marL="2057400" indent="-22860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조직화 단계별 예상 상황을 정리하여</a:t>
            </a:r>
            <a:r>
              <a:rPr kumimoji="0" lang="en-US" altLang="ko-KR" sz="14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4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초기 이상징후는 상시 모니터링하고</a:t>
            </a:r>
            <a:r>
              <a:rPr kumimoji="0" lang="en-US" altLang="ko-KR" sz="14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UAW</a:t>
            </a:r>
            <a:r>
              <a:rPr kumimoji="0" lang="ko-KR" altLang="en-US" sz="14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의</a:t>
            </a:r>
            <a:r>
              <a:rPr kumimoji="0" lang="en-US" altLang="ko-KR" sz="14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4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조직적 개입이 명확한 경우 </a:t>
            </a:r>
            <a:r>
              <a:rPr kumimoji="0" lang="en-US" altLang="ko-KR" sz="14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Proactive Response</a:t>
            </a:r>
            <a:r>
              <a:rPr kumimoji="0" lang="ko-KR" altLang="en-US" sz="14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팀을 꾸려 대응</a:t>
            </a:r>
            <a:endParaRPr kumimoji="0" lang="en-US" altLang="ko-KR" sz="1400" b="1" i="0" u="none" strike="noStrike" kern="1200" cap="none" spc="-7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57C8EF6E-FA9D-0FFF-365C-5B5AA4BB0698}"/>
              </a:ext>
            </a:extLst>
          </p:cNvPr>
          <p:cNvSpPr/>
          <p:nvPr/>
        </p:nvSpPr>
        <p:spPr bwMode="auto">
          <a:xfrm>
            <a:off x="475813" y="6253074"/>
            <a:ext cx="282195" cy="15465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C3F88372-DECC-7FD8-28B2-4A21335824FB}"/>
              </a:ext>
            </a:extLst>
          </p:cNvPr>
          <p:cNvSpPr/>
          <p:nvPr/>
        </p:nvSpPr>
        <p:spPr>
          <a:xfrm>
            <a:off x="724876" y="6211625"/>
            <a:ext cx="61427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당사 현황</a:t>
            </a:r>
          </a:p>
        </p:txBody>
      </p:sp>
      <p:sp>
        <p:nvSpPr>
          <p:cNvPr id="41" name="Text Box 38">
            <a:extLst>
              <a:ext uri="{FF2B5EF4-FFF2-40B4-BE49-F238E27FC236}">
                <a16:creationId xmlns:a16="http://schemas.microsoft.com/office/drawing/2014/main" id="{9D4CC94A-02E2-2C13-17C3-85DF1AB12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709" y="5294514"/>
            <a:ext cx="3193016" cy="277736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rIns="0" anchor="ctr">
            <a:spAutoFit/>
          </a:bodyPr>
          <a:lstStyle>
            <a:defPPr>
              <a:defRPr lang="ko-KR"/>
            </a:defPPr>
            <a:lvl1pPr eaLnBrk="0" fontAlgn="base" latinLnBrk="0" hangingPunct="0">
              <a:lnSpc>
                <a:spcPts val="1400"/>
              </a:lnSpc>
              <a:spcBef>
                <a:spcPts val="2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umimoji="1" sz="1200" b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Card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Sign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결과를 현장 리더에게 전달하고자 하는 경우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3" name="제목 4">
            <a:extLst>
              <a:ext uri="{FF2B5EF4-FFF2-40B4-BE49-F238E27FC236}">
                <a16:creationId xmlns:a16="http://schemas.microsoft.com/office/drawing/2014/main" id="{A34FC25C-1741-0D66-55C2-87FE4CF3EF20}"/>
              </a:ext>
            </a:extLst>
          </p:cNvPr>
          <p:cNvSpPr txBox="1">
            <a:spLocks/>
          </p:cNvSpPr>
          <p:nvPr/>
        </p:nvSpPr>
        <p:spPr>
          <a:xfrm>
            <a:off x="7377602" y="170881"/>
            <a:ext cx="2262159" cy="307777"/>
          </a:xfrm>
          <a:prstGeom prst="rect">
            <a:avLst/>
          </a:prstGeom>
        </p:spPr>
        <p:txBody>
          <a:bodyPr vert="horz" wrap="none" lIns="91440" tIns="45720" rIns="91440" bIns="45720" rtlCol="0" anchor="t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10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①  조직화 단계 별 예상 상황 정리</a:t>
            </a:r>
          </a:p>
        </p:txBody>
      </p:sp>
    </p:spTree>
    <p:extLst>
      <p:ext uri="{BB962C8B-B14F-4D97-AF65-F5344CB8AC3E}">
        <p14:creationId xmlns:p14="http://schemas.microsoft.com/office/powerpoint/2010/main" val="37506697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1CA2C6F-BDF6-2A03-FF07-957EC802CF81}"/>
              </a:ext>
            </a:extLst>
          </p:cNvPr>
          <p:cNvGraphicFramePr>
            <a:graphicFrameLocks noGrp="1"/>
          </p:cNvGraphicFramePr>
          <p:nvPr/>
        </p:nvGraphicFramePr>
        <p:xfrm>
          <a:off x="255652" y="1308788"/>
          <a:ext cx="9470895" cy="51816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65">
                  <a:extLst>
                    <a:ext uri="{9D8B030D-6E8A-4147-A177-3AD203B41FA5}">
                      <a16:colId xmlns:a16="http://schemas.microsoft.com/office/drawing/2014/main" val="2505221191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1071526235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4216998719"/>
                    </a:ext>
                  </a:extLst>
                </a:gridCol>
                <a:gridCol w="4443600">
                  <a:extLst>
                    <a:ext uri="{9D8B030D-6E8A-4147-A177-3AD203B41FA5}">
                      <a16:colId xmlns:a16="http://schemas.microsoft.com/office/drawing/2014/main" val="1427902138"/>
                    </a:ext>
                  </a:extLst>
                </a:gridCol>
              </a:tblGrid>
              <a:tr h="32172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Phase 1 :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일상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노경관리</a:t>
                      </a:r>
                      <a:endParaRPr lang="en-US" altLang="ko-KR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Phase 2 : Proactive Response Team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운영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862946"/>
                  </a:ext>
                </a:extLst>
              </a:tr>
              <a:tr h="66031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상황정의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indent="-92075" latinLnBrk="1">
                        <a:spcBef>
                          <a:spcPts val="4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이상 징후들이 산발적으로 포착은 되지만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br>
                        <a:rPr lang="en-US" altLang="ko-KR" sz="11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UAW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의 조직적 개입 정황은 확인되지 않음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latinLnBrk="1">
                        <a:spcBef>
                          <a:spcPts val="4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UAW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의 조직적 개입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이 있다고 유력하게 판단된 경우</a:t>
                      </a:r>
                      <a:br>
                        <a:rPr lang="en-US" altLang="ko-KR" sz="11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징후들의 강도나 지속성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외부 정보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타사 사례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로펌 자문 의견 등 종합</a:t>
                      </a:r>
                      <a:br>
                        <a:rPr lang="en-US" altLang="ko-KR" sz="11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 UAW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의한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Petition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신청 시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Phase 3 (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캠페인 모드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로 전환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993163"/>
                  </a:ext>
                </a:extLst>
              </a:tr>
              <a:tr h="90273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활동목표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indent="-92075" algn="l" defTabSz="914400" rtl="0" eaLnBrk="1" latinLnBrk="1" hangingPunct="1">
                        <a:spcBef>
                          <a:spcPts val="4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Pain-point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발굴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개선을 통한 조직화 요인 제거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algn="l" defTabSz="914400" rtl="0" eaLnBrk="1" latinLnBrk="1" hangingPunct="1">
                        <a:spcBef>
                          <a:spcPts val="4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Proactive Response Team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운영을 통한 이슈 조기 진화</a:t>
                      </a:r>
                      <a:b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주요 이슈 파악 및 회사 공식 대응 방안 의사결정</a:t>
                      </a:r>
                      <a:b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회사 대응 메시지 개발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전파</a:t>
                      </a:r>
                      <a:b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우호비율 집계 및 저감 활동 논의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매주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728362"/>
                  </a:ext>
                </a:extLst>
              </a:tr>
              <a:tr h="775215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역할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Leadership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algn="l" defTabSz="914400" rtl="0" eaLnBrk="1" latinLnBrk="1" hangingPunct="1">
                        <a:spcBef>
                          <a:spcPts val="4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경영현황 공유 및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Pain-point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발굴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개선</a:t>
                      </a:r>
                      <a:b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법인장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SPV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중식 간담회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반기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Townhall(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반기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생산담당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SPV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간담회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매월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운영담당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SPV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정기미팅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매주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Hourly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간담회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매주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algn="l" defTabSz="914400" rtl="0" eaLnBrk="1" latinLnBrk="1" hangingPunct="1">
                        <a:spcBef>
                          <a:spcPts val="4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기존 소통활동 지속 전개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필요시 확대 운영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PRP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Team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메시지 전파</a:t>
                      </a:r>
                      <a:b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법인장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레터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문자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Townhall</a:t>
                      </a:r>
                      <a:b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생산담당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T/L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P/L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SPV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ko-KR" altLang="en-US" sz="11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현장직</a:t>
                      </a:r>
                      <a:b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운영담당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현장직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Townhall, Focus Group Meeting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등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현장직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직접 소통 확대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4496"/>
                  </a:ext>
                </a:extLst>
              </a:tr>
              <a:tr h="84707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Supervisor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algn="l" defTabSz="914400" rtl="0" eaLnBrk="1" latinLnBrk="1" hangingPunct="1">
                        <a:spcBef>
                          <a:spcPts val="4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일상 노경관리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수행</a:t>
                      </a:r>
                      <a:b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복무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근태관리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1on1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면담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고충처리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정보수집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공유 등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92075" indent="-92075" algn="l" defTabSz="914400" rtl="0" eaLnBrk="1" latinLnBrk="1" hangingPunct="1">
                        <a:spcBef>
                          <a:spcPts val="4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Positive Labor Relations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정기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연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교육 실시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algn="l" defTabSz="914400" rtl="0" eaLnBrk="1" latinLnBrk="1" hangingPunct="1">
                        <a:spcBef>
                          <a:spcPts val="4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 / Post - Shift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미팅 시 마다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PRP Team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메시지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전파</a:t>
                      </a:r>
                      <a:endParaRPr lang="en-US" altLang="ko-KR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92075" indent="-92075" algn="l" defTabSz="914400" rtl="0" eaLnBrk="1" latinLnBrk="1" hangingPunct="1">
                        <a:spcBef>
                          <a:spcPts val="4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on 1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면담 집중 수행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동향 파악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92075" indent="-92075" algn="l" defTabSz="914400" rtl="0" eaLnBrk="1" latinLnBrk="1" hangingPunct="1">
                        <a:spcBef>
                          <a:spcPts val="4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규정과 방침 위반 관련 원칙적 대응 강화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(Legal Co-work)</a:t>
                      </a: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부당노동행위 예방 교육 실시</a:t>
                      </a:r>
                      <a:endParaRPr lang="en-US" altLang="ko-KR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496154"/>
                  </a:ext>
                </a:extLst>
              </a:tr>
              <a:tr h="64766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HR</a:t>
                      </a:r>
                      <a:br>
                        <a:rPr lang="en-US" altLang="ko-KR" sz="11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(Communication)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algn="l" defTabSz="914400" rtl="0" eaLnBrk="1" latinLnBrk="1" hangingPunct="1">
                        <a:spcBef>
                          <a:spcPts val="4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Open Door Policy</a:t>
                      </a:r>
                    </a:p>
                    <a:p>
                      <a:pPr marL="92075" indent="-92075" algn="l" defTabSz="914400" rtl="0" eaLnBrk="1" latinLnBrk="1" hangingPunct="1">
                        <a:spcBef>
                          <a:spcPts val="4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현장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Pain-point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발굴사항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F/U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및 제도개선 추진</a:t>
                      </a:r>
                      <a:endParaRPr lang="en-US" altLang="ko-KR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내부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Communication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활성화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algn="l" defTabSz="914400" rtl="0" eaLnBrk="1" latinLnBrk="1" hangingPunct="1">
                        <a:spcBef>
                          <a:spcPts val="4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팀 운영 주체</a:t>
                      </a:r>
                      <a:b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회의소집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정보 공유체계 가동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텔레그램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등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우호비율 집계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대응 논리 개발 등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92075" indent="-92075" algn="l" defTabSz="914400" rtl="0" eaLnBrk="1" latinLnBrk="1" hangingPunct="1">
                        <a:spcBef>
                          <a:spcPts val="4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공식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Comm. Tool-kit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제작 및 적정 소통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Method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검토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이메일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문자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가정통신문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195678"/>
                  </a:ext>
                </a:extLst>
              </a:tr>
              <a:tr h="79451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추가 검토 과제</a:t>
                      </a: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indent="-92075" algn="l" defTabSz="914400" rtl="0" eaLnBrk="1" latinLnBrk="1" hangingPunct="1">
                        <a:spcBef>
                          <a:spcPts val="4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HRBP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인력 보강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및 방향성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Align</a:t>
                      </a:r>
                    </a:p>
                    <a:p>
                      <a:pPr marL="92075" indent="-92075" algn="l" defTabSz="914400" rtl="0" eaLnBrk="1" latinLnBrk="1" hangingPunct="1">
                        <a:spcBef>
                          <a:spcPts val="4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현장 핵심인재 발굴 및 육성</a:t>
                      </a:r>
                      <a:endParaRPr lang="en-US" altLang="ko-KR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92075" indent="-92075" algn="l" defTabSz="914400" rtl="0" eaLnBrk="1" latinLnBrk="1" hangingPunct="1">
                        <a:spcBef>
                          <a:spcPts val="4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Digital Capability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준비</a:t>
                      </a:r>
                      <a:endParaRPr lang="en-US" altLang="ko-KR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Persuader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투입 타이밍 사전 결정</a:t>
                      </a:r>
                      <a:endParaRPr lang="en-US" altLang="ko-KR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369272"/>
                  </a:ext>
                </a:extLst>
              </a:tr>
            </a:tbl>
          </a:graphicData>
        </a:graphic>
      </p:graphicFrame>
      <p:sp>
        <p:nvSpPr>
          <p:cNvPr id="6" name="제목 4">
            <a:extLst>
              <a:ext uri="{FF2B5EF4-FFF2-40B4-BE49-F238E27FC236}">
                <a16:creationId xmlns:a16="http://schemas.microsoft.com/office/drawing/2014/main" id="{02BD3F34-3AE7-9555-A058-DFB0AA405954}"/>
              </a:ext>
            </a:extLst>
          </p:cNvPr>
          <p:cNvSpPr txBox="1">
            <a:spLocks/>
          </p:cNvSpPr>
          <p:nvPr/>
        </p:nvSpPr>
        <p:spPr>
          <a:xfrm>
            <a:off x="200472" y="170881"/>
            <a:ext cx="9516209" cy="36933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10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조직화 선행 대응 </a:t>
            </a:r>
            <a:r>
              <a:rPr kumimoji="0" lang="en-US" altLang="ko-KR" sz="1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Plan (Proactive Response Plan)</a:t>
            </a:r>
            <a:endParaRPr kumimoji="0" sz="1800" b="0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j-cs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BDFE80A-5BF8-6F9F-34A7-3863EA6AFCDB}"/>
              </a:ext>
            </a:extLst>
          </p:cNvPr>
          <p:cNvCxnSpPr>
            <a:cxnSpLocks/>
          </p:cNvCxnSpPr>
          <p:nvPr/>
        </p:nvCxnSpPr>
        <p:spPr bwMode="auto">
          <a:xfrm>
            <a:off x="226355" y="539877"/>
            <a:ext cx="6907690" cy="0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제목 4">
            <a:extLst>
              <a:ext uri="{FF2B5EF4-FFF2-40B4-BE49-F238E27FC236}">
                <a16:creationId xmlns:a16="http://schemas.microsoft.com/office/drawing/2014/main" id="{689C6E20-0364-8A52-53E4-6D5640161618}"/>
              </a:ext>
            </a:extLst>
          </p:cNvPr>
          <p:cNvSpPr txBox="1">
            <a:spLocks/>
          </p:cNvSpPr>
          <p:nvPr/>
        </p:nvSpPr>
        <p:spPr>
          <a:xfrm>
            <a:off x="7753860" y="170881"/>
            <a:ext cx="1885901" cy="307777"/>
          </a:xfrm>
          <a:prstGeom prst="rect">
            <a:avLst/>
          </a:prstGeom>
        </p:spPr>
        <p:txBody>
          <a:bodyPr vert="horz" wrap="none" lIns="91440" tIns="45720" rIns="91440" bIns="45720" rtlCol="0" anchor="t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10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② </a:t>
            </a:r>
            <a:r>
              <a:rPr kumimoji="0" lang="en-US" altLang="ko-KR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Proactive Response Team</a:t>
            </a:r>
            <a:endParaRPr kumimoji="0" lang="ko-KR" altLang="en-US" sz="14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F41E67-05BA-5A93-7B74-284DD34B7341}"/>
              </a:ext>
            </a:extLst>
          </p:cNvPr>
          <p:cNvSpPr txBox="1"/>
          <p:nvPr/>
        </p:nvSpPr>
        <p:spPr>
          <a:xfrm>
            <a:off x="4757536" y="6567516"/>
            <a:ext cx="32893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7/8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3" name="Text Box 38">
            <a:extLst>
              <a:ext uri="{FF2B5EF4-FFF2-40B4-BE49-F238E27FC236}">
                <a16:creationId xmlns:a16="http://schemas.microsoft.com/office/drawing/2014/main" id="{8B0DF788-FC2E-D8BA-6A1F-5B1B88C1E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452" y="734940"/>
            <a:ext cx="6920549" cy="261610"/>
          </a:xfrm>
          <a:prstGeom prst="rect">
            <a:avLst/>
          </a:prstGeom>
          <a:noFill/>
        </p:spPr>
        <p:txBody>
          <a:bodyPr wrap="none" tIns="0" rtlCol="0">
            <a:spAutoFit/>
          </a:bodyPr>
          <a:lstStyle>
            <a:defPPr>
              <a:defRPr lang="en-US"/>
            </a:defPPr>
            <a:lvl1pPr>
              <a:defRPr sz="1400" b="1" spc="-7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742950" indent="-28575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2pPr>
            <a:lvl3pPr marL="1143000" indent="-22860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3pPr>
            <a:lvl4pPr marL="1600200" indent="-22860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4pPr>
            <a:lvl5pPr marL="2057400" indent="-228600"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latin typeface="Arial" panose="020B0604020202020204" pitchFamily="34" charset="0"/>
                <a:ea typeface="돋움체" panose="020B0609000101010101" pitchFamily="49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UAW</a:t>
            </a:r>
            <a:r>
              <a:rPr kumimoji="0" lang="ko-KR" altLang="en-US" sz="14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의 조직적 개입이 있다고 유력하게 판단되면 </a:t>
            </a:r>
            <a:r>
              <a:rPr kumimoji="0" lang="en-US" altLang="ko-KR" sz="14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Proactive Response Team </a:t>
            </a:r>
            <a:r>
              <a:rPr kumimoji="0" lang="ko-KR" altLang="en-US" sz="14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운영을 통해 이슈를 조기 진화</a:t>
            </a:r>
            <a:endParaRPr kumimoji="0" lang="en-US" altLang="ko-KR" sz="1400" b="1" i="0" u="none" strike="noStrike" kern="1200" cap="none" spc="-7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69040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847A02B-B417-7AB8-6B3A-D3F0521DB889}"/>
              </a:ext>
            </a:extLst>
          </p:cNvPr>
          <p:cNvSpPr txBox="1"/>
          <p:nvPr/>
        </p:nvSpPr>
        <p:spPr>
          <a:xfrm>
            <a:off x="397437" y="737628"/>
            <a:ext cx="4200061" cy="24868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ts val="2100"/>
              </a:lnSpc>
              <a:spcBef>
                <a:spcPts val="4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lang="ko-KR" altLang="en-US" sz="14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리더를 위한 소통 가이드</a:t>
            </a:r>
            <a:br>
              <a:rPr lang="en-US" altLang="ko-KR" sz="1400" spc="-50" dirty="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- Union Election Pocket</a:t>
            </a:r>
            <a:r>
              <a:rPr lang="ko-KR" altLang="en-US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Guide for Leaders</a:t>
            </a:r>
            <a:b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- Union</a:t>
            </a:r>
            <a:r>
              <a:rPr lang="ko-KR" altLang="en-US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Cards Talking Points </a:t>
            </a:r>
            <a:r>
              <a:rPr lang="ko-KR" altLang="en-US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노조 카드 관련 소통 가능 내용</a:t>
            </a:r>
            <a:b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- Union Seniority Leaders Talking Points </a:t>
            </a:r>
            <a:r>
              <a:rPr lang="ko-KR" altLang="en-US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노동조합의 </a:t>
            </a:r>
            <a: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Seniority </a:t>
            </a:r>
            <a:r>
              <a:rPr lang="ko-KR" altLang="en-US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제도 임팩트</a:t>
            </a:r>
            <a:b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-  Digital Authorization Cards Talking Points </a:t>
            </a:r>
            <a:r>
              <a:rPr lang="ko-KR" altLang="en-US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디지털 캠페인 관련 인식</a:t>
            </a:r>
            <a:b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-  Ask the Organizer Talking Points </a:t>
            </a:r>
            <a:r>
              <a:rPr lang="ko-KR" altLang="en-US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직원들에게 조합 소통 관련 조언</a:t>
            </a:r>
            <a:b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-  Collective Bargaining Talking Points </a:t>
            </a:r>
            <a:r>
              <a:rPr lang="ko-KR" altLang="en-US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단체 교섭 관련 소통</a:t>
            </a:r>
            <a:b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- Dues</a:t>
            </a:r>
            <a:r>
              <a:rPr lang="ko-KR" altLang="en-US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Talking Points </a:t>
            </a:r>
            <a:r>
              <a:rPr lang="ko-KR" altLang="en-US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조합비 관련 소통</a:t>
            </a:r>
            <a:b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- Pre-Petition Talking Points </a:t>
            </a:r>
            <a:r>
              <a:rPr lang="ko-KR" altLang="en-US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선거 전 소통</a:t>
            </a:r>
            <a:endParaRPr lang="en-US" altLang="ko-KR" sz="1200" spc="-5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EA055E7-024E-1924-0F30-E7AC81F95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001" y="760139"/>
            <a:ext cx="2182101" cy="165603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0ADF684-729C-16DA-645A-4FF5D867D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102" y="743563"/>
            <a:ext cx="2424869" cy="151602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74E3BC9E-20E9-DD96-A860-25700BF04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860" y="4731611"/>
            <a:ext cx="3383308" cy="1118818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29207F5E-2A19-B330-BA3E-6FE3421FE0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0138" y="5579734"/>
            <a:ext cx="2242812" cy="986968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327A2AE7-9ED5-4836-87D9-068949CCA12C}"/>
              </a:ext>
            </a:extLst>
          </p:cNvPr>
          <p:cNvSpPr txBox="1"/>
          <p:nvPr/>
        </p:nvSpPr>
        <p:spPr>
          <a:xfrm>
            <a:off x="397437" y="4275734"/>
            <a:ext cx="4200061" cy="2217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ts val="2100"/>
              </a:lnSpc>
              <a:spcBef>
                <a:spcPts val="4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lang="ko-KR" altLang="en-US" sz="14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직원 공지 내용</a:t>
            </a:r>
            <a:br>
              <a:rPr lang="en-US" altLang="ko-KR" sz="1200" b="1" spc="-50" dirty="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- Union Authorization Cards Flyer</a:t>
            </a:r>
            <a:b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- Union Dues Flyer</a:t>
            </a:r>
            <a:b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- Union Seniority Leaders Talking Points </a:t>
            </a:r>
            <a:r>
              <a:rPr lang="ko-KR" altLang="en-US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노동조합의 </a:t>
            </a:r>
            <a: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Seniority </a:t>
            </a:r>
            <a:r>
              <a:rPr lang="ko-KR" altLang="en-US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제도 임팩트</a:t>
            </a:r>
            <a:b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- Digital Authorization Cards Talking Points </a:t>
            </a:r>
            <a:r>
              <a:rPr lang="ko-KR" altLang="en-US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디지털 캠페인 관련 인식</a:t>
            </a:r>
            <a:b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- Ask the Organizer Talking Points </a:t>
            </a:r>
            <a:r>
              <a:rPr lang="ko-KR" altLang="en-US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직원들에게 조합 소통 관련 조언</a:t>
            </a:r>
            <a:b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- Collective Bargaining Talking Points </a:t>
            </a:r>
            <a:r>
              <a:rPr lang="ko-KR" altLang="en-US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단체 교섭 관련 소통</a:t>
            </a:r>
            <a:b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-</a:t>
            </a:r>
            <a:r>
              <a:rPr lang="ko-KR" altLang="en-US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Dues</a:t>
            </a:r>
            <a:r>
              <a:rPr lang="ko-KR" altLang="en-US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Talking Points </a:t>
            </a:r>
            <a:r>
              <a:rPr lang="ko-KR" altLang="en-US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조합비 관련 소통</a:t>
            </a:r>
            <a:endParaRPr lang="en-US" altLang="ko-KR" sz="1200" spc="-5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871938FE-0C86-299A-3979-42E19A23CAA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64555"/>
          <a:stretch/>
        </p:blipFill>
        <p:spPr>
          <a:xfrm>
            <a:off x="7133139" y="1677609"/>
            <a:ext cx="2537832" cy="1247120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1EE4B9D4-72C7-5F1A-6DD1-38704FC4FA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3706" y="2814052"/>
            <a:ext cx="1984371" cy="1803032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983FC951-E1D6-787C-6BC4-CE4A257CB35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2681" r="8050"/>
          <a:stretch/>
        </p:blipFill>
        <p:spPr>
          <a:xfrm>
            <a:off x="7246102" y="3066151"/>
            <a:ext cx="1789721" cy="1187187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747E6519-EE2C-476E-6F25-AC7638E199F6}"/>
              </a:ext>
            </a:extLst>
          </p:cNvPr>
          <p:cNvSpPr txBox="1"/>
          <p:nvPr/>
        </p:nvSpPr>
        <p:spPr>
          <a:xfrm>
            <a:off x="397437" y="3274990"/>
            <a:ext cx="1573123" cy="867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ts val="2100"/>
              </a:lnSpc>
              <a:spcBef>
                <a:spcPts val="4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q"/>
              <a:tabLst/>
              <a:defRPr/>
            </a:pPr>
            <a:r>
              <a:rPr lang="ko-KR" altLang="en-US" sz="14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조합관련 </a:t>
            </a:r>
            <a:r>
              <a:rPr lang="en-US" altLang="ko-KR" sz="14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Facts</a:t>
            </a:r>
            <a:b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- Scab List Flyer</a:t>
            </a:r>
            <a:b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</a:br>
            <a:r>
              <a:rPr lang="en-US" altLang="ko-KR" sz="1200" spc="-50" dirty="0">
                <a:solidFill>
                  <a:prstClr val="black"/>
                </a:solidFill>
                <a:latin typeface="Arial Narrow"/>
                <a:ea typeface="LG스마트체 Regular"/>
              </a:rPr>
              <a:t>- UAW Criminal Leaders</a:t>
            </a:r>
          </a:p>
        </p:txBody>
      </p:sp>
      <p:sp>
        <p:nvSpPr>
          <p:cNvPr id="2" name="제목 4">
            <a:extLst>
              <a:ext uri="{FF2B5EF4-FFF2-40B4-BE49-F238E27FC236}">
                <a16:creationId xmlns:a16="http://schemas.microsoft.com/office/drawing/2014/main" id="{7B056A40-C5BB-DCD2-5EC4-62659041A868}"/>
              </a:ext>
            </a:extLst>
          </p:cNvPr>
          <p:cNvSpPr txBox="1">
            <a:spLocks/>
          </p:cNvSpPr>
          <p:nvPr/>
        </p:nvSpPr>
        <p:spPr>
          <a:xfrm>
            <a:off x="200472" y="170881"/>
            <a:ext cx="9516209" cy="36933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10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조직화 선행 대응 </a:t>
            </a:r>
            <a:r>
              <a:rPr lang="en-US" altLang="ko-KR" dirty="0"/>
              <a:t>Plan (Proactive Response Plan)</a:t>
            </a:r>
            <a:endParaRPr kumimoji="0" sz="1800" b="0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j-cs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276078F-860A-A33A-BDCD-50075638132D}"/>
              </a:ext>
            </a:extLst>
          </p:cNvPr>
          <p:cNvCxnSpPr>
            <a:cxnSpLocks/>
          </p:cNvCxnSpPr>
          <p:nvPr/>
        </p:nvCxnSpPr>
        <p:spPr bwMode="auto">
          <a:xfrm>
            <a:off x="226355" y="539877"/>
            <a:ext cx="6907690" cy="0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제목 4">
            <a:extLst>
              <a:ext uri="{FF2B5EF4-FFF2-40B4-BE49-F238E27FC236}">
                <a16:creationId xmlns:a16="http://schemas.microsoft.com/office/drawing/2014/main" id="{E373E613-FB5E-0FCB-9136-C64558E0A1E3}"/>
              </a:ext>
            </a:extLst>
          </p:cNvPr>
          <p:cNvSpPr txBox="1">
            <a:spLocks/>
          </p:cNvSpPr>
          <p:nvPr/>
        </p:nvSpPr>
        <p:spPr>
          <a:xfrm>
            <a:off x="7085062" y="170881"/>
            <a:ext cx="2152000" cy="307777"/>
          </a:xfrm>
          <a:prstGeom prst="rect">
            <a:avLst/>
          </a:prstGeom>
        </p:spPr>
        <p:txBody>
          <a:bodyPr vert="horz" wrap="none" lIns="91440" tIns="45720" rIns="91440" bIns="45720" rtlCol="0" anchor="t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10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③ </a:t>
            </a:r>
            <a:r>
              <a:rPr kumimoji="0" lang="en-US" altLang="ko-KR" sz="14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j-cs"/>
              </a:rPr>
              <a:t>Communication Talking Points</a:t>
            </a:r>
            <a:endParaRPr kumimoji="0" lang="ko-KR" altLang="en-US" sz="14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6D24FF-8AE9-6E98-7270-A2B8F37F945E}"/>
              </a:ext>
            </a:extLst>
          </p:cNvPr>
          <p:cNvSpPr txBox="1"/>
          <p:nvPr/>
        </p:nvSpPr>
        <p:spPr>
          <a:xfrm>
            <a:off x="4757536" y="6567516"/>
            <a:ext cx="32893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8/8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7" name="실행 단추: 홈 45">
            <a:hlinkClick r:id="rId9" action="ppaction://hlinksldjump"/>
            <a:extLst>
              <a:ext uri="{FF2B5EF4-FFF2-40B4-BE49-F238E27FC236}">
                <a16:creationId xmlns:a16="http://schemas.microsoft.com/office/drawing/2014/main" id="{EBB2465D-B12B-7BAB-FD5D-E4CDC681A6F7}"/>
              </a:ext>
            </a:extLst>
          </p:cNvPr>
          <p:cNvSpPr/>
          <p:nvPr/>
        </p:nvSpPr>
        <p:spPr>
          <a:xfrm>
            <a:off x="9237062" y="107566"/>
            <a:ext cx="360000" cy="360000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43743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40E2B5-05B7-EC1F-17EF-573A1E720A90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en-US" altLang="ko-KR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ESWA </a:t>
            </a:r>
            <a:r>
              <a:rPr lang="ko-KR" altLang="en-US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노동조합 설립 대응 전략 실행 과제</a:t>
            </a:r>
          </a:p>
        </p:txBody>
      </p:sp>
      <p:sp>
        <p:nvSpPr>
          <p:cNvPr id="3" name="실행 단추: 홈 45">
            <a:hlinkClick r:id="rId2" action="ppaction://hlinksldjump"/>
            <a:extLst>
              <a:ext uri="{FF2B5EF4-FFF2-40B4-BE49-F238E27FC236}">
                <a16:creationId xmlns:a16="http://schemas.microsoft.com/office/drawing/2014/main" id="{3B7D1C42-FAF5-F1B7-4CCE-EFD63953CF1C}"/>
              </a:ext>
            </a:extLst>
          </p:cNvPr>
          <p:cNvSpPr/>
          <p:nvPr/>
        </p:nvSpPr>
        <p:spPr>
          <a:xfrm>
            <a:off x="9237062" y="107566"/>
            <a:ext cx="360000" cy="360000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7780D2DF-6F2E-8A96-0AD1-FAD84D138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753553"/>
              </p:ext>
            </p:extLst>
          </p:nvPr>
        </p:nvGraphicFramePr>
        <p:xfrm>
          <a:off x="415925" y="1206248"/>
          <a:ext cx="9107820" cy="5394960"/>
        </p:xfrm>
        <a:graphic>
          <a:graphicData uri="http://schemas.openxmlformats.org/drawingml/2006/table">
            <a:tbl>
              <a:tblPr firstRow="1" bandRow="1"/>
              <a:tblGrid>
                <a:gridCol w="1223287">
                  <a:extLst>
                    <a:ext uri="{9D8B030D-6E8A-4147-A177-3AD203B41FA5}">
                      <a16:colId xmlns:a16="http://schemas.microsoft.com/office/drawing/2014/main" val="2603787794"/>
                    </a:ext>
                  </a:extLst>
                </a:gridCol>
                <a:gridCol w="1439666">
                  <a:extLst>
                    <a:ext uri="{9D8B030D-6E8A-4147-A177-3AD203B41FA5}">
                      <a16:colId xmlns:a16="http://schemas.microsoft.com/office/drawing/2014/main" val="597590018"/>
                    </a:ext>
                  </a:extLst>
                </a:gridCol>
                <a:gridCol w="4181572">
                  <a:extLst>
                    <a:ext uri="{9D8B030D-6E8A-4147-A177-3AD203B41FA5}">
                      <a16:colId xmlns:a16="http://schemas.microsoft.com/office/drawing/2014/main" val="2023790348"/>
                    </a:ext>
                  </a:extLst>
                </a:gridCol>
                <a:gridCol w="835126">
                  <a:extLst>
                    <a:ext uri="{9D8B030D-6E8A-4147-A177-3AD203B41FA5}">
                      <a16:colId xmlns:a16="http://schemas.microsoft.com/office/drawing/2014/main" val="3451993684"/>
                    </a:ext>
                  </a:extLst>
                </a:gridCol>
                <a:gridCol w="1428169">
                  <a:extLst>
                    <a:ext uri="{9D8B030D-6E8A-4147-A177-3AD203B41FA5}">
                      <a16:colId xmlns:a16="http://schemas.microsoft.com/office/drawing/2014/main" val="2947536042"/>
                    </a:ext>
                  </a:extLst>
                </a:gridCol>
              </a:tblGrid>
              <a:tr h="22954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실행과제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내용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시행시기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867487"/>
                  </a:ext>
                </a:extLst>
              </a:tr>
              <a:tr h="675144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➊ </a:t>
                      </a:r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조합 확산 차단</a:t>
                      </a:r>
                      <a:endParaRPr lang="ko-KR" altLang="en-US" sz="1100" b="1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① </a:t>
                      </a:r>
                      <a:r>
                        <a:rPr lang="ko-KR" altLang="en-US" sz="1100" b="1" kern="0" spc="-5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소통강화 및</a:t>
                      </a:r>
                      <a:br>
                        <a:rPr lang="en-US" altLang="ko-KR" sz="1100" b="1" kern="0" spc="-5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1" kern="0" spc="-5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Pain Point </a:t>
                      </a:r>
                      <a:r>
                        <a:rPr lang="ko-KR" altLang="en-US" sz="1100" b="1" kern="0" spc="-5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선제적 해소</a:t>
                      </a:r>
                      <a:endParaRPr lang="ko-KR" altLang="en-US" sz="1100" b="1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5725" indent="-85725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회사</a:t>
                      </a:r>
                      <a:r>
                        <a:rPr lang="en-US" altLang="ko-KR" sz="1100" b="1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100" b="1" spc="-50" dirty="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현장직</a:t>
                      </a:r>
                      <a:r>
                        <a:rPr lang="ko-KR" altLang="en-US" sz="1100" b="1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직접소통</a:t>
                      </a:r>
                      <a:r>
                        <a:rPr lang="en-US" altLang="ko-KR" sz="1100" b="1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(Digital Comm.) </a:t>
                      </a:r>
                      <a:r>
                        <a:rPr lang="ko-KR" altLang="en-US" sz="1100" b="1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강화를 통한 </a:t>
                      </a:r>
                      <a:r>
                        <a:rPr lang="ko-KR" altLang="en-US" sz="1100" b="1" kern="0" spc="-5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구성원 </a:t>
                      </a:r>
                      <a:r>
                        <a:rPr lang="en-US" altLang="ko-KR" sz="1100" b="1" kern="0" spc="-5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Needs </a:t>
                      </a:r>
                      <a:r>
                        <a:rPr lang="ko-KR" altLang="en-US" sz="1100" b="1" kern="0" spc="-5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청취 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lang="en-US" altLang="ko-KR" sz="11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0" spc="-5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현장직</a:t>
                      </a:r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평가 </a:t>
                      </a:r>
                      <a:r>
                        <a:rPr lang="en-US" altLang="ko-KR" sz="11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Feed Back, </a:t>
                      </a:r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노후화된 근무환경 등 </a:t>
                      </a:r>
                      <a:r>
                        <a:rPr lang="en-US" altLang="ko-KR" sz="11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Pain point </a:t>
                      </a:r>
                      <a:r>
                        <a:rPr lang="ko-KR" altLang="en-US" sz="11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청취 및 개선</a:t>
                      </a:r>
                      <a:endParaRPr lang="en-US" altLang="ko-KR" sz="1100" b="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Master S/L </a:t>
                      </a:r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중심의 고충처리 프로세스 확립</a:t>
                      </a:r>
                      <a:br>
                        <a:rPr lang="en-US" altLang="ko-KR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1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현장의 고충은 </a:t>
                      </a:r>
                      <a:r>
                        <a:rPr lang="en-US" altLang="ko-KR" sz="11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S/L, MS/L</a:t>
                      </a:r>
                      <a:r>
                        <a:rPr lang="ko-KR" altLang="en-US" sz="1100" b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을 통해서 접수되고 처리되도록 공식화</a:t>
                      </a:r>
                      <a:endParaRPr lang="en-US" altLang="ko-KR" sz="1100" b="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즉시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indent="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b="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250695"/>
                  </a:ext>
                </a:extLst>
              </a:tr>
              <a:tr h="503073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②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현장 대의기구 활성화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현장직의 대표성을 보유한 직원대의기구를 활성화 </a:t>
                      </a:r>
                      <a:r>
                        <a:rPr lang="en-US" altLang="ko-KR" sz="1100" b="1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="1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현장 우수인재 선발</a:t>
                      </a:r>
                      <a:r>
                        <a:rPr lang="en-US" altLang="ko-KR" sz="1100" b="1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100" b="1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b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현재 사무직 중심의 회의</a:t>
                      </a: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협의체</a:t>
                      </a: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(JB, Employee council 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등</a:t>
                      </a: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협의내용은 </a:t>
                      </a:r>
                      <a:b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현장까지 별도 전파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’25</a:t>
                      </a:r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indent="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spc="-5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부문별 대의비율 고려 </a:t>
                      </a:r>
                      <a:br>
                        <a:rPr lang="en-US" altLang="ko-KR" sz="900" spc="-5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spc="-5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altLang="en-US" sz="900" spc="-5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우수인재 </a:t>
                      </a:r>
                      <a:r>
                        <a:rPr lang="en-US" altLang="ko-KR" sz="900" spc="-5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spc="-5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 선발</a:t>
                      </a:r>
                      <a:endParaRPr lang="en-US" altLang="ko-KR" sz="900" spc="-50" dirty="0">
                        <a:solidFill>
                          <a:prstClr val="black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spc="-50" baseline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="0" spc="-50" baseline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정기협의</a:t>
                      </a:r>
                      <a:r>
                        <a:rPr lang="en-US" altLang="ko-KR" sz="900" b="0" spc="-50" baseline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b="0" spc="-50" baseline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분기</a:t>
                      </a:r>
                      <a:r>
                        <a:rPr lang="en-US" altLang="ko-KR" sz="900" b="0" spc="-50" baseline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/ </a:t>
                      </a:r>
                      <a:r>
                        <a:rPr lang="ko-KR" altLang="en-US" sz="900" b="0" spc="-50" baseline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실무</a:t>
                      </a:r>
                      <a:r>
                        <a:rPr lang="en-US" altLang="ko-KR" sz="900" b="0" spc="-50" baseline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b="0" spc="-50" baseline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900" b="0" spc="-50" baseline="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="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235187"/>
                  </a:ext>
                </a:extLst>
              </a:tr>
              <a:tr h="675144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③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사업환경 공감대 형성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회사의 전략 방향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경영 상황 등에 대해 현장 </a:t>
                      </a:r>
                      <a:r>
                        <a:rPr lang="ko-KR" altLang="en-US" sz="1100" b="1" kern="1200" spc="-5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구성원들과의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공감대 형성 강화 </a:t>
                      </a:r>
                      <a:b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현장경영</a:t>
                      </a: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간담회</a:t>
                      </a: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현장순회</a:t>
                      </a: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Pre-shift 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미팅 참여 등</a:t>
                      </a: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을 통한 </a:t>
                      </a:r>
                      <a:r>
                        <a:rPr kumimoji="0" lang="ko-KR" altLang="en-US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경영현황</a:t>
                      </a:r>
                      <a:r>
                        <a:rPr kumimoji="0" lang="en-US" altLang="ko-KR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br>
                        <a:rPr kumimoji="0" lang="en-US" altLang="ko-KR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사업계획</a:t>
                      </a:r>
                      <a:r>
                        <a:rPr kumimoji="0" lang="en-US" altLang="ko-KR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생산계획 등 지속 공유</a:t>
                      </a:r>
                      <a:endParaRPr kumimoji="0" lang="en-US" altLang="ko-KR" sz="11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자사</a:t>
                      </a:r>
                      <a:r>
                        <a:rPr lang="en-US" altLang="ko-KR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우수 인원의 미래 사업 중심 유지인력 재배치</a:t>
                      </a:r>
                      <a:endParaRPr lang="ko-KR" altLang="en-US" sz="1100" kern="120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‘25</a:t>
                      </a:r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724562"/>
                  </a:ext>
                </a:extLst>
              </a:tr>
              <a:tr h="526612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➋ </a:t>
                      </a:r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노경관계 정립</a:t>
                      </a:r>
                      <a:endParaRPr lang="ko-KR" altLang="en-US" sz="1100" b="1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① 기본과 원칙준수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Compliance 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이슈 예방을 위한 노동법상 협의의무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해고대상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.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사유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조직개편 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b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회사 제규정 개정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준수</a:t>
                      </a:r>
                      <a:b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</a:t>
                      </a: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사업환경개선을 위한 징계</a:t>
                      </a: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.</a:t>
                      </a:r>
                      <a:r>
                        <a:rPr lang="ko-KR" altLang="en-US" sz="1100" kern="1200" spc="-5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저성과자에</a:t>
                      </a:r>
                      <a:r>
                        <a:rPr lang="ko-KR" altLang="en-US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대한 합리화는 지속추진</a:t>
                      </a:r>
                      <a:endParaRPr lang="en-US" altLang="ko-KR" sz="1100" kern="120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즉시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indent="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="0" spc="-5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징계성</a:t>
                      </a:r>
                      <a:r>
                        <a:rPr lang="ko-KR" altLang="en-US" sz="9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해고는 즉시 실시</a:t>
                      </a:r>
                      <a:endParaRPr lang="en-US" altLang="ko-KR" sz="900" b="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="0" spc="-5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저성과자</a:t>
                      </a:r>
                      <a:r>
                        <a:rPr lang="ko-KR" altLang="en-US" sz="9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합리화는 </a:t>
                      </a:r>
                      <a:r>
                        <a:rPr lang="ko-KR" altLang="en-US" sz="900" b="0" spc="-5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저위험군</a:t>
                      </a:r>
                      <a:br>
                        <a:rPr lang="en-US" altLang="ko-KR" sz="9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lang="ko-KR" altLang="en-US" sz="9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부터 실시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681761"/>
                  </a:ext>
                </a:extLst>
              </a:tr>
              <a:tr h="675144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②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초기 노경관계 주도권 </a:t>
                      </a:r>
                      <a:b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확보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위원장</a:t>
                      </a:r>
                      <a:r>
                        <a:rPr lang="en-US" altLang="ko-KR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집행부를 우회적으로 </a:t>
                      </a:r>
                      <a:r>
                        <a:rPr lang="en-US" altLang="ko-KR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Push</a:t>
                      </a:r>
                      <a:r>
                        <a:rPr lang="ko-KR" altLang="en-US" sz="11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하며 심리적 위축 및 활동을 억제</a:t>
                      </a:r>
                      <a:endParaRPr lang="en-US" altLang="ko-KR" sz="11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spc="-50" dirty="0">
                          <a:solidFill>
                            <a:prstClr val="black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상급단체 연계성 차단 및 노조와 공식적인 소통 채널 구축</a:t>
                      </a:r>
                      <a:b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100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노조 </a:t>
                      </a:r>
                      <a:r>
                        <a:rPr lang="en-US" altLang="ko-KR" sz="1100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Comm. </a:t>
                      </a:r>
                      <a:r>
                        <a:rPr lang="ko-KR" altLang="en-US" sz="1100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파트너를 </a:t>
                      </a:r>
                      <a:r>
                        <a:rPr lang="en-US" altLang="ko-KR" sz="1100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HR</a:t>
                      </a:r>
                      <a:r>
                        <a:rPr lang="ko-KR" altLang="en-US" sz="1100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담당으로 </a:t>
                      </a:r>
                      <a:r>
                        <a:rPr lang="en-US" altLang="ko-KR" sz="1100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Leveling</a:t>
                      </a:r>
                      <a:r>
                        <a:rPr lang="ko-KR" altLang="en-US" sz="1100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하고 공식</a:t>
                      </a:r>
                      <a:r>
                        <a:rPr lang="en-US" altLang="ko-KR" sz="1100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100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비공식 </a:t>
                      </a:r>
                      <a:r>
                        <a:rPr lang="en-US" altLang="ko-KR" sz="1100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Networking </a:t>
                      </a:r>
                      <a:br>
                        <a:rPr lang="en-US" altLang="ko-KR" sz="1100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altLang="en-US" sz="1100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활동 추진을 통해 상급단체 차단</a:t>
                      </a:r>
                      <a:endParaRPr lang="en-US" altLang="ko-KR" sz="1100" b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즉시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indent="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조합 </a:t>
                      </a:r>
                      <a:r>
                        <a:rPr lang="en-US" altLang="ko-KR" sz="9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– HR</a:t>
                      </a:r>
                      <a:r>
                        <a:rPr lang="ko-KR" altLang="en-US" sz="9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담당으로 </a:t>
                      </a:r>
                      <a:r>
                        <a:rPr lang="en-US" altLang="ko-KR" sz="9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Channeling</a:t>
                      </a:r>
                      <a:endParaRPr lang="ko-KR" altLang="en-US" sz="900" b="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563457"/>
                  </a:ext>
                </a:extLst>
              </a:tr>
              <a:tr h="644966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➌ 노경관리 체계 정비</a:t>
                      </a:r>
                      <a:endParaRPr lang="en-US" altLang="ko-KR" sz="1100" b="1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① </a:t>
                      </a:r>
                      <a:r>
                        <a:rPr lang="ko-KR" altLang="en-US" sz="1100" b="1" spc="-5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노경관리 역량 확보</a:t>
                      </a:r>
                      <a:endParaRPr lang="en-US" altLang="ko-KR" sz="1100" b="1" spc="-5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현장소통강화 및 전략과제 운영을 위한 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ER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조직신설검토</a:t>
                      </a:r>
                      <a:b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단기 </a:t>
                      </a:r>
                      <a:r>
                        <a:rPr kumimoji="0" lang="en-US" altLang="ko-KR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1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파트급</a:t>
                      </a:r>
                      <a:r>
                        <a:rPr kumimoji="0" lang="en-US" altLang="ko-KR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현장소통</a:t>
                      </a:r>
                      <a:r>
                        <a:rPr kumimoji="0" lang="en-US" altLang="ko-KR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중장기 </a:t>
                      </a:r>
                      <a:r>
                        <a:rPr kumimoji="0" lang="en-US" altLang="ko-KR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1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팀급</a:t>
                      </a:r>
                      <a:r>
                        <a:rPr kumimoji="0" lang="en-US" altLang="ko-KR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조합카운터파트너</a:t>
                      </a:r>
                      <a:r>
                        <a:rPr kumimoji="0" lang="en-US" altLang="ko-KR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en-US" altLang="ko-KR" sz="1100" b="1" kern="120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노경관리 역할 인식 및 역량 향상을 위한 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Master S/L 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대상 노경관리 교육 실시</a:t>
                      </a:r>
                      <a:br>
                        <a:rPr lang="en-US" altLang="ko-KR" sz="11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100" b="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① 노경관리 실행 촉진</a:t>
                      </a:r>
                      <a:r>
                        <a:rPr kumimoji="0" lang="en-US" altLang="ko-KR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② </a:t>
                      </a:r>
                      <a:r>
                        <a:rPr kumimoji="0" lang="ko-KR" altLang="en-US" sz="11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경영진과 현장간 가교역할</a:t>
                      </a:r>
                      <a:r>
                        <a:rPr kumimoji="0" lang="en-US" altLang="ko-KR" sz="11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③전략적 노경 파트너</a:t>
                      </a:r>
                      <a:endParaRPr lang="en-US" altLang="ko-KR" sz="1100" b="0" kern="120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‘25</a:t>
                      </a:r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kumimoji="0" lang="ko-KR" altLang="en-US" sz="9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836941"/>
                  </a:ext>
                </a:extLst>
              </a:tr>
              <a:tr h="5671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5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② </a:t>
                      </a:r>
                      <a:r>
                        <a:rPr lang="en-US" altLang="ko-KR" sz="1100" b="1" kern="1200" spc="-5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Governance </a:t>
                      </a:r>
                      <a:r>
                        <a:rPr lang="ko-KR" altLang="en-US" sz="1100" b="1" kern="1200" spc="-5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체계 정비</a:t>
                      </a:r>
                      <a:endParaRPr lang="en-US" altLang="ko-KR" sz="1100" b="1" kern="1200" spc="-5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현장 감독자 선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.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해임 기준을 강화하고 전사 기준으로 표준화</a:t>
                      </a:r>
                      <a:endParaRPr lang="en-US" altLang="ko-KR" sz="1100" b="1" kern="120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Span of Control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을 고려한 현장리더 배치를 통해 사각지대 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Zero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化</a:t>
                      </a:r>
                      <a:endParaRPr lang="en-US" altLang="ko-KR" sz="1100" b="1" kern="120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‘25</a:t>
                      </a:r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【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해임기준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】</a:t>
                      </a:r>
                    </a:p>
                    <a:p>
                      <a:pPr marL="0" indent="0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3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개년 평균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‘B’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평가 미만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(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즉시해임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2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개년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‘CC’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또는</a:t>
                      </a:r>
                      <a:b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당해년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‘D’ </a:t>
                      </a:r>
                      <a:endParaRPr kumimoji="0" lang="ko-KR" altLang="en-US" sz="9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678572"/>
                  </a:ext>
                </a:extLst>
              </a:tr>
              <a:tr h="229549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 spc="-5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③</a:t>
                      </a:r>
                      <a:r>
                        <a:rPr lang="en-US" altLang="ko-KR" sz="11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1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노경관리 협의체 구성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Master S/L 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중심으로 생산담당과 직접 소통하며 산하 </a:t>
                      </a:r>
                      <a:r>
                        <a:rPr lang="en-US" altLang="ko-KR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S/L</a:t>
                      </a:r>
                      <a:r>
                        <a:rPr lang="ko-KR" altLang="en-US" sz="1100" b="1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가 함께 노경관리 수행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‘25</a:t>
                      </a:r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1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분기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indent="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생산담당 주관 미팅</a:t>
                      </a:r>
                      <a:r>
                        <a:rPr lang="en-US" altLang="ko-KR" sz="9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900" b="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="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158869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8C33B72A-43BF-CBD7-2511-DDF801572E10}"/>
              </a:ext>
            </a:extLst>
          </p:cNvPr>
          <p:cNvSpPr txBox="1"/>
          <p:nvPr/>
        </p:nvSpPr>
        <p:spPr>
          <a:xfrm>
            <a:off x="343186" y="2250842"/>
            <a:ext cx="15010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fontAlgn="base" latinLnBrk="0">
              <a:spcAft>
                <a:spcPct val="0"/>
              </a:spcAft>
            </a:pPr>
            <a:r>
              <a:rPr kumimoji="1" lang="en-US" altLang="ko-KR" sz="9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“</a:t>
            </a:r>
            <a:r>
              <a:rPr kumimoji="1" lang="ko-KR" altLang="en-US" sz="9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소수노조유지</a:t>
            </a:r>
            <a:r>
              <a:rPr kumimoji="1" lang="en-US" altLang="ko-KR" sz="9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”</a:t>
            </a:r>
            <a:endParaRPr kumimoji="1" lang="ko-KR" altLang="en-US" sz="900" b="1" dirty="0">
              <a:solidFill>
                <a:srgbClr val="0066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AD7FD3-181F-D0BD-5F17-AC3749C7F9D7}"/>
              </a:ext>
            </a:extLst>
          </p:cNvPr>
          <p:cNvSpPr txBox="1"/>
          <p:nvPr/>
        </p:nvSpPr>
        <p:spPr>
          <a:xfrm>
            <a:off x="494188" y="3986211"/>
            <a:ext cx="1199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fontAlgn="base" latinLnBrk="0">
              <a:spcAft>
                <a:spcPct val="0"/>
              </a:spcAft>
            </a:pPr>
            <a:r>
              <a:rPr kumimoji="1" lang="en-US" altLang="ko-KR" sz="9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“</a:t>
            </a:r>
            <a:r>
              <a:rPr kumimoji="1" lang="ko-KR" altLang="en-US" sz="9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회사주도 노경관계</a:t>
            </a:r>
            <a:r>
              <a:rPr kumimoji="1" lang="en-US" altLang="ko-KR" sz="9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”</a:t>
            </a:r>
            <a:endParaRPr kumimoji="1" lang="ko-KR" altLang="en-US" sz="900" b="1" dirty="0">
              <a:solidFill>
                <a:srgbClr val="0066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DE99AB-4752-A8E5-F7D1-295AA721249F}"/>
              </a:ext>
            </a:extLst>
          </p:cNvPr>
          <p:cNvSpPr txBox="1"/>
          <p:nvPr/>
        </p:nvSpPr>
        <p:spPr>
          <a:xfrm>
            <a:off x="494188" y="5498942"/>
            <a:ext cx="1199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fontAlgn="base" latinLnBrk="0">
              <a:spcAft>
                <a:spcPct val="0"/>
              </a:spcAft>
            </a:pPr>
            <a:r>
              <a:rPr kumimoji="1" lang="en-US" altLang="ko-KR" sz="9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“</a:t>
            </a:r>
            <a:r>
              <a:rPr kumimoji="1" lang="ko-KR" altLang="en-US" sz="9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현장중심 노경관리</a:t>
            </a:r>
            <a:r>
              <a:rPr kumimoji="1" lang="en-US" altLang="ko-KR" sz="9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”</a:t>
            </a:r>
            <a:endParaRPr kumimoji="1" lang="ko-KR" altLang="en-US" sz="900" b="1" dirty="0">
              <a:solidFill>
                <a:srgbClr val="0066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0039BC-3B7F-BBC4-A8E7-3A339309A26C}"/>
              </a:ext>
            </a:extLst>
          </p:cNvPr>
          <p:cNvSpPr txBox="1"/>
          <p:nvPr/>
        </p:nvSpPr>
        <p:spPr>
          <a:xfrm>
            <a:off x="343187" y="607446"/>
            <a:ext cx="8986581" cy="58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lvl="0">
              <a:lnSpc>
                <a:spcPct val="120000"/>
              </a:lnSpc>
              <a:spcBef>
                <a:spcPct val="20000"/>
              </a:spcBef>
              <a:defRPr sz="1400" b="1" spc="-5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charset="0"/>
              </a:defRPr>
            </a:lvl1pPr>
          </a:lstStyle>
          <a:p>
            <a:pPr marL="0" marR="0" lvl="0" indent="0" defTabSz="45720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세력확산 방지를 통한 소수노동조합 포지셔닝을 위해 구성원과의 소통을 강화하고</a:t>
            </a:r>
            <a:r>
              <a:rPr kumimoji="0" lang="en-US" altLang="ko-KR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, </a:t>
            </a: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현장중심의 노경관리 체계를 정비하여 </a:t>
            </a:r>
            <a:br>
              <a:rPr kumimoji="0" lang="en-US" altLang="ko-KR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</a:b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구성원과의 신뢰관계를 </a:t>
            </a:r>
            <a:r>
              <a:rPr kumimoji="0" lang="ko-KR" altLang="en-US" sz="1400" b="1" i="0" u="none" strike="noStrike" kern="0" cap="none" spc="-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강화토록</a:t>
            </a: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 함</a:t>
            </a:r>
            <a:r>
              <a:rPr kumimoji="0" lang="en-US" altLang="ko-KR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.</a:t>
            </a: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 단</a:t>
            </a:r>
            <a:r>
              <a:rPr kumimoji="0" lang="en-US" altLang="ko-KR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,</a:t>
            </a: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 기본과 원칙준수를 기반으로 초기 노경관계의 주도권을 확보하여</a:t>
            </a:r>
            <a:r>
              <a:rPr kumimoji="0" lang="en-US" altLang="ko-KR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 </a:t>
            </a: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협력적 노경관계를 마련</a:t>
            </a:r>
          </a:p>
        </p:txBody>
      </p:sp>
    </p:spTree>
    <p:extLst>
      <p:ext uri="{BB962C8B-B14F-4D97-AF65-F5344CB8AC3E}">
        <p14:creationId xmlns:p14="http://schemas.microsoft.com/office/powerpoint/2010/main" val="6891504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40E2B5-05B7-EC1F-17EF-573A1E720A90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RMB </a:t>
            </a:r>
            <a:r>
              <a:rPr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제도 배경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실행 단추: 홈 45">
            <a:hlinkClick r:id="rId2" action="ppaction://hlinksldjump"/>
            <a:extLst>
              <a:ext uri="{FF2B5EF4-FFF2-40B4-BE49-F238E27FC236}">
                <a16:creationId xmlns:a16="http://schemas.microsoft.com/office/drawing/2014/main" id="{3B7D1C42-FAF5-F1B7-4CCE-EFD63953CF1C}"/>
              </a:ext>
            </a:extLst>
          </p:cNvPr>
          <p:cNvSpPr/>
          <p:nvPr/>
        </p:nvSpPr>
        <p:spPr>
          <a:xfrm>
            <a:off x="9237062" y="107566"/>
            <a:ext cx="360000" cy="360000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42EA32C4-0B7C-67E5-F4AB-E3166C165F96}"/>
              </a:ext>
            </a:extLst>
          </p:cNvPr>
          <p:cNvSpPr/>
          <p:nvPr/>
        </p:nvSpPr>
        <p:spPr>
          <a:xfrm>
            <a:off x="2226097" y="3905616"/>
            <a:ext cx="3340985" cy="2223721"/>
          </a:xfrm>
          <a:prstGeom prst="roundRect">
            <a:avLst>
              <a:gd name="adj" fmla="val 4295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DC6E1A-D405-26FB-38C6-83CDADF4F7DC}"/>
              </a:ext>
            </a:extLst>
          </p:cNvPr>
          <p:cNvSpPr txBox="1"/>
          <p:nvPr/>
        </p:nvSpPr>
        <p:spPr>
          <a:xfrm>
            <a:off x="343187" y="714365"/>
            <a:ext cx="9072740" cy="3306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lvl="0">
              <a:lnSpc>
                <a:spcPct val="120000"/>
              </a:lnSpc>
              <a:spcBef>
                <a:spcPct val="20000"/>
              </a:spcBef>
              <a:defRPr sz="1400" b="1" spc="-5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charset="0"/>
              </a:defRPr>
            </a:lvl1pPr>
          </a:lstStyle>
          <a:p>
            <a:pPr marL="0" marR="0" lvl="0" indent="0" defTabSz="45720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고령 인력의 </a:t>
            </a:r>
            <a:r>
              <a:rPr kumimoji="0" lang="en-US" altLang="ko-KR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2</a:t>
            </a:r>
            <a:r>
              <a:rPr kumimoji="0" lang="en-US" altLang="ko-KR" sz="1400" b="1" i="0" u="none" strike="noStrike" kern="0" cap="none" spc="-5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nd </a:t>
            </a:r>
            <a:r>
              <a:rPr kumimoji="0" lang="en-US" altLang="ko-KR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- Life </a:t>
            </a: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지원 제도를 통해 구성원에게는 퇴직 후 안정적인 노후 설계를 지원하고</a:t>
            </a:r>
            <a:r>
              <a:rPr kumimoji="0" lang="en-US" altLang="ko-KR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, </a:t>
            </a: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조직의 인력 순환은 촉진시키고자 합니다</a:t>
            </a:r>
            <a:r>
              <a:rPr kumimoji="0" lang="en-US" altLang="ko-KR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28BF3C-DE06-9FAE-8E44-F012D06FC546}"/>
              </a:ext>
            </a:extLst>
          </p:cNvPr>
          <p:cNvSpPr txBox="1"/>
          <p:nvPr/>
        </p:nvSpPr>
        <p:spPr>
          <a:xfrm>
            <a:off x="2071595" y="1638942"/>
            <a:ext cx="7453406" cy="1187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defTabSz="457200" latinLnBrk="0">
              <a:lnSpc>
                <a:spcPct val="12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§"/>
            </a:pP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정년연장 법제화 논의가 본격화 되고 있음에 따라</a:t>
            </a: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, </a:t>
            </a: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고령 인력에 대한  지속가능한 인력 운영이 중요한 과제로 대두</a:t>
            </a:r>
            <a:endParaRPr lang="en-US" altLang="ko-KR" sz="1300" b="1" spc="-5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marL="182563" indent="-182563" defTabSz="457200" latinLnBrk="0">
              <a:lnSpc>
                <a:spcPct val="12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§"/>
            </a:pP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고령 인력 대상 </a:t>
            </a: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2</a:t>
            </a:r>
            <a:r>
              <a:rPr lang="en-US" altLang="ko-KR" sz="1300" b="1" spc="-50" baseline="30000" dirty="0">
                <a:solidFill>
                  <a:prstClr val="black"/>
                </a:solidFill>
                <a:latin typeface="Arial Narrow"/>
                <a:ea typeface="LG스마트체 Regular"/>
              </a:rPr>
              <a:t>nd </a:t>
            </a: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– Life</a:t>
            </a: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를 설계할 수 있는 지원 프로그램을 도입하여</a:t>
            </a: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, </a:t>
            </a: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구성원에게는 자발적 퇴직을 고려할 수 있는 합리적인 출구 옵션을 제공하고 조직은 인력 순환을 도모하고자 함</a:t>
            </a:r>
            <a:endParaRPr lang="en-US" altLang="ko-KR" sz="1300" b="1" spc="-5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defTabSz="457200" latinLnBrk="0">
              <a:lnSpc>
                <a:spcPct val="120000"/>
              </a:lnSpc>
              <a:spcBef>
                <a:spcPts val="600"/>
              </a:spcBef>
              <a:buSzPct val="80000"/>
            </a:pP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                   </a:t>
            </a:r>
            <a:r>
              <a:rPr lang="ko-KR" altLang="en-US" sz="1300" b="1" u="sng" spc="-50" dirty="0">
                <a:solidFill>
                  <a:prstClr val="black"/>
                </a:solidFill>
                <a:latin typeface="Arial Narrow"/>
                <a:ea typeface="LG스마트체 Regular"/>
              </a:rPr>
              <a:t>고령자 고용 관련 사회적 요구에 부합하면서</a:t>
            </a:r>
            <a:r>
              <a:rPr lang="en-US" altLang="ko-KR" sz="1300" b="1" u="sng" spc="-50" dirty="0">
                <a:solidFill>
                  <a:prstClr val="black"/>
                </a:solidFill>
                <a:latin typeface="Arial Narrow"/>
                <a:ea typeface="LG스마트체 Regular"/>
              </a:rPr>
              <a:t>, </a:t>
            </a:r>
            <a:r>
              <a:rPr lang="ko-KR" altLang="en-US" sz="1300" b="1" u="sng" spc="-50" dirty="0">
                <a:solidFill>
                  <a:prstClr val="black"/>
                </a:solidFill>
                <a:latin typeface="Arial Narrow"/>
                <a:ea typeface="LG스마트체 Regular"/>
              </a:rPr>
              <a:t>인력</a:t>
            </a:r>
            <a:r>
              <a:rPr lang="en-US" altLang="ko-KR" sz="1300" b="1" u="sng" spc="-5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1300" b="1" u="sng" spc="-50" dirty="0">
                <a:solidFill>
                  <a:prstClr val="black"/>
                </a:solidFill>
                <a:latin typeface="Arial Narrow"/>
                <a:ea typeface="LG스마트체 Regular"/>
              </a:rPr>
              <a:t>선순환과 법적 리스크 최소화를 동시에 달성</a:t>
            </a:r>
            <a:endParaRPr lang="en-US" altLang="ko-KR" sz="1300" b="1" u="sng" spc="-5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graphicFrame>
        <p:nvGraphicFramePr>
          <p:cNvPr id="38" name="차트 37">
            <a:extLst>
              <a:ext uri="{FF2B5EF4-FFF2-40B4-BE49-F238E27FC236}">
                <a16:creationId xmlns:a16="http://schemas.microsoft.com/office/drawing/2014/main" id="{06646D6F-3C58-7B1E-8A44-906F9A3917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4376120"/>
              </p:ext>
            </p:extLst>
          </p:nvPr>
        </p:nvGraphicFramePr>
        <p:xfrm>
          <a:off x="2351603" y="4407242"/>
          <a:ext cx="3128682" cy="1623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9" name="그룹 38">
            <a:extLst>
              <a:ext uri="{FF2B5EF4-FFF2-40B4-BE49-F238E27FC236}">
                <a16:creationId xmlns:a16="http://schemas.microsoft.com/office/drawing/2014/main" id="{050C3671-90CB-6FAF-E9E9-6517A1195AA5}"/>
              </a:ext>
            </a:extLst>
          </p:cNvPr>
          <p:cNvGrpSpPr/>
          <p:nvPr/>
        </p:nvGrpSpPr>
        <p:grpSpPr>
          <a:xfrm>
            <a:off x="2343947" y="4172249"/>
            <a:ext cx="721657" cy="654689"/>
            <a:chOff x="1011908" y="2695693"/>
            <a:chExt cx="673469" cy="756572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1CE2C03F-5A3B-99C8-8515-E01EFBAFB4C1}"/>
                </a:ext>
              </a:extLst>
            </p:cNvPr>
            <p:cNvSpPr/>
            <p:nvPr/>
          </p:nvSpPr>
          <p:spPr>
            <a:xfrm>
              <a:off x="1136229" y="3224658"/>
              <a:ext cx="424826" cy="227607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현 장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0693D4EF-95A1-2751-B7C7-3ABDAE1F3FEB}"/>
                </a:ext>
              </a:extLst>
            </p:cNvPr>
            <p:cNvSpPr/>
            <p:nvPr/>
          </p:nvSpPr>
          <p:spPr>
            <a:xfrm>
              <a:off x="1136229" y="2946288"/>
              <a:ext cx="424826" cy="227607"/>
            </a:xfrm>
            <a:prstGeom prst="rect">
              <a:avLst/>
            </a:prstGeom>
            <a:solidFill>
              <a:sysClr val="window" lastClr="FFFFFF">
                <a:lumMod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사 무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9006F579-3558-467D-A5AE-675C933B9C38}"/>
                </a:ext>
              </a:extLst>
            </p:cNvPr>
            <p:cNvSpPr/>
            <p:nvPr/>
          </p:nvSpPr>
          <p:spPr>
            <a:xfrm>
              <a:off x="1011908" y="2695693"/>
              <a:ext cx="67346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1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총원 </a:t>
              </a:r>
              <a:r>
                <a:rPr kumimoji="1" lang="en-US" altLang="ko-KR" sz="1000" b="1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(</a:t>
              </a:r>
              <a:r>
                <a:rPr kumimoji="1" lang="ko-KR" altLang="en-US" sz="1000" b="1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명</a:t>
              </a:r>
              <a:r>
                <a:rPr kumimoji="1" lang="en-US" altLang="ko-KR" sz="1000" b="1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)</a:t>
              </a:r>
              <a:r>
                <a:rPr kumimoji="1" lang="ko-KR" altLang="en-US" sz="1000" b="1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 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4B0B54E-A577-4BB5-26FE-83FECA944AD5}"/>
              </a:ext>
            </a:extLst>
          </p:cNvPr>
          <p:cNvSpPr txBox="1"/>
          <p:nvPr/>
        </p:nvSpPr>
        <p:spPr>
          <a:xfrm>
            <a:off x="2092660" y="3073084"/>
            <a:ext cx="7453406" cy="626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defTabSz="457200" latinLnBrk="0">
              <a:lnSpc>
                <a:spcPct val="12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§"/>
            </a:pP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’26</a:t>
            </a: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년 기준 자사의 만 </a:t>
            </a: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50</a:t>
            </a: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세 이상 구성원은  </a:t>
            </a: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960</a:t>
            </a: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명 수준이나</a:t>
            </a: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, </a:t>
            </a: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연평균 </a:t>
            </a: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253</a:t>
            </a: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명이 증가하여 </a:t>
            </a: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’30</a:t>
            </a: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년에는 </a:t>
            </a: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1,972</a:t>
            </a: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명 수준에 도달</a:t>
            </a:r>
            <a:endParaRPr lang="en-US" altLang="ko-KR" sz="1300" b="1" spc="-5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marL="182563" indent="-182563" defTabSz="457200" latinLnBrk="0">
              <a:lnSpc>
                <a:spcPct val="12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§"/>
            </a:pP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’26</a:t>
            </a: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년 기준</a:t>
            </a: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만 </a:t>
            </a: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50</a:t>
            </a: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세 이상 구성원의 평균 기본급은 </a:t>
            </a: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529</a:t>
            </a: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만원 수준으로</a:t>
            </a: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, </a:t>
            </a: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고정 연봉은 평균 </a:t>
            </a: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1</a:t>
            </a: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억 </a:t>
            </a: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586</a:t>
            </a: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만원 수준에 해당</a:t>
            </a:r>
            <a:endParaRPr lang="en-US" altLang="ko-KR" sz="1300" b="1" spc="-50" dirty="0">
              <a:solidFill>
                <a:prstClr val="black"/>
              </a:solidFill>
              <a:latin typeface="Arial Narrow"/>
              <a:ea typeface="LG스마트체 Regular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FF8F2F57-B27E-5889-ACF7-A7EFC9D63AD0}"/>
              </a:ext>
            </a:extLst>
          </p:cNvPr>
          <p:cNvSpPr/>
          <p:nvPr/>
        </p:nvSpPr>
        <p:spPr>
          <a:xfrm>
            <a:off x="5819363" y="3935506"/>
            <a:ext cx="3340985" cy="2193830"/>
          </a:xfrm>
          <a:prstGeom prst="roundRect">
            <a:avLst>
              <a:gd name="adj" fmla="val 4295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EFC1CEEF-5DA4-7F0D-A6C2-183F32CC9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313622"/>
              </p:ext>
            </p:extLst>
          </p:nvPr>
        </p:nvGraphicFramePr>
        <p:xfrm>
          <a:off x="5966603" y="4665594"/>
          <a:ext cx="3046504" cy="1097280"/>
        </p:xfrm>
        <a:graphic>
          <a:graphicData uri="http://schemas.openxmlformats.org/drawingml/2006/table">
            <a:tbl>
              <a:tblPr firstRow="1" bandRow="1"/>
              <a:tblGrid>
                <a:gridCol w="518458">
                  <a:extLst>
                    <a:ext uri="{9D8B030D-6E8A-4147-A177-3AD203B41FA5}">
                      <a16:colId xmlns:a16="http://schemas.microsoft.com/office/drawing/2014/main" val="2679407671"/>
                    </a:ext>
                  </a:extLst>
                </a:gridCol>
                <a:gridCol w="842682">
                  <a:extLst>
                    <a:ext uri="{9D8B030D-6E8A-4147-A177-3AD203B41FA5}">
                      <a16:colId xmlns:a16="http://schemas.microsoft.com/office/drawing/2014/main" val="2977050602"/>
                    </a:ext>
                  </a:extLst>
                </a:gridCol>
                <a:gridCol w="842682">
                  <a:extLst>
                    <a:ext uri="{9D8B030D-6E8A-4147-A177-3AD203B41FA5}">
                      <a16:colId xmlns:a16="http://schemas.microsoft.com/office/drawing/2014/main" val="2752165267"/>
                    </a:ext>
                  </a:extLst>
                </a:gridCol>
                <a:gridCol w="842682">
                  <a:extLst>
                    <a:ext uri="{9D8B030D-6E8A-4147-A177-3AD203B41FA5}">
                      <a16:colId xmlns:a16="http://schemas.microsoft.com/office/drawing/2014/main" val="325879900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직 군</a:t>
                      </a:r>
                    </a:p>
                  </a:txBody>
                  <a:tcPr marL="45720" marR="45720" anchor="ctr">
                    <a:lnL w="12700" cmpd="sng">
                      <a:solidFill>
                        <a:sysClr val="window" lastClr="FFFFFF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인원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기본급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고정연봉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73111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사 무</a:t>
                      </a:r>
                    </a:p>
                  </a:txBody>
                  <a:tcPr marL="45720" marR="45720" anchor="ctr">
                    <a:lnL w="12700" cmpd="sng">
                      <a:solidFill>
                        <a:sysClr val="window" lastClr="FFFFFF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716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명 </a:t>
                      </a:r>
                      <a:r>
                        <a:rPr lang="en-US" altLang="ko-KR" sz="9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</a:rPr>
                        <a:t>74.6%</a:t>
                      </a:r>
                      <a:endParaRPr lang="ko-KR" altLang="en-US" sz="9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565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만원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11,295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만원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220869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현 장</a:t>
                      </a:r>
                    </a:p>
                  </a:txBody>
                  <a:tcPr marL="45720" marR="45720" anchor="ctr">
                    <a:lnL w="12700" cmpd="sng">
                      <a:solidFill>
                        <a:sysClr val="window" lastClr="FFFFFF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244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명 </a:t>
                      </a:r>
                      <a:r>
                        <a:rPr lang="en-US" altLang="ko-KR" sz="9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</a:rPr>
                        <a:t>25.4%</a:t>
                      </a:r>
                      <a:endParaRPr lang="ko-KR" altLang="en-US" sz="9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425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만원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8,508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만원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54695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합 계</a:t>
                      </a:r>
                    </a:p>
                  </a:txBody>
                  <a:tcPr marL="45720" marR="45720" anchor="ctr">
                    <a:lnL w="12700" cmpd="sng">
                      <a:solidFill>
                        <a:sysClr val="window" lastClr="FFFFFF"/>
                      </a:solidFill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960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명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529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만원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10,586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만원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056508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4D6DA5D1-E15F-CEC5-247A-82B2B3AE9499}"/>
              </a:ext>
            </a:extLst>
          </p:cNvPr>
          <p:cNvSpPr txBox="1"/>
          <p:nvPr/>
        </p:nvSpPr>
        <p:spPr>
          <a:xfrm>
            <a:off x="6594775" y="3981478"/>
            <a:ext cx="1790159" cy="313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>
              <a:lnSpc>
                <a:spcPct val="120000"/>
              </a:lnSpc>
              <a:spcBef>
                <a:spcPts val="600"/>
              </a:spcBef>
              <a:buSzPct val="80000"/>
            </a:pP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[ </a:t>
            </a: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만</a:t>
            </a: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 50</a:t>
            </a: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세 이상 임금 수준 </a:t>
            </a: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]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401817-192F-6DD1-8227-612C4CE6EB00}"/>
              </a:ext>
            </a:extLst>
          </p:cNvPr>
          <p:cNvSpPr txBox="1"/>
          <p:nvPr/>
        </p:nvSpPr>
        <p:spPr>
          <a:xfrm>
            <a:off x="3035938" y="3981478"/>
            <a:ext cx="1760011" cy="313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>
              <a:lnSpc>
                <a:spcPct val="120000"/>
              </a:lnSpc>
              <a:spcBef>
                <a:spcPts val="600"/>
              </a:spcBef>
              <a:buSzPct val="80000"/>
            </a:pP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[ </a:t>
            </a: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만 </a:t>
            </a: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50</a:t>
            </a: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세 이상 인력 추계 </a:t>
            </a: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]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8B066CE-D4B9-33D5-9406-A826E189E31B}"/>
              </a:ext>
            </a:extLst>
          </p:cNvPr>
          <p:cNvSpPr/>
          <p:nvPr/>
        </p:nvSpPr>
        <p:spPr>
          <a:xfrm>
            <a:off x="5930823" y="5810043"/>
            <a:ext cx="130997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latinLnBrk="0"/>
            <a:r>
              <a:rPr lang="en-US" altLang="ko-KR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’26.1</a:t>
            </a:r>
            <a:r>
              <a:rPr lang="ko-KR" altLang="en-US" sz="90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급여  기준 기본급</a:t>
            </a:r>
          </a:p>
        </p:txBody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B0A3EC78-ECF1-3577-2729-41A1CC3F62D0}"/>
              </a:ext>
            </a:extLst>
          </p:cNvPr>
          <p:cNvSpPr/>
          <p:nvPr/>
        </p:nvSpPr>
        <p:spPr>
          <a:xfrm>
            <a:off x="2368343" y="2510036"/>
            <a:ext cx="336431" cy="298673"/>
          </a:xfrm>
          <a:prstGeom prst="rightArrow">
            <a:avLst/>
          </a:prstGeom>
          <a:gradFill flip="none" rotWithShape="1">
            <a:gsLst>
              <a:gs pos="0">
                <a:srgbClr val="A5A5A5">
                  <a:lumMod val="5000"/>
                  <a:lumOff val="95000"/>
                </a:srgbClr>
              </a:gs>
              <a:gs pos="74000">
                <a:srgbClr val="A5A5A5">
                  <a:lumMod val="45000"/>
                  <a:lumOff val="55000"/>
                </a:srgbClr>
              </a:gs>
              <a:gs pos="83000">
                <a:srgbClr val="A5A5A5">
                  <a:lumMod val="45000"/>
                  <a:lumOff val="55000"/>
                </a:srgbClr>
              </a:gs>
              <a:gs pos="100000">
                <a:srgbClr val="A5A5A5">
                  <a:lumMod val="30000"/>
                  <a:lumOff val="70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223D9143-5165-02EF-7B8B-62D3C0659DC6}"/>
              </a:ext>
            </a:extLst>
          </p:cNvPr>
          <p:cNvGrpSpPr/>
          <p:nvPr/>
        </p:nvGrpSpPr>
        <p:grpSpPr>
          <a:xfrm>
            <a:off x="608563" y="1628775"/>
            <a:ext cx="1225850" cy="639296"/>
            <a:chOff x="-1036575" y="3881521"/>
            <a:chExt cx="1036575" cy="568575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6DF9F092-9FF7-B5E5-9F06-5A9FDD76EB4E}"/>
                </a:ext>
              </a:extLst>
            </p:cNvPr>
            <p:cNvSpPr/>
            <p:nvPr/>
          </p:nvSpPr>
          <p:spPr bwMode="auto">
            <a:xfrm>
              <a:off x="-1008000" y="3910096"/>
              <a:ext cx="1008000" cy="540000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3D4117B0-DFB4-BA3C-70E5-69F3DF44F050}"/>
                </a:ext>
              </a:extLst>
            </p:cNvPr>
            <p:cNvSpPr/>
            <p:nvPr/>
          </p:nvSpPr>
          <p:spPr bwMode="auto">
            <a:xfrm>
              <a:off x="-1036575" y="3881521"/>
              <a:ext cx="1008000" cy="54000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검토 배경</a:t>
              </a: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D32F38D6-8A84-7A3F-62D7-67F5B8549CD0}"/>
              </a:ext>
            </a:extLst>
          </p:cNvPr>
          <p:cNvGrpSpPr/>
          <p:nvPr/>
        </p:nvGrpSpPr>
        <p:grpSpPr>
          <a:xfrm>
            <a:off x="608563" y="3043047"/>
            <a:ext cx="1225850" cy="639296"/>
            <a:chOff x="-1036575" y="3881521"/>
            <a:chExt cx="1036575" cy="568575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686D8C40-C710-74FA-D091-3A8828DEA8C7}"/>
                </a:ext>
              </a:extLst>
            </p:cNvPr>
            <p:cNvSpPr/>
            <p:nvPr/>
          </p:nvSpPr>
          <p:spPr bwMode="auto">
            <a:xfrm>
              <a:off x="-1008000" y="3910096"/>
              <a:ext cx="1008000" cy="540000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CBC0FAD0-C27C-9B0B-8735-9A393469D08A}"/>
                </a:ext>
              </a:extLst>
            </p:cNvPr>
            <p:cNvSpPr/>
            <p:nvPr/>
          </p:nvSpPr>
          <p:spPr bwMode="auto">
            <a:xfrm>
              <a:off x="-1036575" y="3881521"/>
              <a:ext cx="1008000" cy="54000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고령인력 현황</a:t>
              </a:r>
            </a:p>
          </p:txBody>
        </p:sp>
      </p:grp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FE7E470B-D01E-2F6D-236A-B0E9B935F533}"/>
              </a:ext>
            </a:extLst>
          </p:cNvPr>
          <p:cNvCxnSpPr/>
          <p:nvPr/>
        </p:nvCxnSpPr>
        <p:spPr bwMode="auto">
          <a:xfrm>
            <a:off x="2039363" y="2949994"/>
            <a:ext cx="7560000" cy="0"/>
          </a:xfrm>
          <a:prstGeom prst="line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0304758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40E2B5-05B7-EC1F-17EF-573A1E720A90}"/>
              </a:ext>
            </a:extLst>
          </p:cNvPr>
          <p:cNvSpPr txBox="1"/>
          <p:nvPr/>
        </p:nvSpPr>
        <p:spPr>
          <a:xfrm>
            <a:off x="202841" y="15029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RMB </a:t>
            </a:r>
            <a:r>
              <a:rPr lang="ko-KR" altLang="en-US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제도 개요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실행 단추: 홈 45">
            <a:hlinkClick r:id="rId2" action="ppaction://hlinksldjump"/>
            <a:extLst>
              <a:ext uri="{FF2B5EF4-FFF2-40B4-BE49-F238E27FC236}">
                <a16:creationId xmlns:a16="http://schemas.microsoft.com/office/drawing/2014/main" id="{3B7D1C42-FAF5-F1B7-4CCE-EFD63953CF1C}"/>
              </a:ext>
            </a:extLst>
          </p:cNvPr>
          <p:cNvSpPr/>
          <p:nvPr/>
        </p:nvSpPr>
        <p:spPr>
          <a:xfrm>
            <a:off x="9237062" y="107566"/>
            <a:ext cx="360000" cy="360000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93E165-61B6-79DB-642F-DC48EFD17596}"/>
              </a:ext>
            </a:extLst>
          </p:cNvPr>
          <p:cNvSpPr txBox="1"/>
          <p:nvPr/>
        </p:nvSpPr>
        <p:spPr>
          <a:xfrm>
            <a:off x="343187" y="714365"/>
            <a:ext cx="9182322" cy="5843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lvl="0">
              <a:lnSpc>
                <a:spcPct val="120000"/>
              </a:lnSpc>
              <a:spcBef>
                <a:spcPct val="20000"/>
              </a:spcBef>
              <a:defRPr sz="1400" b="1" spc="-50">
                <a:solidFill>
                  <a:srgbClr val="000000"/>
                </a:solidFill>
                <a:latin typeface="Arial Narrow" pitchFamily="34" charset="0"/>
                <a:ea typeface="LG스마트체 Regular" pitchFamily="50" charset="-127"/>
                <a:cs typeface="Arial" charset="0"/>
              </a:defRPr>
            </a:lvl1pPr>
          </a:lstStyle>
          <a:p>
            <a:pPr marL="0" marR="0" lvl="0" indent="0" defTabSz="45720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근로시간을 단축하여 제</a:t>
            </a:r>
            <a:r>
              <a:rPr kumimoji="0" lang="en-US" altLang="ko-KR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2</a:t>
            </a: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의 인생을 설계</a:t>
            </a:r>
            <a:r>
              <a:rPr kumimoji="0" lang="en-US" altLang="ko-KR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 </a:t>
            </a: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할 시간과 기회를 부여하고</a:t>
            </a:r>
            <a:r>
              <a:rPr kumimoji="0" lang="en-US" altLang="ko-KR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, </a:t>
            </a: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단축한 근로시간 만큼 축소된 급여는 활동비로 보존하여  자발적이고</a:t>
            </a:r>
            <a:br>
              <a:rPr kumimoji="0" lang="en-US" altLang="ko-KR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</a:b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단계적인 퇴직을 지원합니다</a:t>
            </a:r>
            <a:r>
              <a:rPr kumimoji="0" lang="en-US" altLang="ko-KR" sz="1400" b="1" i="0" u="none" strike="noStrike" kern="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charset="0"/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D7670C-F067-BB9C-ED8D-A64A9C0D16DC}"/>
              </a:ext>
            </a:extLst>
          </p:cNvPr>
          <p:cNvSpPr txBox="1"/>
          <p:nvPr/>
        </p:nvSpPr>
        <p:spPr>
          <a:xfrm>
            <a:off x="2071595" y="1638942"/>
            <a:ext cx="7453406" cy="630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defTabSz="457200" latinLnBrk="0">
              <a:lnSpc>
                <a:spcPct val="12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§"/>
            </a:pP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대상자 </a:t>
            </a: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: </a:t>
            </a: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만 </a:t>
            </a: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50</a:t>
            </a: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세 이상 희망자 중 선정</a:t>
            </a:r>
            <a:endParaRPr lang="en-US" altLang="ko-KR" sz="1300" b="1" spc="-50" dirty="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marL="182563" indent="-182563" defTabSz="457200" latinLnBrk="0">
              <a:lnSpc>
                <a:spcPct val="12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§"/>
            </a:pP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운영 기간 </a:t>
            </a: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: 6</a:t>
            </a:r>
            <a:r>
              <a:rPr lang="ko-KR" altLang="en-US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개월 </a:t>
            </a:r>
            <a:r>
              <a:rPr lang="en-US" altLang="ko-KR" sz="1300" b="1" spc="-50" dirty="0">
                <a:solidFill>
                  <a:prstClr val="black"/>
                </a:solidFill>
                <a:latin typeface="Arial Narrow"/>
                <a:ea typeface="LG스마트체 Regular"/>
              </a:rPr>
              <a:t>(’26.6.21 ~ ’26.12.20)  </a:t>
            </a:r>
            <a:r>
              <a:rPr lang="en-US" altLang="ko-KR" sz="900" b="1" spc="-50" dirty="0">
                <a:solidFill>
                  <a:srgbClr val="006600"/>
                </a:solidFill>
                <a:latin typeface="Arial Narrow"/>
                <a:ea typeface="LG스마트체 Regular"/>
              </a:rPr>
              <a:t>’26</a:t>
            </a:r>
            <a:r>
              <a:rPr lang="ko-KR" altLang="en-US" sz="900" b="1" spc="-50" dirty="0">
                <a:solidFill>
                  <a:srgbClr val="006600"/>
                </a:solidFill>
                <a:latin typeface="Arial Narrow"/>
                <a:ea typeface="LG스마트체 Regular"/>
              </a:rPr>
              <a:t>년 근태 종료일 퇴직</a:t>
            </a:r>
            <a:endParaRPr lang="en-US" altLang="ko-KR" sz="900" b="1" spc="-50" dirty="0">
              <a:solidFill>
                <a:srgbClr val="006600"/>
              </a:solidFill>
              <a:latin typeface="Arial Narrow"/>
              <a:ea typeface="LG스마트체 Regular"/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0855D2F4-7FC9-5EFD-EA5A-2CFD5F400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227761"/>
              </p:ext>
            </p:extLst>
          </p:nvPr>
        </p:nvGraphicFramePr>
        <p:xfrm>
          <a:off x="2071595" y="3361765"/>
          <a:ext cx="7489919" cy="2767571"/>
        </p:xfrm>
        <a:graphic>
          <a:graphicData uri="http://schemas.openxmlformats.org/drawingml/2006/table">
            <a:tbl>
              <a:tblPr firstRow="1" bandRow="1"/>
              <a:tblGrid>
                <a:gridCol w="674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2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9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6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6145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구 분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금 액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420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근로시간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11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latinLnBrk="0"/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정규 근로시간의 </a:t>
                      </a: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50%</a:t>
                      </a: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근무 </a:t>
                      </a: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 </a:t>
                      </a: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</a:t>
                      </a: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시간</a:t>
                      </a: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300" kern="120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0"/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  <a:endParaRPr lang="ko-KR" altLang="en-US" sz="1300" kern="120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 단위</a:t>
                      </a: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단위 설계가능</a:t>
                      </a:r>
                      <a:endParaRPr lang="en-US" altLang="ko-KR" sz="1300" kern="120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42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임금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급여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근무시간 비례 지급</a:t>
                      </a:r>
                      <a:endParaRPr lang="en-US" altLang="ko-KR" sz="1300" kern="120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급</a:t>
                      </a: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상여 </a:t>
                      </a: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50%</a:t>
                      </a:r>
                      <a:endParaRPr lang="ko-KR" altLang="en-US" sz="1300" kern="120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명절상여 </a:t>
                      </a: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100% </a:t>
                      </a: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지급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067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교육</a:t>
                      </a:r>
                      <a:endParaRPr lang="en-US" altLang="ko-KR" sz="1300" kern="120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ctr" latinLnBrk="0"/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지원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활동비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교육 참여 및 준비 위한 활동 지원비</a:t>
                      </a: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(</a:t>
                      </a: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정액</a:t>
                      </a: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0"/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300</a:t>
                      </a: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만</a:t>
                      </a: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0"/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</a:t>
                      </a: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개월 과정 신청 시</a:t>
                      </a:r>
                      <a:endParaRPr lang="en-US" altLang="ko-KR" sz="1300" kern="120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ctr" latinLnBrk="0"/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300" kern="1200" spc="-50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개월분</a:t>
                      </a: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활동비</a:t>
                      </a: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교육비</a:t>
                      </a:r>
                      <a:b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추가 지원</a:t>
                      </a:r>
                      <a:endParaRPr lang="en-US" altLang="ko-KR" sz="1300" kern="120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067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교육비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창업</a:t>
                      </a: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재취업 위한 교육 비용 </a:t>
                      </a: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실비</a:t>
                      </a: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0"/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150</a:t>
                      </a: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만</a:t>
                      </a: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032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퇴직</a:t>
                      </a:r>
                      <a:endParaRPr lang="en-US" altLang="ko-KR" sz="1300" kern="120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ctr" latinLnBrk="0"/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지원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창업지원금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창업</a:t>
                      </a: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재취업에 대한 지원금</a:t>
                      </a:r>
                      <a:endParaRPr lang="en-US" altLang="ko-KR" sz="1300" kern="120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사무 </a:t>
                      </a: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 </a:t>
                      </a: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지수</a:t>
                      </a:r>
                      <a:endParaRPr lang="en-US" altLang="ko-KR" sz="1300" kern="1200" spc="-5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ctr" latinLnBrk="0"/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기능 </a:t>
                      </a: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45 </a:t>
                      </a: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지수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420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학자금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중학 </a:t>
                      </a: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500</a:t>
                      </a: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만</a:t>
                      </a: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고등 </a:t>
                      </a: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700</a:t>
                      </a: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만</a:t>
                      </a: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대학 잔여학기 </a:t>
                      </a: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(4</a:t>
                      </a:r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학기 한도</a:t>
                      </a:r>
                      <a:r>
                        <a:rPr lang="en-US" altLang="ko-KR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11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300" kern="1200" spc="-5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해당자에 한하여 지급</a:t>
                      </a: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" name="화살표: 오각형 30">
            <a:extLst>
              <a:ext uri="{FF2B5EF4-FFF2-40B4-BE49-F238E27FC236}">
                <a16:creationId xmlns:a16="http://schemas.microsoft.com/office/drawing/2014/main" id="{24A20D90-9541-6FE8-F7AF-BE3EF11AD8C3}"/>
              </a:ext>
            </a:extLst>
          </p:cNvPr>
          <p:cNvSpPr/>
          <p:nvPr/>
        </p:nvSpPr>
        <p:spPr bwMode="auto">
          <a:xfrm>
            <a:off x="3766497" y="2409053"/>
            <a:ext cx="1327385" cy="504000"/>
          </a:xfrm>
          <a:prstGeom prst="homePlate">
            <a:avLst>
              <a:gd name="adj" fmla="val 31624"/>
            </a:avLst>
          </a:prstGeom>
          <a:solidFill>
            <a:sysClr val="window" lastClr="FFFFFF"/>
          </a:solidFill>
          <a:ln w="12700">
            <a:solidFill>
              <a:sysClr val="windowText" lastClr="0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대상자 모집 </a:t>
            </a:r>
            <a:r>
              <a:rPr kumimoji="0" lang="en-US" altLang="ko-KR" sz="11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/</a:t>
            </a:r>
            <a:r>
              <a:rPr kumimoji="0" lang="ko-KR" altLang="en-US" sz="11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 선정</a:t>
            </a:r>
            <a:br>
              <a:rPr kumimoji="0" lang="en-US" altLang="ko-KR" sz="11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</a:b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(3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주</a:t>
            </a: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, 5/25 ~ 6/12)</a:t>
            </a:r>
            <a:endParaRPr kumimoji="0" lang="ko-KR" altLang="en-US" sz="1100" b="1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</a:endParaRPr>
          </a:p>
        </p:txBody>
      </p:sp>
      <p:sp>
        <p:nvSpPr>
          <p:cNvPr id="32" name="화살표: 오각형 31">
            <a:extLst>
              <a:ext uri="{FF2B5EF4-FFF2-40B4-BE49-F238E27FC236}">
                <a16:creationId xmlns:a16="http://schemas.microsoft.com/office/drawing/2014/main" id="{EE9CD3F6-36DF-02BF-5259-31636946DDE9}"/>
              </a:ext>
            </a:extLst>
          </p:cNvPr>
          <p:cNvSpPr/>
          <p:nvPr/>
        </p:nvSpPr>
        <p:spPr bwMode="auto">
          <a:xfrm>
            <a:off x="2344620" y="2409053"/>
            <a:ext cx="1327385" cy="504000"/>
          </a:xfrm>
          <a:prstGeom prst="homePlate">
            <a:avLst>
              <a:gd name="adj" fmla="val 31624"/>
            </a:avLst>
          </a:prstGeom>
          <a:solidFill>
            <a:sysClr val="window" lastClr="FFFFFF"/>
          </a:solidFill>
          <a:ln w="12700">
            <a:solidFill>
              <a:sysClr val="windowText" lastClr="0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조직별 설명회</a:t>
            </a:r>
            <a:br>
              <a:rPr kumimoji="0" lang="en-US" altLang="ko-KR" sz="11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</a:b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(1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주</a:t>
            </a: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, 5/18 ~ 5/22)</a:t>
            </a:r>
            <a:endParaRPr kumimoji="0" lang="ko-KR" altLang="en-US" sz="1100" b="1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</a:endParaRPr>
          </a:p>
        </p:txBody>
      </p:sp>
      <p:sp>
        <p:nvSpPr>
          <p:cNvPr id="33" name="화살표: 오각형 32">
            <a:extLst>
              <a:ext uri="{FF2B5EF4-FFF2-40B4-BE49-F238E27FC236}">
                <a16:creationId xmlns:a16="http://schemas.microsoft.com/office/drawing/2014/main" id="{10029B53-8DF2-AC63-5F99-C566E576D735}"/>
              </a:ext>
            </a:extLst>
          </p:cNvPr>
          <p:cNvSpPr/>
          <p:nvPr/>
        </p:nvSpPr>
        <p:spPr bwMode="auto">
          <a:xfrm>
            <a:off x="5188374" y="2409053"/>
            <a:ext cx="1327385" cy="504000"/>
          </a:xfrm>
          <a:prstGeom prst="homePlate">
            <a:avLst>
              <a:gd name="adj" fmla="val 31624"/>
            </a:avLst>
          </a:prstGeom>
          <a:solidFill>
            <a:sysClr val="window" lastClr="FFFFFF"/>
          </a:solidFill>
          <a:ln w="12700">
            <a:solidFill>
              <a:sysClr val="windowText" lastClr="0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서류 작성 및 사전교육</a:t>
            </a:r>
            <a:br>
              <a:rPr kumimoji="0" lang="en-US" altLang="ko-KR" sz="11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</a:b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(1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주</a:t>
            </a: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, 6/15 ~ 6/19)</a:t>
            </a:r>
            <a:endParaRPr kumimoji="0" lang="ko-KR" altLang="en-US" sz="11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</a:endParaRPr>
          </a:p>
        </p:txBody>
      </p:sp>
      <p:sp>
        <p:nvSpPr>
          <p:cNvPr id="34" name="화살표: 오각형 33">
            <a:extLst>
              <a:ext uri="{FF2B5EF4-FFF2-40B4-BE49-F238E27FC236}">
                <a16:creationId xmlns:a16="http://schemas.microsoft.com/office/drawing/2014/main" id="{2F29C608-21C0-1A6F-5BDB-8E3EA7C10D4E}"/>
              </a:ext>
            </a:extLst>
          </p:cNvPr>
          <p:cNvSpPr/>
          <p:nvPr/>
        </p:nvSpPr>
        <p:spPr bwMode="auto">
          <a:xfrm>
            <a:off x="6610251" y="2409053"/>
            <a:ext cx="1327385" cy="504000"/>
          </a:xfrm>
          <a:prstGeom prst="homePlate">
            <a:avLst>
              <a:gd name="adj" fmla="val 31624"/>
            </a:avLst>
          </a:prstGeom>
          <a:solidFill>
            <a:sysClr val="window" lastClr="FFFFFF"/>
          </a:solidFill>
          <a:ln w="12700">
            <a:solidFill>
              <a:sysClr val="windowText" lastClr="0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RMB </a:t>
            </a:r>
            <a:r>
              <a:rPr kumimoji="0" lang="ko-KR" altLang="en-US" sz="11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운영</a:t>
            </a:r>
            <a:b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</a:b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(6</a:t>
            </a:r>
            <a:r>
              <a:rPr kumimoji="0" lang="ko-KR" altLang="en-US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개월</a:t>
            </a: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, 6/21 ~ 12/20)</a:t>
            </a:r>
            <a:endParaRPr kumimoji="0" lang="ko-KR" altLang="en-US" sz="11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</a:endParaRPr>
          </a:p>
        </p:txBody>
      </p:sp>
      <p:sp>
        <p:nvSpPr>
          <p:cNvPr id="35" name="화살표: 오각형 34">
            <a:extLst>
              <a:ext uri="{FF2B5EF4-FFF2-40B4-BE49-F238E27FC236}">
                <a16:creationId xmlns:a16="http://schemas.microsoft.com/office/drawing/2014/main" id="{BDFCCAEF-7526-2CA9-DEB6-0532A21D3DFF}"/>
              </a:ext>
            </a:extLst>
          </p:cNvPr>
          <p:cNvSpPr/>
          <p:nvPr/>
        </p:nvSpPr>
        <p:spPr bwMode="auto">
          <a:xfrm>
            <a:off x="8032127" y="2409053"/>
            <a:ext cx="1327385" cy="504000"/>
          </a:xfrm>
          <a:prstGeom prst="homePlate">
            <a:avLst>
              <a:gd name="adj" fmla="val 31624"/>
            </a:avLst>
          </a:prstGeom>
          <a:solidFill>
            <a:sysClr val="window" lastClr="FFFFFF"/>
          </a:solidFill>
          <a:ln w="12700">
            <a:solidFill>
              <a:sysClr val="windowText" lastClr="00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RMB </a:t>
            </a:r>
            <a:r>
              <a:rPr kumimoji="0" lang="ko-KR" altLang="en-US" sz="11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퇴직</a:t>
            </a:r>
            <a:endParaRPr kumimoji="0" lang="en-US" altLang="ko-KR" sz="1100" b="1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rPr>
              <a:t>(12/20)</a:t>
            </a:r>
            <a:endParaRPr kumimoji="0" lang="ko-KR" altLang="en-US" sz="11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C982780-521E-0E4F-0E9B-10B161C353A6}"/>
              </a:ext>
            </a:extLst>
          </p:cNvPr>
          <p:cNvGrpSpPr/>
          <p:nvPr/>
        </p:nvGrpSpPr>
        <p:grpSpPr>
          <a:xfrm>
            <a:off x="608563" y="1628775"/>
            <a:ext cx="1225850" cy="639296"/>
            <a:chOff x="-1036575" y="3881521"/>
            <a:chExt cx="1036575" cy="568575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036F131-3BAB-A0C3-4BE0-0599A888CBF5}"/>
                </a:ext>
              </a:extLst>
            </p:cNvPr>
            <p:cNvSpPr/>
            <p:nvPr/>
          </p:nvSpPr>
          <p:spPr bwMode="auto">
            <a:xfrm>
              <a:off x="-1008000" y="3910096"/>
              <a:ext cx="1008000" cy="540000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6AE93DBE-BAE2-28D0-C526-F8DFFCC74E2F}"/>
                </a:ext>
              </a:extLst>
            </p:cNvPr>
            <p:cNvSpPr/>
            <p:nvPr/>
          </p:nvSpPr>
          <p:spPr bwMode="auto">
            <a:xfrm>
              <a:off x="-1036575" y="3881521"/>
              <a:ext cx="1008000" cy="54000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운영 개요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4F4056B-FB77-11FB-7F9A-C7CCBE61CE11}"/>
              </a:ext>
            </a:extLst>
          </p:cNvPr>
          <p:cNvGrpSpPr/>
          <p:nvPr/>
        </p:nvGrpSpPr>
        <p:grpSpPr>
          <a:xfrm>
            <a:off x="608563" y="3361765"/>
            <a:ext cx="1225850" cy="639296"/>
            <a:chOff x="-1036575" y="3881521"/>
            <a:chExt cx="1036575" cy="568575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DC84639-6467-95DB-4283-7E19E3FBB27E}"/>
                </a:ext>
              </a:extLst>
            </p:cNvPr>
            <p:cNvSpPr/>
            <p:nvPr/>
          </p:nvSpPr>
          <p:spPr bwMode="auto">
            <a:xfrm>
              <a:off x="-1008000" y="3910096"/>
              <a:ext cx="1008000" cy="540000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4C72B52A-8987-AB3A-80F2-CC3B41DD013F}"/>
                </a:ext>
              </a:extLst>
            </p:cNvPr>
            <p:cNvSpPr/>
            <p:nvPr/>
          </p:nvSpPr>
          <p:spPr bwMode="auto">
            <a:xfrm>
              <a:off x="-1036575" y="3881521"/>
              <a:ext cx="1008000" cy="54000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처우 수준</a:t>
              </a:r>
            </a:p>
          </p:txBody>
        </p:sp>
      </p:grp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5A88BC57-DFCD-7E83-93AB-6AA45F3B77CF}"/>
              </a:ext>
            </a:extLst>
          </p:cNvPr>
          <p:cNvCxnSpPr/>
          <p:nvPr/>
        </p:nvCxnSpPr>
        <p:spPr bwMode="auto">
          <a:xfrm>
            <a:off x="2039363" y="3093429"/>
            <a:ext cx="7560000" cy="0"/>
          </a:xfrm>
          <a:prstGeom prst="line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8803849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5027E8AA-7E4F-8FE0-387C-8533D04A5C12}"/>
              </a:ext>
            </a:extLst>
          </p:cNvPr>
          <p:cNvSpPr txBox="1"/>
          <p:nvPr/>
        </p:nvSpPr>
        <p:spPr>
          <a:xfrm>
            <a:off x="151981" y="1128076"/>
            <a:ext cx="1010575" cy="480929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현황 및</a:t>
            </a:r>
            <a:br>
              <a:rPr lang="en-US" altLang="ko-KR" sz="1300" b="1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300" b="1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이슈</a:t>
            </a:r>
            <a:endParaRPr kumimoji="0" lang="ko-KR" altLang="en-US" sz="1300" b="1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BD775189-9789-4C5C-D3FC-AFC0FB7DD5AD}"/>
              </a:ext>
            </a:extLst>
          </p:cNvPr>
          <p:cNvGraphicFramePr>
            <a:graphicFrameLocks noGrp="1"/>
          </p:cNvGraphicFramePr>
          <p:nvPr/>
        </p:nvGraphicFramePr>
        <p:xfrm>
          <a:off x="1442413" y="4726714"/>
          <a:ext cx="2475074" cy="1240426"/>
        </p:xfrm>
        <a:graphic>
          <a:graphicData uri="http://schemas.openxmlformats.org/drawingml/2006/table">
            <a:tbl>
              <a:tblPr firstRow="1" bandRow="1"/>
              <a:tblGrid>
                <a:gridCol w="343561">
                  <a:extLst>
                    <a:ext uri="{9D8B030D-6E8A-4147-A177-3AD203B41FA5}">
                      <a16:colId xmlns:a16="http://schemas.microsoft.com/office/drawing/2014/main" val="3783700300"/>
                    </a:ext>
                  </a:extLst>
                </a:gridCol>
                <a:gridCol w="431907">
                  <a:extLst>
                    <a:ext uri="{9D8B030D-6E8A-4147-A177-3AD203B41FA5}">
                      <a16:colId xmlns:a16="http://schemas.microsoft.com/office/drawing/2014/main" val="1161439982"/>
                    </a:ext>
                  </a:extLst>
                </a:gridCol>
                <a:gridCol w="719362">
                  <a:extLst>
                    <a:ext uri="{9D8B030D-6E8A-4147-A177-3AD203B41FA5}">
                      <a16:colId xmlns:a16="http://schemas.microsoft.com/office/drawing/2014/main" val="2309152139"/>
                    </a:ext>
                  </a:extLst>
                </a:gridCol>
                <a:gridCol w="490122">
                  <a:extLst>
                    <a:ext uri="{9D8B030D-6E8A-4147-A177-3AD203B41FA5}">
                      <a16:colId xmlns:a16="http://schemas.microsoft.com/office/drawing/2014/main" val="46712518"/>
                    </a:ext>
                  </a:extLst>
                </a:gridCol>
                <a:gridCol w="490122">
                  <a:extLst>
                    <a:ext uri="{9D8B030D-6E8A-4147-A177-3AD203B41FA5}">
                      <a16:colId xmlns:a16="http://schemas.microsoft.com/office/drawing/2014/main" val="3685088954"/>
                    </a:ext>
                  </a:extLst>
                </a:gridCol>
              </a:tblGrid>
              <a:tr h="18560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권역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노경기획팀</a:t>
                      </a:r>
                      <a:endParaRPr lang="en-US" sz="1000" b="1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노경부문</a:t>
                      </a:r>
                      <a:endParaRPr lang="en-US" sz="1000" b="1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0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ER </a:t>
                      </a:r>
                      <a:r>
                        <a:rPr lang="ko-KR" altLang="en-US" sz="10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담당자</a:t>
                      </a:r>
                      <a:endParaRPr lang="en-US" sz="1000" b="1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732072"/>
                  </a:ext>
                </a:extLst>
              </a:tr>
              <a:tr h="210965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북미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ESMI</a:t>
                      </a:r>
                      <a:endParaRPr lang="ko-KR" altLang="en-US" sz="1000" b="1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-50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곽지호</a:t>
                      </a:r>
                      <a:endParaRPr lang="en-US" sz="1000" b="0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195659"/>
                  </a:ext>
                </a:extLst>
              </a:tr>
              <a:tr h="210965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ESOT</a:t>
                      </a:r>
                      <a:endParaRPr lang="ko-KR" altLang="en-US" sz="1000" b="1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이영준</a:t>
                      </a:r>
                      <a:endParaRPr lang="en-US" sz="1000" b="0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264044"/>
                  </a:ext>
                </a:extLst>
              </a:tr>
              <a:tr h="21096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유럽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ESWA</a:t>
                      </a:r>
                      <a:endParaRPr lang="ko-KR" altLang="en-US" sz="1000" b="1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김지양</a:t>
                      </a:r>
                      <a:endParaRPr lang="en-US" sz="1000" b="0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582298"/>
                  </a:ext>
                </a:extLst>
              </a:tr>
              <a:tr h="210965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아시아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ESNJ/A/B</a:t>
                      </a:r>
                      <a:endParaRPr lang="ko-KR" altLang="en-US" sz="1000" b="1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-50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채수길</a:t>
                      </a:r>
                      <a:endParaRPr lang="en-US" sz="1000" b="0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50" baseline="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94964"/>
                  </a:ext>
                </a:extLst>
              </a:tr>
              <a:tr h="210965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1000" b="1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ESHM</a:t>
                      </a:r>
                      <a:endParaRPr lang="ko-KR" altLang="en-US" sz="1000" b="1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이영준</a:t>
                      </a:r>
                      <a:r>
                        <a:rPr lang="en-US" altLang="ko-KR" sz="1000" b="0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1000" b="0" i="0" u="none" strike="noStrike" spc="-5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이시형</a:t>
                      </a:r>
                      <a:endParaRPr lang="en-US" sz="1000" b="0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5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24443"/>
                  </a:ext>
                </a:extLst>
              </a:tr>
            </a:tbl>
          </a:graphicData>
        </a:graphic>
      </p:graphicFrame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1B459B78-0A59-2135-4568-C495A8316210}"/>
              </a:ext>
            </a:extLst>
          </p:cNvPr>
          <p:cNvGrpSpPr/>
          <p:nvPr/>
        </p:nvGrpSpPr>
        <p:grpSpPr>
          <a:xfrm>
            <a:off x="4413206" y="4793482"/>
            <a:ext cx="1035983" cy="1028744"/>
            <a:chOff x="8530604" y="3949584"/>
            <a:chExt cx="1035983" cy="1028744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7A688255-BDDD-8176-7661-F27D7AFEF535}"/>
                </a:ext>
              </a:extLst>
            </p:cNvPr>
            <p:cNvSpPr/>
            <p:nvPr/>
          </p:nvSpPr>
          <p:spPr>
            <a:xfrm>
              <a:off x="8530604" y="3949584"/>
              <a:ext cx="958138" cy="1800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  <p:txBody>
            <a:bodyPr wrap="square" lIns="18000" tIns="18000" rIns="18000" bIns="18000" rtlCol="0" anchor="ctr" anchorCtr="0">
              <a:noAutofit/>
            </a:bodyPr>
            <a:lstStyle/>
            <a:p>
              <a:pPr marL="0" marR="0" lvl="0" indent="0" algn="ctr" defTabSz="9398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1" lang="ko-KR" altLang="en-US" sz="10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FFFF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노경담당</a:t>
              </a:r>
              <a:endParaRPr kumimoji="1" lang="ko-KR" altLang="en-US" sz="1000" b="1" i="0" u="none" strike="noStrike" kern="0" cap="none" spc="-4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46" name="연결선: 꺾임 45">
              <a:extLst>
                <a:ext uri="{FF2B5EF4-FFF2-40B4-BE49-F238E27FC236}">
                  <a16:creationId xmlns:a16="http://schemas.microsoft.com/office/drawing/2014/main" id="{C79172DF-E745-C198-8405-89EEB5269230}"/>
                </a:ext>
              </a:extLst>
            </p:cNvPr>
            <p:cNvCxnSpPr>
              <a:cxnSpLocks/>
              <a:endCxn id="49" idx="1"/>
            </p:cNvCxnSpPr>
            <p:nvPr/>
          </p:nvCxnSpPr>
          <p:spPr>
            <a:xfrm rot="16200000" flipH="1">
              <a:off x="8365800" y="4386397"/>
              <a:ext cx="528759" cy="63000"/>
            </a:xfrm>
            <a:prstGeom prst="bentConnector2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연결선: 꺾임 46">
              <a:extLst>
                <a:ext uri="{FF2B5EF4-FFF2-40B4-BE49-F238E27FC236}">
                  <a16:creationId xmlns:a16="http://schemas.microsoft.com/office/drawing/2014/main" id="{4414284D-6F5C-3F9E-A65E-5D2F0DDC976F}"/>
                </a:ext>
              </a:extLst>
            </p:cNvPr>
            <p:cNvCxnSpPr>
              <a:cxnSpLocks/>
              <a:endCxn id="48" idx="1"/>
            </p:cNvCxnSpPr>
            <p:nvPr/>
          </p:nvCxnSpPr>
          <p:spPr>
            <a:xfrm rot="16200000" flipH="1">
              <a:off x="8567896" y="4163966"/>
              <a:ext cx="124566" cy="63000"/>
            </a:xfrm>
            <a:prstGeom prst="bentConnector2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F92DDDFD-D80C-3A95-541B-1CB4D073F7D8}"/>
                </a:ext>
              </a:extLst>
            </p:cNvPr>
            <p:cNvSpPr/>
            <p:nvPr/>
          </p:nvSpPr>
          <p:spPr>
            <a:xfrm>
              <a:off x="8661679" y="4167749"/>
              <a:ext cx="904908" cy="1800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square" lIns="18000" tIns="18000" rIns="18000" bIns="18000" rtlCol="0" anchor="ctr" anchorCtr="0">
              <a:noAutofit/>
            </a:bodyPr>
            <a:lstStyle/>
            <a:p>
              <a:pPr lvl="0" algn="ctr" defTabSz="939800" eaLnBrk="0" hangingPunct="0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  <a:defRPr/>
              </a:pPr>
              <a:r>
                <a:rPr kumimoji="1" lang="ko-KR" altLang="en-US" sz="10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노경기획팀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13CC620-22D7-D1C2-1F56-C65B50CD2807}"/>
                </a:ext>
              </a:extLst>
            </p:cNvPr>
            <p:cNvSpPr/>
            <p:nvPr/>
          </p:nvSpPr>
          <p:spPr>
            <a:xfrm>
              <a:off x="8661679" y="4592277"/>
              <a:ext cx="904908" cy="1800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square" lIns="18000" tIns="18000" rIns="18000" bIns="18000" rtlCol="0" anchor="ctr" anchorCtr="0">
              <a:noAutofit/>
            </a:bodyPr>
            <a:lstStyle/>
            <a:p>
              <a:pPr marL="0" marR="0" lvl="0" indent="0" algn="ctr" defTabSz="939800" rtl="0" eaLnBrk="0" fontAlgn="auto" latinLnBrk="0" hangingPunct="0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1" lang="ko-KR" altLang="en-US" sz="10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노경협력팀</a:t>
              </a:r>
              <a:endParaRPr kumimoji="1" lang="ko-KR" altLang="en-US" sz="1000" i="0" u="none" strike="noStrike" kern="0" cap="none" spc="-4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902BB888-0DEF-CCF4-C563-B9FBBD601FF8}"/>
                </a:ext>
              </a:extLst>
            </p:cNvPr>
            <p:cNvSpPr/>
            <p:nvPr/>
          </p:nvSpPr>
          <p:spPr>
            <a:xfrm>
              <a:off x="8661679" y="4798328"/>
              <a:ext cx="904908" cy="1800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square" lIns="18000" tIns="18000" rIns="18000" bIns="18000" rtlCol="0" anchor="ctr" anchorCtr="0">
              <a:noAutofit/>
            </a:bodyPr>
            <a:lstStyle/>
            <a:p>
              <a:pPr lvl="0" algn="ctr" defTabSz="939800" eaLnBrk="0" hangingPunct="0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  <a:defRPr/>
              </a:pPr>
              <a:r>
                <a:rPr kumimoji="1" lang="ko-KR" altLang="en-US" sz="10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노경운영팀</a:t>
              </a:r>
              <a:endParaRPr kumimoji="1" lang="ko-KR" altLang="en-US" sz="1000" i="0" u="none" strike="noStrike" kern="0" cap="none" spc="-4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51" name="연결선: 꺾임 50">
              <a:extLst>
                <a:ext uri="{FF2B5EF4-FFF2-40B4-BE49-F238E27FC236}">
                  <a16:creationId xmlns:a16="http://schemas.microsoft.com/office/drawing/2014/main" id="{D63033A9-4121-0792-73E3-496C535AA8E3}"/>
                </a:ext>
              </a:extLst>
            </p:cNvPr>
            <p:cNvCxnSpPr>
              <a:cxnSpLocks/>
              <a:endCxn id="50" idx="1"/>
            </p:cNvCxnSpPr>
            <p:nvPr/>
          </p:nvCxnSpPr>
          <p:spPr>
            <a:xfrm rot="16200000" flipH="1">
              <a:off x="8262636" y="4489285"/>
              <a:ext cx="734812" cy="63274"/>
            </a:xfrm>
            <a:prstGeom prst="bentConnector2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연결선: 꺾임 53">
              <a:extLst>
                <a:ext uri="{FF2B5EF4-FFF2-40B4-BE49-F238E27FC236}">
                  <a16:creationId xmlns:a16="http://schemas.microsoft.com/office/drawing/2014/main" id="{7748C9F7-CFBC-03AE-E04C-8046A265F94B}"/>
                </a:ext>
              </a:extLst>
            </p:cNvPr>
            <p:cNvCxnSpPr>
              <a:cxnSpLocks/>
              <a:endCxn id="55" idx="1"/>
            </p:cNvCxnSpPr>
            <p:nvPr/>
          </p:nvCxnSpPr>
          <p:spPr>
            <a:xfrm rot="16200000" flipH="1">
              <a:off x="8708150" y="4377306"/>
              <a:ext cx="122116" cy="63000"/>
            </a:xfrm>
            <a:prstGeom prst="bentConnector2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C19141CA-650C-B86D-3D9B-1A036E1DB253}"/>
                </a:ext>
              </a:extLst>
            </p:cNvPr>
            <p:cNvSpPr/>
            <p:nvPr/>
          </p:nvSpPr>
          <p:spPr>
            <a:xfrm>
              <a:off x="8800708" y="4382315"/>
              <a:ext cx="765879" cy="17509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square" lIns="18000" tIns="18000" rIns="18000" bIns="18000" rtlCol="0" anchor="ctr" anchorCtr="0">
              <a:noAutofit/>
            </a:bodyPr>
            <a:lstStyle/>
            <a:p>
              <a:pPr marL="0" marR="0" lvl="0" indent="0" algn="ctr" defTabSz="939800" rtl="0" eaLnBrk="0" fontAlgn="auto" latinLnBrk="0" hangingPunct="0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1" lang="en-US" altLang="ko-KR" sz="10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Global </a:t>
              </a:r>
              <a:r>
                <a:rPr kumimoji="1" lang="ko-KR" altLang="en-US" sz="10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</a:t>
              </a:r>
              <a:r>
                <a:rPr kumimoji="1" lang="en-US" altLang="ko-KR" sz="1000" b="1" i="0" u="none" strike="noStrike" kern="0" cap="none" spc="-4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P</a:t>
              </a:r>
              <a:endParaRPr kumimoji="1" lang="ko-KR" altLang="en-US" sz="1000" b="1" i="0" u="none" strike="noStrike" kern="0" cap="none" spc="-4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040FB7AA-2695-3BB3-F51A-6AA1D0F31074}"/>
              </a:ext>
            </a:extLst>
          </p:cNvPr>
          <p:cNvGrpSpPr/>
          <p:nvPr/>
        </p:nvGrpSpPr>
        <p:grpSpPr>
          <a:xfrm>
            <a:off x="7087236" y="4805553"/>
            <a:ext cx="1035983" cy="1028744"/>
            <a:chOff x="6223784" y="5115816"/>
            <a:chExt cx="1035983" cy="1028744"/>
          </a:xfrm>
        </p:grpSpPr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C8A50B69-DB8F-4350-DEF6-63DB6B47B5A3}"/>
                </a:ext>
              </a:extLst>
            </p:cNvPr>
            <p:cNvSpPr/>
            <p:nvPr/>
          </p:nvSpPr>
          <p:spPr>
            <a:xfrm>
              <a:off x="6223784" y="5115816"/>
              <a:ext cx="958138" cy="1800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square" lIns="18000" tIns="18000" rIns="18000" bIns="18000" rtlCol="0" anchor="ctr" anchorCtr="0">
              <a:noAutofit/>
            </a:bodyPr>
            <a:lstStyle/>
            <a:p>
              <a:pPr marL="0" marR="0" lvl="0" indent="0" algn="ctr" defTabSz="9398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1" lang="ko-KR" altLang="en-US" sz="10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FFFF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노경담당</a:t>
              </a:r>
              <a:endParaRPr kumimoji="1" lang="ko-KR" altLang="en-US" sz="1000" b="1" i="0" u="none" strike="noStrike" kern="0" cap="none" spc="-4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72" name="연결선: 꺾임 71">
              <a:extLst>
                <a:ext uri="{FF2B5EF4-FFF2-40B4-BE49-F238E27FC236}">
                  <a16:creationId xmlns:a16="http://schemas.microsoft.com/office/drawing/2014/main" id="{B6413AFC-E19F-00B0-9314-FCF9C252981B}"/>
                </a:ext>
              </a:extLst>
            </p:cNvPr>
            <p:cNvCxnSpPr>
              <a:cxnSpLocks/>
              <a:endCxn id="76" idx="1"/>
            </p:cNvCxnSpPr>
            <p:nvPr/>
          </p:nvCxnSpPr>
          <p:spPr>
            <a:xfrm rot="16200000" flipH="1">
              <a:off x="6058980" y="5552629"/>
              <a:ext cx="528759" cy="63000"/>
            </a:xfrm>
            <a:prstGeom prst="bentConnector2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연결선: 꺾임 73">
              <a:extLst>
                <a:ext uri="{FF2B5EF4-FFF2-40B4-BE49-F238E27FC236}">
                  <a16:creationId xmlns:a16="http://schemas.microsoft.com/office/drawing/2014/main" id="{7A1CF4C6-05FD-DE75-3C4D-B6AC4B556148}"/>
                </a:ext>
              </a:extLst>
            </p:cNvPr>
            <p:cNvCxnSpPr>
              <a:cxnSpLocks/>
              <a:endCxn id="75" idx="1"/>
            </p:cNvCxnSpPr>
            <p:nvPr/>
          </p:nvCxnSpPr>
          <p:spPr>
            <a:xfrm rot="16200000" flipH="1">
              <a:off x="6261076" y="5330198"/>
              <a:ext cx="124566" cy="63000"/>
            </a:xfrm>
            <a:prstGeom prst="bentConnector2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6A35F054-F6E6-8856-8FDB-7BE229F35A84}"/>
                </a:ext>
              </a:extLst>
            </p:cNvPr>
            <p:cNvSpPr/>
            <p:nvPr/>
          </p:nvSpPr>
          <p:spPr>
            <a:xfrm>
              <a:off x="6354859" y="5333981"/>
              <a:ext cx="904908" cy="1800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square" lIns="18000" tIns="18000" rIns="18000" bIns="18000" rtlCol="0" anchor="ctr" anchorCtr="0">
              <a:noAutofit/>
            </a:bodyPr>
            <a:lstStyle/>
            <a:p>
              <a:pPr lvl="0" algn="ctr" defTabSz="939800" eaLnBrk="0" hangingPunct="0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  <a:defRPr/>
              </a:pPr>
              <a:r>
                <a:rPr kumimoji="1" lang="ko-KR" altLang="en-US" sz="10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노경기획팀</a:t>
              </a: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9AFB4223-3CC1-6B2F-32C1-27A476C92A14}"/>
                </a:ext>
              </a:extLst>
            </p:cNvPr>
            <p:cNvSpPr/>
            <p:nvPr/>
          </p:nvSpPr>
          <p:spPr>
            <a:xfrm>
              <a:off x="6354859" y="5758509"/>
              <a:ext cx="904908" cy="1800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square" lIns="18000" tIns="18000" rIns="18000" bIns="18000" rtlCol="0" anchor="ctr" anchorCtr="0">
              <a:noAutofit/>
            </a:bodyPr>
            <a:lstStyle/>
            <a:p>
              <a:pPr marL="0" marR="0" lvl="0" indent="0" algn="ctr" defTabSz="939800" rtl="0" eaLnBrk="0" fontAlgn="auto" latinLnBrk="0" hangingPunct="0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1" lang="ko-KR" altLang="en-US" sz="10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노경협력팀</a:t>
              </a:r>
              <a:endParaRPr kumimoji="1" lang="ko-KR" altLang="en-US" sz="1000" i="0" u="none" strike="noStrike" kern="0" cap="none" spc="-4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80B0A03A-FB85-A83C-FDA8-FC78D0FD852F}"/>
                </a:ext>
              </a:extLst>
            </p:cNvPr>
            <p:cNvSpPr/>
            <p:nvPr/>
          </p:nvSpPr>
          <p:spPr>
            <a:xfrm>
              <a:off x="6354859" y="5964560"/>
              <a:ext cx="904908" cy="1800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square" lIns="18000" tIns="18000" rIns="18000" bIns="18000" rtlCol="0" anchor="ctr" anchorCtr="0">
              <a:noAutofit/>
            </a:bodyPr>
            <a:lstStyle/>
            <a:p>
              <a:pPr lvl="0" algn="ctr" defTabSz="939800" eaLnBrk="0" hangingPunct="0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  <a:defRPr/>
              </a:pPr>
              <a:r>
                <a:rPr kumimoji="1" lang="ko-KR" altLang="en-US" sz="1000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노경운영팀</a:t>
              </a:r>
              <a:endParaRPr kumimoji="1" lang="ko-KR" altLang="en-US" sz="1000" i="0" u="none" strike="noStrike" kern="0" cap="none" spc="-4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85" name="연결선: 꺾임 84">
              <a:extLst>
                <a:ext uri="{FF2B5EF4-FFF2-40B4-BE49-F238E27FC236}">
                  <a16:creationId xmlns:a16="http://schemas.microsoft.com/office/drawing/2014/main" id="{939F231C-B428-182C-65CE-C59442AC194C}"/>
                </a:ext>
              </a:extLst>
            </p:cNvPr>
            <p:cNvCxnSpPr>
              <a:cxnSpLocks/>
              <a:endCxn id="83" idx="1"/>
            </p:cNvCxnSpPr>
            <p:nvPr/>
          </p:nvCxnSpPr>
          <p:spPr>
            <a:xfrm rot="16200000" flipH="1">
              <a:off x="5955816" y="5655517"/>
              <a:ext cx="734812" cy="63274"/>
            </a:xfrm>
            <a:prstGeom prst="bentConnector2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01C67C5D-F32A-A96F-F2DE-973F268E3B44}"/>
                </a:ext>
              </a:extLst>
            </p:cNvPr>
            <p:cNvSpPr/>
            <p:nvPr/>
          </p:nvSpPr>
          <p:spPr>
            <a:xfrm>
              <a:off x="6354859" y="5546245"/>
              <a:ext cx="904908" cy="18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wrap="square" lIns="18000" tIns="18000" rIns="18000" bIns="18000" rtlCol="0" anchor="ctr" anchorCtr="0">
              <a:noAutofit/>
            </a:bodyPr>
            <a:lstStyle/>
            <a:p>
              <a:pPr lvl="0" algn="ctr" defTabSz="939800" eaLnBrk="0" hangingPunct="0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Pct val="100000"/>
                <a:defRPr/>
              </a:pPr>
              <a:r>
                <a:rPr kumimoji="1" lang="en-US" altLang="ko-KR" sz="1000" b="1" kern="0" spc="-4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Global </a:t>
              </a:r>
              <a:r>
                <a:rPr kumimoji="1" lang="ko-KR" altLang="en-US" sz="1000" b="1" kern="0" spc="-40" dirty="0" err="1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노경팀</a:t>
              </a:r>
              <a:endParaRPr kumimoji="1" lang="ko-KR" altLang="en-US" sz="1000" b="1" kern="0" spc="-4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99" name="연결선: 꺾임 98">
              <a:extLst>
                <a:ext uri="{FF2B5EF4-FFF2-40B4-BE49-F238E27FC236}">
                  <a16:creationId xmlns:a16="http://schemas.microsoft.com/office/drawing/2014/main" id="{16947AAA-D64F-313E-933E-867014F038A5}"/>
                </a:ext>
              </a:extLst>
            </p:cNvPr>
            <p:cNvCxnSpPr>
              <a:cxnSpLocks/>
              <a:endCxn id="98" idx="1"/>
            </p:cNvCxnSpPr>
            <p:nvPr/>
          </p:nvCxnSpPr>
          <p:spPr>
            <a:xfrm rot="16200000" flipH="1">
              <a:off x="6153008" y="5434393"/>
              <a:ext cx="340429" cy="63274"/>
            </a:xfrm>
            <a:prstGeom prst="bentConnector2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오각형 54">
            <a:extLst>
              <a:ext uri="{FF2B5EF4-FFF2-40B4-BE49-F238E27FC236}">
                <a16:creationId xmlns:a16="http://schemas.microsoft.com/office/drawing/2014/main" id="{0CE81C4E-BB19-E482-7F2F-61631C3E0804}"/>
              </a:ext>
            </a:extLst>
          </p:cNvPr>
          <p:cNvSpPr/>
          <p:nvPr/>
        </p:nvSpPr>
        <p:spPr bwMode="auto">
          <a:xfrm>
            <a:off x="1442413" y="3672920"/>
            <a:ext cx="2483702" cy="398509"/>
          </a:xfrm>
          <a:prstGeom prst="homePlate">
            <a:avLst>
              <a:gd name="adj" fmla="val 33867"/>
            </a:avLst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29" tIns="45715" rIns="91429" bIns="45715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96" rtl="0" eaLnBrk="1" fontAlgn="auto" latinLnBrk="0" hangingPunct="1">
              <a:lnSpc>
                <a:spcPts val="1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377" algn="l"/>
              </a:tabLst>
              <a:defRPr/>
            </a:pPr>
            <a:r>
              <a:rPr kumimoji="0" lang="en-US" altLang="ko-KR" sz="13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Global </a:t>
            </a:r>
            <a:r>
              <a:rPr kumimoji="0" lang="ko-KR" altLang="en-US" sz="13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 </a:t>
            </a:r>
            <a:r>
              <a:rPr kumimoji="0" lang="en-US" altLang="ko-KR" sz="13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Pool </a:t>
            </a:r>
            <a:r>
              <a:rPr kumimoji="0" lang="ko-KR" altLang="en-US" sz="13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확대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9DF259EE-C04E-3154-F462-D1093E0866D9}"/>
              </a:ext>
            </a:extLst>
          </p:cNvPr>
          <p:cNvSpPr/>
          <p:nvPr/>
        </p:nvSpPr>
        <p:spPr bwMode="gray">
          <a:xfrm>
            <a:off x="1503159" y="3598823"/>
            <a:ext cx="462950" cy="20119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72000" tIns="36000" rIns="72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단기</a:t>
            </a:r>
            <a:endParaRPr kumimoji="0" lang="en-US" altLang="ko-KR" sz="1200" b="1" i="0" u="none" strike="noStrike" kern="1200" cap="none" spc="-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6ED55C-79BC-7228-BED7-72BF4B0E6477}"/>
              </a:ext>
            </a:extLst>
          </p:cNvPr>
          <p:cNvSpPr txBox="1"/>
          <p:nvPr/>
        </p:nvSpPr>
        <p:spPr>
          <a:xfrm>
            <a:off x="1403114" y="4179387"/>
            <a:ext cx="24750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 부문 내 확대를 시작으로</a:t>
            </a: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b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향후 사업부 </a:t>
            </a: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ER 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담당자까지 </a:t>
            </a: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Pool 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확보</a:t>
            </a:r>
            <a:endParaRPr lang="ko-KR" alt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오각형 54">
            <a:extLst>
              <a:ext uri="{FF2B5EF4-FFF2-40B4-BE49-F238E27FC236}">
                <a16:creationId xmlns:a16="http://schemas.microsoft.com/office/drawing/2014/main" id="{0928129E-460D-8DF4-AD39-BCDC9AA2BF23}"/>
              </a:ext>
            </a:extLst>
          </p:cNvPr>
          <p:cNvSpPr/>
          <p:nvPr/>
        </p:nvSpPr>
        <p:spPr bwMode="auto">
          <a:xfrm>
            <a:off x="4116443" y="3672920"/>
            <a:ext cx="2483702" cy="398509"/>
          </a:xfrm>
          <a:prstGeom prst="homePlate">
            <a:avLst>
              <a:gd name="adj" fmla="val 33867"/>
            </a:avLst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29" tIns="45715" rIns="91429" bIns="45715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96" rtl="0" eaLnBrk="1" fontAlgn="auto" latinLnBrk="0" hangingPunct="1">
              <a:lnSpc>
                <a:spcPts val="1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377" algn="l"/>
              </a:tabLst>
              <a:defRPr/>
            </a:pPr>
            <a:r>
              <a:rPr kumimoji="0" lang="en-US" altLang="ko-KR" sz="13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Global </a:t>
            </a:r>
            <a:r>
              <a:rPr kumimoji="0" lang="ko-KR" altLang="en-US" sz="13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 파트 신설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969A4F0-4EB1-0C89-14D0-BB3B0964A5AF}"/>
              </a:ext>
            </a:extLst>
          </p:cNvPr>
          <p:cNvSpPr/>
          <p:nvPr/>
        </p:nvSpPr>
        <p:spPr bwMode="gray">
          <a:xfrm>
            <a:off x="4181731" y="3598823"/>
            <a:ext cx="462950" cy="20119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72000" tIns="36000" rIns="72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spc="-30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</a:t>
            </a:r>
            <a:r>
              <a:rPr kumimoji="0" lang="ko-KR" altLang="en-US" sz="1200" b="1" i="0" u="none" strike="noStrike" kern="120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</a:t>
            </a:r>
            <a:endParaRPr kumimoji="0" lang="en-US" altLang="ko-KR" sz="1200" b="1" i="0" u="none" strike="noStrike" kern="1200" cap="none" spc="-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" name="오각형 54">
            <a:extLst>
              <a:ext uri="{FF2B5EF4-FFF2-40B4-BE49-F238E27FC236}">
                <a16:creationId xmlns:a16="http://schemas.microsoft.com/office/drawing/2014/main" id="{D9927535-274B-09C0-9E49-501942E54E85}"/>
              </a:ext>
            </a:extLst>
          </p:cNvPr>
          <p:cNvSpPr/>
          <p:nvPr/>
        </p:nvSpPr>
        <p:spPr bwMode="auto">
          <a:xfrm>
            <a:off x="6790473" y="3672920"/>
            <a:ext cx="2483702" cy="398509"/>
          </a:xfrm>
          <a:prstGeom prst="homePlate">
            <a:avLst>
              <a:gd name="adj" fmla="val 33867"/>
            </a:avLst>
          </a:prstGeom>
          <a:solidFill>
            <a:schemeClr val="bg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29" tIns="45715" rIns="91429" bIns="45715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96" rtl="0" eaLnBrk="1" fontAlgn="auto" latinLnBrk="0" hangingPunct="1">
              <a:lnSpc>
                <a:spcPts val="13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9377" algn="l"/>
              </a:tabLst>
              <a:defRPr/>
            </a:pPr>
            <a:r>
              <a:rPr kumimoji="0" lang="en-US" altLang="ko-KR" sz="13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Global </a:t>
            </a:r>
            <a:r>
              <a:rPr kumimoji="0" lang="ko-KR" altLang="en-US" sz="1300" b="1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노경팀</a:t>
            </a:r>
            <a:r>
              <a:rPr kumimoji="0" lang="ko-KR" altLang="en-US" sz="13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신설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19548DE-6CB0-29A2-A72A-50BA3EABA1F0}"/>
              </a:ext>
            </a:extLst>
          </p:cNvPr>
          <p:cNvSpPr/>
          <p:nvPr/>
        </p:nvSpPr>
        <p:spPr bwMode="gray">
          <a:xfrm>
            <a:off x="6855761" y="3598823"/>
            <a:ext cx="462950" cy="20119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72000" tIns="36000" rIns="72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장기</a:t>
            </a:r>
            <a:endParaRPr kumimoji="0" lang="en-US" altLang="ko-KR" sz="1200" b="1" i="0" u="none" strike="noStrike" kern="1200" cap="none" spc="-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584C0BB6-F6C2-91C0-8F65-B0AAD110B2B4}"/>
              </a:ext>
            </a:extLst>
          </p:cNvPr>
          <p:cNvCxnSpPr>
            <a:cxnSpLocks/>
          </p:cNvCxnSpPr>
          <p:nvPr/>
        </p:nvCxnSpPr>
        <p:spPr>
          <a:xfrm>
            <a:off x="1048558" y="1098520"/>
            <a:ext cx="0" cy="748941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E803F12-B5E6-1A31-49F4-B42724D98BB8}"/>
              </a:ext>
            </a:extLst>
          </p:cNvPr>
          <p:cNvSpPr txBox="1"/>
          <p:nvPr/>
        </p:nvSpPr>
        <p:spPr>
          <a:xfrm>
            <a:off x="151981" y="3594835"/>
            <a:ext cx="1010575" cy="480929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개선방향</a:t>
            </a:r>
            <a:endParaRPr kumimoji="0" lang="ko-KR" altLang="en-US" sz="1300" b="1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FFF3959-3B48-100A-90BD-2BF32A5A8BE3}"/>
              </a:ext>
            </a:extLst>
          </p:cNvPr>
          <p:cNvCxnSpPr>
            <a:cxnSpLocks/>
          </p:cNvCxnSpPr>
          <p:nvPr/>
        </p:nvCxnSpPr>
        <p:spPr>
          <a:xfrm>
            <a:off x="1048558" y="3657445"/>
            <a:ext cx="0" cy="722665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7CA25EB-847C-3D5C-AA52-F6CB7445759D}"/>
              </a:ext>
            </a:extLst>
          </p:cNvPr>
          <p:cNvSpPr txBox="1"/>
          <p:nvPr/>
        </p:nvSpPr>
        <p:spPr>
          <a:xfrm>
            <a:off x="4116443" y="4179387"/>
            <a:ext cx="24750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노경기획팀 내 전담 파트 조직화</a:t>
            </a:r>
            <a:b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국내 업무와 분리하여 </a:t>
            </a: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 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집중</a:t>
            </a:r>
            <a:endParaRPr lang="ko-KR" alt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09AA8C-B35D-66AF-5AC9-8B5757E50815}"/>
              </a:ext>
            </a:extLst>
          </p:cNvPr>
          <p:cNvSpPr txBox="1"/>
          <p:nvPr/>
        </p:nvSpPr>
        <p:spPr>
          <a:xfrm>
            <a:off x="6790472" y="4179387"/>
            <a:ext cx="27121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노경담당 산하 </a:t>
            </a: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</a:t>
            </a:r>
            <a:r>
              <a:rPr lang="ko-KR" altLang="en-US" sz="1200" kern="0" spc="-5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노경팀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독립 신설</a:t>
            </a:r>
            <a:b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Global 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 전략</a:t>
            </a: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정책</a:t>
            </a:r>
            <a:r>
              <a:rPr lang="en-US" altLang="ko-KR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200" kern="0" spc="-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리스크 관리 전담</a:t>
            </a:r>
            <a:endParaRPr lang="ko-KR" altLang="en-US" sz="12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2943DA-B6DE-C1FE-BE3E-AE584D1C7055}"/>
              </a:ext>
            </a:extLst>
          </p:cNvPr>
          <p:cNvSpPr txBox="1"/>
          <p:nvPr/>
        </p:nvSpPr>
        <p:spPr>
          <a:xfrm>
            <a:off x="1340933" y="1063351"/>
            <a:ext cx="5250583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marR="0" lvl="0" indent="-268288" algn="l" defTabSz="914400" rtl="0" eaLnBrk="1" fontAlgn="base" latinLnBrk="0" hangingPunct="1"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ko-KR" altLang="en-US" sz="1300" b="1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</a:t>
            </a:r>
            <a:r>
              <a:rPr lang="en-US" altLang="ko-KR" sz="1300" b="1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300" b="1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환경 변화에 따라 노경기획팀 </a:t>
            </a:r>
            <a:r>
              <a:rPr lang="ko-KR" altLang="en-US" sz="1300" b="1" kern="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리소스 확보필요</a:t>
            </a:r>
            <a:br>
              <a:rPr lang="en-US" altLang="ko-KR" sz="13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3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300" kern="0" spc="-5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노경기획팀원</a:t>
            </a:r>
            <a:r>
              <a:rPr lang="ko-KR" altLang="en-US" sz="13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3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</a:t>
            </a:r>
            <a:r>
              <a:rPr lang="ko-KR" altLang="en-US" sz="13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명이 국내 노경 및 </a:t>
            </a:r>
            <a:r>
              <a:rPr lang="en-US" altLang="ko-KR" sz="13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 </a:t>
            </a:r>
            <a:r>
              <a:rPr lang="ko-KR" altLang="en-US" sz="13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 업무</a:t>
            </a:r>
            <a:r>
              <a:rPr lang="en-US" altLang="ko-KR" sz="13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</a:t>
            </a:r>
            <a:r>
              <a:rPr lang="ko-KR" altLang="en-US" sz="13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병행 수행 중</a:t>
            </a:r>
            <a:endParaRPr lang="en-US" altLang="ko-KR" sz="1300" kern="0" spc="-5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268288" marR="0" lvl="0" indent="-268288" algn="l" defTabSz="914400" rtl="0" eaLnBrk="1" fontAlgn="base" latinLnBrk="0" hangingPunct="1"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ko-KR" altLang="en-US" sz="1300" b="1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국내</a:t>
            </a:r>
            <a:r>
              <a:rPr lang="en-US" altLang="ko-KR" sz="1300" b="1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300" b="1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해외 노경 리스크 사각지대 발생</a:t>
            </a:r>
            <a:br>
              <a:rPr lang="en-US" altLang="ko-KR" sz="1300" b="1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3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3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해외 노경 이슈 대응 출장 시 </a:t>
            </a:r>
            <a:r>
              <a:rPr lang="ko-KR" altLang="en-US" sz="1300" kern="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국내 노경업무 공백 발생 </a:t>
            </a:r>
            <a:r>
              <a:rPr lang="en-US" altLang="ko-KR" sz="1300" kern="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300" kern="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대체하여 업무를 수행하고 있으나 한계가 있음</a:t>
            </a:r>
            <a:r>
              <a:rPr lang="en-US" altLang="ko-KR" sz="1300" kern="0" spc="-5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br>
              <a:rPr lang="en-US" altLang="ko-KR" sz="13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3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3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국내 분쟁 대응</a:t>
            </a:r>
            <a:r>
              <a:rPr lang="en-US" altLang="ko-KR" sz="13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300" kern="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인력효율화 등 집중 업무 수행 시 해외 노경 업무 공백 </a:t>
            </a:r>
            <a:endParaRPr lang="en-US" altLang="ko-KR" sz="1300" kern="0" spc="-5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268288" marR="0" lvl="0" indent="-268288" algn="l" defTabSz="914400" rtl="0" eaLnBrk="1" fontAlgn="base" latinLnBrk="0" hangingPunct="1"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ko-KR" altLang="en-US" sz="13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전문성 심화 및 전문화 한계</a:t>
            </a:r>
            <a:br>
              <a:rPr kumimoji="0" lang="en-US" altLang="ko-KR" sz="13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en-US" altLang="ko-KR" sz="130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- Global</a:t>
            </a:r>
            <a:r>
              <a:rPr kumimoji="0" lang="ko-KR" altLang="en-US" sz="130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노경</a:t>
            </a:r>
            <a:r>
              <a:rPr kumimoji="0" lang="en-US" altLang="ko-KR" sz="130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* </a:t>
            </a:r>
            <a:r>
              <a:rPr kumimoji="0" lang="ko-KR" altLang="en-US" sz="130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의 필요 역량 및 학습 범위가 국내 노경과 일치하지 않음에도</a:t>
            </a:r>
            <a:r>
              <a:rPr kumimoji="0" lang="en-US" altLang="ko-KR" sz="130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br>
              <a:rPr kumimoji="0" lang="en-US" altLang="ko-KR" sz="130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kumimoji="0" lang="en-US" altLang="ko-KR" sz="130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130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동일 인력이 양자를 병행하면서 전문성 심화에 제약</a:t>
            </a:r>
            <a:endParaRPr kumimoji="0" lang="en-US" altLang="ko-KR" sz="130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191D0A60-6425-C8C7-6447-4FAB220B3BF1}"/>
              </a:ext>
            </a:extLst>
          </p:cNvPr>
          <p:cNvSpPr/>
          <p:nvPr/>
        </p:nvSpPr>
        <p:spPr>
          <a:xfrm>
            <a:off x="4274986" y="2459131"/>
            <a:ext cx="2348405" cy="235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</a:t>
            </a:r>
            <a:r>
              <a:rPr lang="ko-KR" altLang="en-US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현지 국가 노동법</a:t>
            </a:r>
            <a:r>
              <a:rPr lang="en-US" altLang="ko-KR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문화</a:t>
            </a:r>
            <a:r>
              <a:rPr lang="en-US" altLang="ko-KR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관행 등 학습 필요</a:t>
            </a:r>
          </a:p>
        </p:txBody>
      </p:sp>
      <p:graphicFrame>
        <p:nvGraphicFramePr>
          <p:cNvPr id="130" name="표 129">
            <a:extLst>
              <a:ext uri="{FF2B5EF4-FFF2-40B4-BE49-F238E27FC236}">
                <a16:creationId xmlns:a16="http://schemas.microsoft.com/office/drawing/2014/main" id="{EC947230-192C-D246-04A8-28D4DF6CFB7F}"/>
              </a:ext>
            </a:extLst>
          </p:cNvPr>
          <p:cNvGraphicFramePr>
            <a:graphicFrameLocks noGrp="1"/>
          </p:cNvGraphicFramePr>
          <p:nvPr/>
        </p:nvGraphicFramePr>
        <p:xfrm>
          <a:off x="7549563" y="1205305"/>
          <a:ext cx="1724612" cy="190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723">
                  <a:extLst>
                    <a:ext uri="{9D8B030D-6E8A-4147-A177-3AD203B41FA5}">
                      <a16:colId xmlns:a16="http://schemas.microsoft.com/office/drawing/2014/main" val="3746915949"/>
                    </a:ext>
                  </a:extLst>
                </a:gridCol>
                <a:gridCol w="557889">
                  <a:extLst>
                    <a:ext uri="{9D8B030D-6E8A-4147-A177-3AD203B41FA5}">
                      <a16:colId xmlns:a16="http://schemas.microsoft.com/office/drawing/2014/main" val="2573637204"/>
                    </a:ext>
                  </a:extLst>
                </a:gridCol>
              </a:tblGrid>
              <a:tr h="110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업무 분류</a:t>
                      </a:r>
                    </a:p>
                  </a:txBody>
                  <a:tcPr marL="45720" marR="45720" marT="10800" marB="10800">
                    <a:lnL w="12700" cmpd="sng">
                      <a:noFill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과업 수</a:t>
                      </a:r>
                    </a:p>
                  </a:txBody>
                  <a:tcPr marL="45720" marR="45720" marT="10800" marB="10800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35995"/>
                  </a:ext>
                </a:extLst>
              </a:tr>
              <a:tr h="110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노경이슈 선행 대응</a:t>
                      </a:r>
                    </a:p>
                  </a:txBody>
                  <a:tcPr marL="45720" marR="45720" marT="10800" marB="10800">
                    <a:lnL w="12700" cmpd="sng">
                      <a:noFill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endParaRPr lang="ko-KR" altLang="en-US" sz="9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marT="10800" marB="10800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244637"/>
                  </a:ext>
                </a:extLst>
              </a:tr>
              <a:tr h="1102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Global </a:t>
                      </a:r>
                      <a:r>
                        <a:rPr lang="ko-KR" altLang="en-US" sz="900" b="1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노경</a:t>
                      </a:r>
                    </a:p>
                  </a:txBody>
                  <a:tcPr marL="45720" marR="45720" marT="10800" marB="10800">
                    <a:lnL w="12700" cmpd="sng">
                      <a:noFill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9933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900" b="1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marT="10800" marB="10800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9933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737231"/>
                  </a:ext>
                </a:extLst>
              </a:tr>
              <a:tr h="110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인력효율화</a:t>
                      </a:r>
                    </a:p>
                  </a:txBody>
                  <a:tcPr marL="45720" marR="45720" marT="10800" marB="10800">
                    <a:lnL w="12700" cmpd="sng">
                      <a:noFill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endParaRPr lang="ko-KR" altLang="en-US" sz="9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marT="10800" marB="10800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286686"/>
                  </a:ext>
                </a:extLst>
              </a:tr>
              <a:tr h="110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징계</a:t>
                      </a:r>
                    </a:p>
                  </a:txBody>
                  <a:tcPr marL="45720" marR="45720" marT="10800" marB="10800">
                    <a:lnL w="12700" cmpd="sng">
                      <a:noFill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9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marT="10800" marB="10800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294374"/>
                  </a:ext>
                </a:extLst>
              </a:tr>
              <a:tr h="110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현장직</a:t>
                      </a:r>
                      <a:r>
                        <a:rPr lang="ko-KR" altLang="en-US" sz="9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노동조합</a:t>
                      </a:r>
                    </a:p>
                  </a:txBody>
                  <a:tcPr marL="45720" marR="45720" marT="10800" marB="10800">
                    <a:lnL w="12700" cmpd="sng">
                      <a:noFill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9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marT="10800" marB="10800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670107"/>
                  </a:ext>
                </a:extLst>
              </a:tr>
              <a:tr h="110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사무직 노동조합</a:t>
                      </a:r>
                    </a:p>
                  </a:txBody>
                  <a:tcPr marL="45720" marR="45720" marT="10800" marB="10800">
                    <a:lnL w="12700" cmpd="sng">
                      <a:noFill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9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marT="10800" marB="10800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362783"/>
                  </a:ext>
                </a:extLst>
              </a:tr>
              <a:tr h="110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사무직 노경관리</a:t>
                      </a:r>
                    </a:p>
                  </a:txBody>
                  <a:tcPr marL="45720" marR="45720" marT="10800" marB="10800">
                    <a:lnL w="12700" cmpd="sng">
                      <a:noFill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9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marT="10800" marB="10800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890337"/>
                  </a:ext>
                </a:extLst>
              </a:tr>
              <a:tr h="1102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HR</a:t>
                      </a:r>
                      <a:r>
                        <a:rPr lang="ko-KR" altLang="en-US" sz="9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제도 지원</a:t>
                      </a:r>
                    </a:p>
                  </a:txBody>
                  <a:tcPr marL="45720" marR="45720" marT="10800" marB="10800">
                    <a:lnL w="12700" cmpd="sng">
                      <a:noFill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endParaRPr lang="ko-KR" altLang="en-US" sz="9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marT="10800" marB="10800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876385"/>
                  </a:ext>
                </a:extLst>
              </a:tr>
              <a:tr h="110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정보관리</a:t>
                      </a:r>
                    </a:p>
                  </a:txBody>
                  <a:tcPr marL="45720" marR="45720" marT="10800" marB="10800">
                    <a:lnL w="12700" cmpd="sng">
                      <a:noFill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9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marT="10800" marB="10800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484154"/>
                  </a:ext>
                </a:extLst>
              </a:tr>
              <a:tr h="110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사고대응 외</a:t>
                      </a:r>
                    </a:p>
                  </a:txBody>
                  <a:tcPr marL="45720" marR="45720" marT="10800" marB="10800">
                    <a:lnL w="12700" cmpd="sng">
                      <a:noFill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</a:t>
                      </a:r>
                      <a:endParaRPr lang="ko-KR" altLang="en-US" sz="90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marT="10800" marB="10800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034251"/>
                  </a:ext>
                </a:extLst>
              </a:tr>
              <a:tr h="110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합 계</a:t>
                      </a:r>
                    </a:p>
                  </a:txBody>
                  <a:tcPr marL="45720" marR="45720" marT="10800" marB="10800">
                    <a:lnL w="12700" cmpd="sng">
                      <a:noFill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80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45720" marR="45720" marT="10800" marB="10800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46917"/>
                  </a:ext>
                </a:extLst>
              </a:tr>
            </a:tbl>
          </a:graphicData>
        </a:graphic>
      </p:graphicFrame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19C26993-F90B-D822-8096-1955E2D43916}"/>
              </a:ext>
            </a:extLst>
          </p:cNvPr>
          <p:cNvSpPr/>
          <p:nvPr/>
        </p:nvSpPr>
        <p:spPr>
          <a:xfrm>
            <a:off x="4243111" y="1491408"/>
            <a:ext cx="2348405" cy="235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*</a:t>
            </a:r>
            <a:r>
              <a:rPr lang="ko-KR" altLang="en-US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노경기획팀 과업 중 </a:t>
            </a:r>
            <a:r>
              <a:rPr lang="en-US" altLang="ko-KR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25% </a:t>
            </a:r>
            <a:r>
              <a:rPr lang="ko-KR" altLang="en-US" sz="900" spc="-2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수준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9DDD64-4EC6-6470-AD3B-C9338474AEC6}"/>
              </a:ext>
            </a:extLst>
          </p:cNvPr>
          <p:cNvSpPr txBox="1"/>
          <p:nvPr/>
        </p:nvSpPr>
        <p:spPr>
          <a:xfrm>
            <a:off x="151981" y="149480"/>
            <a:ext cx="606235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유첨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. Global 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노경</a:t>
            </a:r>
            <a:r>
              <a:rPr lang="en-US" altLang="ko-KR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국내 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Fundamental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실행 단추: 홈 45">
            <a:hlinkClick r:id="rId3" action="ppaction://hlinksldjump"/>
            <a:extLst>
              <a:ext uri="{FF2B5EF4-FFF2-40B4-BE49-F238E27FC236}">
                <a16:creationId xmlns:a16="http://schemas.microsoft.com/office/drawing/2014/main" id="{F0F4D5DB-1D1A-3CF8-EED3-97860D4A52C0}"/>
              </a:ext>
            </a:extLst>
          </p:cNvPr>
          <p:cNvSpPr/>
          <p:nvPr/>
        </p:nvSpPr>
        <p:spPr>
          <a:xfrm>
            <a:off x="9237062" y="107566"/>
            <a:ext cx="360000" cy="360000"/>
          </a:xfrm>
          <a:prstGeom prst="actionButtonHom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6657541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송우진">
  <a:themeElements>
    <a:clrScheme name="사용자 지정 5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336699"/>
      </a:accent1>
      <a:accent2>
        <a:srgbClr val="A6C4E1"/>
      </a:accent2>
      <a:accent3>
        <a:srgbClr val="6B6B6B"/>
      </a:accent3>
      <a:accent4>
        <a:srgbClr val="A50034"/>
      </a:accent4>
      <a:accent5>
        <a:srgbClr val="FFCC99"/>
      </a:accent5>
      <a:accent6>
        <a:srgbClr val="FFFFCC"/>
      </a:accent6>
      <a:hlink>
        <a:srgbClr val="0000FF"/>
      </a:hlink>
      <a:folHlink>
        <a:srgbClr val="800080"/>
      </a:folHlink>
    </a:clrScheme>
    <a:fontScheme name="사용자 지정 1">
      <a:majorFont>
        <a:latin typeface="Arial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체" pitchFamily="49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체" pitchFamily="49" charset="-127"/>
          </a:defRPr>
        </a:defPPr>
      </a:lstStyle>
    </a:ln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송우진" id="{09AF4F57-B841-412A-82AA-7D5BF3B41202}" vid="{BD14EAD5-A58E-4228-8AD2-1E12E6DAF77E}"/>
    </a:ext>
  </a:extLst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사용자 지정 292">
    <a:dk1>
      <a:sysClr val="windowText" lastClr="000000"/>
    </a:dk1>
    <a:lt1>
      <a:sysClr val="window" lastClr="FFFFFF"/>
    </a:lt1>
    <a:dk2>
      <a:srgbClr val="002748"/>
    </a:dk2>
    <a:lt2>
      <a:srgbClr val="EAEEF2"/>
    </a:lt2>
    <a:accent1>
      <a:srgbClr val="002748"/>
    </a:accent1>
    <a:accent2>
      <a:srgbClr val="0BAFFA"/>
    </a:accent2>
    <a:accent3>
      <a:srgbClr val="FCC831"/>
    </a:accent3>
    <a:accent4>
      <a:srgbClr val="8DA6C1"/>
    </a:accent4>
    <a:accent5>
      <a:srgbClr val="CBD6E3"/>
    </a:accent5>
    <a:accent6>
      <a:srgbClr val="E8EDF2"/>
    </a:accent6>
    <a:hlink>
      <a:srgbClr val="0BAFFA"/>
    </a:hlink>
    <a:folHlink>
      <a:srgbClr val="8DA6C1"/>
    </a:folHlink>
  </a:clrScheme>
  <a:fontScheme name="Office">
    <a:majorFont>
      <a:latin typeface="맑은 고딕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맑은 고딕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사용자 지정 292">
    <a:dk1>
      <a:sysClr val="windowText" lastClr="000000"/>
    </a:dk1>
    <a:lt1>
      <a:sysClr val="window" lastClr="FFFFFF"/>
    </a:lt1>
    <a:dk2>
      <a:srgbClr val="002748"/>
    </a:dk2>
    <a:lt2>
      <a:srgbClr val="EAEEF2"/>
    </a:lt2>
    <a:accent1>
      <a:srgbClr val="002748"/>
    </a:accent1>
    <a:accent2>
      <a:srgbClr val="0BAFFA"/>
    </a:accent2>
    <a:accent3>
      <a:srgbClr val="FCC831"/>
    </a:accent3>
    <a:accent4>
      <a:srgbClr val="8DA6C1"/>
    </a:accent4>
    <a:accent5>
      <a:srgbClr val="CBD6E3"/>
    </a:accent5>
    <a:accent6>
      <a:srgbClr val="E8EDF2"/>
    </a:accent6>
    <a:hlink>
      <a:srgbClr val="0BAFFA"/>
    </a:hlink>
    <a:folHlink>
      <a:srgbClr val="8DA6C1"/>
    </a:folHlink>
  </a:clrScheme>
  <a:fontScheme name="Office">
    <a:majorFont>
      <a:latin typeface="맑은 고딕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맑은 고딕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사용자 지정 292">
    <a:dk1>
      <a:sysClr val="windowText" lastClr="000000"/>
    </a:dk1>
    <a:lt1>
      <a:sysClr val="window" lastClr="FFFFFF"/>
    </a:lt1>
    <a:dk2>
      <a:srgbClr val="002748"/>
    </a:dk2>
    <a:lt2>
      <a:srgbClr val="EAEEF2"/>
    </a:lt2>
    <a:accent1>
      <a:srgbClr val="002748"/>
    </a:accent1>
    <a:accent2>
      <a:srgbClr val="0BAFFA"/>
    </a:accent2>
    <a:accent3>
      <a:srgbClr val="FCC831"/>
    </a:accent3>
    <a:accent4>
      <a:srgbClr val="8DA6C1"/>
    </a:accent4>
    <a:accent5>
      <a:srgbClr val="CBD6E3"/>
    </a:accent5>
    <a:accent6>
      <a:srgbClr val="E8EDF2"/>
    </a:accent6>
    <a:hlink>
      <a:srgbClr val="0BAFFA"/>
    </a:hlink>
    <a:folHlink>
      <a:srgbClr val="8DA6C1"/>
    </a:folHlink>
  </a:clrScheme>
  <a:fontScheme name="Office">
    <a:majorFont>
      <a:latin typeface="맑은 고딕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맑은 고딕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사용자 지정 292">
    <a:dk1>
      <a:sysClr val="windowText" lastClr="000000"/>
    </a:dk1>
    <a:lt1>
      <a:sysClr val="window" lastClr="FFFFFF"/>
    </a:lt1>
    <a:dk2>
      <a:srgbClr val="002748"/>
    </a:dk2>
    <a:lt2>
      <a:srgbClr val="EAEEF2"/>
    </a:lt2>
    <a:accent1>
      <a:srgbClr val="002748"/>
    </a:accent1>
    <a:accent2>
      <a:srgbClr val="0BAFFA"/>
    </a:accent2>
    <a:accent3>
      <a:srgbClr val="FCC831"/>
    </a:accent3>
    <a:accent4>
      <a:srgbClr val="8DA6C1"/>
    </a:accent4>
    <a:accent5>
      <a:srgbClr val="CBD6E3"/>
    </a:accent5>
    <a:accent6>
      <a:srgbClr val="E8EDF2"/>
    </a:accent6>
    <a:hlink>
      <a:srgbClr val="0BAFFA"/>
    </a:hlink>
    <a:folHlink>
      <a:srgbClr val="8DA6C1"/>
    </a:folHlink>
  </a:clrScheme>
  <a:fontScheme name="Office">
    <a:majorFont>
      <a:latin typeface="맑은 고딕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맑은 고딕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사용자 지정 292">
    <a:dk1>
      <a:sysClr val="windowText" lastClr="000000"/>
    </a:dk1>
    <a:lt1>
      <a:sysClr val="window" lastClr="FFFFFF"/>
    </a:lt1>
    <a:dk2>
      <a:srgbClr val="002748"/>
    </a:dk2>
    <a:lt2>
      <a:srgbClr val="EAEEF2"/>
    </a:lt2>
    <a:accent1>
      <a:srgbClr val="002748"/>
    </a:accent1>
    <a:accent2>
      <a:srgbClr val="0BAFFA"/>
    </a:accent2>
    <a:accent3>
      <a:srgbClr val="FCC831"/>
    </a:accent3>
    <a:accent4>
      <a:srgbClr val="8DA6C1"/>
    </a:accent4>
    <a:accent5>
      <a:srgbClr val="CBD6E3"/>
    </a:accent5>
    <a:accent6>
      <a:srgbClr val="E8EDF2"/>
    </a:accent6>
    <a:hlink>
      <a:srgbClr val="0BAFFA"/>
    </a:hlink>
    <a:folHlink>
      <a:srgbClr val="8DA6C1"/>
    </a:folHlink>
  </a:clrScheme>
  <a:fontScheme name="Office">
    <a:majorFont>
      <a:latin typeface="맑은 고딕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맑은 고딕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 테마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보고서 기본 양식">
    <a:majorFont>
      <a:latin typeface="Arial Narrow"/>
      <a:ea typeface="LG스마트체 Regular"/>
      <a:cs typeface=""/>
    </a:majorFont>
    <a:minorFont>
      <a:latin typeface="Arial Narrow"/>
      <a:ea typeface="LG스마트체 Regular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0B6ADBF82CE24489152D9400D0B3CFE" ma:contentTypeVersion="2" ma:contentTypeDescription="새 문서를 만듭니다." ma:contentTypeScope="" ma:versionID="0c10b615df04b9f284cff65a09076c08">
  <xsd:schema xmlns:xsd="http://www.w3.org/2001/XMLSchema" xmlns:xs="http://www.w3.org/2001/XMLSchema" xmlns:p="http://schemas.microsoft.com/office/2006/metadata/properties" xmlns:ns2="1878fa97-9c35-4c5d-8256-714aea740bcc" targetNamespace="http://schemas.microsoft.com/office/2006/metadata/properties" ma:root="true" ma:fieldsID="31d45cb963ec7cca7a46ee8efd4e7e1c" ns2:_="">
    <xsd:import namespace="1878fa97-9c35-4c5d-8256-714aea740b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78fa97-9c35-4c5d-8256-714aea740b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2B323DF-F970-4AD3-BE7D-7E79A74A22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25687F-9DAD-493D-838F-CE2F02DA2286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1878fa97-9c35-4c5d-8256-714aea740bcc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9935D863-B510-4FE3-8050-D7A9B80C2F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878fa97-9c35-4c5d-8256-714aea740b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25219</TotalTime>
  <Words>15742</Words>
  <Application>Microsoft Office PowerPoint</Application>
  <PresentationFormat>A4 용지(210x297mm)</PresentationFormat>
  <Paragraphs>2457</Paragraphs>
  <Slides>51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19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51</vt:i4>
      </vt:variant>
    </vt:vector>
  </HeadingPairs>
  <TitlesOfParts>
    <vt:vector size="76" baseType="lpstr">
      <vt:lpstr>Gmarket Sans</vt:lpstr>
      <vt:lpstr>LG Smart UI Regular</vt:lpstr>
      <vt:lpstr>LG스마트체 Light</vt:lpstr>
      <vt:lpstr>LG스마트체 Regular</vt:lpstr>
      <vt:lpstr>LG스마트체 SemiBold</vt:lpstr>
      <vt:lpstr>LG스마트체2.0 Bold</vt:lpstr>
      <vt:lpstr>LG스마트체2.0 Regular</vt:lpstr>
      <vt:lpstr>LG스마트체2.0 SemiBold</vt:lpstr>
      <vt:lpstr>pretendard</vt:lpstr>
      <vt:lpstr>pretendard</vt:lpstr>
      <vt:lpstr>Pretendard-Bold</vt:lpstr>
      <vt:lpstr>굴림</vt:lpstr>
      <vt:lpstr>맑은 고딕</vt:lpstr>
      <vt:lpstr>바탕</vt:lpstr>
      <vt:lpstr>Arial</vt:lpstr>
      <vt:lpstr>Arial Narrow</vt:lpstr>
      <vt:lpstr>Calibri</vt:lpstr>
      <vt:lpstr>Wingdings</vt:lpstr>
      <vt:lpstr>Wingdings 2</vt:lpstr>
      <vt:lpstr>1_디자인 사용자 지정</vt:lpstr>
      <vt:lpstr>4_디자인 사용자 지정</vt:lpstr>
      <vt:lpstr>2_디자인 사용자 지정</vt:lpstr>
      <vt:lpstr>3_디자인 사용자 지정</vt:lpstr>
      <vt:lpstr>4_Office 테마</vt:lpstr>
      <vt:lpstr>송우진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ESMI 랜싱 조직화 취약성 진단 및 조직화 선행 대응 Plan</vt:lpstr>
      <vt:lpstr>Table of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이영준</dc:creator>
  <cp:lastModifiedBy>이영준(YEONG JUN LEE)[yeongjun]/책임/노경기획팀</cp:lastModifiedBy>
  <cp:revision>1677</cp:revision>
  <cp:lastPrinted>2026-03-24T08:46:34Z</cp:lastPrinted>
  <dcterms:created xsi:type="dcterms:W3CDTF">2018-04-03T02:08:13Z</dcterms:created>
  <dcterms:modified xsi:type="dcterms:W3CDTF">2026-03-30T00:44:24Z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0x01010000B6ADBF82CE24489152D9400D0B3CFE</vt:lpwstr>
  </property>
</Properties>
</file>